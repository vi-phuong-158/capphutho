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các đồng chí trong Hội đồng. Tôi xin trình bày sáng kiến Cổng thông tin số và Trợ lý ảo hỗ trợ tra cứu thủ tục hành chính tại Công an phường Phú Thọ. Đây là giải pháp chuyển đổi số xuất phát trực tiếp từ thực tiễn công tác tiếp dân hằng ngày: người dân chỉ cần quét một mã QR, không cần cài đặt bất kỳ ứng dụng nào, là đã có ngay một trợ lý hướng dẫn thủ tục phục vụ 24/7. Toàn bộ sáng kiến do cán bộ đơn vị tự nghiên cứu và lập trình, chi phí gần như bằng không, một sản phẩm công nghệ của người Công an cơ sở, ngay trên quê hương Đất Tổ Hùng Vương.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Sáng kiến bám sát hai văn bản định hướng. Một là Nghị quyết 57 của Bộ Chính trị về đột phá phát triển khoa học công nghệ, đổi mới sáng tạo và chuyển đổi số quốc gia. Hai là Kế hoạch 342 của Công an tỉnh Phú Thọ về nghiên cứu sáng kiến, nâng cao chất lượng chuyên môn và đẩy mạnh cải cách hành chính năm 2026. Đặc biệt, theo Chỉ số cải cách hành chính PAR INDEX năm 2026, việc ứng dụng trí tuệ nhân tạo hỗ trợ người dân thực hiện thủ tục đã trở thành tiêu chí bắt buộc, nên việc xây dựng cổng là rất cấp thiết.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công tác tiếp dân, nhu cầu hỏi và giải quyết thủ tục hành chính rất lớn. Trung bình mỗi ngày, trực ban Công an phường tiếp nhận hàng chục lượt người dân đến tận nơi hoặc gọi điện, chỉ để hỏi những việc lặp đi lặp lại: cần giấy tờ gì, mất bao lâu, lệ phí bao nhiêu. Việc hướng dẫn chủ yếu thủ công nên rất tốn thời gian của cán bộ; còn người dân thì hay đi lại nhiều lần do chuẩn bị thiếu hồ sơ, sinh tâm lý e ngại và giảm sự hài lòng.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đây, đơn vị đã thử tuyên truyền thủ tục qua bảng niêm yết giấy tại trụ sở và gửi file PDF, Word vào các nhóm Zalo khu dân cư. Nhưng cách làm đó thiếu tính tương tác, chữ nhỏ khó đọc trên điện thoại, bà con khó tìm đúng trọng tâm thủ tục mình cần. Sáng kiến lần này là bước nâng cấp toàn diện: từ tờ giấy tĩnh sang một cổng số tương tác, tra cứu được, hỏi là đáp ngay, khắc phục triệt để những hạn chế cũ.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Cổng hoạt động dưới dạng một Web App, mở bằng trình duyệt hoặc quét mã QR, không phải cài đặt ứng dụng. Người dân chỉ qua ba bước rất tự nhiên: quét mã QR để vào cổng; tra cứu lĩnh vực cần làm hoặc gõ câu hỏi cho Trợ lý ảo; rồi bấm nút nộp hồ sơ trực tuyến ngay trên Cổng dịch vụ công Bộ Công an. Đơn giản đến mức người lớn tuổi cũng tự làm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Cổng phân loại thủ tục thành 06 nhóm lĩnh vực trọng tâm cấp phường: cư trú và căn cước; đăng ký xe máy; quản lý ngành nghề an ninh trật tự; quản lý người nước ngoài; vũ khí và pháo; cùng khiếu nại, tố cáo và góp ý. Mỗi lĩnh vực trình bày dạng thẻ gập mở, tóm tắt cực ngắn gọn ba điều người dân cần nhất: cần giấy tờ gì, mất bao lâu, và có nút liên kết nộp hồ sơ online ngay trên Cổng dịch vụ công Bộ Công an. Ngoài 06 nhóm này, Cổng còn dành riêng một chuyên mục Thủ tục liên thông trọng điểm, như khai sinh, đăng ký thường trú, cấp thẻ bảo hiểm y tế cho trẻ dưới 6 tuổi, hay khai tử, xóa thường trú, vốn là những việc người dân hay vướng mắc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giao diện thật của Cổng, chụp trực tiếp trên điện thoại. Thiết kế theo phong cách Cổng dịch vụ công, tối ưu 100% cho điện thoại, nút bấm lớn, icon trực quan, màu đỏ vàng nhận diện của lực lượng. Ngay trên đầu trang có nút đổi ngôn ngữ Việt, Anh, Trung và chế độ Chữ to dễ đọc cho người cao tuổi. Từ trang chủ với các thẻ dịch vụ, đến trợ lý ảo hỏi đáp, trang hướng dẫn từng lĩnh vực, tất cả gọn trong lòng bàn 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mới nằm ở bốn chỗ. Thứ nhất, thay vì bắt dân đọc cả văn bản luật dài, Cổng đã bình dân hóa ngôn ngữ pháp lý thành những gạch đầu dòng ngắn gọn, dễ hiểu. Thứ hai là Trợ lý ảo Chatbot: người dân chỉ cần gõ từ khóa như làm sổ tạm trú hay mất cà vẹt xe, hệ thống tự quét dữ liệu và trả lời chính xác, không cần con người can thiệp. Thứ ba, Cổng hỗ trợ ba thứ tiếng Việt, Anh, Trung cùng chế độ Chữ to dễ đọc, phục vụ cả người nước ngoài lẫn người cao tuổi tự tra cứu. Thứ tư, nhờ tư duy web tĩnh, trang tải cực nhanh, chi phí vận hành gần bằng 0 và đóng gói chuyển giao cho đơn vị khác rất dễ.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Và đây là kết quả thật chỉ sau một tháng áp dụng thử. Số người dân phải hỏi trực tiếp giảm khoảng 60%, giải phóng đáng kể thời gian cho cán bộ trực ban. 100% người dân khi mang hồ sơ đến trụ sở đều đã chuẩn bị đầy đủ giấy tờ theo hướng dẫn trên cổng, không còn cảnh đi lại nhiều lần. Và Trợ lý ảo đã tự động phục vụ thành công hàng trăm lượt truy vấn ngoài giờ hành chính, những buổi tối, ngày nghỉ mà trước đây không ai trực để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Giá trị thể hiện trên ba mặt. Về chuyên môn: đạt mục tiêu giảm ít nhất 50% thời gian giải đáp thủ tục cơ bản, để cán bộ tập trung cho nhiệm vụ nghiệp vụ chính. Về kinh tế: tiết kiệm rõ rệt chi phí in ấn tờ rơi, biểu mẫu giấy. Và về phục vụ Nhân dân: thông tin chính thống đến với dân 24/7, góp phần xây dựng hình ảnh Công an phường điển hình, kiểu mẫu về an ninh trật tự và văn minh đô thị.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lộ trình: ngày 10 tháng 3 chúng tôi triển khai thí điểm, dán mã QR tại trụ sở Công an phường và các nhà văn hóa khu dân cư. Chỉ sau một tháng đã cho kết quả tích cực. Đến ngày 4 tháng 4 hoàn thiện bản mô tả để đề nghị công nhận. Về nhân rộng, khả năng ứng dụng là cực kỳ lớn: mã nguồn thiết kế dạng module độc lập, chỉ cần đổi logo và tên đơn vị là có thể nhân rộng ngay cho 100% Công an các xã, phường toàn tỉnh Phú Thọ trong năm 2026, không mất thêm chi phí lập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Hội đồng. Sáng kiến này là một giải pháp công nghệ mang tính thực tiễn cao, xuất phát trực tiếp từ yêu cầu công tác; đã giải quyết triệt để tình trạng quá tải trong khâu hướng dẫn thủ tục, đem lại sự thuận tiện tối đa cho người dân, đáp ứng xuất sắc định hướng ứng dụng AI và chuyển đổi số theo Nghị quyết 57 và Kế hoạch 342. Vì vậy, tôi kính đề nghị: một là Hội đồng Sáng kiến Công an tỉnh thẩm định, công nhận đây là Sáng kiến cấp cơ sở năm 2026; hai là Ban Giám đốc Công an tỉnh cho phép chuyển giao mã nguồn, nhân rộng mô hình tới Công an các xã, phường toàn tỉnh. Trân trọng cảm ơn Hội đồng!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tổ chức thực hiện: hạ tầng đưa lên nền tảng web miễn phí hoặc máy chủ Công an tỉnh, tạo link rút gọn và mã QR; triển khai bằng standee, bảng mica gắn QR đặt tại bàn tiếp dân của Công an phường, Công an thành phố và bộ phận một cửa UBND; truyền thông qua Zalo OA và Cảnh sát khu vực gửi link vào các nhóm Zalo tổ dân phố. Về kỹ thuật, cổng là web tĩnh HTML CSS JS, không máy chủ xử lý, không cơ sở dữ liệu; Trợ lý ảo là Chatbot FAQ quét từ khóa trả lời tự động; nhờ thiết kế module độc lập nên chi phí gần bằng 0 và rất dễ chuyển giao.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slideLayout" Target="../slideLayouts/slideLayout1.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A0010"/>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FFD700"/>
          </a:solidFill>
          <a:ln/>
        </p:spPr>
      </p:sp>
      <p:pic>
        <p:nvPicPr>
          <p:cNvPr id="3" name="Image 0" descr="preencoded.png">    </p:cNvPr>
          <p:cNvPicPr>
            <a:picLocks noChangeAspect="1"/>
          </p:cNvPicPr>
          <p:nvPr/>
        </p:nvPicPr>
        <p:blipFill>
          <a:blip r:embed="rId1">
            <a:alphaModFix amt="20000"/>
          </a:blip>
          <a:stretch>
            <a:fillRect/>
          </a:stretch>
        </p:blipFill>
        <p:spPr>
          <a:xfrm>
            <a:off x="7955280" y="1371600"/>
            <a:ext cx="4754880" cy="4754880"/>
          </a:xfrm>
          <a:prstGeom prst="rect">
            <a:avLst/>
          </a:prstGeom>
        </p:spPr>
      </p:pic>
      <p:pic>
        <p:nvPicPr>
          <p:cNvPr id="4" name="Image 1" descr="D:\04. Github\capphutho\logo.png">    </p:cNvPr>
          <p:cNvPicPr>
            <a:picLocks noChangeAspect="1"/>
          </p:cNvPicPr>
          <p:nvPr/>
        </p:nvPicPr>
        <p:blipFill>
          <a:blip r:embed="rId2"/>
          <a:stretch>
            <a:fillRect/>
          </a:stretch>
        </p:blipFill>
        <p:spPr>
          <a:xfrm>
            <a:off x="640080" y="548640"/>
            <a:ext cx="777240" cy="777240"/>
          </a:xfrm>
          <a:prstGeom prst="rect">
            <a:avLst/>
          </a:prstGeom>
        </p:spPr>
      </p:pic>
      <p:sp>
        <p:nvSpPr>
          <p:cNvPr id="5" name="Text 1"/>
          <p:cNvSpPr/>
          <p:nvPr/>
        </p:nvSpPr>
        <p:spPr>
          <a:xfrm>
            <a:off x="1600200" y="658368"/>
            <a:ext cx="8686800" cy="548640"/>
          </a:xfrm>
          <a:prstGeom prst="rect">
            <a:avLst/>
          </a:prstGeom>
          <a:noFill/>
          <a:ln/>
        </p:spPr>
        <p:txBody>
          <a:bodyPr wrap="square" lIns="0" tIns="0" rIns="0" bIns="0" rtlCol="0" anchor="ctr"/>
          <a:lstStyle/>
          <a:p>
            <a:pPr indent="0" marL="0">
              <a:buNone/>
            </a:pPr>
            <a:r>
              <a:rPr lang="en-US" sz="1300" b="1" spc="100" kern="0" dirty="0">
                <a:solidFill>
                  <a:srgbClr val="FFD700"/>
                </a:solidFill>
                <a:latin typeface="Segoe UI" pitchFamily="34" charset="0"/>
                <a:ea typeface="Segoe UI" pitchFamily="34" charset="-122"/>
                <a:cs typeface="Segoe UI" pitchFamily="34" charset="-120"/>
              </a:rPr>
              <a:t>CÔNG AN TỈNH PHÚ THỌ · CÔNG AN PHƯỜNG PHÚ THỌ</a:t>
            </a:r>
            <a:endParaRPr lang="en-US" sz="1300" dirty="0"/>
          </a:p>
        </p:txBody>
      </p:sp>
      <p:sp>
        <p:nvSpPr>
          <p:cNvPr id="6" name="Text 2"/>
          <p:cNvSpPr/>
          <p:nvPr/>
        </p:nvSpPr>
        <p:spPr>
          <a:xfrm>
            <a:off x="640080" y="1828800"/>
            <a:ext cx="10058400" cy="1737360"/>
          </a:xfrm>
          <a:prstGeom prst="rect">
            <a:avLst/>
          </a:prstGeom>
          <a:noFill/>
          <a:ln/>
        </p:spPr>
        <p:txBody>
          <a:bodyPr wrap="square" lIns="0" tIns="0" rIns="0" bIns="0" rtlCol="0" anchor="ctr"/>
          <a:lstStyle/>
          <a:p>
            <a:pPr indent="0" marL="0">
              <a:lnSpc>
                <a:spcPct val="95000"/>
              </a:lnSpc>
              <a:buNone/>
            </a:pPr>
            <a:r>
              <a:rPr lang="en-US" sz="5000" b="1" dirty="0">
                <a:solidFill>
                  <a:srgbClr val="FFFFFF"/>
                </a:solidFill>
                <a:latin typeface="Segoe UI" pitchFamily="34" charset="0"/>
                <a:ea typeface="Segoe UI" pitchFamily="34" charset="-122"/>
                <a:cs typeface="Segoe UI" pitchFamily="34" charset="-120"/>
              </a:rPr>
              <a:t>CỔNG THÔNG TIN SỐ</a:t>
            </a:r>
            <a:endParaRPr lang="en-US" sz="5000" dirty="0"/>
          </a:p>
          <a:p>
            <a:pPr indent="0" marL="0">
              <a:lnSpc>
                <a:spcPct val="95000"/>
              </a:lnSpc>
              <a:buNone/>
            </a:pPr>
            <a:r>
              <a:rPr lang="en-US" sz="5000" b="1" dirty="0">
                <a:solidFill>
                  <a:srgbClr val="FFFFFF"/>
                </a:solidFill>
                <a:latin typeface="Segoe UI" pitchFamily="34" charset="0"/>
                <a:ea typeface="Segoe UI" pitchFamily="34" charset="-122"/>
                <a:cs typeface="Segoe UI" pitchFamily="34" charset="-120"/>
              </a:rPr>
              <a:t>&amp; TRỢ LÝ ẢO</a:t>
            </a:r>
            <a:endParaRPr lang="en-US" sz="5000" dirty="0"/>
          </a:p>
        </p:txBody>
      </p:sp>
      <p:sp>
        <p:nvSpPr>
          <p:cNvPr id="7" name="Text 3"/>
          <p:cNvSpPr/>
          <p:nvPr/>
        </p:nvSpPr>
        <p:spPr>
          <a:xfrm>
            <a:off x="640080" y="3611880"/>
            <a:ext cx="8778240" cy="640080"/>
          </a:xfrm>
          <a:prstGeom prst="rect">
            <a:avLst/>
          </a:prstGeom>
          <a:noFill/>
          <a:ln/>
        </p:spPr>
        <p:txBody>
          <a:bodyPr wrap="square" lIns="0" tIns="0" rIns="0" bIns="0" rtlCol="0" anchor="ctr"/>
          <a:lstStyle/>
          <a:p>
            <a:pPr indent="0" marL="0">
              <a:buNone/>
            </a:pPr>
            <a:r>
              <a:rPr lang="en-US" sz="1900" dirty="0">
                <a:solidFill>
                  <a:srgbClr val="FFE9A8"/>
                </a:solidFill>
                <a:latin typeface="Segoe UI" pitchFamily="34" charset="0"/>
                <a:ea typeface="Segoe UI" pitchFamily="34" charset="-122"/>
                <a:cs typeface="Segoe UI" pitchFamily="34" charset="-120"/>
              </a:rPr>
              <a:t>Hỗ trợ tra cứu thủ tục hành chính — đẩy mạnh cải cách hành chính</a:t>
            </a:r>
            <a:endParaRPr lang="en-US" sz="1900" dirty="0"/>
          </a:p>
        </p:txBody>
      </p:sp>
      <p:sp>
        <p:nvSpPr>
          <p:cNvPr id="8" name="Shape 4"/>
          <p:cNvSpPr/>
          <p:nvPr/>
        </p:nvSpPr>
        <p:spPr>
          <a:xfrm>
            <a:off x="640080" y="4434840"/>
            <a:ext cx="1120140" cy="457200"/>
          </a:xfrm>
          <a:prstGeom prst="roundRect">
            <a:avLst>
              <a:gd name="adj" fmla="val 50000"/>
            </a:avLst>
          </a:prstGeom>
          <a:solidFill>
            <a:srgbClr val="C41E3A"/>
          </a:solidFill>
          <a:ln w="12700">
            <a:solidFill>
              <a:srgbClr val="FFD700"/>
            </a:solidFill>
            <a:prstDash val="solid"/>
          </a:ln>
        </p:spPr>
      </p:sp>
      <p:sp>
        <p:nvSpPr>
          <p:cNvPr id="9" name="Text 5"/>
          <p:cNvSpPr/>
          <p:nvPr/>
        </p:nvSpPr>
        <p:spPr>
          <a:xfrm>
            <a:off x="640080" y="4434840"/>
            <a:ext cx="112014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Segoe UI" pitchFamily="34" charset="0"/>
                <a:ea typeface="Segoe UI" pitchFamily="34" charset="-122"/>
                <a:cs typeface="Segoe UI" pitchFamily="34" charset="-120"/>
              </a:rPr>
              <a:t>Quét QR</a:t>
            </a:r>
            <a:endParaRPr lang="en-US" sz="1350" dirty="0"/>
          </a:p>
        </p:txBody>
      </p:sp>
      <p:sp>
        <p:nvSpPr>
          <p:cNvPr id="10" name="Shape 6"/>
          <p:cNvSpPr/>
          <p:nvPr/>
        </p:nvSpPr>
        <p:spPr>
          <a:xfrm>
            <a:off x="1961388" y="4434840"/>
            <a:ext cx="1751076" cy="457200"/>
          </a:xfrm>
          <a:prstGeom prst="roundRect">
            <a:avLst>
              <a:gd name="adj" fmla="val 50000"/>
            </a:avLst>
          </a:prstGeom>
          <a:solidFill>
            <a:srgbClr val="C41E3A"/>
          </a:solidFill>
          <a:ln w="12700">
            <a:solidFill>
              <a:srgbClr val="FFD700"/>
            </a:solidFill>
            <a:prstDash val="solid"/>
          </a:ln>
        </p:spPr>
      </p:sp>
      <p:sp>
        <p:nvSpPr>
          <p:cNvPr id="11" name="Text 7"/>
          <p:cNvSpPr/>
          <p:nvPr/>
        </p:nvSpPr>
        <p:spPr>
          <a:xfrm>
            <a:off x="1961388" y="4434840"/>
            <a:ext cx="1751076"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Segoe UI" pitchFamily="34" charset="0"/>
                <a:ea typeface="Segoe UI" pitchFamily="34" charset="-122"/>
                <a:cs typeface="Segoe UI" pitchFamily="34" charset="-120"/>
              </a:rPr>
              <a:t>Không cài đặt</a:t>
            </a:r>
            <a:endParaRPr lang="en-US" sz="1350" dirty="0"/>
          </a:p>
        </p:txBody>
      </p:sp>
      <p:sp>
        <p:nvSpPr>
          <p:cNvPr id="12" name="Shape 8"/>
          <p:cNvSpPr/>
          <p:nvPr/>
        </p:nvSpPr>
        <p:spPr>
          <a:xfrm>
            <a:off x="3913632" y="4434840"/>
            <a:ext cx="1961388" cy="457200"/>
          </a:xfrm>
          <a:prstGeom prst="roundRect">
            <a:avLst>
              <a:gd name="adj" fmla="val 50000"/>
            </a:avLst>
          </a:prstGeom>
          <a:solidFill>
            <a:srgbClr val="C41E3A"/>
          </a:solidFill>
          <a:ln w="12700">
            <a:solidFill>
              <a:srgbClr val="FFD700"/>
            </a:solidFill>
            <a:prstDash val="solid"/>
          </a:ln>
        </p:spPr>
      </p:sp>
      <p:sp>
        <p:nvSpPr>
          <p:cNvPr id="13" name="Text 9"/>
          <p:cNvSpPr/>
          <p:nvPr/>
        </p:nvSpPr>
        <p:spPr>
          <a:xfrm>
            <a:off x="3913632" y="4434840"/>
            <a:ext cx="1961388"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Segoe UI" pitchFamily="34" charset="0"/>
                <a:ea typeface="Segoe UI" pitchFamily="34" charset="-122"/>
                <a:cs typeface="Segoe UI" pitchFamily="34" charset="-120"/>
              </a:rPr>
              <a:t>Chi phí ~0 đồng</a:t>
            </a:r>
            <a:endParaRPr lang="en-US" sz="1350" dirty="0"/>
          </a:p>
        </p:txBody>
      </p:sp>
      <p:sp>
        <p:nvSpPr>
          <p:cNvPr id="14" name="Shape 10"/>
          <p:cNvSpPr/>
          <p:nvPr/>
        </p:nvSpPr>
        <p:spPr>
          <a:xfrm>
            <a:off x="6076188" y="4434840"/>
            <a:ext cx="1645920" cy="457200"/>
          </a:xfrm>
          <a:prstGeom prst="roundRect">
            <a:avLst>
              <a:gd name="adj" fmla="val 50000"/>
            </a:avLst>
          </a:prstGeom>
          <a:solidFill>
            <a:srgbClr val="C41E3A"/>
          </a:solidFill>
          <a:ln w="12700">
            <a:solidFill>
              <a:srgbClr val="FFD700"/>
            </a:solidFill>
            <a:prstDash val="solid"/>
          </a:ln>
        </p:spPr>
      </p:sp>
      <p:sp>
        <p:nvSpPr>
          <p:cNvPr id="15" name="Text 11"/>
          <p:cNvSpPr/>
          <p:nvPr/>
        </p:nvSpPr>
        <p:spPr>
          <a:xfrm>
            <a:off x="6076188" y="4434840"/>
            <a:ext cx="164592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Segoe UI" pitchFamily="34" charset="0"/>
                <a:ea typeface="Segoe UI" pitchFamily="34" charset="-122"/>
                <a:cs typeface="Segoe UI" pitchFamily="34" charset="-120"/>
              </a:rPr>
              <a:t>Phục vụ 24/7</a:t>
            </a:r>
            <a:endParaRPr lang="en-US" sz="1350" dirty="0"/>
          </a:p>
        </p:txBody>
      </p:sp>
      <p:sp>
        <p:nvSpPr>
          <p:cNvPr id="16" name="Text 12"/>
          <p:cNvSpPr/>
          <p:nvPr/>
        </p:nvSpPr>
        <p:spPr>
          <a:xfrm>
            <a:off x="640080" y="5760720"/>
            <a:ext cx="10515600" cy="365760"/>
          </a:xfrm>
          <a:prstGeom prst="rect">
            <a:avLst/>
          </a:prstGeom>
          <a:noFill/>
          <a:ln/>
        </p:spPr>
        <p:txBody>
          <a:bodyPr wrap="square" lIns="0" tIns="0" rIns="0" bIns="0" rtlCol="0" anchor="ctr"/>
          <a:lstStyle/>
          <a:p>
            <a:pPr indent="0" marL="0">
              <a:buNone/>
            </a:pPr>
            <a:r>
              <a:rPr lang="en-US" sz="1500" dirty="0">
                <a:solidFill>
                  <a:srgbClr val="FFD700"/>
                </a:solidFill>
                <a:latin typeface="Segoe UI" pitchFamily="34" charset="0"/>
                <a:ea typeface="Segoe UI" pitchFamily="34" charset="-122"/>
                <a:cs typeface="Segoe UI" pitchFamily="34" charset="-120"/>
              </a:rPr>
              <a:t>Tác giả: </a:t>
            </a:r>
            <a:pPr indent="0" marL="0">
              <a:buNone/>
            </a:pPr>
            <a:r>
              <a:rPr lang="en-US" sz="1500" b="1" dirty="0">
                <a:solidFill>
                  <a:srgbClr val="FFFFFF"/>
                </a:solidFill>
                <a:latin typeface="Segoe UI" pitchFamily="34" charset="0"/>
                <a:ea typeface="Segoe UI" pitchFamily="34" charset="-122"/>
                <a:cs typeface="Segoe UI" pitchFamily="34" charset="-120"/>
              </a:rPr>
              <a:t>Nguyễn Minh Hiếu — Công an phường Phú Thọ</a:t>
            </a:r>
            <a:endParaRPr lang="en-US" sz="1500" dirty="0"/>
          </a:p>
        </p:txBody>
      </p:sp>
      <p:pic>
        <p:nvPicPr>
          <p:cNvPr id="17" name="Image 2" descr="preencoded.png">    </p:cNvPr>
          <p:cNvPicPr>
            <a:picLocks noChangeAspect="1"/>
          </p:cNvPicPr>
          <p:nvPr/>
        </p:nvPicPr>
        <p:blipFill>
          <a:blip r:embed="rId3">
            <a:alphaModFix amt="82000"/>
          </a:blip>
          <a:stretch>
            <a:fillRect/>
          </a:stretch>
        </p:blipFill>
        <p:spPr>
          <a:xfrm>
            <a:off x="11082528" y="384048"/>
            <a:ext cx="566928" cy="566928"/>
          </a:xfrm>
          <a:prstGeom prst="rect">
            <a:avLst/>
          </a:prstGeom>
        </p:spPr>
      </p:pic>
      <p:sp>
        <p:nvSpPr>
          <p:cNvPr id="18" name="Shape 13"/>
          <p:cNvSpPr/>
          <p:nvPr/>
        </p:nvSpPr>
        <p:spPr>
          <a:xfrm>
            <a:off x="640080" y="6437376"/>
            <a:ext cx="10881360" cy="12802"/>
          </a:xfrm>
          <a:prstGeom prst="rect">
            <a:avLst/>
          </a:prstGeom>
          <a:solidFill>
            <a:srgbClr val="FFD700"/>
          </a:solidFill>
          <a:ln/>
        </p:spPr>
      </p:sp>
      <p:sp>
        <p:nvSpPr>
          <p:cNvPr id="19" name="Text 14"/>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FFE9A8"/>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20" name="Text 15"/>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FFD700"/>
                </a:solidFill>
                <a:latin typeface="Segoe UI" pitchFamily="34" charset="0"/>
                <a:ea typeface="Segoe UI" pitchFamily="34" charset="-122"/>
                <a:cs typeface="Segoe UI" pitchFamily="34" charset="-120"/>
              </a:rPr>
              <a:t>01</a:t>
            </a:r>
            <a:endParaRPr lang="en-US" sz="1000" dirty="0"/>
          </a:p>
        </p:txBody>
      </p:sp>
    </p:spTree>
  </p:cSld>
  <p:clrMapOvr>
    <a:masterClrMapping/>
  </p:clrMapOvr>
  <p:transition xmlns:p14="http://schemas.microsoft.com/office/powerpoint/2010/main" spd="med" p14:dur="45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C41E3A"/>
                </a:solidFill>
                <a:latin typeface="Segoe UI" pitchFamily="34" charset="0"/>
                <a:ea typeface="Segoe UI" pitchFamily="34" charset="-122"/>
                <a:cs typeface="Segoe UI" pitchFamily="34" charset="-120"/>
              </a:rPr>
              <a:t>CƠ SỞ PHÁP LÝ &amp; ĐỊNH HƯỚNG</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1F2937"/>
                </a:solidFill>
                <a:latin typeface="Segoe UI" pitchFamily="34" charset="0"/>
                <a:ea typeface="Segoe UI" pitchFamily="34" charset="-122"/>
                <a:cs typeface="Segoe UI" pitchFamily="34" charset="-120"/>
              </a:rPr>
              <a:t>Bám sát chủ trương chuyển đổi số</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Shape 3"/>
          <p:cNvSpPr/>
          <p:nvPr/>
        </p:nvSpPr>
        <p:spPr>
          <a:xfrm>
            <a:off x="640080" y="1874520"/>
            <a:ext cx="5166360" cy="2788920"/>
          </a:xfrm>
          <a:prstGeom prst="roundRect">
            <a:avLst>
              <a:gd name="adj" fmla="val 3279"/>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6" name="Shape 4"/>
          <p:cNvSpPr/>
          <p:nvPr/>
        </p:nvSpPr>
        <p:spPr>
          <a:xfrm>
            <a:off x="640080" y="1874520"/>
            <a:ext cx="5166360" cy="109728"/>
          </a:xfrm>
          <a:prstGeom prst="rect">
            <a:avLst/>
          </a:prstGeom>
          <a:solidFill>
            <a:srgbClr val="C41E3A"/>
          </a:solidFill>
          <a:ln/>
        </p:spPr>
      </p:sp>
      <p:sp>
        <p:nvSpPr>
          <p:cNvPr id="7" name="Shape 5"/>
          <p:cNvSpPr/>
          <p:nvPr/>
        </p:nvSpPr>
        <p:spPr>
          <a:xfrm>
            <a:off x="960120" y="2258568"/>
            <a:ext cx="868680" cy="86868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8" name="Image 0" descr="preencoded.png">    </p:cNvPr>
          <p:cNvPicPr>
            <a:picLocks noChangeAspect="1"/>
          </p:cNvPicPr>
          <p:nvPr/>
        </p:nvPicPr>
        <p:blipFill>
          <a:blip r:embed="rId1"/>
          <a:stretch>
            <a:fillRect/>
          </a:stretch>
        </p:blipFill>
        <p:spPr>
          <a:xfrm>
            <a:off x="1194664" y="2493112"/>
            <a:ext cx="399593" cy="399593"/>
          </a:xfrm>
          <a:prstGeom prst="rect">
            <a:avLst/>
          </a:prstGeom>
        </p:spPr>
      </p:pic>
      <p:sp>
        <p:nvSpPr>
          <p:cNvPr id="9" name="Text 6"/>
          <p:cNvSpPr/>
          <p:nvPr/>
        </p:nvSpPr>
        <p:spPr>
          <a:xfrm>
            <a:off x="2011680" y="2258568"/>
            <a:ext cx="3611880" cy="457200"/>
          </a:xfrm>
          <a:prstGeom prst="rect">
            <a:avLst/>
          </a:prstGeom>
          <a:noFill/>
          <a:ln/>
        </p:spPr>
        <p:txBody>
          <a:bodyPr wrap="square" lIns="0" tIns="0" rIns="0" bIns="0" rtlCol="0" anchor="ctr"/>
          <a:lstStyle/>
          <a:p>
            <a:pPr indent="0" marL="0">
              <a:buNone/>
            </a:pPr>
            <a:r>
              <a:rPr lang="en-US" sz="1900" b="1" dirty="0">
                <a:solidFill>
                  <a:srgbClr val="8B0000"/>
                </a:solidFill>
                <a:latin typeface="Segoe UI" pitchFamily="34" charset="0"/>
                <a:ea typeface="Segoe UI" pitchFamily="34" charset="-122"/>
                <a:cs typeface="Segoe UI" pitchFamily="34" charset="-120"/>
              </a:rPr>
              <a:t>Nghị quyết 57-NQ/TW</a:t>
            </a:r>
            <a:endParaRPr lang="en-US" sz="1900" dirty="0"/>
          </a:p>
        </p:txBody>
      </p:sp>
      <p:sp>
        <p:nvSpPr>
          <p:cNvPr id="10" name="Text 7"/>
          <p:cNvSpPr/>
          <p:nvPr/>
        </p:nvSpPr>
        <p:spPr>
          <a:xfrm>
            <a:off x="2011680" y="2715768"/>
            <a:ext cx="3611880" cy="365760"/>
          </a:xfrm>
          <a:prstGeom prst="rect">
            <a:avLst/>
          </a:prstGeom>
          <a:noFill/>
          <a:ln/>
        </p:spPr>
        <p:txBody>
          <a:bodyPr wrap="square" lIns="0" tIns="0" rIns="0" bIns="0" rtlCol="0" anchor="ctr"/>
          <a:lstStyle/>
          <a:p>
            <a:pPr indent="0" marL="0">
              <a:buNone/>
            </a:pPr>
            <a:r>
              <a:rPr lang="en-US" sz="1300" i="1" dirty="0">
                <a:solidFill>
                  <a:srgbClr val="6B7280"/>
                </a:solidFill>
                <a:latin typeface="Segoe UI" pitchFamily="34" charset="0"/>
                <a:ea typeface="Segoe UI" pitchFamily="34" charset="-122"/>
                <a:cs typeface="Segoe UI" pitchFamily="34" charset="-120"/>
              </a:rPr>
              <a:t>22/12/2024 — Bộ Chính trị</a:t>
            </a:r>
            <a:endParaRPr lang="en-US" sz="1300" dirty="0"/>
          </a:p>
        </p:txBody>
      </p:sp>
      <p:sp>
        <p:nvSpPr>
          <p:cNvPr id="11" name="Text 8"/>
          <p:cNvSpPr/>
          <p:nvPr/>
        </p:nvSpPr>
        <p:spPr>
          <a:xfrm>
            <a:off x="1005840" y="3383280"/>
            <a:ext cx="4434840" cy="1097280"/>
          </a:xfrm>
          <a:prstGeom prst="rect">
            <a:avLst/>
          </a:prstGeom>
          <a:noFill/>
          <a:ln/>
        </p:spPr>
        <p:txBody>
          <a:bodyPr wrap="square" lIns="0" tIns="0" rIns="0" bIns="0" rtlCol="0" anchor="ctr"/>
          <a:lstStyle/>
          <a:p>
            <a:pPr indent="0" marL="0">
              <a:buNone/>
            </a:pPr>
            <a:r>
              <a:rPr lang="en-US" sz="1450" dirty="0">
                <a:solidFill>
                  <a:srgbClr val="374151"/>
                </a:solidFill>
                <a:latin typeface="Segoe UI" pitchFamily="34" charset="0"/>
                <a:ea typeface="Segoe UI" pitchFamily="34" charset="-122"/>
                <a:cs typeface="Segoe UI" pitchFamily="34" charset="-120"/>
              </a:rPr>
              <a:t>Đột phá phát triển khoa học công nghệ, đổi mới sáng tạo và chuyển đổi số quốc gia.</a:t>
            </a:r>
            <a:endParaRPr lang="en-US" sz="1450" dirty="0"/>
          </a:p>
        </p:txBody>
      </p:sp>
      <p:sp>
        <p:nvSpPr>
          <p:cNvPr id="12" name="Shape 9"/>
          <p:cNvSpPr/>
          <p:nvPr/>
        </p:nvSpPr>
        <p:spPr>
          <a:xfrm>
            <a:off x="6355080" y="1874520"/>
            <a:ext cx="5166360" cy="2788920"/>
          </a:xfrm>
          <a:prstGeom prst="roundRect">
            <a:avLst>
              <a:gd name="adj" fmla="val 3279"/>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13" name="Shape 10"/>
          <p:cNvSpPr/>
          <p:nvPr/>
        </p:nvSpPr>
        <p:spPr>
          <a:xfrm>
            <a:off x="6355080" y="1874520"/>
            <a:ext cx="5166360" cy="109728"/>
          </a:xfrm>
          <a:prstGeom prst="rect">
            <a:avLst/>
          </a:prstGeom>
          <a:solidFill>
            <a:srgbClr val="C41E3A"/>
          </a:solidFill>
          <a:ln/>
        </p:spPr>
      </p:sp>
      <p:sp>
        <p:nvSpPr>
          <p:cNvPr id="14" name="Shape 11"/>
          <p:cNvSpPr/>
          <p:nvPr/>
        </p:nvSpPr>
        <p:spPr>
          <a:xfrm>
            <a:off x="6675120" y="2258568"/>
            <a:ext cx="868680" cy="86868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15" name="Image 1" descr="preencoded.png">    </p:cNvPr>
          <p:cNvPicPr>
            <a:picLocks noChangeAspect="1"/>
          </p:cNvPicPr>
          <p:nvPr/>
        </p:nvPicPr>
        <p:blipFill>
          <a:blip r:embed="rId2"/>
          <a:stretch>
            <a:fillRect/>
          </a:stretch>
        </p:blipFill>
        <p:spPr>
          <a:xfrm>
            <a:off x="6909664" y="2493112"/>
            <a:ext cx="399593" cy="399593"/>
          </a:xfrm>
          <a:prstGeom prst="rect">
            <a:avLst/>
          </a:prstGeom>
        </p:spPr>
      </p:pic>
      <p:sp>
        <p:nvSpPr>
          <p:cNvPr id="16" name="Text 12"/>
          <p:cNvSpPr/>
          <p:nvPr/>
        </p:nvSpPr>
        <p:spPr>
          <a:xfrm>
            <a:off x="7726680" y="2258568"/>
            <a:ext cx="3611880" cy="457200"/>
          </a:xfrm>
          <a:prstGeom prst="rect">
            <a:avLst/>
          </a:prstGeom>
          <a:noFill/>
          <a:ln/>
        </p:spPr>
        <p:txBody>
          <a:bodyPr wrap="square" lIns="0" tIns="0" rIns="0" bIns="0" rtlCol="0" anchor="ctr"/>
          <a:lstStyle/>
          <a:p>
            <a:pPr indent="0" marL="0">
              <a:buNone/>
            </a:pPr>
            <a:r>
              <a:rPr lang="en-US" sz="1900" b="1" dirty="0">
                <a:solidFill>
                  <a:srgbClr val="8B0000"/>
                </a:solidFill>
                <a:latin typeface="Segoe UI" pitchFamily="34" charset="0"/>
                <a:ea typeface="Segoe UI" pitchFamily="34" charset="-122"/>
                <a:cs typeface="Segoe UI" pitchFamily="34" charset="-120"/>
              </a:rPr>
              <a:t>Kế hoạch 342/KH-CAT-PV01</a:t>
            </a:r>
            <a:endParaRPr lang="en-US" sz="1900" dirty="0"/>
          </a:p>
        </p:txBody>
      </p:sp>
      <p:sp>
        <p:nvSpPr>
          <p:cNvPr id="17" name="Text 13"/>
          <p:cNvSpPr/>
          <p:nvPr/>
        </p:nvSpPr>
        <p:spPr>
          <a:xfrm>
            <a:off x="7726680" y="2715768"/>
            <a:ext cx="3611880" cy="365760"/>
          </a:xfrm>
          <a:prstGeom prst="rect">
            <a:avLst/>
          </a:prstGeom>
          <a:noFill/>
          <a:ln/>
        </p:spPr>
        <p:txBody>
          <a:bodyPr wrap="square" lIns="0" tIns="0" rIns="0" bIns="0" rtlCol="0" anchor="ctr"/>
          <a:lstStyle/>
          <a:p>
            <a:pPr indent="0" marL="0">
              <a:buNone/>
            </a:pPr>
            <a:r>
              <a:rPr lang="en-US" sz="1300" i="1" dirty="0">
                <a:solidFill>
                  <a:srgbClr val="6B7280"/>
                </a:solidFill>
                <a:latin typeface="Segoe UI" pitchFamily="34" charset="0"/>
                <a:ea typeface="Segoe UI" pitchFamily="34" charset="-122"/>
                <a:cs typeface="Segoe UI" pitchFamily="34" charset="-120"/>
              </a:rPr>
              <a:t>19/01/2026 — Công an tỉnh Phú Thọ</a:t>
            </a:r>
            <a:endParaRPr lang="en-US" sz="1300" dirty="0"/>
          </a:p>
        </p:txBody>
      </p:sp>
      <p:sp>
        <p:nvSpPr>
          <p:cNvPr id="18" name="Text 14"/>
          <p:cNvSpPr/>
          <p:nvPr/>
        </p:nvSpPr>
        <p:spPr>
          <a:xfrm>
            <a:off x="6720840" y="3383280"/>
            <a:ext cx="4434840" cy="1097280"/>
          </a:xfrm>
          <a:prstGeom prst="rect">
            <a:avLst/>
          </a:prstGeom>
          <a:noFill/>
          <a:ln/>
        </p:spPr>
        <p:txBody>
          <a:bodyPr wrap="square" lIns="0" tIns="0" rIns="0" bIns="0" rtlCol="0" anchor="ctr"/>
          <a:lstStyle/>
          <a:p>
            <a:pPr indent="0" marL="0">
              <a:buNone/>
            </a:pPr>
            <a:r>
              <a:rPr lang="en-US" sz="1450" dirty="0">
                <a:solidFill>
                  <a:srgbClr val="374151"/>
                </a:solidFill>
                <a:latin typeface="Segoe UI" pitchFamily="34" charset="0"/>
                <a:ea typeface="Segoe UI" pitchFamily="34" charset="-122"/>
                <a:cs typeface="Segoe UI" pitchFamily="34" charset="-120"/>
              </a:rPr>
              <a:t>Triển khai nghiên cứu sáng kiến nâng cao chất lượng chuyên môn, đẩy mạnh cải cách hành chính 2026.</a:t>
            </a:r>
            <a:endParaRPr lang="en-US" sz="1450" dirty="0"/>
          </a:p>
        </p:txBody>
      </p:sp>
      <p:sp>
        <p:nvSpPr>
          <p:cNvPr id="19" name="Shape 15"/>
          <p:cNvSpPr/>
          <p:nvPr/>
        </p:nvSpPr>
        <p:spPr>
          <a:xfrm>
            <a:off x="640080" y="4983480"/>
            <a:ext cx="10881360" cy="868680"/>
          </a:xfrm>
          <a:prstGeom prst="roundRect">
            <a:avLst>
              <a:gd name="adj" fmla="val 10526"/>
            </a:avLst>
          </a:prstGeom>
          <a:solidFill>
            <a:srgbClr val="8B0000"/>
          </a:solidFill>
          <a:ln/>
        </p:spPr>
      </p:sp>
      <p:pic>
        <p:nvPicPr>
          <p:cNvPr id="20" name="Image 2" descr="preencoded.png">    </p:cNvPr>
          <p:cNvPicPr>
            <a:picLocks noChangeAspect="1"/>
          </p:cNvPicPr>
          <p:nvPr/>
        </p:nvPicPr>
        <p:blipFill>
          <a:blip r:embed="rId3"/>
          <a:stretch>
            <a:fillRect/>
          </a:stretch>
        </p:blipFill>
        <p:spPr>
          <a:xfrm>
            <a:off x="960120" y="5230368"/>
            <a:ext cx="384048" cy="384048"/>
          </a:xfrm>
          <a:prstGeom prst="rect">
            <a:avLst/>
          </a:prstGeom>
        </p:spPr>
      </p:pic>
      <p:sp>
        <p:nvSpPr>
          <p:cNvPr id="21" name="Text 16"/>
          <p:cNvSpPr/>
          <p:nvPr/>
        </p:nvSpPr>
        <p:spPr>
          <a:xfrm>
            <a:off x="1554480" y="4983480"/>
            <a:ext cx="9692640" cy="868680"/>
          </a:xfrm>
          <a:prstGeom prst="rect">
            <a:avLst/>
          </a:prstGeom>
          <a:noFill/>
          <a:ln/>
        </p:spPr>
        <p:txBody>
          <a:bodyPr wrap="square" lIns="0" tIns="0" rIns="0" bIns="0" rtlCol="0" anchor="ctr"/>
          <a:lstStyle/>
          <a:p>
            <a:pPr indent="0" marL="0">
              <a:buNone/>
            </a:pPr>
            <a:r>
              <a:rPr lang="en-US" sz="1550" b="1" dirty="0">
                <a:solidFill>
                  <a:srgbClr val="FFFFFF"/>
                </a:solidFill>
                <a:latin typeface="Segoe UI" pitchFamily="34" charset="0"/>
                <a:ea typeface="Segoe UI" pitchFamily="34" charset="-122"/>
                <a:cs typeface="Segoe UI" pitchFamily="34" charset="-120"/>
              </a:rPr>
              <a:t>Chỉ số PAR INDEX 2026: ứng dụng AI hỗ trợ cá nhân thực hiện thủ tục là TIÊU CHÍ BẮT BUỘC.</a:t>
            </a:r>
            <a:endParaRPr lang="en-US" sz="1550" dirty="0"/>
          </a:p>
        </p:txBody>
      </p:sp>
      <p:pic>
        <p:nvPicPr>
          <p:cNvPr id="22" name="Image 3" descr="preencoded.png">    </p:cNvPr>
          <p:cNvPicPr>
            <a:picLocks noChangeAspect="1"/>
          </p:cNvPicPr>
          <p:nvPr/>
        </p:nvPicPr>
        <p:blipFill>
          <a:blip r:embed="rId4">
            <a:alphaModFix amt="70000"/>
          </a:blip>
          <a:stretch>
            <a:fillRect/>
          </a:stretch>
        </p:blipFill>
        <p:spPr>
          <a:xfrm>
            <a:off x="11082528" y="384048"/>
            <a:ext cx="566928" cy="566928"/>
          </a:xfrm>
          <a:prstGeom prst="rect">
            <a:avLst/>
          </a:prstGeom>
        </p:spPr>
      </p:pic>
      <p:sp>
        <p:nvSpPr>
          <p:cNvPr id="23" name="Shape 17"/>
          <p:cNvSpPr/>
          <p:nvPr/>
        </p:nvSpPr>
        <p:spPr>
          <a:xfrm>
            <a:off x="640080" y="6437376"/>
            <a:ext cx="10881360" cy="12802"/>
          </a:xfrm>
          <a:prstGeom prst="rect">
            <a:avLst/>
          </a:prstGeom>
          <a:solidFill>
            <a:srgbClr val="F3D2D7"/>
          </a:solidFill>
          <a:ln/>
        </p:spPr>
      </p:sp>
      <p:sp>
        <p:nvSpPr>
          <p:cNvPr id="24" name="Text 18"/>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6B7280"/>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25" name="Text 19"/>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C41E3A"/>
                </a:solidFill>
                <a:latin typeface="Segoe UI" pitchFamily="34" charset="0"/>
                <a:ea typeface="Segoe UI" pitchFamily="34" charset="-122"/>
                <a:cs typeface="Segoe UI" pitchFamily="34" charset="-120"/>
              </a:rPr>
              <a:t>02</a:t>
            </a:r>
            <a:endParaRPr lang="en-US" sz="1000" dirty="0"/>
          </a:p>
        </p:txBody>
      </p:sp>
    </p:spTree>
  </p:cSld>
  <p:clrMapOvr>
    <a:masterClrMapping/>
  </p:clrMapOvr>
  <p:transition xmlns:p14="http://schemas.microsoft.com/office/powerpoint/2010/main" spd="med" p14:dur="450">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7A0010"/>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FFD700"/>
                </a:solidFill>
                <a:latin typeface="Segoe UI" pitchFamily="34" charset="0"/>
                <a:ea typeface="Segoe UI" pitchFamily="34" charset="-122"/>
                <a:cs typeface="Segoe UI" pitchFamily="34" charset="-120"/>
              </a:rPr>
              <a:t>THỰC TRẠNG TRƯỚC KHI CÓ SÁNG KIẾN</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Text 3"/>
          <p:cNvSpPr/>
          <p:nvPr/>
        </p:nvSpPr>
        <p:spPr>
          <a:xfrm>
            <a:off x="548640" y="1965960"/>
            <a:ext cx="5852160" cy="1371600"/>
          </a:xfrm>
          <a:prstGeom prst="rect">
            <a:avLst/>
          </a:prstGeom>
          <a:noFill/>
          <a:ln/>
        </p:spPr>
        <p:txBody>
          <a:bodyPr wrap="square" lIns="0" tIns="0" rIns="0" bIns="0" rtlCol="0" anchor="ctr"/>
          <a:lstStyle/>
          <a:p>
            <a:pPr algn="ctr" indent="0" marL="0">
              <a:buNone/>
            </a:pPr>
            <a:r>
              <a:rPr lang="en-US" sz="6400" b="1" dirty="0">
                <a:solidFill>
                  <a:srgbClr val="FFD700"/>
                </a:solidFill>
                <a:latin typeface="Segoe UI" pitchFamily="34" charset="0"/>
                <a:ea typeface="Segoe UI" pitchFamily="34" charset="-122"/>
                <a:cs typeface="Segoe UI" pitchFamily="34" charset="-120"/>
              </a:rPr>
              <a:t>Hàng chục</a:t>
            </a:r>
            <a:endParaRPr lang="en-US" sz="6400" dirty="0"/>
          </a:p>
        </p:txBody>
      </p:sp>
      <p:sp>
        <p:nvSpPr>
          <p:cNvPr id="6" name="Text 4"/>
          <p:cNvSpPr/>
          <p:nvPr/>
        </p:nvSpPr>
        <p:spPr>
          <a:xfrm>
            <a:off x="640080" y="3337560"/>
            <a:ext cx="5669280" cy="914400"/>
          </a:xfrm>
          <a:prstGeom prst="rect">
            <a:avLst/>
          </a:prstGeom>
          <a:noFill/>
          <a:ln/>
        </p:spPr>
        <p:txBody>
          <a:bodyPr wrap="square" lIns="0" tIns="0" rIns="0" bIns="0" rtlCol="0" anchor="ctr"/>
          <a:lstStyle/>
          <a:p>
            <a:pPr algn="ctr" indent="0" marL="0">
              <a:buNone/>
            </a:pPr>
            <a:r>
              <a:rPr lang="en-US" sz="1700" dirty="0">
                <a:solidFill>
                  <a:srgbClr val="FFE9A8"/>
                </a:solidFill>
                <a:latin typeface="Segoe UI" pitchFamily="34" charset="0"/>
                <a:ea typeface="Segoe UI" pitchFamily="34" charset="-122"/>
                <a:cs typeface="Segoe UI" pitchFamily="34" charset="-120"/>
              </a:rPr>
              <a:t>lượt/ngày người dân đến hoặc gọi điện chỉ để hỏi thủ tục</a:t>
            </a:r>
            <a:endParaRPr lang="en-US" sz="1700" dirty="0"/>
          </a:p>
        </p:txBody>
      </p:sp>
      <p:sp>
        <p:nvSpPr>
          <p:cNvPr id="7" name="Shape 5"/>
          <p:cNvSpPr/>
          <p:nvPr/>
        </p:nvSpPr>
        <p:spPr>
          <a:xfrm>
            <a:off x="6492240" y="1965960"/>
            <a:ext cx="5029200" cy="841248"/>
          </a:xfrm>
          <a:prstGeom prst="roundRect">
            <a:avLst>
              <a:gd name="adj" fmla="val 10870"/>
            </a:avLst>
          </a:prstGeom>
          <a:solidFill>
            <a:srgbClr val="5F0D14"/>
          </a:solidFill>
          <a:ln w="12700">
            <a:solidFill>
              <a:srgbClr val="FFD700"/>
            </a:solidFill>
            <a:prstDash val="solid"/>
          </a:ln>
        </p:spPr>
      </p:sp>
      <p:sp>
        <p:nvSpPr>
          <p:cNvPr id="8" name="Shape 6"/>
          <p:cNvSpPr/>
          <p:nvPr/>
        </p:nvSpPr>
        <p:spPr>
          <a:xfrm>
            <a:off x="6766560" y="2112264"/>
            <a:ext cx="548640" cy="54864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9" name="Image 0" descr="preencoded.png">    </p:cNvPr>
          <p:cNvPicPr>
            <a:picLocks noChangeAspect="1"/>
          </p:cNvPicPr>
          <p:nvPr/>
        </p:nvPicPr>
        <p:blipFill>
          <a:blip r:embed="rId1"/>
          <a:stretch>
            <a:fillRect/>
          </a:stretch>
        </p:blipFill>
        <p:spPr>
          <a:xfrm>
            <a:off x="6914693" y="2260397"/>
            <a:ext cx="252374" cy="252374"/>
          </a:xfrm>
          <a:prstGeom prst="rect">
            <a:avLst/>
          </a:prstGeom>
        </p:spPr>
      </p:pic>
      <p:sp>
        <p:nvSpPr>
          <p:cNvPr id="10" name="Text 7"/>
          <p:cNvSpPr/>
          <p:nvPr/>
        </p:nvSpPr>
        <p:spPr>
          <a:xfrm>
            <a:off x="7498080" y="1965960"/>
            <a:ext cx="3886200" cy="841248"/>
          </a:xfrm>
          <a:prstGeom prst="rect">
            <a:avLst/>
          </a:prstGeom>
          <a:noFill/>
          <a:ln/>
        </p:spPr>
        <p:txBody>
          <a:bodyPr wrap="square" lIns="0" tIns="0" rIns="0" bIns="0" rtlCol="0" anchor="ctr"/>
          <a:lstStyle/>
          <a:p>
            <a:pPr indent="0" marL="0">
              <a:buNone/>
            </a:pPr>
            <a:r>
              <a:rPr lang="en-US" sz="1450" b="1" dirty="0">
                <a:solidFill>
                  <a:srgbClr val="FFFFFF"/>
                </a:solidFill>
                <a:latin typeface="Segoe UI" pitchFamily="34" charset="0"/>
                <a:ea typeface="Segoe UI" pitchFamily="34" charset="-122"/>
                <a:cs typeface="Segoe UI" pitchFamily="34" charset="-120"/>
              </a:rPr>
              <a:t>Hướng dẫn thủ công: trực tiếp, điện thoại, tờ rơi — tốn thời gian trực ban</a:t>
            </a:r>
            <a:endParaRPr lang="en-US" sz="1450" dirty="0"/>
          </a:p>
        </p:txBody>
      </p:sp>
      <p:sp>
        <p:nvSpPr>
          <p:cNvPr id="11" name="Shape 8"/>
          <p:cNvSpPr/>
          <p:nvPr/>
        </p:nvSpPr>
        <p:spPr>
          <a:xfrm>
            <a:off x="6492240" y="2990088"/>
            <a:ext cx="5029200" cy="841248"/>
          </a:xfrm>
          <a:prstGeom prst="roundRect">
            <a:avLst>
              <a:gd name="adj" fmla="val 10870"/>
            </a:avLst>
          </a:prstGeom>
          <a:solidFill>
            <a:srgbClr val="5F0D14"/>
          </a:solidFill>
          <a:ln w="12700">
            <a:solidFill>
              <a:srgbClr val="FFD700"/>
            </a:solidFill>
            <a:prstDash val="solid"/>
          </a:ln>
        </p:spPr>
      </p:sp>
      <p:sp>
        <p:nvSpPr>
          <p:cNvPr id="12" name="Shape 9"/>
          <p:cNvSpPr/>
          <p:nvPr/>
        </p:nvSpPr>
        <p:spPr>
          <a:xfrm>
            <a:off x="6766560" y="3136392"/>
            <a:ext cx="548640" cy="54864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13" name="Image 1" descr="preencoded.png">    </p:cNvPr>
          <p:cNvPicPr>
            <a:picLocks noChangeAspect="1"/>
          </p:cNvPicPr>
          <p:nvPr/>
        </p:nvPicPr>
        <p:blipFill>
          <a:blip r:embed="rId2"/>
          <a:stretch>
            <a:fillRect/>
          </a:stretch>
        </p:blipFill>
        <p:spPr>
          <a:xfrm>
            <a:off x="6914693" y="3284525"/>
            <a:ext cx="252374" cy="252374"/>
          </a:xfrm>
          <a:prstGeom prst="rect">
            <a:avLst/>
          </a:prstGeom>
        </p:spPr>
      </p:pic>
      <p:sp>
        <p:nvSpPr>
          <p:cNvPr id="14" name="Text 10"/>
          <p:cNvSpPr/>
          <p:nvPr/>
        </p:nvSpPr>
        <p:spPr>
          <a:xfrm>
            <a:off x="7498080" y="2990088"/>
            <a:ext cx="3886200" cy="841248"/>
          </a:xfrm>
          <a:prstGeom prst="rect">
            <a:avLst/>
          </a:prstGeom>
          <a:noFill/>
          <a:ln/>
        </p:spPr>
        <p:txBody>
          <a:bodyPr wrap="square" lIns="0" tIns="0" rIns="0" bIns="0" rtlCol="0" anchor="ctr"/>
          <a:lstStyle/>
          <a:p>
            <a:pPr indent="0" marL="0">
              <a:buNone/>
            </a:pPr>
            <a:r>
              <a:rPr lang="en-US" sz="1450" b="1" dirty="0">
                <a:solidFill>
                  <a:srgbClr val="FFFFFF"/>
                </a:solidFill>
                <a:latin typeface="Segoe UI" pitchFamily="34" charset="0"/>
                <a:ea typeface="Segoe UI" pitchFamily="34" charset="-122"/>
                <a:cs typeface="Segoe UI" pitchFamily="34" charset="-120"/>
              </a:rPr>
              <a:t>Câu hỏi lặp lại: cần giấy tờ gì · bao lâu · phí bao nhiêu</a:t>
            </a:r>
            <a:endParaRPr lang="en-US" sz="1450" dirty="0"/>
          </a:p>
        </p:txBody>
      </p:sp>
      <p:sp>
        <p:nvSpPr>
          <p:cNvPr id="15" name="Shape 11"/>
          <p:cNvSpPr/>
          <p:nvPr/>
        </p:nvSpPr>
        <p:spPr>
          <a:xfrm>
            <a:off x="6492240" y="4014216"/>
            <a:ext cx="5029200" cy="841248"/>
          </a:xfrm>
          <a:prstGeom prst="roundRect">
            <a:avLst>
              <a:gd name="adj" fmla="val 10870"/>
            </a:avLst>
          </a:prstGeom>
          <a:solidFill>
            <a:srgbClr val="5F0D14"/>
          </a:solidFill>
          <a:ln w="12700">
            <a:solidFill>
              <a:srgbClr val="FFD700"/>
            </a:solidFill>
            <a:prstDash val="solid"/>
          </a:ln>
        </p:spPr>
      </p:sp>
      <p:sp>
        <p:nvSpPr>
          <p:cNvPr id="16" name="Shape 12"/>
          <p:cNvSpPr/>
          <p:nvPr/>
        </p:nvSpPr>
        <p:spPr>
          <a:xfrm>
            <a:off x="6766560" y="4160520"/>
            <a:ext cx="548640" cy="54864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17" name="Image 2" descr="preencoded.png">    </p:cNvPr>
          <p:cNvPicPr>
            <a:picLocks noChangeAspect="1"/>
          </p:cNvPicPr>
          <p:nvPr/>
        </p:nvPicPr>
        <p:blipFill>
          <a:blip r:embed="rId3"/>
          <a:stretch>
            <a:fillRect/>
          </a:stretch>
        </p:blipFill>
        <p:spPr>
          <a:xfrm>
            <a:off x="6914693" y="4308653"/>
            <a:ext cx="252374" cy="252374"/>
          </a:xfrm>
          <a:prstGeom prst="rect">
            <a:avLst/>
          </a:prstGeom>
        </p:spPr>
      </p:pic>
      <p:sp>
        <p:nvSpPr>
          <p:cNvPr id="18" name="Text 13"/>
          <p:cNvSpPr/>
          <p:nvPr/>
        </p:nvSpPr>
        <p:spPr>
          <a:xfrm>
            <a:off x="7498080" y="4014216"/>
            <a:ext cx="3886200" cy="841248"/>
          </a:xfrm>
          <a:prstGeom prst="rect">
            <a:avLst/>
          </a:prstGeom>
          <a:noFill/>
          <a:ln/>
        </p:spPr>
        <p:txBody>
          <a:bodyPr wrap="square" lIns="0" tIns="0" rIns="0" bIns="0" rtlCol="0" anchor="ctr"/>
          <a:lstStyle/>
          <a:p>
            <a:pPr indent="0" marL="0">
              <a:buNone/>
            </a:pPr>
            <a:r>
              <a:rPr lang="en-US" sz="1450" b="1" dirty="0">
                <a:solidFill>
                  <a:srgbClr val="FFFFFF"/>
                </a:solidFill>
                <a:latin typeface="Segoe UI" pitchFamily="34" charset="0"/>
                <a:ea typeface="Segoe UI" pitchFamily="34" charset="-122"/>
                <a:cs typeface="Segoe UI" pitchFamily="34" charset="-120"/>
              </a:rPr>
              <a:t>Người dân đi lại nhiều lần do chuẩn bị thiếu hồ sơ</a:t>
            </a:r>
            <a:endParaRPr lang="en-US" sz="1450" dirty="0"/>
          </a:p>
        </p:txBody>
      </p:sp>
      <p:sp>
        <p:nvSpPr>
          <p:cNvPr id="19" name="Text 14"/>
          <p:cNvSpPr/>
          <p:nvPr/>
        </p:nvSpPr>
        <p:spPr>
          <a:xfrm>
            <a:off x="640080" y="5532120"/>
            <a:ext cx="10881360" cy="640080"/>
          </a:xfrm>
          <a:prstGeom prst="rect">
            <a:avLst/>
          </a:prstGeom>
          <a:noFill/>
          <a:ln/>
        </p:spPr>
        <p:txBody>
          <a:bodyPr wrap="square" lIns="0" tIns="0" rIns="0" bIns="0" rtlCol="0" anchor="ctr"/>
          <a:lstStyle/>
          <a:p>
            <a:pPr indent="0" marL="0">
              <a:buNone/>
            </a:pPr>
            <a:r>
              <a:rPr lang="en-US" sz="1450" i="1" dirty="0">
                <a:solidFill>
                  <a:srgbClr val="FFD700"/>
                </a:solidFill>
                <a:latin typeface="Segoe UI" pitchFamily="34" charset="0"/>
                <a:ea typeface="Segoe UI" pitchFamily="34" charset="-122"/>
                <a:cs typeface="Segoe UI" pitchFamily="34" charset="-120"/>
              </a:rPr>
              <a:t>Quy định liên tục cập nhật (Luật Căn cước 2023, Thông tư 24/2023…) càng làm tăng nhu cầu tra cứu chính thống.</a:t>
            </a:r>
            <a:endParaRPr lang="en-US" sz="1450" dirty="0"/>
          </a:p>
        </p:txBody>
      </p:sp>
      <p:pic>
        <p:nvPicPr>
          <p:cNvPr id="20" name="Image 3" descr="preencoded.png">    </p:cNvPr>
          <p:cNvPicPr>
            <a:picLocks noChangeAspect="1"/>
          </p:cNvPicPr>
          <p:nvPr/>
        </p:nvPicPr>
        <p:blipFill>
          <a:blip r:embed="rId4">
            <a:alphaModFix amt="82000"/>
          </a:blip>
          <a:stretch>
            <a:fillRect/>
          </a:stretch>
        </p:blipFill>
        <p:spPr>
          <a:xfrm>
            <a:off x="11082528" y="384048"/>
            <a:ext cx="566928" cy="566928"/>
          </a:xfrm>
          <a:prstGeom prst="rect">
            <a:avLst/>
          </a:prstGeom>
        </p:spPr>
      </p:pic>
      <p:sp>
        <p:nvSpPr>
          <p:cNvPr id="21" name="Shape 15"/>
          <p:cNvSpPr/>
          <p:nvPr/>
        </p:nvSpPr>
        <p:spPr>
          <a:xfrm>
            <a:off x="640080" y="6437376"/>
            <a:ext cx="10881360" cy="12802"/>
          </a:xfrm>
          <a:prstGeom prst="rect">
            <a:avLst/>
          </a:prstGeom>
          <a:solidFill>
            <a:srgbClr val="FFD700"/>
          </a:solidFill>
          <a:ln/>
        </p:spPr>
      </p:sp>
      <p:sp>
        <p:nvSpPr>
          <p:cNvPr id="22" name="Text 16"/>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FFE9A8"/>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23" name="Text 17"/>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FFD700"/>
                </a:solidFill>
                <a:latin typeface="Segoe UI" pitchFamily="34" charset="0"/>
                <a:ea typeface="Segoe UI" pitchFamily="34" charset="-122"/>
                <a:cs typeface="Segoe UI" pitchFamily="34" charset="-120"/>
              </a:rPr>
              <a:t>03</a:t>
            </a:r>
            <a:endParaRPr lang="en-US" sz="1000" dirty="0"/>
          </a:p>
        </p:txBody>
      </p:sp>
    </p:spTree>
  </p:cSld>
  <p:clrMapOvr>
    <a:masterClrMapping/>
  </p:clrMapOvr>
  <p:transition xmlns:p14="http://schemas.microsoft.com/office/powerpoint/2010/main" spd="med" p14:dur="450">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C41E3A"/>
                </a:solidFill>
                <a:latin typeface="Segoe UI" pitchFamily="34" charset="0"/>
                <a:ea typeface="Segoe UI" pitchFamily="34" charset="-122"/>
                <a:cs typeface="Segoe UI" pitchFamily="34" charset="-120"/>
              </a:rPr>
              <a:t>SÁNG KIẾN ĐỐI CHỨNG</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1F2937"/>
                </a:solidFill>
                <a:latin typeface="Segoe UI" pitchFamily="34" charset="0"/>
                <a:ea typeface="Segoe UI" pitchFamily="34" charset="-122"/>
                <a:cs typeface="Segoe UI" pitchFamily="34" charset="-120"/>
              </a:rPr>
              <a:t>Từ tờ giấy tĩnh → cổng số tương tác</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Shape 3"/>
          <p:cNvSpPr/>
          <p:nvPr/>
        </p:nvSpPr>
        <p:spPr>
          <a:xfrm>
            <a:off x="640080" y="1828800"/>
            <a:ext cx="4983480" cy="3840480"/>
          </a:xfrm>
          <a:prstGeom prst="roundRect">
            <a:avLst>
              <a:gd name="adj" fmla="val 2857"/>
            </a:avLst>
          </a:prstGeom>
          <a:solidFill>
            <a:srgbClr val="F1F1F1"/>
          </a:solidFill>
          <a:ln w="12700">
            <a:solidFill>
              <a:srgbClr val="D8D8D8"/>
            </a:solidFill>
            <a:prstDash val="solid"/>
          </a:ln>
          <a:effectLst>
            <a:outerShdw sx="100000" sy="100000" kx="0" ky="0" algn="bl" rotWithShape="0" blurRad="88900" dist="25400" dir="8100000">
              <a:srgbClr val="94A3B8">
                <a:alpha val="30000"/>
              </a:srgbClr>
            </a:outerShdw>
          </a:effectLst>
        </p:spPr>
      </p:sp>
      <p:sp>
        <p:nvSpPr>
          <p:cNvPr id="6" name="Shape 4"/>
          <p:cNvSpPr/>
          <p:nvPr/>
        </p:nvSpPr>
        <p:spPr>
          <a:xfrm>
            <a:off x="640080" y="1828800"/>
            <a:ext cx="4983480" cy="640080"/>
          </a:xfrm>
          <a:prstGeom prst="rect">
            <a:avLst/>
          </a:prstGeom>
          <a:solidFill>
            <a:srgbClr val="9CA3AF"/>
          </a:solidFill>
          <a:ln/>
        </p:spPr>
      </p:sp>
      <p:pic>
        <p:nvPicPr>
          <p:cNvPr id="7" name="Image 0" descr="preencoded.png">    </p:cNvPr>
          <p:cNvPicPr>
            <a:picLocks noChangeAspect="1"/>
          </p:cNvPicPr>
          <p:nvPr/>
        </p:nvPicPr>
        <p:blipFill>
          <a:blip r:embed="rId1"/>
          <a:stretch>
            <a:fillRect/>
          </a:stretch>
        </p:blipFill>
        <p:spPr>
          <a:xfrm>
            <a:off x="914400" y="1975104"/>
            <a:ext cx="347472" cy="347472"/>
          </a:xfrm>
          <a:prstGeom prst="rect">
            <a:avLst/>
          </a:prstGeom>
        </p:spPr>
      </p:pic>
      <p:sp>
        <p:nvSpPr>
          <p:cNvPr id="8" name="Text 5"/>
          <p:cNvSpPr/>
          <p:nvPr/>
        </p:nvSpPr>
        <p:spPr>
          <a:xfrm>
            <a:off x="1417320" y="1828800"/>
            <a:ext cx="4069080" cy="640080"/>
          </a:xfrm>
          <a:prstGeom prst="rect">
            <a:avLst/>
          </a:prstGeom>
          <a:noFill/>
          <a:ln/>
        </p:spPr>
        <p:txBody>
          <a:bodyPr wrap="square" lIns="0" tIns="0" rIns="0" bIns="0" rtlCol="0" anchor="ctr"/>
          <a:lstStyle/>
          <a:p>
            <a:pPr indent="0" marL="0">
              <a:buNone/>
            </a:pPr>
            <a:r>
              <a:rPr lang="en-US" sz="1800" b="1" dirty="0">
                <a:solidFill>
                  <a:srgbClr val="FFFFFF"/>
                </a:solidFill>
                <a:latin typeface="Segoe UI" pitchFamily="34" charset="0"/>
                <a:ea typeface="Segoe UI" pitchFamily="34" charset="-122"/>
                <a:cs typeface="Segoe UI" pitchFamily="34" charset="-120"/>
              </a:rPr>
              <a:t>TRƯỚC ĐÂY</a:t>
            </a:r>
            <a:endParaRPr lang="en-US" sz="1800" dirty="0"/>
          </a:p>
        </p:txBody>
      </p:sp>
      <p:pic>
        <p:nvPicPr>
          <p:cNvPr id="9" name="Image 1" descr="preencoded.png">    </p:cNvPr>
          <p:cNvPicPr>
            <a:picLocks noChangeAspect="1"/>
          </p:cNvPicPr>
          <p:nvPr/>
        </p:nvPicPr>
        <p:blipFill>
          <a:blip r:embed="rId2"/>
          <a:stretch>
            <a:fillRect/>
          </a:stretch>
        </p:blipFill>
        <p:spPr>
          <a:xfrm>
            <a:off x="932688" y="2770632"/>
            <a:ext cx="292608" cy="292608"/>
          </a:xfrm>
          <a:prstGeom prst="rect">
            <a:avLst/>
          </a:prstGeom>
        </p:spPr>
      </p:pic>
      <p:sp>
        <p:nvSpPr>
          <p:cNvPr id="10" name="Text 6"/>
          <p:cNvSpPr/>
          <p:nvPr/>
        </p:nvSpPr>
        <p:spPr>
          <a:xfrm>
            <a:off x="1371600" y="2743200"/>
            <a:ext cx="3977640" cy="548640"/>
          </a:xfrm>
          <a:prstGeom prst="rect">
            <a:avLst/>
          </a:prstGeom>
          <a:noFill/>
          <a:ln/>
        </p:spPr>
        <p:txBody>
          <a:bodyPr wrap="square" lIns="0" tIns="0" rIns="0" bIns="0" rtlCol="0" anchor="ctr"/>
          <a:lstStyle/>
          <a:p>
            <a:pPr indent="0" marL="0">
              <a:buNone/>
            </a:pPr>
            <a:r>
              <a:rPr lang="en-US" sz="1400" dirty="0">
                <a:solidFill>
                  <a:srgbClr val="374151"/>
                </a:solidFill>
                <a:latin typeface="Segoe UI" pitchFamily="34" charset="0"/>
                <a:ea typeface="Segoe UI" pitchFamily="34" charset="-122"/>
                <a:cs typeface="Segoe UI" pitchFamily="34" charset="-120"/>
              </a:rPr>
              <a:t>Bảng niêm yết bằng giấy tại trụ sở</a:t>
            </a:r>
            <a:endParaRPr lang="en-US" sz="1400" dirty="0"/>
          </a:p>
        </p:txBody>
      </p:sp>
      <p:pic>
        <p:nvPicPr>
          <p:cNvPr id="11" name="Image 2" descr="preencoded.png">    </p:cNvPr>
          <p:cNvPicPr>
            <a:picLocks noChangeAspect="1"/>
          </p:cNvPicPr>
          <p:nvPr/>
        </p:nvPicPr>
        <p:blipFill>
          <a:blip r:embed="rId3"/>
          <a:stretch>
            <a:fillRect/>
          </a:stretch>
        </p:blipFill>
        <p:spPr>
          <a:xfrm>
            <a:off x="932688" y="3447288"/>
            <a:ext cx="292608" cy="292608"/>
          </a:xfrm>
          <a:prstGeom prst="rect">
            <a:avLst/>
          </a:prstGeom>
        </p:spPr>
      </p:pic>
      <p:sp>
        <p:nvSpPr>
          <p:cNvPr id="12" name="Text 7"/>
          <p:cNvSpPr/>
          <p:nvPr/>
        </p:nvSpPr>
        <p:spPr>
          <a:xfrm>
            <a:off x="1371600" y="3419856"/>
            <a:ext cx="3977640" cy="548640"/>
          </a:xfrm>
          <a:prstGeom prst="rect">
            <a:avLst/>
          </a:prstGeom>
          <a:noFill/>
          <a:ln/>
        </p:spPr>
        <p:txBody>
          <a:bodyPr wrap="square" lIns="0" tIns="0" rIns="0" bIns="0" rtlCol="0" anchor="ctr"/>
          <a:lstStyle/>
          <a:p>
            <a:pPr indent="0" marL="0">
              <a:buNone/>
            </a:pPr>
            <a:r>
              <a:rPr lang="en-US" sz="1400" dirty="0">
                <a:solidFill>
                  <a:srgbClr val="374151"/>
                </a:solidFill>
                <a:latin typeface="Segoe UI" pitchFamily="34" charset="0"/>
                <a:ea typeface="Segoe UI" pitchFamily="34" charset="-122"/>
                <a:cs typeface="Segoe UI" pitchFamily="34" charset="-120"/>
              </a:rPr>
              <a:t>Gửi file PDF / Word vào nhóm Zalo</a:t>
            </a:r>
            <a:endParaRPr lang="en-US" sz="1400" dirty="0"/>
          </a:p>
        </p:txBody>
      </p:sp>
      <p:pic>
        <p:nvPicPr>
          <p:cNvPr id="13" name="Image 3" descr="preencoded.png">    </p:cNvPr>
          <p:cNvPicPr>
            <a:picLocks noChangeAspect="1"/>
          </p:cNvPicPr>
          <p:nvPr/>
        </p:nvPicPr>
        <p:blipFill>
          <a:blip r:embed="rId4"/>
          <a:stretch>
            <a:fillRect/>
          </a:stretch>
        </p:blipFill>
        <p:spPr>
          <a:xfrm>
            <a:off x="932688" y="4123944"/>
            <a:ext cx="292608" cy="292608"/>
          </a:xfrm>
          <a:prstGeom prst="rect">
            <a:avLst/>
          </a:prstGeom>
        </p:spPr>
      </p:pic>
      <p:sp>
        <p:nvSpPr>
          <p:cNvPr id="14" name="Text 8"/>
          <p:cNvSpPr/>
          <p:nvPr/>
        </p:nvSpPr>
        <p:spPr>
          <a:xfrm>
            <a:off x="1371600" y="4096512"/>
            <a:ext cx="3977640" cy="548640"/>
          </a:xfrm>
          <a:prstGeom prst="rect">
            <a:avLst/>
          </a:prstGeom>
          <a:noFill/>
          <a:ln/>
        </p:spPr>
        <p:txBody>
          <a:bodyPr wrap="square" lIns="0" tIns="0" rIns="0" bIns="0" rtlCol="0" anchor="ctr"/>
          <a:lstStyle/>
          <a:p>
            <a:pPr indent="0" marL="0">
              <a:buNone/>
            </a:pPr>
            <a:r>
              <a:rPr lang="en-US" sz="1400" dirty="0">
                <a:solidFill>
                  <a:srgbClr val="374151"/>
                </a:solidFill>
                <a:latin typeface="Segoe UI" pitchFamily="34" charset="0"/>
                <a:ea typeface="Segoe UI" pitchFamily="34" charset="-122"/>
                <a:cs typeface="Segoe UI" pitchFamily="34" charset="-120"/>
              </a:rPr>
              <a:t>Thiếu tương tác · chữ nhỏ khó đọc</a:t>
            </a:r>
            <a:endParaRPr lang="en-US" sz="1400" dirty="0"/>
          </a:p>
        </p:txBody>
      </p:sp>
      <p:pic>
        <p:nvPicPr>
          <p:cNvPr id="15" name="Image 4" descr="preencoded.png">    </p:cNvPr>
          <p:cNvPicPr>
            <a:picLocks noChangeAspect="1"/>
          </p:cNvPicPr>
          <p:nvPr/>
        </p:nvPicPr>
        <p:blipFill>
          <a:blip r:embed="rId5"/>
          <a:stretch>
            <a:fillRect/>
          </a:stretch>
        </p:blipFill>
        <p:spPr>
          <a:xfrm>
            <a:off x="932688" y="4800600"/>
            <a:ext cx="292608" cy="292608"/>
          </a:xfrm>
          <a:prstGeom prst="rect">
            <a:avLst/>
          </a:prstGeom>
        </p:spPr>
      </p:pic>
      <p:sp>
        <p:nvSpPr>
          <p:cNvPr id="16" name="Text 9"/>
          <p:cNvSpPr/>
          <p:nvPr/>
        </p:nvSpPr>
        <p:spPr>
          <a:xfrm>
            <a:off x="1371600" y="4773168"/>
            <a:ext cx="3977640" cy="548640"/>
          </a:xfrm>
          <a:prstGeom prst="rect">
            <a:avLst/>
          </a:prstGeom>
          <a:noFill/>
          <a:ln/>
        </p:spPr>
        <p:txBody>
          <a:bodyPr wrap="square" lIns="0" tIns="0" rIns="0" bIns="0" rtlCol="0" anchor="ctr"/>
          <a:lstStyle/>
          <a:p>
            <a:pPr indent="0" marL="0">
              <a:buNone/>
            </a:pPr>
            <a:r>
              <a:rPr lang="en-US" sz="1400" dirty="0">
                <a:solidFill>
                  <a:srgbClr val="374151"/>
                </a:solidFill>
                <a:latin typeface="Segoe UI" pitchFamily="34" charset="0"/>
                <a:ea typeface="Segoe UI" pitchFamily="34" charset="-122"/>
                <a:cs typeface="Segoe UI" pitchFamily="34" charset="-120"/>
              </a:rPr>
              <a:t>Khó tìm đúng trọng tâm thủ tục cần</a:t>
            </a:r>
            <a:endParaRPr lang="en-US" sz="1400" dirty="0"/>
          </a:p>
        </p:txBody>
      </p:sp>
      <p:pic>
        <p:nvPicPr>
          <p:cNvPr id="17" name="Image 5" descr="preencoded.png">    </p:cNvPr>
          <p:cNvPicPr>
            <a:picLocks noChangeAspect="1"/>
          </p:cNvPicPr>
          <p:nvPr/>
        </p:nvPicPr>
        <p:blipFill>
          <a:blip r:embed="rId6"/>
          <a:stretch>
            <a:fillRect/>
          </a:stretch>
        </p:blipFill>
        <p:spPr>
          <a:xfrm>
            <a:off x="5779008" y="3447288"/>
            <a:ext cx="603504" cy="603504"/>
          </a:xfrm>
          <a:prstGeom prst="rect">
            <a:avLst/>
          </a:prstGeom>
        </p:spPr>
      </p:pic>
      <p:sp>
        <p:nvSpPr>
          <p:cNvPr id="18" name="Shape 10"/>
          <p:cNvSpPr/>
          <p:nvPr/>
        </p:nvSpPr>
        <p:spPr>
          <a:xfrm>
            <a:off x="6537960" y="1828800"/>
            <a:ext cx="4983480" cy="3840480"/>
          </a:xfrm>
          <a:prstGeom prst="roundRect">
            <a:avLst>
              <a:gd name="adj" fmla="val 2857"/>
            </a:avLst>
          </a:prstGeom>
          <a:solidFill>
            <a:srgbClr val="7A0010"/>
          </a:solidFill>
          <a:ln w="17780">
            <a:solidFill>
              <a:srgbClr val="FFD700"/>
            </a:solidFill>
            <a:prstDash val="solid"/>
          </a:ln>
          <a:effectLst>
            <a:outerShdw sx="100000" sy="100000" kx="0" ky="0" algn="bl" rotWithShape="0" blurRad="114300" dist="38100" dir="8100000">
              <a:srgbClr val="4E0008">
                <a:alpha val="22000"/>
              </a:srgbClr>
            </a:outerShdw>
          </a:effectLst>
        </p:spPr>
      </p:sp>
      <p:sp>
        <p:nvSpPr>
          <p:cNvPr id="19" name="Shape 11"/>
          <p:cNvSpPr/>
          <p:nvPr/>
        </p:nvSpPr>
        <p:spPr>
          <a:xfrm>
            <a:off x="6537960" y="1828800"/>
            <a:ext cx="4983480" cy="640080"/>
          </a:xfrm>
          <a:prstGeom prst="rect">
            <a:avLst/>
          </a:prstGeom>
          <a:solidFill>
            <a:srgbClr val="C41E3A"/>
          </a:solidFill>
          <a:ln/>
        </p:spPr>
      </p:sp>
      <p:pic>
        <p:nvPicPr>
          <p:cNvPr id="20" name="Image 6" descr="preencoded.png">    </p:cNvPr>
          <p:cNvPicPr>
            <a:picLocks noChangeAspect="1"/>
          </p:cNvPicPr>
          <p:nvPr/>
        </p:nvPicPr>
        <p:blipFill>
          <a:blip r:embed="rId7"/>
          <a:stretch>
            <a:fillRect/>
          </a:stretch>
        </p:blipFill>
        <p:spPr>
          <a:xfrm>
            <a:off x="6812280" y="1975104"/>
            <a:ext cx="347472" cy="347472"/>
          </a:xfrm>
          <a:prstGeom prst="rect">
            <a:avLst/>
          </a:prstGeom>
        </p:spPr>
      </p:pic>
      <p:sp>
        <p:nvSpPr>
          <p:cNvPr id="21" name="Text 12"/>
          <p:cNvSpPr/>
          <p:nvPr/>
        </p:nvSpPr>
        <p:spPr>
          <a:xfrm>
            <a:off x="7315200" y="1828800"/>
            <a:ext cx="4069080" cy="640080"/>
          </a:xfrm>
          <a:prstGeom prst="rect">
            <a:avLst/>
          </a:prstGeom>
          <a:noFill/>
          <a:ln/>
        </p:spPr>
        <p:txBody>
          <a:bodyPr wrap="square" lIns="0" tIns="0" rIns="0" bIns="0" rtlCol="0" anchor="ctr"/>
          <a:lstStyle/>
          <a:p>
            <a:pPr indent="0" marL="0">
              <a:buNone/>
            </a:pPr>
            <a:r>
              <a:rPr lang="en-US" sz="1800" b="1" dirty="0">
                <a:solidFill>
                  <a:srgbClr val="FFFFFF"/>
                </a:solidFill>
                <a:latin typeface="Segoe UI" pitchFamily="34" charset="0"/>
                <a:ea typeface="Segoe UI" pitchFamily="34" charset="-122"/>
                <a:cs typeface="Segoe UI" pitchFamily="34" charset="-120"/>
              </a:rPr>
              <a:t>SÁNG KIẾN MỚI</a:t>
            </a:r>
            <a:endParaRPr lang="en-US" sz="1800" dirty="0"/>
          </a:p>
        </p:txBody>
      </p:sp>
      <p:pic>
        <p:nvPicPr>
          <p:cNvPr id="22" name="Image 7" descr="preencoded.png">    </p:cNvPr>
          <p:cNvPicPr>
            <a:picLocks noChangeAspect="1"/>
          </p:cNvPicPr>
          <p:nvPr/>
        </p:nvPicPr>
        <p:blipFill>
          <a:blip r:embed="rId8"/>
          <a:stretch>
            <a:fillRect/>
          </a:stretch>
        </p:blipFill>
        <p:spPr>
          <a:xfrm>
            <a:off x="6830568" y="2770632"/>
            <a:ext cx="292608" cy="292608"/>
          </a:xfrm>
          <a:prstGeom prst="rect">
            <a:avLst/>
          </a:prstGeom>
        </p:spPr>
      </p:pic>
      <p:sp>
        <p:nvSpPr>
          <p:cNvPr id="23" name="Text 13"/>
          <p:cNvSpPr/>
          <p:nvPr/>
        </p:nvSpPr>
        <p:spPr>
          <a:xfrm>
            <a:off x="7269480" y="2743200"/>
            <a:ext cx="3977640" cy="5486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Cổng số tương tác, tối ưu cho điện thoại</a:t>
            </a:r>
            <a:endParaRPr lang="en-US" sz="1400" dirty="0"/>
          </a:p>
        </p:txBody>
      </p:sp>
      <p:pic>
        <p:nvPicPr>
          <p:cNvPr id="24" name="Image 8" descr="preencoded.png">    </p:cNvPr>
          <p:cNvPicPr>
            <a:picLocks noChangeAspect="1"/>
          </p:cNvPicPr>
          <p:nvPr/>
        </p:nvPicPr>
        <p:blipFill>
          <a:blip r:embed="rId9"/>
          <a:stretch>
            <a:fillRect/>
          </a:stretch>
        </p:blipFill>
        <p:spPr>
          <a:xfrm>
            <a:off x="6830568" y="3447288"/>
            <a:ext cx="292608" cy="292608"/>
          </a:xfrm>
          <a:prstGeom prst="rect">
            <a:avLst/>
          </a:prstGeom>
        </p:spPr>
      </p:pic>
      <p:sp>
        <p:nvSpPr>
          <p:cNvPr id="25" name="Text 14"/>
          <p:cNvSpPr/>
          <p:nvPr/>
        </p:nvSpPr>
        <p:spPr>
          <a:xfrm>
            <a:off x="7269480" y="3419856"/>
            <a:ext cx="3977640" cy="5486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Hỏi – đáp tức thì với Trợ lý ảo</a:t>
            </a:r>
            <a:endParaRPr lang="en-US" sz="1400" dirty="0"/>
          </a:p>
        </p:txBody>
      </p:sp>
      <p:pic>
        <p:nvPicPr>
          <p:cNvPr id="26" name="Image 9" descr="preencoded.png">    </p:cNvPr>
          <p:cNvPicPr>
            <a:picLocks noChangeAspect="1"/>
          </p:cNvPicPr>
          <p:nvPr/>
        </p:nvPicPr>
        <p:blipFill>
          <a:blip r:embed="rId10"/>
          <a:stretch>
            <a:fillRect/>
          </a:stretch>
        </p:blipFill>
        <p:spPr>
          <a:xfrm>
            <a:off x="6830568" y="4123944"/>
            <a:ext cx="292608" cy="292608"/>
          </a:xfrm>
          <a:prstGeom prst="rect">
            <a:avLst/>
          </a:prstGeom>
        </p:spPr>
      </p:pic>
      <p:sp>
        <p:nvSpPr>
          <p:cNvPr id="27" name="Text 15"/>
          <p:cNvSpPr/>
          <p:nvPr/>
        </p:nvSpPr>
        <p:spPr>
          <a:xfrm>
            <a:off x="7269480" y="4096512"/>
            <a:ext cx="3977640" cy="5486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Tóm tắt ngắn gọn, dễ hiểu</a:t>
            </a:r>
            <a:endParaRPr lang="en-US" sz="1400" dirty="0"/>
          </a:p>
        </p:txBody>
      </p:sp>
      <p:pic>
        <p:nvPicPr>
          <p:cNvPr id="28" name="Image 10" descr="preencoded.png">    </p:cNvPr>
          <p:cNvPicPr>
            <a:picLocks noChangeAspect="1"/>
          </p:cNvPicPr>
          <p:nvPr/>
        </p:nvPicPr>
        <p:blipFill>
          <a:blip r:embed="rId11"/>
          <a:stretch>
            <a:fillRect/>
          </a:stretch>
        </p:blipFill>
        <p:spPr>
          <a:xfrm>
            <a:off x="6830568" y="4800600"/>
            <a:ext cx="292608" cy="292608"/>
          </a:xfrm>
          <a:prstGeom prst="rect">
            <a:avLst/>
          </a:prstGeom>
        </p:spPr>
      </p:pic>
      <p:sp>
        <p:nvSpPr>
          <p:cNvPr id="29" name="Text 16"/>
          <p:cNvSpPr/>
          <p:nvPr/>
        </p:nvSpPr>
        <p:spPr>
          <a:xfrm>
            <a:off x="7269480" y="4773168"/>
            <a:ext cx="3977640" cy="5486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Nút nộp hồ sơ online ngay trên cổng</a:t>
            </a:r>
            <a:endParaRPr lang="en-US" sz="1400" dirty="0"/>
          </a:p>
        </p:txBody>
      </p:sp>
      <p:pic>
        <p:nvPicPr>
          <p:cNvPr id="30" name="Image 11" descr="preencoded.png">    </p:cNvPr>
          <p:cNvPicPr>
            <a:picLocks noChangeAspect="1"/>
          </p:cNvPicPr>
          <p:nvPr/>
        </p:nvPicPr>
        <p:blipFill>
          <a:blip r:embed="rId12">
            <a:alphaModFix amt="70000"/>
          </a:blip>
          <a:stretch>
            <a:fillRect/>
          </a:stretch>
        </p:blipFill>
        <p:spPr>
          <a:xfrm>
            <a:off x="11082528" y="384048"/>
            <a:ext cx="566928" cy="566928"/>
          </a:xfrm>
          <a:prstGeom prst="rect">
            <a:avLst/>
          </a:prstGeom>
        </p:spPr>
      </p:pic>
      <p:sp>
        <p:nvSpPr>
          <p:cNvPr id="31" name="Shape 17"/>
          <p:cNvSpPr/>
          <p:nvPr/>
        </p:nvSpPr>
        <p:spPr>
          <a:xfrm>
            <a:off x="640080" y="6437376"/>
            <a:ext cx="10881360" cy="12802"/>
          </a:xfrm>
          <a:prstGeom prst="rect">
            <a:avLst/>
          </a:prstGeom>
          <a:solidFill>
            <a:srgbClr val="F3D2D7"/>
          </a:solidFill>
          <a:ln/>
        </p:spPr>
      </p:sp>
      <p:sp>
        <p:nvSpPr>
          <p:cNvPr id="32" name="Text 18"/>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6B7280"/>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33" name="Text 19"/>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C41E3A"/>
                </a:solidFill>
                <a:latin typeface="Segoe UI" pitchFamily="34" charset="0"/>
                <a:ea typeface="Segoe UI" pitchFamily="34" charset="-122"/>
                <a:cs typeface="Segoe UI" pitchFamily="34" charset="-120"/>
              </a:rPr>
              <a:t>04</a:t>
            </a:r>
            <a:endParaRPr lang="en-US" sz="1000" dirty="0"/>
          </a:p>
        </p:txBody>
      </p:sp>
    </p:spTree>
  </p:cSld>
  <p:clrMapOvr>
    <a:masterClrMapping/>
  </p:clrMapOvr>
  <p:transition xmlns:p14="http://schemas.microsoft.com/office/powerpoint/2010/main" spd="med" p14:dur="450">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C41E3A"/>
                </a:solidFill>
                <a:latin typeface="Segoe UI" pitchFamily="34" charset="0"/>
                <a:ea typeface="Segoe UI" pitchFamily="34" charset="-122"/>
                <a:cs typeface="Segoe UI" pitchFamily="34" charset="-120"/>
              </a:rPr>
              <a:t>CÁCH VẬN HÀNH</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1F2937"/>
                </a:solidFill>
                <a:latin typeface="Segoe UI" pitchFamily="34" charset="0"/>
                <a:ea typeface="Segoe UI" pitchFamily="34" charset="-122"/>
                <a:cs typeface="Segoe UI" pitchFamily="34" charset="-120"/>
              </a:rPr>
              <a:t>Web App — quét là dùng, không cài đặt</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Text 3"/>
          <p:cNvSpPr/>
          <p:nvPr/>
        </p:nvSpPr>
        <p:spPr>
          <a:xfrm>
            <a:off x="640080" y="1627632"/>
            <a:ext cx="10881360" cy="548640"/>
          </a:xfrm>
          <a:prstGeom prst="rect">
            <a:avLst/>
          </a:prstGeom>
          <a:noFill/>
          <a:ln/>
        </p:spPr>
        <p:txBody>
          <a:bodyPr wrap="square" lIns="0" tIns="0" rIns="0" bIns="0" rtlCol="0" anchor="ctr"/>
          <a:lstStyle/>
          <a:p>
            <a:pPr indent="0" marL="0">
              <a:buNone/>
            </a:pPr>
            <a:r>
              <a:rPr lang="en-US" sz="1550" dirty="0">
                <a:solidFill>
                  <a:srgbClr val="374151"/>
                </a:solidFill>
                <a:latin typeface="Segoe UI" pitchFamily="34" charset="0"/>
                <a:ea typeface="Segoe UI" pitchFamily="34" charset="-122"/>
                <a:cs typeface="Segoe UI" pitchFamily="34" charset="-120"/>
              </a:rPr>
              <a:t>Truy cập qua trình duyệt hoặc quét mã QR. Ba bước tự nhiên cho người dân.</a:t>
            </a:r>
            <a:endParaRPr lang="en-US" sz="1550" dirty="0"/>
          </a:p>
        </p:txBody>
      </p:sp>
      <p:sp>
        <p:nvSpPr>
          <p:cNvPr id="6" name="Shape 4"/>
          <p:cNvSpPr/>
          <p:nvPr/>
        </p:nvSpPr>
        <p:spPr>
          <a:xfrm>
            <a:off x="640080" y="2468880"/>
            <a:ext cx="3078480" cy="3017520"/>
          </a:xfrm>
          <a:prstGeom prst="roundRect">
            <a:avLst>
              <a:gd name="adj" fmla="val 3636"/>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7" name="Shape 5"/>
          <p:cNvSpPr/>
          <p:nvPr/>
        </p:nvSpPr>
        <p:spPr>
          <a:xfrm>
            <a:off x="1630680" y="2743200"/>
            <a:ext cx="1097280" cy="109728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8" name="Image 0" descr="preencoded.png">    </p:cNvPr>
          <p:cNvPicPr>
            <a:picLocks noChangeAspect="1"/>
          </p:cNvPicPr>
          <p:nvPr/>
        </p:nvPicPr>
        <p:blipFill>
          <a:blip r:embed="rId1"/>
          <a:stretch>
            <a:fillRect/>
          </a:stretch>
        </p:blipFill>
        <p:spPr>
          <a:xfrm>
            <a:off x="1926946" y="3039466"/>
            <a:ext cx="504749" cy="504749"/>
          </a:xfrm>
          <a:prstGeom prst="rect">
            <a:avLst/>
          </a:prstGeom>
        </p:spPr>
      </p:pic>
      <p:sp>
        <p:nvSpPr>
          <p:cNvPr id="9" name="Text 6"/>
          <p:cNvSpPr/>
          <p:nvPr/>
        </p:nvSpPr>
        <p:spPr>
          <a:xfrm>
            <a:off x="822960" y="4023360"/>
            <a:ext cx="2712720" cy="502920"/>
          </a:xfrm>
          <a:prstGeom prst="rect">
            <a:avLst/>
          </a:prstGeom>
          <a:noFill/>
          <a:ln/>
        </p:spPr>
        <p:txBody>
          <a:bodyPr wrap="square" lIns="0" tIns="0" rIns="0" bIns="0" rtlCol="0" anchor="ctr"/>
          <a:lstStyle/>
          <a:p>
            <a:pPr algn="ctr" indent="0" marL="0">
              <a:buNone/>
            </a:pPr>
            <a:r>
              <a:rPr lang="en-US" sz="1800" b="1" dirty="0">
                <a:solidFill>
                  <a:srgbClr val="1F2937"/>
                </a:solidFill>
                <a:latin typeface="Segoe UI" pitchFamily="34" charset="0"/>
                <a:ea typeface="Segoe UI" pitchFamily="34" charset="-122"/>
                <a:cs typeface="Segoe UI" pitchFamily="34" charset="-120"/>
              </a:rPr>
              <a:t>1. Quét mã QR</a:t>
            </a:r>
            <a:endParaRPr lang="en-US" sz="1800" dirty="0"/>
          </a:p>
        </p:txBody>
      </p:sp>
      <p:sp>
        <p:nvSpPr>
          <p:cNvPr id="10" name="Text 7"/>
          <p:cNvSpPr/>
          <p:nvPr/>
        </p:nvSpPr>
        <p:spPr>
          <a:xfrm>
            <a:off x="868680" y="4572000"/>
            <a:ext cx="2621280" cy="822960"/>
          </a:xfrm>
          <a:prstGeom prst="rect">
            <a:avLst/>
          </a:prstGeom>
          <a:noFill/>
          <a:ln/>
        </p:spPr>
        <p:txBody>
          <a:bodyPr wrap="square" lIns="0" tIns="0" rIns="0" bIns="0" rtlCol="0" anchor="ctr"/>
          <a:lstStyle/>
          <a:p>
            <a:pPr algn="ctr" indent="0" marL="0">
              <a:buNone/>
            </a:pPr>
            <a:r>
              <a:rPr lang="en-US" sz="1400" dirty="0">
                <a:solidFill>
                  <a:srgbClr val="374151"/>
                </a:solidFill>
                <a:latin typeface="Segoe UI" pitchFamily="34" charset="0"/>
                <a:ea typeface="Segoe UI" pitchFamily="34" charset="-122"/>
                <a:cs typeface="Segoe UI" pitchFamily="34" charset="-120"/>
              </a:rPr>
              <a:t>Mở cổng ngay, không cần cài ứng dụng.</a:t>
            </a:r>
            <a:endParaRPr lang="en-US" sz="1400" dirty="0"/>
          </a:p>
        </p:txBody>
      </p:sp>
      <p:pic>
        <p:nvPicPr>
          <p:cNvPr id="11" name="Image 1" descr="preencoded.png">    </p:cNvPr>
          <p:cNvPicPr>
            <a:picLocks noChangeAspect="1"/>
          </p:cNvPicPr>
          <p:nvPr/>
        </p:nvPicPr>
        <p:blipFill>
          <a:blip r:embed="rId2"/>
          <a:stretch>
            <a:fillRect/>
          </a:stretch>
        </p:blipFill>
        <p:spPr>
          <a:xfrm>
            <a:off x="3919728" y="3749040"/>
            <a:ext cx="420624" cy="420624"/>
          </a:xfrm>
          <a:prstGeom prst="rect">
            <a:avLst/>
          </a:prstGeom>
        </p:spPr>
      </p:pic>
      <p:sp>
        <p:nvSpPr>
          <p:cNvPr id="12" name="Shape 8"/>
          <p:cNvSpPr/>
          <p:nvPr/>
        </p:nvSpPr>
        <p:spPr>
          <a:xfrm>
            <a:off x="4541520" y="2468880"/>
            <a:ext cx="3078480" cy="3017520"/>
          </a:xfrm>
          <a:prstGeom prst="roundRect">
            <a:avLst>
              <a:gd name="adj" fmla="val 3636"/>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13" name="Shape 9"/>
          <p:cNvSpPr/>
          <p:nvPr/>
        </p:nvSpPr>
        <p:spPr>
          <a:xfrm>
            <a:off x="5532120" y="2743200"/>
            <a:ext cx="1097280" cy="109728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14" name="Image 2" descr="preencoded.png">    </p:cNvPr>
          <p:cNvPicPr>
            <a:picLocks noChangeAspect="1"/>
          </p:cNvPicPr>
          <p:nvPr/>
        </p:nvPicPr>
        <p:blipFill>
          <a:blip r:embed="rId3"/>
          <a:stretch>
            <a:fillRect/>
          </a:stretch>
        </p:blipFill>
        <p:spPr>
          <a:xfrm>
            <a:off x="5828386" y="3039466"/>
            <a:ext cx="504749" cy="504749"/>
          </a:xfrm>
          <a:prstGeom prst="rect">
            <a:avLst/>
          </a:prstGeom>
        </p:spPr>
      </p:pic>
      <p:sp>
        <p:nvSpPr>
          <p:cNvPr id="15" name="Text 10"/>
          <p:cNvSpPr/>
          <p:nvPr/>
        </p:nvSpPr>
        <p:spPr>
          <a:xfrm>
            <a:off x="4724400" y="4023360"/>
            <a:ext cx="2712720" cy="502920"/>
          </a:xfrm>
          <a:prstGeom prst="rect">
            <a:avLst/>
          </a:prstGeom>
          <a:noFill/>
          <a:ln/>
        </p:spPr>
        <p:txBody>
          <a:bodyPr wrap="square" lIns="0" tIns="0" rIns="0" bIns="0" rtlCol="0" anchor="ctr"/>
          <a:lstStyle/>
          <a:p>
            <a:pPr algn="ctr" indent="0" marL="0">
              <a:buNone/>
            </a:pPr>
            <a:r>
              <a:rPr lang="en-US" sz="1800" b="1" dirty="0">
                <a:solidFill>
                  <a:srgbClr val="1F2937"/>
                </a:solidFill>
                <a:latin typeface="Segoe UI" pitchFamily="34" charset="0"/>
                <a:ea typeface="Segoe UI" pitchFamily="34" charset="-122"/>
                <a:cs typeface="Segoe UI" pitchFamily="34" charset="-120"/>
              </a:rPr>
              <a:t>2. Tra cứu / hỏi Trợ lý ảo</a:t>
            </a:r>
            <a:endParaRPr lang="en-US" sz="1800" dirty="0"/>
          </a:p>
        </p:txBody>
      </p:sp>
      <p:sp>
        <p:nvSpPr>
          <p:cNvPr id="16" name="Text 11"/>
          <p:cNvSpPr/>
          <p:nvPr/>
        </p:nvSpPr>
        <p:spPr>
          <a:xfrm>
            <a:off x="4770120" y="4572000"/>
            <a:ext cx="2621280" cy="822960"/>
          </a:xfrm>
          <a:prstGeom prst="rect">
            <a:avLst/>
          </a:prstGeom>
          <a:noFill/>
          <a:ln/>
        </p:spPr>
        <p:txBody>
          <a:bodyPr wrap="square" lIns="0" tIns="0" rIns="0" bIns="0" rtlCol="0" anchor="ctr"/>
          <a:lstStyle/>
          <a:p>
            <a:pPr algn="ctr" indent="0" marL="0">
              <a:buNone/>
            </a:pPr>
            <a:r>
              <a:rPr lang="en-US" sz="1400" dirty="0">
                <a:solidFill>
                  <a:srgbClr val="374151"/>
                </a:solidFill>
                <a:latin typeface="Segoe UI" pitchFamily="34" charset="0"/>
                <a:ea typeface="Segoe UI" pitchFamily="34" charset="-122"/>
                <a:cs typeface="Segoe UI" pitchFamily="34" charset="-120"/>
              </a:rPr>
              <a:t>Tìm lĩnh vực hoặc gõ câu hỏi tự nhiên.</a:t>
            </a:r>
            <a:endParaRPr lang="en-US" sz="1400" dirty="0"/>
          </a:p>
        </p:txBody>
      </p:sp>
      <p:pic>
        <p:nvPicPr>
          <p:cNvPr id="17" name="Image 3" descr="preencoded.png">    </p:cNvPr>
          <p:cNvPicPr>
            <a:picLocks noChangeAspect="1"/>
          </p:cNvPicPr>
          <p:nvPr/>
        </p:nvPicPr>
        <p:blipFill>
          <a:blip r:embed="rId4"/>
          <a:stretch>
            <a:fillRect/>
          </a:stretch>
        </p:blipFill>
        <p:spPr>
          <a:xfrm>
            <a:off x="7821168" y="3749040"/>
            <a:ext cx="420624" cy="420624"/>
          </a:xfrm>
          <a:prstGeom prst="rect">
            <a:avLst/>
          </a:prstGeom>
        </p:spPr>
      </p:pic>
      <p:sp>
        <p:nvSpPr>
          <p:cNvPr id="18" name="Shape 12"/>
          <p:cNvSpPr/>
          <p:nvPr/>
        </p:nvSpPr>
        <p:spPr>
          <a:xfrm>
            <a:off x="8442960" y="2468880"/>
            <a:ext cx="3078480" cy="3017520"/>
          </a:xfrm>
          <a:prstGeom prst="roundRect">
            <a:avLst>
              <a:gd name="adj" fmla="val 3636"/>
            </a:avLst>
          </a:prstGeom>
          <a:solidFill>
            <a:srgbClr val="7A0010"/>
          </a:solidFill>
          <a:ln w="12700">
            <a:solidFill>
              <a:srgbClr val="FFD700"/>
            </a:solidFill>
            <a:prstDash val="solid"/>
          </a:ln>
          <a:effectLst>
            <a:outerShdw sx="100000" sy="100000" kx="0" ky="0" algn="bl" rotWithShape="0" blurRad="88900" dist="25400" dir="8100000">
              <a:srgbClr val="94A3B8">
                <a:alpha val="30000"/>
              </a:srgbClr>
            </a:outerShdw>
          </a:effectLst>
        </p:spPr>
      </p:sp>
      <p:sp>
        <p:nvSpPr>
          <p:cNvPr id="19" name="Shape 13"/>
          <p:cNvSpPr/>
          <p:nvPr/>
        </p:nvSpPr>
        <p:spPr>
          <a:xfrm>
            <a:off x="9433560" y="2743200"/>
            <a:ext cx="1097280" cy="1097280"/>
          </a:xfrm>
          <a:prstGeom prst="ellipse">
            <a:avLst/>
          </a:prstGeom>
          <a:solidFill>
            <a:srgbClr val="1F7A1F"/>
          </a:solidFill>
          <a:ln/>
          <a:effectLst>
            <a:outerShdw sx="100000" sy="100000" kx="0" ky="0" algn="bl" rotWithShape="0" blurRad="114300" dist="38100" dir="8100000">
              <a:srgbClr val="4E0008">
                <a:alpha val="22000"/>
              </a:srgbClr>
            </a:outerShdw>
          </a:effectLst>
        </p:spPr>
      </p:sp>
      <p:pic>
        <p:nvPicPr>
          <p:cNvPr id="20" name="Image 4" descr="preencoded.png">    </p:cNvPr>
          <p:cNvPicPr>
            <a:picLocks noChangeAspect="1"/>
          </p:cNvPicPr>
          <p:nvPr/>
        </p:nvPicPr>
        <p:blipFill>
          <a:blip r:embed="rId5"/>
          <a:stretch>
            <a:fillRect/>
          </a:stretch>
        </p:blipFill>
        <p:spPr>
          <a:xfrm>
            <a:off x="9729826" y="3039466"/>
            <a:ext cx="504749" cy="504749"/>
          </a:xfrm>
          <a:prstGeom prst="rect">
            <a:avLst/>
          </a:prstGeom>
        </p:spPr>
      </p:pic>
      <p:sp>
        <p:nvSpPr>
          <p:cNvPr id="21" name="Text 14"/>
          <p:cNvSpPr/>
          <p:nvPr/>
        </p:nvSpPr>
        <p:spPr>
          <a:xfrm>
            <a:off x="8625840" y="4023360"/>
            <a:ext cx="27127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pitchFamily="34" charset="0"/>
                <a:ea typeface="Segoe UI" pitchFamily="34" charset="-122"/>
                <a:cs typeface="Segoe UI" pitchFamily="34" charset="-120"/>
              </a:rPr>
              <a:t>3. Nộp hồ sơ online</a:t>
            </a:r>
            <a:endParaRPr lang="en-US" sz="1800" dirty="0"/>
          </a:p>
        </p:txBody>
      </p:sp>
      <p:sp>
        <p:nvSpPr>
          <p:cNvPr id="22" name="Text 15"/>
          <p:cNvSpPr/>
          <p:nvPr/>
        </p:nvSpPr>
        <p:spPr>
          <a:xfrm>
            <a:off x="8671560" y="4572000"/>
            <a:ext cx="2621280" cy="822960"/>
          </a:xfrm>
          <a:prstGeom prst="rect">
            <a:avLst/>
          </a:prstGeom>
          <a:noFill/>
          <a:ln/>
        </p:spPr>
        <p:txBody>
          <a:bodyPr wrap="square" lIns="0" tIns="0" rIns="0" bIns="0" rtlCol="0" anchor="ctr"/>
          <a:lstStyle/>
          <a:p>
            <a:pPr algn="ctr" indent="0" marL="0">
              <a:buNone/>
            </a:pPr>
            <a:r>
              <a:rPr lang="en-US" sz="1400" dirty="0">
                <a:solidFill>
                  <a:srgbClr val="FFE9A8"/>
                </a:solidFill>
                <a:latin typeface="Segoe UI" pitchFamily="34" charset="0"/>
                <a:ea typeface="Segoe UI" pitchFamily="34" charset="-122"/>
                <a:cs typeface="Segoe UI" pitchFamily="34" charset="-120"/>
              </a:rPr>
              <a:t>Liên kết thẳng tới Cổng DVC Bộ Công an.</a:t>
            </a:r>
            <a:endParaRPr lang="en-US" sz="1400" dirty="0"/>
          </a:p>
        </p:txBody>
      </p:sp>
      <p:pic>
        <p:nvPicPr>
          <p:cNvPr id="23" name="Image 5" descr="preencoded.png">    </p:cNvPr>
          <p:cNvPicPr>
            <a:picLocks noChangeAspect="1"/>
          </p:cNvPicPr>
          <p:nvPr/>
        </p:nvPicPr>
        <p:blipFill>
          <a:blip r:embed="rId6">
            <a:alphaModFix amt="70000"/>
          </a:blip>
          <a:stretch>
            <a:fillRect/>
          </a:stretch>
        </p:blipFill>
        <p:spPr>
          <a:xfrm>
            <a:off x="11082528" y="384048"/>
            <a:ext cx="566928" cy="566928"/>
          </a:xfrm>
          <a:prstGeom prst="rect">
            <a:avLst/>
          </a:prstGeom>
        </p:spPr>
      </p:pic>
      <p:sp>
        <p:nvSpPr>
          <p:cNvPr id="24" name="Shape 16"/>
          <p:cNvSpPr/>
          <p:nvPr/>
        </p:nvSpPr>
        <p:spPr>
          <a:xfrm>
            <a:off x="640080" y="6437376"/>
            <a:ext cx="10881360" cy="12802"/>
          </a:xfrm>
          <a:prstGeom prst="rect">
            <a:avLst/>
          </a:prstGeom>
          <a:solidFill>
            <a:srgbClr val="F3D2D7"/>
          </a:solidFill>
          <a:ln/>
        </p:spPr>
      </p:sp>
      <p:sp>
        <p:nvSpPr>
          <p:cNvPr id="25" name="Text 17"/>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6B7280"/>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26" name="Text 18"/>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C41E3A"/>
                </a:solidFill>
                <a:latin typeface="Segoe UI" pitchFamily="34" charset="0"/>
                <a:ea typeface="Segoe UI" pitchFamily="34" charset="-122"/>
                <a:cs typeface="Segoe UI" pitchFamily="34" charset="-120"/>
              </a:rPr>
              <a:t>05</a:t>
            </a:r>
            <a:endParaRPr lang="en-US" sz="1000" dirty="0"/>
          </a:p>
        </p:txBody>
      </p:sp>
    </p:spTree>
  </p:cSld>
  <p:clrMapOvr>
    <a:masterClrMapping/>
  </p:clrMapOvr>
  <p:transition xmlns:p14="http://schemas.microsoft.com/office/powerpoint/2010/main" spd="med" p14:dur="450">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C41E3A"/>
                </a:solidFill>
                <a:latin typeface="Segoe UI" pitchFamily="34" charset="0"/>
                <a:ea typeface="Segoe UI" pitchFamily="34" charset="-122"/>
                <a:cs typeface="Segoe UI" pitchFamily="34" charset="-120"/>
              </a:rPr>
              <a:t>PHÂN LOẠI THÔNG MINH</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1F2937"/>
                </a:solidFill>
                <a:latin typeface="Segoe UI" pitchFamily="34" charset="0"/>
                <a:ea typeface="Segoe UI" pitchFamily="34" charset="-122"/>
                <a:cs typeface="Segoe UI" pitchFamily="34" charset="-120"/>
              </a:rPr>
              <a:t>06 nhóm lĩnh vực trọng tâm cấp phường</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Text 3"/>
          <p:cNvSpPr/>
          <p:nvPr/>
        </p:nvSpPr>
        <p:spPr>
          <a:xfrm>
            <a:off x="640080" y="1591056"/>
            <a:ext cx="10881360" cy="411480"/>
          </a:xfrm>
          <a:prstGeom prst="rect">
            <a:avLst/>
          </a:prstGeom>
          <a:noFill/>
          <a:ln/>
        </p:spPr>
        <p:txBody>
          <a:bodyPr wrap="square" lIns="0" tIns="0" rIns="0" bIns="0" rtlCol="0" anchor="ctr"/>
          <a:lstStyle/>
          <a:p>
            <a:pPr indent="0" marL="0">
              <a:buNone/>
            </a:pPr>
            <a:r>
              <a:rPr lang="en-US" sz="1400" i="1" dirty="0">
                <a:solidFill>
                  <a:srgbClr val="374151"/>
                </a:solidFill>
                <a:latin typeface="Segoe UI" pitchFamily="34" charset="0"/>
                <a:ea typeface="Segoe UI" pitchFamily="34" charset="-122"/>
                <a:cs typeface="Segoe UI" pitchFamily="34" charset="-120"/>
              </a:rPr>
              <a:t>Mỗi lĩnh vực là một thẻ gập/mở (giấy tờ · thời gian · nút nộp online) — kèm chuyên mục riêng “Thủ tục liên thông trọng điểm”.</a:t>
            </a:r>
            <a:endParaRPr lang="en-US" sz="1400" dirty="0"/>
          </a:p>
        </p:txBody>
      </p:sp>
      <p:sp>
        <p:nvSpPr>
          <p:cNvPr id="6" name="Shape 4"/>
          <p:cNvSpPr/>
          <p:nvPr/>
        </p:nvSpPr>
        <p:spPr>
          <a:xfrm>
            <a:off x="640080" y="2148840"/>
            <a:ext cx="3383280" cy="1691640"/>
          </a:xfrm>
          <a:prstGeom prst="roundRect">
            <a:avLst>
              <a:gd name="adj" fmla="val 5405"/>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7" name="Shape 5"/>
          <p:cNvSpPr/>
          <p:nvPr/>
        </p:nvSpPr>
        <p:spPr>
          <a:xfrm>
            <a:off x="640080" y="2148840"/>
            <a:ext cx="91440" cy="1691640"/>
          </a:xfrm>
          <a:prstGeom prst="rect">
            <a:avLst/>
          </a:prstGeom>
          <a:solidFill>
            <a:srgbClr val="C41E3A"/>
          </a:solidFill>
          <a:ln/>
        </p:spPr>
      </p:sp>
      <p:sp>
        <p:nvSpPr>
          <p:cNvPr id="8" name="Shape 6"/>
          <p:cNvSpPr/>
          <p:nvPr/>
        </p:nvSpPr>
        <p:spPr>
          <a:xfrm>
            <a:off x="932688" y="2441448"/>
            <a:ext cx="777240" cy="77724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9" name="Image 0" descr="preencoded.png">    </p:cNvPr>
          <p:cNvPicPr>
            <a:picLocks noChangeAspect="1"/>
          </p:cNvPicPr>
          <p:nvPr/>
        </p:nvPicPr>
        <p:blipFill>
          <a:blip r:embed="rId1"/>
          <a:stretch>
            <a:fillRect/>
          </a:stretch>
        </p:blipFill>
        <p:spPr>
          <a:xfrm>
            <a:off x="1142543" y="2651303"/>
            <a:ext cx="357530" cy="357530"/>
          </a:xfrm>
          <a:prstGeom prst="rect">
            <a:avLst/>
          </a:prstGeom>
        </p:spPr>
      </p:pic>
      <p:sp>
        <p:nvSpPr>
          <p:cNvPr id="10" name="Text 7"/>
          <p:cNvSpPr/>
          <p:nvPr/>
        </p:nvSpPr>
        <p:spPr>
          <a:xfrm>
            <a:off x="1874520" y="2423160"/>
            <a:ext cx="1965960" cy="502920"/>
          </a:xfrm>
          <a:prstGeom prst="rect">
            <a:avLst/>
          </a:prstGeom>
          <a:noFill/>
          <a:ln/>
        </p:spPr>
        <p:txBody>
          <a:bodyPr wrap="square" lIns="0" tIns="0" rIns="0" bIns="0" rtlCol="0" anchor="ctr"/>
          <a:lstStyle/>
          <a:p>
            <a:pPr indent="0" marL="0">
              <a:buNone/>
            </a:pPr>
            <a:r>
              <a:rPr lang="en-US" sz="1600" b="1" dirty="0">
                <a:solidFill>
                  <a:srgbClr val="1F2937"/>
                </a:solidFill>
                <a:latin typeface="Segoe UI" pitchFamily="34" charset="0"/>
                <a:ea typeface="Segoe UI" pitchFamily="34" charset="-122"/>
                <a:cs typeface="Segoe UI" pitchFamily="34" charset="-120"/>
              </a:rPr>
              <a:t>Cư trú &amp; Căn cước</a:t>
            </a:r>
            <a:endParaRPr lang="en-US" sz="1600" dirty="0"/>
          </a:p>
        </p:txBody>
      </p:sp>
      <p:sp>
        <p:nvSpPr>
          <p:cNvPr id="11" name="Text 8"/>
          <p:cNvSpPr/>
          <p:nvPr/>
        </p:nvSpPr>
        <p:spPr>
          <a:xfrm>
            <a:off x="1874520" y="2898648"/>
            <a:ext cx="1965960" cy="365760"/>
          </a:xfrm>
          <a:prstGeom prst="rect">
            <a:avLst/>
          </a:prstGeom>
          <a:noFill/>
          <a:ln/>
        </p:spPr>
        <p:txBody>
          <a:bodyPr wrap="square" lIns="0" tIns="0" rIns="0" bIns="0" rtlCol="0" anchor="ctr"/>
          <a:lstStyle/>
          <a:p>
            <a:pPr indent="0" marL="0">
              <a:buNone/>
            </a:pPr>
            <a:r>
              <a:rPr lang="en-US" sz="1200" dirty="0">
                <a:solidFill>
                  <a:srgbClr val="6B7280"/>
                </a:solidFill>
                <a:latin typeface="Segoe UI" pitchFamily="34" charset="0"/>
                <a:ea typeface="Segoe UI" pitchFamily="34" charset="-122"/>
                <a:cs typeface="Segoe UI" pitchFamily="34" charset="-120"/>
              </a:rPr>
              <a:t>CCCD · cư trú · định danh</a:t>
            </a:r>
            <a:endParaRPr lang="en-US" sz="1200" dirty="0"/>
          </a:p>
        </p:txBody>
      </p:sp>
      <p:sp>
        <p:nvSpPr>
          <p:cNvPr id="12" name="Text 9"/>
          <p:cNvSpPr/>
          <p:nvPr/>
        </p:nvSpPr>
        <p:spPr>
          <a:xfrm>
            <a:off x="914400" y="3429000"/>
            <a:ext cx="2834640" cy="292608"/>
          </a:xfrm>
          <a:prstGeom prst="rect">
            <a:avLst/>
          </a:prstGeom>
          <a:noFill/>
          <a:ln/>
        </p:spPr>
        <p:txBody>
          <a:bodyPr wrap="square" lIns="0" tIns="0" rIns="0" bIns="0" rtlCol="0" anchor="ctr"/>
          <a:lstStyle/>
          <a:p>
            <a:pPr indent="0" marL="0">
              <a:buNone/>
            </a:pPr>
            <a:r>
              <a:rPr lang="en-US" sz="1050" b="1" i="1" dirty="0">
                <a:solidFill>
                  <a:srgbClr val="C41E3A"/>
                </a:solidFill>
                <a:latin typeface="Segoe UI" pitchFamily="34" charset="0"/>
                <a:ea typeface="Segoe UI" pitchFamily="34" charset="-122"/>
                <a:cs typeface="Segoe UI" pitchFamily="34" charset="-120"/>
              </a:rPr>
              <a:t>Giấy tờ · Thời gian · Nộp online</a:t>
            </a:r>
            <a:endParaRPr lang="en-US" sz="1050" dirty="0"/>
          </a:p>
        </p:txBody>
      </p:sp>
      <p:sp>
        <p:nvSpPr>
          <p:cNvPr id="13" name="Shape 10"/>
          <p:cNvSpPr/>
          <p:nvPr/>
        </p:nvSpPr>
        <p:spPr>
          <a:xfrm>
            <a:off x="4389120" y="2148840"/>
            <a:ext cx="3383280" cy="1691640"/>
          </a:xfrm>
          <a:prstGeom prst="roundRect">
            <a:avLst>
              <a:gd name="adj" fmla="val 5405"/>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14" name="Shape 11"/>
          <p:cNvSpPr/>
          <p:nvPr/>
        </p:nvSpPr>
        <p:spPr>
          <a:xfrm>
            <a:off x="4389120" y="2148840"/>
            <a:ext cx="91440" cy="1691640"/>
          </a:xfrm>
          <a:prstGeom prst="rect">
            <a:avLst/>
          </a:prstGeom>
          <a:solidFill>
            <a:srgbClr val="1F7A1F"/>
          </a:solidFill>
          <a:ln/>
        </p:spPr>
      </p:sp>
      <p:sp>
        <p:nvSpPr>
          <p:cNvPr id="15" name="Shape 12"/>
          <p:cNvSpPr/>
          <p:nvPr/>
        </p:nvSpPr>
        <p:spPr>
          <a:xfrm>
            <a:off x="4681728" y="2441448"/>
            <a:ext cx="777240" cy="777240"/>
          </a:xfrm>
          <a:prstGeom prst="ellipse">
            <a:avLst/>
          </a:prstGeom>
          <a:solidFill>
            <a:srgbClr val="1F7A1F"/>
          </a:solidFill>
          <a:ln/>
          <a:effectLst>
            <a:outerShdw sx="100000" sy="100000" kx="0" ky="0" algn="bl" rotWithShape="0" blurRad="114300" dist="38100" dir="8100000">
              <a:srgbClr val="4E0008">
                <a:alpha val="22000"/>
              </a:srgbClr>
            </a:outerShdw>
          </a:effectLst>
        </p:spPr>
      </p:sp>
      <p:pic>
        <p:nvPicPr>
          <p:cNvPr id="16" name="Image 1" descr="preencoded.png">    </p:cNvPr>
          <p:cNvPicPr>
            <a:picLocks noChangeAspect="1"/>
          </p:cNvPicPr>
          <p:nvPr/>
        </p:nvPicPr>
        <p:blipFill>
          <a:blip r:embed="rId2"/>
          <a:stretch>
            <a:fillRect/>
          </a:stretch>
        </p:blipFill>
        <p:spPr>
          <a:xfrm>
            <a:off x="4891583" y="2651303"/>
            <a:ext cx="357530" cy="357530"/>
          </a:xfrm>
          <a:prstGeom prst="rect">
            <a:avLst/>
          </a:prstGeom>
        </p:spPr>
      </p:pic>
      <p:sp>
        <p:nvSpPr>
          <p:cNvPr id="17" name="Text 13"/>
          <p:cNvSpPr/>
          <p:nvPr/>
        </p:nvSpPr>
        <p:spPr>
          <a:xfrm>
            <a:off x="5623560" y="2423160"/>
            <a:ext cx="1965960" cy="502920"/>
          </a:xfrm>
          <a:prstGeom prst="rect">
            <a:avLst/>
          </a:prstGeom>
          <a:noFill/>
          <a:ln/>
        </p:spPr>
        <p:txBody>
          <a:bodyPr wrap="square" lIns="0" tIns="0" rIns="0" bIns="0" rtlCol="0" anchor="ctr"/>
          <a:lstStyle/>
          <a:p>
            <a:pPr indent="0" marL="0">
              <a:buNone/>
            </a:pPr>
            <a:r>
              <a:rPr lang="en-US" sz="1600" b="1" dirty="0">
                <a:solidFill>
                  <a:srgbClr val="1F2937"/>
                </a:solidFill>
                <a:latin typeface="Segoe UI" pitchFamily="34" charset="0"/>
                <a:ea typeface="Segoe UI" pitchFamily="34" charset="-122"/>
                <a:cs typeface="Segoe UI" pitchFamily="34" charset="-120"/>
              </a:rPr>
              <a:t>Đăng ký xe</a:t>
            </a:r>
            <a:endParaRPr lang="en-US" sz="1600" dirty="0"/>
          </a:p>
        </p:txBody>
      </p:sp>
      <p:sp>
        <p:nvSpPr>
          <p:cNvPr id="18" name="Text 14"/>
          <p:cNvSpPr/>
          <p:nvPr/>
        </p:nvSpPr>
        <p:spPr>
          <a:xfrm>
            <a:off x="5623560" y="2898648"/>
            <a:ext cx="1965960" cy="365760"/>
          </a:xfrm>
          <a:prstGeom prst="rect">
            <a:avLst/>
          </a:prstGeom>
          <a:noFill/>
          <a:ln/>
        </p:spPr>
        <p:txBody>
          <a:bodyPr wrap="square" lIns="0" tIns="0" rIns="0" bIns="0" rtlCol="0" anchor="ctr"/>
          <a:lstStyle/>
          <a:p>
            <a:pPr indent="0" marL="0">
              <a:buNone/>
            </a:pPr>
            <a:r>
              <a:rPr lang="en-US" sz="1200" dirty="0">
                <a:solidFill>
                  <a:srgbClr val="6B7280"/>
                </a:solidFill>
                <a:latin typeface="Segoe UI" pitchFamily="34" charset="0"/>
                <a:ea typeface="Segoe UI" pitchFamily="34" charset="-122"/>
                <a:cs typeface="Segoe UI" pitchFamily="34" charset="-120"/>
              </a:rPr>
              <a:t>Xe máy: cấp biển, sang tên</a:t>
            </a:r>
            <a:endParaRPr lang="en-US" sz="1200" dirty="0"/>
          </a:p>
        </p:txBody>
      </p:sp>
      <p:sp>
        <p:nvSpPr>
          <p:cNvPr id="19" name="Text 15"/>
          <p:cNvSpPr/>
          <p:nvPr/>
        </p:nvSpPr>
        <p:spPr>
          <a:xfrm>
            <a:off x="4663440" y="3429000"/>
            <a:ext cx="2834640" cy="292608"/>
          </a:xfrm>
          <a:prstGeom prst="rect">
            <a:avLst/>
          </a:prstGeom>
          <a:noFill/>
          <a:ln/>
        </p:spPr>
        <p:txBody>
          <a:bodyPr wrap="square" lIns="0" tIns="0" rIns="0" bIns="0" rtlCol="0" anchor="ctr"/>
          <a:lstStyle/>
          <a:p>
            <a:pPr indent="0" marL="0">
              <a:buNone/>
            </a:pPr>
            <a:r>
              <a:rPr lang="en-US" sz="1050" b="1" i="1" dirty="0">
                <a:solidFill>
                  <a:srgbClr val="1F7A1F"/>
                </a:solidFill>
                <a:latin typeface="Segoe UI" pitchFamily="34" charset="0"/>
                <a:ea typeface="Segoe UI" pitchFamily="34" charset="-122"/>
                <a:cs typeface="Segoe UI" pitchFamily="34" charset="-120"/>
              </a:rPr>
              <a:t>Giấy tờ · Thời gian · Nộp online</a:t>
            </a:r>
            <a:endParaRPr lang="en-US" sz="1050" dirty="0"/>
          </a:p>
        </p:txBody>
      </p:sp>
      <p:sp>
        <p:nvSpPr>
          <p:cNvPr id="20" name="Shape 16"/>
          <p:cNvSpPr/>
          <p:nvPr/>
        </p:nvSpPr>
        <p:spPr>
          <a:xfrm>
            <a:off x="8138160" y="2148840"/>
            <a:ext cx="3383280" cy="1691640"/>
          </a:xfrm>
          <a:prstGeom prst="roundRect">
            <a:avLst>
              <a:gd name="adj" fmla="val 5405"/>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21" name="Shape 17"/>
          <p:cNvSpPr/>
          <p:nvPr/>
        </p:nvSpPr>
        <p:spPr>
          <a:xfrm>
            <a:off x="8138160" y="2148840"/>
            <a:ext cx="91440" cy="1691640"/>
          </a:xfrm>
          <a:prstGeom prst="rect">
            <a:avLst/>
          </a:prstGeom>
          <a:solidFill>
            <a:srgbClr val="C2410C"/>
          </a:solidFill>
          <a:ln/>
        </p:spPr>
      </p:sp>
      <p:sp>
        <p:nvSpPr>
          <p:cNvPr id="22" name="Shape 18"/>
          <p:cNvSpPr/>
          <p:nvPr/>
        </p:nvSpPr>
        <p:spPr>
          <a:xfrm>
            <a:off x="8430768" y="2441448"/>
            <a:ext cx="777240" cy="777240"/>
          </a:xfrm>
          <a:prstGeom prst="ellipse">
            <a:avLst/>
          </a:prstGeom>
          <a:solidFill>
            <a:srgbClr val="C2410C"/>
          </a:solidFill>
          <a:ln/>
          <a:effectLst>
            <a:outerShdw sx="100000" sy="100000" kx="0" ky="0" algn="bl" rotWithShape="0" blurRad="114300" dist="38100" dir="8100000">
              <a:srgbClr val="4E0008">
                <a:alpha val="22000"/>
              </a:srgbClr>
            </a:outerShdw>
          </a:effectLst>
        </p:spPr>
      </p:sp>
      <p:pic>
        <p:nvPicPr>
          <p:cNvPr id="23" name="Image 2" descr="preencoded.png">    </p:cNvPr>
          <p:cNvPicPr>
            <a:picLocks noChangeAspect="1"/>
          </p:cNvPicPr>
          <p:nvPr/>
        </p:nvPicPr>
        <p:blipFill>
          <a:blip r:embed="rId3"/>
          <a:stretch>
            <a:fillRect/>
          </a:stretch>
        </p:blipFill>
        <p:spPr>
          <a:xfrm>
            <a:off x="8640623" y="2651303"/>
            <a:ext cx="357530" cy="357530"/>
          </a:xfrm>
          <a:prstGeom prst="rect">
            <a:avLst/>
          </a:prstGeom>
        </p:spPr>
      </p:pic>
      <p:sp>
        <p:nvSpPr>
          <p:cNvPr id="24" name="Text 19"/>
          <p:cNvSpPr/>
          <p:nvPr/>
        </p:nvSpPr>
        <p:spPr>
          <a:xfrm>
            <a:off x="9372600" y="2423160"/>
            <a:ext cx="1965960" cy="502920"/>
          </a:xfrm>
          <a:prstGeom prst="rect">
            <a:avLst/>
          </a:prstGeom>
          <a:noFill/>
          <a:ln/>
        </p:spPr>
        <p:txBody>
          <a:bodyPr wrap="square" lIns="0" tIns="0" rIns="0" bIns="0" rtlCol="0" anchor="ctr"/>
          <a:lstStyle/>
          <a:p>
            <a:pPr indent="0" marL="0">
              <a:buNone/>
            </a:pPr>
            <a:r>
              <a:rPr lang="en-US" sz="1600" b="1" dirty="0">
                <a:solidFill>
                  <a:srgbClr val="1F2937"/>
                </a:solidFill>
                <a:latin typeface="Segoe UI" pitchFamily="34" charset="0"/>
                <a:ea typeface="Segoe UI" pitchFamily="34" charset="-122"/>
                <a:cs typeface="Segoe UI" pitchFamily="34" charset="-120"/>
              </a:rPr>
              <a:t>Ngành nghề ANTT</a:t>
            </a:r>
            <a:endParaRPr lang="en-US" sz="1600" dirty="0"/>
          </a:p>
        </p:txBody>
      </p:sp>
      <p:sp>
        <p:nvSpPr>
          <p:cNvPr id="25" name="Text 20"/>
          <p:cNvSpPr/>
          <p:nvPr/>
        </p:nvSpPr>
        <p:spPr>
          <a:xfrm>
            <a:off x="9372600" y="2898648"/>
            <a:ext cx="1965960" cy="365760"/>
          </a:xfrm>
          <a:prstGeom prst="rect">
            <a:avLst/>
          </a:prstGeom>
          <a:noFill/>
          <a:ln/>
        </p:spPr>
        <p:txBody>
          <a:bodyPr wrap="square" lIns="0" tIns="0" rIns="0" bIns="0" rtlCol="0" anchor="ctr"/>
          <a:lstStyle/>
          <a:p>
            <a:pPr indent="0" marL="0">
              <a:buNone/>
            </a:pPr>
            <a:r>
              <a:rPr lang="en-US" sz="1200" dirty="0">
                <a:solidFill>
                  <a:srgbClr val="6B7280"/>
                </a:solidFill>
                <a:latin typeface="Segoe UI" pitchFamily="34" charset="0"/>
                <a:ea typeface="Segoe UI" pitchFamily="34" charset="-122"/>
                <a:cs typeface="Segoe UI" pitchFamily="34" charset="-120"/>
              </a:rPr>
              <a:t>Kinh doanh có điều kiện</a:t>
            </a:r>
            <a:endParaRPr lang="en-US" sz="1200" dirty="0"/>
          </a:p>
        </p:txBody>
      </p:sp>
      <p:sp>
        <p:nvSpPr>
          <p:cNvPr id="26" name="Text 21"/>
          <p:cNvSpPr/>
          <p:nvPr/>
        </p:nvSpPr>
        <p:spPr>
          <a:xfrm>
            <a:off x="8412480" y="3429000"/>
            <a:ext cx="2834640" cy="292608"/>
          </a:xfrm>
          <a:prstGeom prst="rect">
            <a:avLst/>
          </a:prstGeom>
          <a:noFill/>
          <a:ln/>
        </p:spPr>
        <p:txBody>
          <a:bodyPr wrap="square" lIns="0" tIns="0" rIns="0" bIns="0" rtlCol="0" anchor="ctr"/>
          <a:lstStyle/>
          <a:p>
            <a:pPr indent="0" marL="0">
              <a:buNone/>
            </a:pPr>
            <a:r>
              <a:rPr lang="en-US" sz="1050" b="1" i="1" dirty="0">
                <a:solidFill>
                  <a:srgbClr val="C2410C"/>
                </a:solidFill>
                <a:latin typeface="Segoe UI" pitchFamily="34" charset="0"/>
                <a:ea typeface="Segoe UI" pitchFamily="34" charset="-122"/>
                <a:cs typeface="Segoe UI" pitchFamily="34" charset="-120"/>
              </a:rPr>
              <a:t>Giấy tờ · Thời gian · Nộp online</a:t>
            </a:r>
            <a:endParaRPr lang="en-US" sz="1050" dirty="0"/>
          </a:p>
        </p:txBody>
      </p:sp>
      <p:sp>
        <p:nvSpPr>
          <p:cNvPr id="27" name="Shape 22"/>
          <p:cNvSpPr/>
          <p:nvPr/>
        </p:nvSpPr>
        <p:spPr>
          <a:xfrm>
            <a:off x="640080" y="4160520"/>
            <a:ext cx="3383280" cy="1691640"/>
          </a:xfrm>
          <a:prstGeom prst="roundRect">
            <a:avLst>
              <a:gd name="adj" fmla="val 5405"/>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28" name="Shape 23"/>
          <p:cNvSpPr/>
          <p:nvPr/>
        </p:nvSpPr>
        <p:spPr>
          <a:xfrm>
            <a:off x="640080" y="4160520"/>
            <a:ext cx="91440" cy="1691640"/>
          </a:xfrm>
          <a:prstGeom prst="rect">
            <a:avLst/>
          </a:prstGeom>
          <a:solidFill>
            <a:srgbClr val="C41E3A"/>
          </a:solidFill>
          <a:ln/>
        </p:spPr>
      </p:sp>
      <p:sp>
        <p:nvSpPr>
          <p:cNvPr id="29" name="Shape 24"/>
          <p:cNvSpPr/>
          <p:nvPr/>
        </p:nvSpPr>
        <p:spPr>
          <a:xfrm>
            <a:off x="932688" y="4453128"/>
            <a:ext cx="777240" cy="77724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30" name="Image 3" descr="preencoded.png">    </p:cNvPr>
          <p:cNvPicPr>
            <a:picLocks noChangeAspect="1"/>
          </p:cNvPicPr>
          <p:nvPr/>
        </p:nvPicPr>
        <p:blipFill>
          <a:blip r:embed="rId4"/>
          <a:stretch>
            <a:fillRect/>
          </a:stretch>
        </p:blipFill>
        <p:spPr>
          <a:xfrm>
            <a:off x="1142543" y="4662983"/>
            <a:ext cx="357530" cy="357530"/>
          </a:xfrm>
          <a:prstGeom prst="rect">
            <a:avLst/>
          </a:prstGeom>
        </p:spPr>
      </p:pic>
      <p:sp>
        <p:nvSpPr>
          <p:cNvPr id="31" name="Text 25"/>
          <p:cNvSpPr/>
          <p:nvPr/>
        </p:nvSpPr>
        <p:spPr>
          <a:xfrm>
            <a:off x="1874520" y="4434840"/>
            <a:ext cx="1965960" cy="502920"/>
          </a:xfrm>
          <a:prstGeom prst="rect">
            <a:avLst/>
          </a:prstGeom>
          <a:noFill/>
          <a:ln/>
        </p:spPr>
        <p:txBody>
          <a:bodyPr wrap="square" lIns="0" tIns="0" rIns="0" bIns="0" rtlCol="0" anchor="ctr"/>
          <a:lstStyle/>
          <a:p>
            <a:pPr indent="0" marL="0">
              <a:buNone/>
            </a:pPr>
            <a:r>
              <a:rPr lang="en-US" sz="1600" b="1" dirty="0">
                <a:solidFill>
                  <a:srgbClr val="1F2937"/>
                </a:solidFill>
                <a:latin typeface="Segoe UI" pitchFamily="34" charset="0"/>
                <a:ea typeface="Segoe UI" pitchFamily="34" charset="-122"/>
                <a:cs typeface="Segoe UI" pitchFamily="34" charset="-120"/>
              </a:rPr>
              <a:t>Người nước ngoài</a:t>
            </a:r>
            <a:endParaRPr lang="en-US" sz="1600" dirty="0"/>
          </a:p>
        </p:txBody>
      </p:sp>
      <p:sp>
        <p:nvSpPr>
          <p:cNvPr id="32" name="Text 26"/>
          <p:cNvSpPr/>
          <p:nvPr/>
        </p:nvSpPr>
        <p:spPr>
          <a:xfrm>
            <a:off x="1874520" y="4910328"/>
            <a:ext cx="1965960" cy="365760"/>
          </a:xfrm>
          <a:prstGeom prst="rect">
            <a:avLst/>
          </a:prstGeom>
          <a:noFill/>
          <a:ln/>
        </p:spPr>
        <p:txBody>
          <a:bodyPr wrap="square" lIns="0" tIns="0" rIns="0" bIns="0" rtlCol="0" anchor="ctr"/>
          <a:lstStyle/>
          <a:p>
            <a:pPr indent="0" marL="0">
              <a:buNone/>
            </a:pPr>
            <a:r>
              <a:rPr lang="en-US" sz="1200" dirty="0">
                <a:solidFill>
                  <a:srgbClr val="6B7280"/>
                </a:solidFill>
                <a:latin typeface="Segoe UI" pitchFamily="34" charset="0"/>
                <a:ea typeface="Segoe UI" pitchFamily="34" charset="-122"/>
                <a:cs typeface="Segoe UI" pitchFamily="34" charset="-120"/>
              </a:rPr>
              <a:t>Tạm trú · visa · XNC</a:t>
            </a:r>
            <a:endParaRPr lang="en-US" sz="1200" dirty="0"/>
          </a:p>
        </p:txBody>
      </p:sp>
      <p:sp>
        <p:nvSpPr>
          <p:cNvPr id="33" name="Text 27"/>
          <p:cNvSpPr/>
          <p:nvPr/>
        </p:nvSpPr>
        <p:spPr>
          <a:xfrm>
            <a:off x="914400" y="5440680"/>
            <a:ext cx="2834640" cy="292608"/>
          </a:xfrm>
          <a:prstGeom prst="rect">
            <a:avLst/>
          </a:prstGeom>
          <a:noFill/>
          <a:ln/>
        </p:spPr>
        <p:txBody>
          <a:bodyPr wrap="square" lIns="0" tIns="0" rIns="0" bIns="0" rtlCol="0" anchor="ctr"/>
          <a:lstStyle/>
          <a:p>
            <a:pPr indent="0" marL="0">
              <a:buNone/>
            </a:pPr>
            <a:r>
              <a:rPr lang="en-US" sz="1050" b="1" i="1" dirty="0">
                <a:solidFill>
                  <a:srgbClr val="C41E3A"/>
                </a:solidFill>
                <a:latin typeface="Segoe UI" pitchFamily="34" charset="0"/>
                <a:ea typeface="Segoe UI" pitchFamily="34" charset="-122"/>
                <a:cs typeface="Segoe UI" pitchFamily="34" charset="-120"/>
              </a:rPr>
              <a:t>Giấy tờ · Thời gian · Nộp online</a:t>
            </a:r>
            <a:endParaRPr lang="en-US" sz="1050" dirty="0"/>
          </a:p>
        </p:txBody>
      </p:sp>
      <p:sp>
        <p:nvSpPr>
          <p:cNvPr id="34" name="Shape 28"/>
          <p:cNvSpPr/>
          <p:nvPr/>
        </p:nvSpPr>
        <p:spPr>
          <a:xfrm>
            <a:off x="4389120" y="4160520"/>
            <a:ext cx="3383280" cy="1691640"/>
          </a:xfrm>
          <a:prstGeom prst="roundRect">
            <a:avLst>
              <a:gd name="adj" fmla="val 5405"/>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35" name="Shape 29"/>
          <p:cNvSpPr/>
          <p:nvPr/>
        </p:nvSpPr>
        <p:spPr>
          <a:xfrm>
            <a:off x="4389120" y="4160520"/>
            <a:ext cx="91440" cy="1691640"/>
          </a:xfrm>
          <a:prstGeom prst="rect">
            <a:avLst/>
          </a:prstGeom>
          <a:solidFill>
            <a:srgbClr val="1F7A1F"/>
          </a:solidFill>
          <a:ln/>
        </p:spPr>
      </p:sp>
      <p:sp>
        <p:nvSpPr>
          <p:cNvPr id="36" name="Shape 30"/>
          <p:cNvSpPr/>
          <p:nvPr/>
        </p:nvSpPr>
        <p:spPr>
          <a:xfrm>
            <a:off x="4681728" y="4453128"/>
            <a:ext cx="777240" cy="777240"/>
          </a:xfrm>
          <a:prstGeom prst="ellipse">
            <a:avLst/>
          </a:prstGeom>
          <a:solidFill>
            <a:srgbClr val="1F7A1F"/>
          </a:solidFill>
          <a:ln/>
          <a:effectLst>
            <a:outerShdw sx="100000" sy="100000" kx="0" ky="0" algn="bl" rotWithShape="0" blurRad="114300" dist="38100" dir="8100000">
              <a:srgbClr val="4E0008">
                <a:alpha val="22000"/>
              </a:srgbClr>
            </a:outerShdw>
          </a:effectLst>
        </p:spPr>
      </p:sp>
      <p:pic>
        <p:nvPicPr>
          <p:cNvPr id="37" name="Image 4" descr="preencoded.png">    </p:cNvPr>
          <p:cNvPicPr>
            <a:picLocks noChangeAspect="1"/>
          </p:cNvPicPr>
          <p:nvPr/>
        </p:nvPicPr>
        <p:blipFill>
          <a:blip r:embed="rId5"/>
          <a:stretch>
            <a:fillRect/>
          </a:stretch>
        </p:blipFill>
        <p:spPr>
          <a:xfrm>
            <a:off x="4891583" y="4662983"/>
            <a:ext cx="357530" cy="357530"/>
          </a:xfrm>
          <a:prstGeom prst="rect">
            <a:avLst/>
          </a:prstGeom>
        </p:spPr>
      </p:pic>
      <p:sp>
        <p:nvSpPr>
          <p:cNvPr id="38" name="Text 31"/>
          <p:cNvSpPr/>
          <p:nvPr/>
        </p:nvSpPr>
        <p:spPr>
          <a:xfrm>
            <a:off x="5623560" y="4434840"/>
            <a:ext cx="1965960" cy="502920"/>
          </a:xfrm>
          <a:prstGeom prst="rect">
            <a:avLst/>
          </a:prstGeom>
          <a:noFill/>
          <a:ln/>
        </p:spPr>
        <p:txBody>
          <a:bodyPr wrap="square" lIns="0" tIns="0" rIns="0" bIns="0" rtlCol="0" anchor="ctr"/>
          <a:lstStyle/>
          <a:p>
            <a:pPr indent="0" marL="0">
              <a:buNone/>
            </a:pPr>
            <a:r>
              <a:rPr lang="en-US" sz="1600" b="1" dirty="0">
                <a:solidFill>
                  <a:srgbClr val="1F2937"/>
                </a:solidFill>
                <a:latin typeface="Segoe UI" pitchFamily="34" charset="0"/>
                <a:ea typeface="Segoe UI" pitchFamily="34" charset="-122"/>
                <a:cs typeface="Segoe UI" pitchFamily="34" charset="-120"/>
              </a:rPr>
              <a:t>Vũ khí &amp; Pháo</a:t>
            </a:r>
            <a:endParaRPr lang="en-US" sz="1600" dirty="0"/>
          </a:p>
        </p:txBody>
      </p:sp>
      <p:sp>
        <p:nvSpPr>
          <p:cNvPr id="39" name="Text 32"/>
          <p:cNvSpPr/>
          <p:nvPr/>
        </p:nvSpPr>
        <p:spPr>
          <a:xfrm>
            <a:off x="5623560" y="4910328"/>
            <a:ext cx="1965960" cy="365760"/>
          </a:xfrm>
          <a:prstGeom prst="rect">
            <a:avLst/>
          </a:prstGeom>
          <a:noFill/>
          <a:ln/>
        </p:spPr>
        <p:txBody>
          <a:bodyPr wrap="square" lIns="0" tIns="0" rIns="0" bIns="0" rtlCol="0" anchor="ctr"/>
          <a:lstStyle/>
          <a:p>
            <a:pPr indent="0" marL="0">
              <a:buNone/>
            </a:pPr>
            <a:r>
              <a:rPr lang="en-US" sz="1200" dirty="0">
                <a:solidFill>
                  <a:srgbClr val="6B7280"/>
                </a:solidFill>
                <a:latin typeface="Segoe UI" pitchFamily="34" charset="0"/>
                <a:ea typeface="Segoe UI" pitchFamily="34" charset="-122"/>
                <a:cs typeface="Segoe UI" pitchFamily="34" charset="-120"/>
              </a:rPr>
              <a:t>Vận động giao nộp, tố giác</a:t>
            </a:r>
            <a:endParaRPr lang="en-US" sz="1200" dirty="0"/>
          </a:p>
        </p:txBody>
      </p:sp>
      <p:sp>
        <p:nvSpPr>
          <p:cNvPr id="40" name="Text 33"/>
          <p:cNvSpPr/>
          <p:nvPr/>
        </p:nvSpPr>
        <p:spPr>
          <a:xfrm>
            <a:off x="4663440" y="5440680"/>
            <a:ext cx="2834640" cy="292608"/>
          </a:xfrm>
          <a:prstGeom prst="rect">
            <a:avLst/>
          </a:prstGeom>
          <a:noFill/>
          <a:ln/>
        </p:spPr>
        <p:txBody>
          <a:bodyPr wrap="square" lIns="0" tIns="0" rIns="0" bIns="0" rtlCol="0" anchor="ctr"/>
          <a:lstStyle/>
          <a:p>
            <a:pPr indent="0" marL="0">
              <a:buNone/>
            </a:pPr>
            <a:r>
              <a:rPr lang="en-US" sz="1050" b="1" i="1" dirty="0">
                <a:solidFill>
                  <a:srgbClr val="1F7A1F"/>
                </a:solidFill>
                <a:latin typeface="Segoe UI" pitchFamily="34" charset="0"/>
                <a:ea typeface="Segoe UI" pitchFamily="34" charset="-122"/>
                <a:cs typeface="Segoe UI" pitchFamily="34" charset="-120"/>
              </a:rPr>
              <a:t>Giấy tờ · Thời gian · Nộp online</a:t>
            </a:r>
            <a:endParaRPr lang="en-US" sz="1050" dirty="0"/>
          </a:p>
        </p:txBody>
      </p:sp>
      <p:sp>
        <p:nvSpPr>
          <p:cNvPr id="41" name="Shape 34"/>
          <p:cNvSpPr/>
          <p:nvPr/>
        </p:nvSpPr>
        <p:spPr>
          <a:xfrm>
            <a:off x="8138160" y="4160520"/>
            <a:ext cx="3383280" cy="1691640"/>
          </a:xfrm>
          <a:prstGeom prst="roundRect">
            <a:avLst>
              <a:gd name="adj" fmla="val 5405"/>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42" name="Shape 35"/>
          <p:cNvSpPr/>
          <p:nvPr/>
        </p:nvSpPr>
        <p:spPr>
          <a:xfrm>
            <a:off x="8138160" y="4160520"/>
            <a:ext cx="91440" cy="1691640"/>
          </a:xfrm>
          <a:prstGeom prst="rect">
            <a:avLst/>
          </a:prstGeom>
          <a:solidFill>
            <a:srgbClr val="C2410C"/>
          </a:solidFill>
          <a:ln/>
        </p:spPr>
      </p:sp>
      <p:sp>
        <p:nvSpPr>
          <p:cNvPr id="43" name="Shape 36"/>
          <p:cNvSpPr/>
          <p:nvPr/>
        </p:nvSpPr>
        <p:spPr>
          <a:xfrm>
            <a:off x="8430768" y="4453128"/>
            <a:ext cx="777240" cy="777240"/>
          </a:xfrm>
          <a:prstGeom prst="ellipse">
            <a:avLst/>
          </a:prstGeom>
          <a:solidFill>
            <a:srgbClr val="C2410C"/>
          </a:solidFill>
          <a:ln/>
          <a:effectLst>
            <a:outerShdw sx="100000" sy="100000" kx="0" ky="0" algn="bl" rotWithShape="0" blurRad="114300" dist="38100" dir="8100000">
              <a:srgbClr val="4E0008">
                <a:alpha val="22000"/>
              </a:srgbClr>
            </a:outerShdw>
          </a:effectLst>
        </p:spPr>
      </p:sp>
      <p:pic>
        <p:nvPicPr>
          <p:cNvPr id="44" name="Image 5" descr="preencoded.png">    </p:cNvPr>
          <p:cNvPicPr>
            <a:picLocks noChangeAspect="1"/>
          </p:cNvPicPr>
          <p:nvPr/>
        </p:nvPicPr>
        <p:blipFill>
          <a:blip r:embed="rId6"/>
          <a:stretch>
            <a:fillRect/>
          </a:stretch>
        </p:blipFill>
        <p:spPr>
          <a:xfrm>
            <a:off x="8640623" y="4662983"/>
            <a:ext cx="357530" cy="357530"/>
          </a:xfrm>
          <a:prstGeom prst="rect">
            <a:avLst/>
          </a:prstGeom>
        </p:spPr>
      </p:pic>
      <p:sp>
        <p:nvSpPr>
          <p:cNvPr id="45" name="Text 37"/>
          <p:cNvSpPr/>
          <p:nvPr/>
        </p:nvSpPr>
        <p:spPr>
          <a:xfrm>
            <a:off x="9372600" y="4434840"/>
            <a:ext cx="1965960" cy="502920"/>
          </a:xfrm>
          <a:prstGeom prst="rect">
            <a:avLst/>
          </a:prstGeom>
          <a:noFill/>
          <a:ln/>
        </p:spPr>
        <p:txBody>
          <a:bodyPr wrap="square" lIns="0" tIns="0" rIns="0" bIns="0" rtlCol="0" anchor="ctr"/>
          <a:lstStyle/>
          <a:p>
            <a:pPr indent="0" marL="0">
              <a:buNone/>
            </a:pPr>
            <a:r>
              <a:rPr lang="en-US" sz="1600" b="1" dirty="0">
                <a:solidFill>
                  <a:srgbClr val="1F2937"/>
                </a:solidFill>
                <a:latin typeface="Segoe UI" pitchFamily="34" charset="0"/>
                <a:ea typeface="Segoe UI" pitchFamily="34" charset="-122"/>
                <a:cs typeface="Segoe UI" pitchFamily="34" charset="-120"/>
              </a:rPr>
              <a:t>Khiếu nại, tố cáo &amp; Góp ý</a:t>
            </a:r>
            <a:endParaRPr lang="en-US" sz="1600" dirty="0"/>
          </a:p>
        </p:txBody>
      </p:sp>
      <p:sp>
        <p:nvSpPr>
          <p:cNvPr id="46" name="Text 38"/>
          <p:cNvSpPr/>
          <p:nvPr/>
        </p:nvSpPr>
        <p:spPr>
          <a:xfrm>
            <a:off x="9372600" y="4910328"/>
            <a:ext cx="1965960" cy="365760"/>
          </a:xfrm>
          <a:prstGeom prst="rect">
            <a:avLst/>
          </a:prstGeom>
          <a:noFill/>
          <a:ln/>
        </p:spPr>
        <p:txBody>
          <a:bodyPr wrap="square" lIns="0" tIns="0" rIns="0" bIns="0" rtlCol="0" anchor="ctr"/>
          <a:lstStyle/>
          <a:p>
            <a:pPr indent="0" marL="0">
              <a:buNone/>
            </a:pPr>
            <a:r>
              <a:rPr lang="en-US" sz="1200" dirty="0">
                <a:solidFill>
                  <a:srgbClr val="6B7280"/>
                </a:solidFill>
                <a:latin typeface="Segoe UI" pitchFamily="34" charset="0"/>
                <a:ea typeface="Segoe UI" pitchFamily="34" charset="-122"/>
                <a:cs typeface="Segoe UI" pitchFamily="34" charset="-120"/>
              </a:rPr>
              <a:t>Tiếp nhận đơn thư, phản ánh</a:t>
            </a:r>
            <a:endParaRPr lang="en-US" sz="1200" dirty="0"/>
          </a:p>
        </p:txBody>
      </p:sp>
      <p:sp>
        <p:nvSpPr>
          <p:cNvPr id="47" name="Text 39"/>
          <p:cNvSpPr/>
          <p:nvPr/>
        </p:nvSpPr>
        <p:spPr>
          <a:xfrm>
            <a:off x="8412480" y="5440680"/>
            <a:ext cx="2834640" cy="292608"/>
          </a:xfrm>
          <a:prstGeom prst="rect">
            <a:avLst/>
          </a:prstGeom>
          <a:noFill/>
          <a:ln/>
        </p:spPr>
        <p:txBody>
          <a:bodyPr wrap="square" lIns="0" tIns="0" rIns="0" bIns="0" rtlCol="0" anchor="ctr"/>
          <a:lstStyle/>
          <a:p>
            <a:pPr indent="0" marL="0">
              <a:buNone/>
            </a:pPr>
            <a:r>
              <a:rPr lang="en-US" sz="1050" b="1" i="1" dirty="0">
                <a:solidFill>
                  <a:srgbClr val="C2410C"/>
                </a:solidFill>
                <a:latin typeface="Segoe UI" pitchFamily="34" charset="0"/>
                <a:ea typeface="Segoe UI" pitchFamily="34" charset="-122"/>
                <a:cs typeface="Segoe UI" pitchFamily="34" charset="-120"/>
              </a:rPr>
              <a:t>Giấy tờ · Thời gian · Nộp online</a:t>
            </a:r>
            <a:endParaRPr lang="en-US" sz="1050" dirty="0"/>
          </a:p>
        </p:txBody>
      </p:sp>
      <p:pic>
        <p:nvPicPr>
          <p:cNvPr id="48" name="Image 6" descr="preencoded.png">    </p:cNvPr>
          <p:cNvPicPr>
            <a:picLocks noChangeAspect="1"/>
          </p:cNvPicPr>
          <p:nvPr/>
        </p:nvPicPr>
        <p:blipFill>
          <a:blip r:embed="rId7">
            <a:alphaModFix amt="70000"/>
          </a:blip>
          <a:stretch>
            <a:fillRect/>
          </a:stretch>
        </p:blipFill>
        <p:spPr>
          <a:xfrm>
            <a:off x="11082528" y="384048"/>
            <a:ext cx="566928" cy="566928"/>
          </a:xfrm>
          <a:prstGeom prst="rect">
            <a:avLst/>
          </a:prstGeom>
        </p:spPr>
      </p:pic>
      <p:sp>
        <p:nvSpPr>
          <p:cNvPr id="49" name="Shape 40"/>
          <p:cNvSpPr/>
          <p:nvPr/>
        </p:nvSpPr>
        <p:spPr>
          <a:xfrm>
            <a:off x="640080" y="6437376"/>
            <a:ext cx="10881360" cy="12802"/>
          </a:xfrm>
          <a:prstGeom prst="rect">
            <a:avLst/>
          </a:prstGeom>
          <a:solidFill>
            <a:srgbClr val="F3D2D7"/>
          </a:solidFill>
          <a:ln/>
        </p:spPr>
      </p:sp>
      <p:sp>
        <p:nvSpPr>
          <p:cNvPr id="50" name="Text 41"/>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6B7280"/>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51" name="Text 42"/>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C41E3A"/>
                </a:solidFill>
                <a:latin typeface="Segoe UI" pitchFamily="34" charset="0"/>
                <a:ea typeface="Segoe UI" pitchFamily="34" charset="-122"/>
                <a:cs typeface="Segoe UI" pitchFamily="34" charset="-120"/>
              </a:rPr>
              <a:t>06</a:t>
            </a:r>
            <a:endParaRPr lang="en-US" sz="1000" dirty="0"/>
          </a:p>
        </p:txBody>
      </p:sp>
    </p:spTree>
  </p:cSld>
  <p:clrMapOvr>
    <a:masterClrMapping/>
  </p:clrMapOvr>
  <p:transition xmlns:p14="http://schemas.microsoft.com/office/powerpoint/2010/main" spd="med" p14:dur="450">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C41E3A"/>
                </a:solidFill>
                <a:latin typeface="Segoe UI" pitchFamily="34" charset="0"/>
                <a:ea typeface="Segoe UI" pitchFamily="34" charset="-122"/>
                <a:cs typeface="Segoe UI" pitchFamily="34" charset="-120"/>
              </a:rPr>
              <a:t>GIAO DIỆN THỰC TẾ</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1F2937"/>
                </a:solidFill>
                <a:latin typeface="Segoe UI" pitchFamily="34" charset="0"/>
                <a:ea typeface="Segoe UI" pitchFamily="34" charset="-122"/>
                <a:cs typeface="Segoe UI" pitchFamily="34" charset="-120"/>
              </a:rPr>
              <a:t>Phần mềm đang vận hành trên điện thoại</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Shape 3"/>
          <p:cNvSpPr/>
          <p:nvPr/>
        </p:nvSpPr>
        <p:spPr>
          <a:xfrm>
            <a:off x="1633118" y="1856232"/>
            <a:ext cx="1942643" cy="3831336"/>
          </a:xfrm>
          <a:prstGeom prst="roundRect">
            <a:avLst>
              <a:gd name="adj" fmla="val 7531"/>
            </a:avLst>
          </a:prstGeom>
          <a:solidFill>
            <a:srgbClr val="1F2937"/>
          </a:solidFill>
          <a:ln/>
          <a:effectLst>
            <a:outerShdw sx="100000" sy="100000" kx="0" ky="0" algn="bl" rotWithShape="0" blurRad="114300" dist="38100" dir="8100000">
              <a:srgbClr val="4E0008">
                <a:alpha val="22000"/>
              </a:srgbClr>
            </a:outerShdw>
          </a:effectLst>
        </p:spPr>
      </p:sp>
      <p:pic>
        <p:nvPicPr>
          <p:cNvPr id="6" name="Image 0" descr="D:\04. Github\capphutho\shots\home.png">    </p:cNvPr>
          <p:cNvPicPr>
            <a:picLocks noChangeAspect="1"/>
          </p:cNvPicPr>
          <p:nvPr/>
        </p:nvPicPr>
        <p:blipFill>
          <a:blip r:embed="rId1"/>
          <a:srcRect l="0" r="0" t="0" b="0"/>
          <a:stretch/>
        </p:blipFill>
        <p:spPr>
          <a:xfrm>
            <a:off x="1697126" y="1920240"/>
            <a:ext cx="1814627" cy="3703320"/>
          </a:xfrm>
          <a:prstGeom prst="rect">
            <a:avLst/>
          </a:prstGeom>
        </p:spPr>
      </p:pic>
      <p:sp>
        <p:nvSpPr>
          <p:cNvPr id="7" name="Text 4"/>
          <p:cNvSpPr/>
          <p:nvPr/>
        </p:nvSpPr>
        <p:spPr>
          <a:xfrm>
            <a:off x="1605686" y="5733288"/>
            <a:ext cx="1997507" cy="292608"/>
          </a:xfrm>
          <a:prstGeom prst="rect">
            <a:avLst/>
          </a:prstGeom>
          <a:noFill/>
          <a:ln/>
        </p:spPr>
        <p:txBody>
          <a:bodyPr wrap="square" lIns="0" tIns="0" rIns="0" bIns="0" rtlCol="0" anchor="ctr"/>
          <a:lstStyle/>
          <a:p>
            <a:pPr algn="ctr" indent="0" marL="0">
              <a:buNone/>
            </a:pPr>
            <a:r>
              <a:rPr lang="en-US" sz="1250" b="1" dirty="0">
                <a:solidFill>
                  <a:srgbClr val="374151"/>
                </a:solidFill>
                <a:latin typeface="Segoe UI" pitchFamily="34" charset="0"/>
                <a:ea typeface="Segoe UI" pitchFamily="34" charset="-122"/>
                <a:cs typeface="Segoe UI" pitchFamily="34" charset="-120"/>
              </a:rPr>
              <a:t>Trang chủ</a:t>
            </a:r>
            <a:endParaRPr lang="en-US" sz="1250" dirty="0"/>
          </a:p>
        </p:txBody>
      </p:sp>
      <p:sp>
        <p:nvSpPr>
          <p:cNvPr id="8" name="Shape 5"/>
          <p:cNvSpPr/>
          <p:nvPr/>
        </p:nvSpPr>
        <p:spPr>
          <a:xfrm>
            <a:off x="3950665" y="1856232"/>
            <a:ext cx="1942643" cy="3831336"/>
          </a:xfrm>
          <a:prstGeom prst="roundRect">
            <a:avLst>
              <a:gd name="adj" fmla="val 7531"/>
            </a:avLst>
          </a:prstGeom>
          <a:solidFill>
            <a:srgbClr val="1F2937"/>
          </a:solidFill>
          <a:ln/>
          <a:effectLst>
            <a:outerShdw sx="100000" sy="100000" kx="0" ky="0" algn="bl" rotWithShape="0" blurRad="114300" dist="38100" dir="8100000">
              <a:srgbClr val="4E0008">
                <a:alpha val="22000"/>
              </a:srgbClr>
            </a:outerShdw>
          </a:effectLst>
        </p:spPr>
      </p:sp>
      <p:pic>
        <p:nvPicPr>
          <p:cNvPr id="9" name="Image 1" descr="D:\04. Github\capphutho\shots\chatbot.png">    </p:cNvPr>
          <p:cNvPicPr>
            <a:picLocks noChangeAspect="1"/>
          </p:cNvPicPr>
          <p:nvPr/>
        </p:nvPicPr>
        <p:blipFill>
          <a:blip r:embed="rId2"/>
          <a:srcRect l="0" r="0" t="0" b="0"/>
          <a:stretch/>
        </p:blipFill>
        <p:spPr>
          <a:xfrm>
            <a:off x="4014673" y="1920240"/>
            <a:ext cx="1814627" cy="3703320"/>
          </a:xfrm>
          <a:prstGeom prst="rect">
            <a:avLst/>
          </a:prstGeom>
        </p:spPr>
      </p:pic>
      <p:sp>
        <p:nvSpPr>
          <p:cNvPr id="10" name="Text 6"/>
          <p:cNvSpPr/>
          <p:nvPr/>
        </p:nvSpPr>
        <p:spPr>
          <a:xfrm>
            <a:off x="3923233" y="5733288"/>
            <a:ext cx="1997507" cy="292608"/>
          </a:xfrm>
          <a:prstGeom prst="rect">
            <a:avLst/>
          </a:prstGeom>
          <a:noFill/>
          <a:ln/>
        </p:spPr>
        <p:txBody>
          <a:bodyPr wrap="square" lIns="0" tIns="0" rIns="0" bIns="0" rtlCol="0" anchor="ctr"/>
          <a:lstStyle/>
          <a:p>
            <a:pPr algn="ctr" indent="0" marL="0">
              <a:buNone/>
            </a:pPr>
            <a:r>
              <a:rPr lang="en-US" sz="1250" b="1" dirty="0">
                <a:solidFill>
                  <a:srgbClr val="374151"/>
                </a:solidFill>
                <a:latin typeface="Segoe UI" pitchFamily="34" charset="0"/>
                <a:ea typeface="Segoe UI" pitchFamily="34" charset="-122"/>
                <a:cs typeface="Segoe UI" pitchFamily="34" charset="-120"/>
              </a:rPr>
              <a:t>Trợ lý ảo</a:t>
            </a:r>
            <a:endParaRPr lang="en-US" sz="1250" dirty="0"/>
          </a:p>
        </p:txBody>
      </p:sp>
      <p:sp>
        <p:nvSpPr>
          <p:cNvPr id="11" name="Shape 7"/>
          <p:cNvSpPr/>
          <p:nvPr/>
        </p:nvSpPr>
        <p:spPr>
          <a:xfrm>
            <a:off x="6268212" y="1856232"/>
            <a:ext cx="1942643" cy="3831336"/>
          </a:xfrm>
          <a:prstGeom prst="roundRect">
            <a:avLst>
              <a:gd name="adj" fmla="val 7531"/>
            </a:avLst>
          </a:prstGeom>
          <a:solidFill>
            <a:srgbClr val="1F2937"/>
          </a:solidFill>
          <a:ln/>
          <a:effectLst>
            <a:outerShdw sx="100000" sy="100000" kx="0" ky="0" algn="bl" rotWithShape="0" blurRad="114300" dist="38100" dir="8100000">
              <a:srgbClr val="4E0008">
                <a:alpha val="22000"/>
              </a:srgbClr>
            </a:outerShdw>
          </a:effectLst>
        </p:spPr>
      </p:sp>
      <p:pic>
        <p:nvPicPr>
          <p:cNvPr id="12" name="Image 2" descr="D:\04. Github\capphutho\shots\modules.png">    </p:cNvPr>
          <p:cNvPicPr>
            <a:picLocks noChangeAspect="1"/>
          </p:cNvPicPr>
          <p:nvPr/>
        </p:nvPicPr>
        <p:blipFill>
          <a:blip r:embed="rId3"/>
          <a:srcRect l="0" r="0" t="0" b="0"/>
          <a:stretch/>
        </p:blipFill>
        <p:spPr>
          <a:xfrm>
            <a:off x="6332220" y="1920240"/>
            <a:ext cx="1814627" cy="3703320"/>
          </a:xfrm>
          <a:prstGeom prst="rect">
            <a:avLst/>
          </a:prstGeom>
        </p:spPr>
      </p:pic>
      <p:sp>
        <p:nvSpPr>
          <p:cNvPr id="13" name="Text 8"/>
          <p:cNvSpPr/>
          <p:nvPr/>
        </p:nvSpPr>
        <p:spPr>
          <a:xfrm>
            <a:off x="6240780" y="5733288"/>
            <a:ext cx="1997507" cy="292608"/>
          </a:xfrm>
          <a:prstGeom prst="rect">
            <a:avLst/>
          </a:prstGeom>
          <a:noFill/>
          <a:ln/>
        </p:spPr>
        <p:txBody>
          <a:bodyPr wrap="square" lIns="0" tIns="0" rIns="0" bIns="0" rtlCol="0" anchor="ctr"/>
          <a:lstStyle/>
          <a:p>
            <a:pPr algn="ctr" indent="0" marL="0">
              <a:buNone/>
            </a:pPr>
            <a:r>
              <a:rPr lang="en-US" sz="1250" b="1" dirty="0">
                <a:solidFill>
                  <a:srgbClr val="374151"/>
                </a:solidFill>
                <a:latin typeface="Segoe UI" pitchFamily="34" charset="0"/>
                <a:ea typeface="Segoe UI" pitchFamily="34" charset="-122"/>
                <a:cs typeface="Segoe UI" pitchFamily="34" charset="-120"/>
              </a:rPr>
              <a:t>Hướng dẫn lĩnh vực</a:t>
            </a:r>
            <a:endParaRPr lang="en-US" sz="1250" dirty="0"/>
          </a:p>
        </p:txBody>
      </p:sp>
      <p:sp>
        <p:nvSpPr>
          <p:cNvPr id="14" name="Shape 9"/>
          <p:cNvSpPr/>
          <p:nvPr/>
        </p:nvSpPr>
        <p:spPr>
          <a:xfrm>
            <a:off x="8585759" y="1856232"/>
            <a:ext cx="1942643" cy="3831336"/>
          </a:xfrm>
          <a:prstGeom prst="roundRect">
            <a:avLst>
              <a:gd name="adj" fmla="val 7531"/>
            </a:avLst>
          </a:prstGeom>
          <a:solidFill>
            <a:srgbClr val="1F2937"/>
          </a:solidFill>
          <a:ln/>
          <a:effectLst>
            <a:outerShdw sx="100000" sy="100000" kx="0" ky="0" algn="bl" rotWithShape="0" blurRad="114300" dist="38100" dir="8100000">
              <a:srgbClr val="4E0008">
                <a:alpha val="22000"/>
              </a:srgbClr>
            </a:outerShdw>
          </a:effectLst>
        </p:spPr>
      </p:sp>
      <p:pic>
        <p:nvPicPr>
          <p:cNvPr id="15" name="Image 3" descr="D:\04. Github\capphutho\shots\lienthong.png">    </p:cNvPr>
          <p:cNvPicPr>
            <a:picLocks noChangeAspect="1"/>
          </p:cNvPicPr>
          <p:nvPr/>
        </p:nvPicPr>
        <p:blipFill>
          <a:blip r:embed="rId4"/>
          <a:srcRect l="0" r="0" t="0" b="0"/>
          <a:stretch/>
        </p:blipFill>
        <p:spPr>
          <a:xfrm>
            <a:off x="8649767" y="1920240"/>
            <a:ext cx="1814627" cy="3703320"/>
          </a:xfrm>
          <a:prstGeom prst="rect">
            <a:avLst/>
          </a:prstGeom>
        </p:spPr>
      </p:pic>
      <p:sp>
        <p:nvSpPr>
          <p:cNvPr id="16" name="Text 10"/>
          <p:cNvSpPr/>
          <p:nvPr/>
        </p:nvSpPr>
        <p:spPr>
          <a:xfrm>
            <a:off x="8558327" y="5733288"/>
            <a:ext cx="1997507" cy="292608"/>
          </a:xfrm>
          <a:prstGeom prst="rect">
            <a:avLst/>
          </a:prstGeom>
          <a:noFill/>
          <a:ln/>
        </p:spPr>
        <p:txBody>
          <a:bodyPr wrap="square" lIns="0" tIns="0" rIns="0" bIns="0" rtlCol="0" anchor="ctr"/>
          <a:lstStyle/>
          <a:p>
            <a:pPr algn="ctr" indent="0" marL="0">
              <a:buNone/>
            </a:pPr>
            <a:r>
              <a:rPr lang="en-US" sz="1250" b="1" dirty="0">
                <a:solidFill>
                  <a:srgbClr val="374151"/>
                </a:solidFill>
                <a:latin typeface="Segoe UI" pitchFamily="34" charset="0"/>
                <a:ea typeface="Segoe UI" pitchFamily="34" charset="-122"/>
                <a:cs typeface="Segoe UI" pitchFamily="34" charset="-120"/>
              </a:rPr>
              <a:t>Thủ tục liên thông</a:t>
            </a:r>
            <a:endParaRPr lang="en-US" sz="1250" dirty="0"/>
          </a:p>
        </p:txBody>
      </p:sp>
      <p:pic>
        <p:nvPicPr>
          <p:cNvPr id="17" name="Image 4" descr="preencoded.png">    </p:cNvPr>
          <p:cNvPicPr>
            <a:picLocks noChangeAspect="1"/>
          </p:cNvPicPr>
          <p:nvPr/>
        </p:nvPicPr>
        <p:blipFill>
          <a:blip r:embed="rId5">
            <a:alphaModFix amt="70000"/>
          </a:blip>
          <a:stretch>
            <a:fillRect/>
          </a:stretch>
        </p:blipFill>
        <p:spPr>
          <a:xfrm>
            <a:off x="11082528" y="384048"/>
            <a:ext cx="566928" cy="566928"/>
          </a:xfrm>
          <a:prstGeom prst="rect">
            <a:avLst/>
          </a:prstGeom>
        </p:spPr>
      </p:pic>
      <p:sp>
        <p:nvSpPr>
          <p:cNvPr id="18" name="Shape 11"/>
          <p:cNvSpPr/>
          <p:nvPr/>
        </p:nvSpPr>
        <p:spPr>
          <a:xfrm>
            <a:off x="640080" y="6437376"/>
            <a:ext cx="10881360" cy="12802"/>
          </a:xfrm>
          <a:prstGeom prst="rect">
            <a:avLst/>
          </a:prstGeom>
          <a:solidFill>
            <a:srgbClr val="F3D2D7"/>
          </a:solidFill>
          <a:ln/>
        </p:spPr>
      </p:sp>
      <p:sp>
        <p:nvSpPr>
          <p:cNvPr id="19" name="Text 12"/>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6B7280"/>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20" name="Text 13"/>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C41E3A"/>
                </a:solidFill>
                <a:latin typeface="Segoe UI" pitchFamily="34" charset="0"/>
                <a:ea typeface="Segoe UI" pitchFamily="34" charset="-122"/>
                <a:cs typeface="Segoe UI" pitchFamily="34" charset="-120"/>
              </a:rPr>
              <a:t>07</a:t>
            </a:r>
            <a:endParaRPr lang="en-US" sz="1000" dirty="0"/>
          </a:p>
        </p:txBody>
      </p:sp>
    </p:spTree>
  </p:cSld>
  <p:clrMapOvr>
    <a:masterClrMapping/>
  </p:clrMapOvr>
  <p:transition xmlns:p14="http://schemas.microsoft.com/office/powerpoint/2010/main" spd="med" p14:dur="45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C41E3A"/>
                </a:solidFill>
                <a:latin typeface="Segoe UI" pitchFamily="34" charset="0"/>
                <a:ea typeface="Segoe UI" pitchFamily="34" charset="-122"/>
                <a:cs typeface="Segoe UI" pitchFamily="34" charset="-120"/>
              </a:rPr>
              <a:t>TÍNH MỚI, TÍNH SÁNG TẠO</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1F2937"/>
                </a:solidFill>
                <a:latin typeface="Segoe UI" pitchFamily="34" charset="0"/>
                <a:ea typeface="Segoe UI" pitchFamily="34" charset="-122"/>
                <a:cs typeface="Segoe UI" pitchFamily="34" charset="-120"/>
              </a:rPr>
              <a:t>Bốn điểm khác biệt cốt lõi</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Shape 3"/>
          <p:cNvSpPr/>
          <p:nvPr/>
        </p:nvSpPr>
        <p:spPr>
          <a:xfrm>
            <a:off x="640080" y="2194560"/>
            <a:ext cx="2377440" cy="3108960"/>
          </a:xfrm>
          <a:prstGeom prst="roundRect">
            <a:avLst>
              <a:gd name="adj" fmla="val 4615"/>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6" name="Shape 4"/>
          <p:cNvSpPr/>
          <p:nvPr/>
        </p:nvSpPr>
        <p:spPr>
          <a:xfrm>
            <a:off x="1280160" y="2542032"/>
            <a:ext cx="1097280" cy="109728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7" name="Image 0" descr="preencoded.png">    </p:cNvPr>
          <p:cNvPicPr>
            <a:picLocks noChangeAspect="1"/>
          </p:cNvPicPr>
          <p:nvPr/>
        </p:nvPicPr>
        <p:blipFill>
          <a:blip r:embed="rId1"/>
          <a:stretch>
            <a:fillRect/>
          </a:stretch>
        </p:blipFill>
        <p:spPr>
          <a:xfrm>
            <a:off x="1576426" y="2838298"/>
            <a:ext cx="504749" cy="504749"/>
          </a:xfrm>
          <a:prstGeom prst="rect">
            <a:avLst/>
          </a:prstGeom>
        </p:spPr>
      </p:pic>
      <p:sp>
        <p:nvSpPr>
          <p:cNvPr id="8" name="Text 5"/>
          <p:cNvSpPr/>
          <p:nvPr/>
        </p:nvSpPr>
        <p:spPr>
          <a:xfrm>
            <a:off x="822960" y="3794760"/>
            <a:ext cx="2011680" cy="548640"/>
          </a:xfrm>
          <a:prstGeom prst="rect">
            <a:avLst/>
          </a:prstGeom>
          <a:noFill/>
          <a:ln/>
        </p:spPr>
        <p:txBody>
          <a:bodyPr wrap="square" lIns="0" tIns="0" rIns="0" bIns="0" rtlCol="0" anchor="ctr"/>
          <a:lstStyle/>
          <a:p>
            <a:pPr algn="ctr" indent="0" marL="0">
              <a:buNone/>
            </a:pPr>
            <a:r>
              <a:rPr lang="en-US" sz="2100" b="1" dirty="0">
                <a:solidFill>
                  <a:srgbClr val="1F2937"/>
                </a:solidFill>
                <a:latin typeface="Segoe UI" pitchFamily="34" charset="0"/>
                <a:ea typeface="Segoe UI" pitchFamily="34" charset="-122"/>
                <a:cs typeface="Segoe UI" pitchFamily="34" charset="-120"/>
              </a:rPr>
              <a:t>Bình dân hóa pháp lý</a:t>
            </a:r>
            <a:endParaRPr lang="en-US" sz="2100" dirty="0"/>
          </a:p>
        </p:txBody>
      </p:sp>
      <p:sp>
        <p:nvSpPr>
          <p:cNvPr id="9" name="Text 6"/>
          <p:cNvSpPr/>
          <p:nvPr/>
        </p:nvSpPr>
        <p:spPr>
          <a:xfrm>
            <a:off x="914400" y="4389120"/>
            <a:ext cx="1828800" cy="868680"/>
          </a:xfrm>
          <a:prstGeom prst="rect">
            <a:avLst/>
          </a:prstGeom>
          <a:noFill/>
          <a:ln/>
        </p:spPr>
        <p:txBody>
          <a:bodyPr wrap="square" lIns="0" tIns="0" rIns="0" bIns="0" rtlCol="0" anchor="ctr"/>
          <a:lstStyle/>
          <a:p>
            <a:pPr algn="ctr" indent="0" marL="0">
              <a:buNone/>
            </a:pPr>
            <a:r>
              <a:rPr lang="en-US" sz="1400" dirty="0">
                <a:solidFill>
                  <a:srgbClr val="374151"/>
                </a:solidFill>
                <a:latin typeface="Segoe UI" pitchFamily="34" charset="0"/>
                <a:ea typeface="Segoe UI" pitchFamily="34" charset="-122"/>
                <a:cs typeface="Segoe UI" pitchFamily="34" charset="-120"/>
              </a:rPr>
              <a:t>Văn bản luật dài → gạch đầu dòng ngắn gọn, dễ hiểu cho mọi người.</a:t>
            </a:r>
            <a:endParaRPr lang="en-US" sz="1400" dirty="0"/>
          </a:p>
        </p:txBody>
      </p:sp>
      <p:sp>
        <p:nvSpPr>
          <p:cNvPr id="10" name="Shape 7"/>
          <p:cNvSpPr/>
          <p:nvPr/>
        </p:nvSpPr>
        <p:spPr>
          <a:xfrm>
            <a:off x="3474720" y="2194560"/>
            <a:ext cx="2377440" cy="3108960"/>
          </a:xfrm>
          <a:prstGeom prst="roundRect">
            <a:avLst>
              <a:gd name="adj" fmla="val 4615"/>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11" name="Shape 8"/>
          <p:cNvSpPr/>
          <p:nvPr/>
        </p:nvSpPr>
        <p:spPr>
          <a:xfrm>
            <a:off x="4114800" y="2542032"/>
            <a:ext cx="1097280" cy="1097280"/>
          </a:xfrm>
          <a:prstGeom prst="ellipse">
            <a:avLst/>
          </a:prstGeom>
          <a:solidFill>
            <a:srgbClr val="1F7A1F"/>
          </a:solidFill>
          <a:ln/>
          <a:effectLst>
            <a:outerShdw sx="100000" sy="100000" kx="0" ky="0" algn="bl" rotWithShape="0" blurRad="114300" dist="38100" dir="8100000">
              <a:srgbClr val="4E0008">
                <a:alpha val="22000"/>
              </a:srgbClr>
            </a:outerShdw>
          </a:effectLst>
        </p:spPr>
      </p:sp>
      <p:pic>
        <p:nvPicPr>
          <p:cNvPr id="12" name="Image 1" descr="preencoded.png">    </p:cNvPr>
          <p:cNvPicPr>
            <a:picLocks noChangeAspect="1"/>
          </p:cNvPicPr>
          <p:nvPr/>
        </p:nvPicPr>
        <p:blipFill>
          <a:blip r:embed="rId2"/>
          <a:stretch>
            <a:fillRect/>
          </a:stretch>
        </p:blipFill>
        <p:spPr>
          <a:xfrm>
            <a:off x="4411066" y="2838298"/>
            <a:ext cx="504749" cy="504749"/>
          </a:xfrm>
          <a:prstGeom prst="rect">
            <a:avLst/>
          </a:prstGeom>
        </p:spPr>
      </p:pic>
      <p:sp>
        <p:nvSpPr>
          <p:cNvPr id="13" name="Text 9"/>
          <p:cNvSpPr/>
          <p:nvPr/>
        </p:nvSpPr>
        <p:spPr>
          <a:xfrm>
            <a:off x="3657600" y="3794760"/>
            <a:ext cx="2011680" cy="548640"/>
          </a:xfrm>
          <a:prstGeom prst="rect">
            <a:avLst/>
          </a:prstGeom>
          <a:noFill/>
          <a:ln/>
        </p:spPr>
        <p:txBody>
          <a:bodyPr wrap="square" lIns="0" tIns="0" rIns="0" bIns="0" rtlCol="0" anchor="ctr"/>
          <a:lstStyle/>
          <a:p>
            <a:pPr algn="ctr" indent="0" marL="0">
              <a:buNone/>
            </a:pPr>
            <a:r>
              <a:rPr lang="en-US" sz="2100" b="1" dirty="0">
                <a:solidFill>
                  <a:srgbClr val="1F2937"/>
                </a:solidFill>
                <a:latin typeface="Segoe UI" pitchFamily="34" charset="0"/>
                <a:ea typeface="Segoe UI" pitchFamily="34" charset="-122"/>
                <a:cs typeface="Segoe UI" pitchFamily="34" charset="-120"/>
              </a:rPr>
              <a:t>Trợ lý ảo Chatbot</a:t>
            </a:r>
            <a:endParaRPr lang="en-US" sz="2100" dirty="0"/>
          </a:p>
        </p:txBody>
      </p:sp>
      <p:sp>
        <p:nvSpPr>
          <p:cNvPr id="14" name="Text 10"/>
          <p:cNvSpPr/>
          <p:nvPr/>
        </p:nvSpPr>
        <p:spPr>
          <a:xfrm>
            <a:off x="3749040" y="4389120"/>
            <a:ext cx="1828800" cy="868680"/>
          </a:xfrm>
          <a:prstGeom prst="rect">
            <a:avLst/>
          </a:prstGeom>
          <a:noFill/>
          <a:ln/>
        </p:spPr>
        <p:txBody>
          <a:bodyPr wrap="square" lIns="0" tIns="0" rIns="0" bIns="0" rtlCol="0" anchor="ctr"/>
          <a:lstStyle/>
          <a:p>
            <a:pPr algn="ctr" indent="0" marL="0">
              <a:buNone/>
            </a:pPr>
            <a:r>
              <a:rPr lang="en-US" sz="1400" dirty="0">
                <a:solidFill>
                  <a:srgbClr val="374151"/>
                </a:solidFill>
                <a:latin typeface="Segoe UI" pitchFamily="34" charset="0"/>
                <a:ea typeface="Segoe UI" pitchFamily="34" charset="-122"/>
                <a:cs typeface="Segoe UI" pitchFamily="34" charset="-120"/>
              </a:rPr>
              <a:t>Gõ “Làm sổ tạm trú”, “Mất cà vẹt xe” → trả lời ngay, không cần người trực.</a:t>
            </a:r>
            <a:endParaRPr lang="en-US" sz="1400" dirty="0"/>
          </a:p>
        </p:txBody>
      </p:sp>
      <p:sp>
        <p:nvSpPr>
          <p:cNvPr id="15" name="Shape 11"/>
          <p:cNvSpPr/>
          <p:nvPr/>
        </p:nvSpPr>
        <p:spPr>
          <a:xfrm>
            <a:off x="6309360" y="2194560"/>
            <a:ext cx="2377440" cy="3108960"/>
          </a:xfrm>
          <a:prstGeom prst="roundRect">
            <a:avLst>
              <a:gd name="adj" fmla="val 4615"/>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16" name="Shape 12"/>
          <p:cNvSpPr/>
          <p:nvPr/>
        </p:nvSpPr>
        <p:spPr>
          <a:xfrm>
            <a:off x="6949440" y="2542032"/>
            <a:ext cx="1097280" cy="1097280"/>
          </a:xfrm>
          <a:prstGeom prst="ellipse">
            <a:avLst/>
          </a:prstGeom>
          <a:solidFill>
            <a:srgbClr val="C2410C"/>
          </a:solidFill>
          <a:ln/>
          <a:effectLst>
            <a:outerShdw sx="100000" sy="100000" kx="0" ky="0" algn="bl" rotWithShape="0" blurRad="114300" dist="38100" dir="8100000">
              <a:srgbClr val="4E0008">
                <a:alpha val="22000"/>
              </a:srgbClr>
            </a:outerShdw>
          </a:effectLst>
        </p:spPr>
      </p:sp>
      <p:pic>
        <p:nvPicPr>
          <p:cNvPr id="17" name="Image 2" descr="preencoded.png">    </p:cNvPr>
          <p:cNvPicPr>
            <a:picLocks noChangeAspect="1"/>
          </p:cNvPicPr>
          <p:nvPr/>
        </p:nvPicPr>
        <p:blipFill>
          <a:blip r:embed="rId3"/>
          <a:stretch>
            <a:fillRect/>
          </a:stretch>
        </p:blipFill>
        <p:spPr>
          <a:xfrm>
            <a:off x="7245706" y="2838298"/>
            <a:ext cx="504749" cy="504749"/>
          </a:xfrm>
          <a:prstGeom prst="rect">
            <a:avLst/>
          </a:prstGeom>
        </p:spPr>
      </p:pic>
      <p:sp>
        <p:nvSpPr>
          <p:cNvPr id="18" name="Text 13"/>
          <p:cNvSpPr/>
          <p:nvPr/>
        </p:nvSpPr>
        <p:spPr>
          <a:xfrm>
            <a:off x="6492240" y="3794760"/>
            <a:ext cx="2011680" cy="548640"/>
          </a:xfrm>
          <a:prstGeom prst="rect">
            <a:avLst/>
          </a:prstGeom>
          <a:noFill/>
          <a:ln/>
        </p:spPr>
        <p:txBody>
          <a:bodyPr wrap="square" lIns="0" tIns="0" rIns="0" bIns="0" rtlCol="0" anchor="ctr"/>
          <a:lstStyle/>
          <a:p>
            <a:pPr algn="ctr" indent="0" marL="0">
              <a:buNone/>
            </a:pPr>
            <a:r>
              <a:rPr lang="en-US" sz="2100" b="1" dirty="0">
                <a:solidFill>
                  <a:srgbClr val="1F2937"/>
                </a:solidFill>
                <a:latin typeface="Segoe UI" pitchFamily="34" charset="0"/>
                <a:ea typeface="Segoe UI" pitchFamily="34" charset="-122"/>
                <a:cs typeface="Segoe UI" pitchFamily="34" charset="-120"/>
              </a:rPr>
              <a:t>Đa ngôn ngữ</a:t>
            </a:r>
            <a:endParaRPr lang="en-US" sz="2100" dirty="0"/>
          </a:p>
        </p:txBody>
      </p:sp>
      <p:sp>
        <p:nvSpPr>
          <p:cNvPr id="19" name="Text 14"/>
          <p:cNvSpPr/>
          <p:nvPr/>
        </p:nvSpPr>
        <p:spPr>
          <a:xfrm>
            <a:off x="6583680" y="4389120"/>
            <a:ext cx="1828800" cy="868680"/>
          </a:xfrm>
          <a:prstGeom prst="rect">
            <a:avLst/>
          </a:prstGeom>
          <a:noFill/>
          <a:ln/>
        </p:spPr>
        <p:txBody>
          <a:bodyPr wrap="square" lIns="0" tIns="0" rIns="0" bIns="0" rtlCol="0" anchor="ctr"/>
          <a:lstStyle/>
          <a:p>
            <a:pPr algn="ctr" indent="0" marL="0">
              <a:buNone/>
            </a:pPr>
            <a:r>
              <a:rPr lang="en-US" sz="1400" dirty="0">
                <a:solidFill>
                  <a:srgbClr val="374151"/>
                </a:solidFill>
                <a:latin typeface="Segoe UI" pitchFamily="34" charset="0"/>
                <a:ea typeface="Segoe UI" pitchFamily="34" charset="-122"/>
                <a:cs typeface="Segoe UI" pitchFamily="34" charset="-120"/>
              </a:rPr>
              <a:t>Giao diện Việt – Anh – Trung; có chế độ Chữ to cho người cao tuổi, người nước ngoài.</a:t>
            </a:r>
            <a:endParaRPr lang="en-US" sz="1400" dirty="0"/>
          </a:p>
        </p:txBody>
      </p:sp>
      <p:sp>
        <p:nvSpPr>
          <p:cNvPr id="20" name="Shape 15"/>
          <p:cNvSpPr/>
          <p:nvPr/>
        </p:nvSpPr>
        <p:spPr>
          <a:xfrm>
            <a:off x="9144000" y="2194560"/>
            <a:ext cx="2377440" cy="3108960"/>
          </a:xfrm>
          <a:prstGeom prst="roundRect">
            <a:avLst>
              <a:gd name="adj" fmla="val 4615"/>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21" name="Shape 16"/>
          <p:cNvSpPr/>
          <p:nvPr/>
        </p:nvSpPr>
        <p:spPr>
          <a:xfrm>
            <a:off x="9784080" y="2542032"/>
            <a:ext cx="1097280" cy="1097280"/>
          </a:xfrm>
          <a:prstGeom prst="ellipse">
            <a:avLst/>
          </a:prstGeom>
          <a:solidFill>
            <a:srgbClr val="8B0000"/>
          </a:solidFill>
          <a:ln/>
          <a:effectLst>
            <a:outerShdw sx="100000" sy="100000" kx="0" ky="0" algn="bl" rotWithShape="0" blurRad="114300" dist="38100" dir="8100000">
              <a:srgbClr val="4E0008">
                <a:alpha val="22000"/>
              </a:srgbClr>
            </a:outerShdw>
          </a:effectLst>
        </p:spPr>
      </p:sp>
      <p:pic>
        <p:nvPicPr>
          <p:cNvPr id="22" name="Image 3" descr="preencoded.png">    </p:cNvPr>
          <p:cNvPicPr>
            <a:picLocks noChangeAspect="1"/>
          </p:cNvPicPr>
          <p:nvPr/>
        </p:nvPicPr>
        <p:blipFill>
          <a:blip r:embed="rId4"/>
          <a:stretch>
            <a:fillRect/>
          </a:stretch>
        </p:blipFill>
        <p:spPr>
          <a:xfrm>
            <a:off x="10080346" y="2838298"/>
            <a:ext cx="504749" cy="504749"/>
          </a:xfrm>
          <a:prstGeom prst="rect">
            <a:avLst/>
          </a:prstGeom>
        </p:spPr>
      </p:pic>
      <p:sp>
        <p:nvSpPr>
          <p:cNvPr id="23" name="Text 17"/>
          <p:cNvSpPr/>
          <p:nvPr/>
        </p:nvSpPr>
        <p:spPr>
          <a:xfrm>
            <a:off x="9326880" y="3794760"/>
            <a:ext cx="2011680" cy="548640"/>
          </a:xfrm>
          <a:prstGeom prst="rect">
            <a:avLst/>
          </a:prstGeom>
          <a:noFill/>
          <a:ln/>
        </p:spPr>
        <p:txBody>
          <a:bodyPr wrap="square" lIns="0" tIns="0" rIns="0" bIns="0" rtlCol="0" anchor="ctr"/>
          <a:lstStyle/>
          <a:p>
            <a:pPr algn="ctr" indent="0" marL="0">
              <a:buNone/>
            </a:pPr>
            <a:r>
              <a:rPr lang="en-US" sz="2100" b="1" dirty="0">
                <a:solidFill>
                  <a:srgbClr val="1F2937"/>
                </a:solidFill>
                <a:latin typeface="Segoe UI" pitchFamily="34" charset="0"/>
                <a:ea typeface="Segoe UI" pitchFamily="34" charset="-122"/>
                <a:cs typeface="Segoe UI" pitchFamily="34" charset="-120"/>
              </a:rPr>
              <a:t>Web tĩnh siêu nhẹ</a:t>
            </a:r>
            <a:endParaRPr lang="en-US" sz="2100" dirty="0"/>
          </a:p>
        </p:txBody>
      </p:sp>
      <p:sp>
        <p:nvSpPr>
          <p:cNvPr id="24" name="Text 18"/>
          <p:cNvSpPr/>
          <p:nvPr/>
        </p:nvSpPr>
        <p:spPr>
          <a:xfrm>
            <a:off x="9418320" y="4389120"/>
            <a:ext cx="1828800" cy="868680"/>
          </a:xfrm>
          <a:prstGeom prst="rect">
            <a:avLst/>
          </a:prstGeom>
          <a:noFill/>
          <a:ln/>
        </p:spPr>
        <p:txBody>
          <a:bodyPr wrap="square" lIns="0" tIns="0" rIns="0" bIns="0" rtlCol="0" anchor="ctr"/>
          <a:lstStyle/>
          <a:p>
            <a:pPr algn="ctr" indent="0" marL="0">
              <a:buNone/>
            </a:pPr>
            <a:r>
              <a:rPr lang="en-US" sz="1400" dirty="0">
                <a:solidFill>
                  <a:srgbClr val="374151"/>
                </a:solidFill>
                <a:latin typeface="Segoe UI" pitchFamily="34" charset="0"/>
                <a:ea typeface="Segoe UI" pitchFamily="34" charset="-122"/>
                <a:cs typeface="Segoe UI" pitchFamily="34" charset="-120"/>
              </a:rPr>
              <a:t>Tải cực nhanh · chi phí vận hành gần 0 · dễ đóng gói chuyển giao.</a:t>
            </a:r>
            <a:endParaRPr lang="en-US" sz="1400" dirty="0"/>
          </a:p>
        </p:txBody>
      </p:sp>
      <p:pic>
        <p:nvPicPr>
          <p:cNvPr id="25" name="Image 4" descr="preencoded.png">    </p:cNvPr>
          <p:cNvPicPr>
            <a:picLocks noChangeAspect="1"/>
          </p:cNvPicPr>
          <p:nvPr/>
        </p:nvPicPr>
        <p:blipFill>
          <a:blip r:embed="rId5">
            <a:alphaModFix amt="70000"/>
          </a:blip>
          <a:stretch>
            <a:fillRect/>
          </a:stretch>
        </p:blipFill>
        <p:spPr>
          <a:xfrm>
            <a:off x="11082528" y="384048"/>
            <a:ext cx="566928" cy="566928"/>
          </a:xfrm>
          <a:prstGeom prst="rect">
            <a:avLst/>
          </a:prstGeom>
        </p:spPr>
      </p:pic>
      <p:sp>
        <p:nvSpPr>
          <p:cNvPr id="26" name="Shape 19"/>
          <p:cNvSpPr/>
          <p:nvPr/>
        </p:nvSpPr>
        <p:spPr>
          <a:xfrm>
            <a:off x="640080" y="6437376"/>
            <a:ext cx="10881360" cy="12802"/>
          </a:xfrm>
          <a:prstGeom prst="rect">
            <a:avLst/>
          </a:prstGeom>
          <a:solidFill>
            <a:srgbClr val="F3D2D7"/>
          </a:solidFill>
          <a:ln/>
        </p:spPr>
      </p:sp>
      <p:sp>
        <p:nvSpPr>
          <p:cNvPr id="27" name="Text 20"/>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6B7280"/>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28" name="Text 21"/>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C41E3A"/>
                </a:solidFill>
                <a:latin typeface="Segoe UI" pitchFamily="34" charset="0"/>
                <a:ea typeface="Segoe UI" pitchFamily="34" charset="-122"/>
                <a:cs typeface="Segoe UI" pitchFamily="34" charset="-120"/>
              </a:rPr>
              <a:t>08</a:t>
            </a:r>
            <a:endParaRPr lang="en-US" sz="1000" dirty="0"/>
          </a:p>
        </p:txBody>
      </p:sp>
    </p:spTree>
  </p:cSld>
  <p:clrMapOvr>
    <a:masterClrMapping/>
  </p:clrMapOvr>
  <p:transition xmlns:p14="http://schemas.microsoft.com/office/powerpoint/2010/main" spd="med" p14:dur="450">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7A0010"/>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FFD700"/>
                </a:solidFill>
                <a:latin typeface="Segoe UI" pitchFamily="34" charset="0"/>
                <a:ea typeface="Segoe UI" pitchFamily="34" charset="-122"/>
                <a:cs typeface="Segoe UI" pitchFamily="34" charset="-120"/>
              </a:rPr>
              <a:t>KẾT QUẢ THẬT</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FFFFFF"/>
                </a:solidFill>
                <a:latin typeface="Segoe UI" pitchFamily="34" charset="0"/>
                <a:ea typeface="Segoe UI" pitchFamily="34" charset="-122"/>
                <a:cs typeface="Segoe UI" pitchFamily="34" charset="-120"/>
              </a:rPr>
              <a:t>Sau 1 tháng áp dụng thử nghiệm</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Shape 3"/>
          <p:cNvSpPr/>
          <p:nvPr/>
        </p:nvSpPr>
        <p:spPr>
          <a:xfrm>
            <a:off x="1127760" y="2011680"/>
            <a:ext cx="2286000" cy="2286000"/>
          </a:xfrm>
          <a:prstGeom prst="ellipse">
            <a:avLst/>
          </a:prstGeom>
          <a:solidFill>
            <a:srgbClr val="5F0D14"/>
          </a:solidFill>
          <a:ln w="38100">
            <a:solidFill>
              <a:srgbClr val="FFD700"/>
            </a:solidFill>
            <a:prstDash val="solid"/>
          </a:ln>
          <a:effectLst>
            <a:outerShdw sx="100000" sy="100000" kx="0" ky="0" algn="bl" rotWithShape="0" blurRad="114300" dist="38100" dir="8100000">
              <a:srgbClr val="4E0008">
                <a:alpha val="22000"/>
              </a:srgbClr>
            </a:outerShdw>
          </a:effectLst>
        </p:spPr>
      </p:sp>
      <p:sp>
        <p:nvSpPr>
          <p:cNvPr id="6" name="Shape 4"/>
          <p:cNvSpPr/>
          <p:nvPr/>
        </p:nvSpPr>
        <p:spPr>
          <a:xfrm>
            <a:off x="1292352" y="2176272"/>
            <a:ext cx="1956816" cy="1956816"/>
          </a:xfrm>
          <a:prstGeom prst="ellipse">
            <a:avLst/>
          </a:prstGeom>
          <a:ln w="19050">
            <a:solidFill>
              <a:srgbClr val="C41E3A"/>
            </a:solidFill>
            <a:prstDash val="dash"/>
          </a:ln>
        </p:spPr>
      </p:sp>
      <p:sp>
        <p:nvSpPr>
          <p:cNvPr id="7" name="Text 5"/>
          <p:cNvSpPr/>
          <p:nvPr/>
        </p:nvSpPr>
        <p:spPr>
          <a:xfrm>
            <a:off x="1127760" y="2514600"/>
            <a:ext cx="2286000" cy="1280160"/>
          </a:xfrm>
          <a:prstGeom prst="rect">
            <a:avLst/>
          </a:prstGeom>
          <a:noFill/>
          <a:ln/>
        </p:spPr>
        <p:txBody>
          <a:bodyPr wrap="square" lIns="0" tIns="0" rIns="0" bIns="0" rtlCol="0" anchor="ctr"/>
          <a:lstStyle/>
          <a:p>
            <a:pPr algn="ctr" indent="0" marL="0">
              <a:buNone/>
            </a:pPr>
            <a:r>
              <a:rPr lang="en-US" sz="4400" b="1" dirty="0">
                <a:solidFill>
                  <a:srgbClr val="FFD700"/>
                </a:solidFill>
                <a:latin typeface="Segoe UI" pitchFamily="34" charset="0"/>
                <a:ea typeface="Segoe UI" pitchFamily="34" charset="-122"/>
                <a:cs typeface="Segoe UI" pitchFamily="34" charset="-120"/>
              </a:rPr>
              <a:t>~60%</a:t>
            </a:r>
            <a:endParaRPr lang="en-US" sz="4400" dirty="0"/>
          </a:p>
        </p:txBody>
      </p:sp>
      <p:sp>
        <p:nvSpPr>
          <p:cNvPr id="8" name="Text 6"/>
          <p:cNvSpPr/>
          <p:nvPr/>
        </p:nvSpPr>
        <p:spPr>
          <a:xfrm>
            <a:off x="640080" y="4480560"/>
            <a:ext cx="326136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số người dân hỏi trực tiếp GIẢM</a:t>
            </a:r>
            <a:endParaRPr lang="en-US" sz="1500" dirty="0"/>
          </a:p>
        </p:txBody>
      </p:sp>
      <p:sp>
        <p:nvSpPr>
          <p:cNvPr id="9" name="Shape 7"/>
          <p:cNvSpPr/>
          <p:nvPr/>
        </p:nvSpPr>
        <p:spPr>
          <a:xfrm>
            <a:off x="4937760" y="2011680"/>
            <a:ext cx="2286000" cy="2286000"/>
          </a:xfrm>
          <a:prstGeom prst="ellipse">
            <a:avLst/>
          </a:prstGeom>
          <a:solidFill>
            <a:srgbClr val="5F0D14"/>
          </a:solidFill>
          <a:ln w="38100">
            <a:solidFill>
              <a:srgbClr val="FFD700"/>
            </a:solidFill>
            <a:prstDash val="solid"/>
          </a:ln>
          <a:effectLst>
            <a:outerShdw sx="100000" sy="100000" kx="0" ky="0" algn="bl" rotWithShape="0" blurRad="114300" dist="38100" dir="8100000">
              <a:srgbClr val="4E0008">
                <a:alpha val="22000"/>
              </a:srgbClr>
            </a:outerShdw>
          </a:effectLst>
        </p:spPr>
      </p:sp>
      <p:sp>
        <p:nvSpPr>
          <p:cNvPr id="10" name="Shape 8"/>
          <p:cNvSpPr/>
          <p:nvPr/>
        </p:nvSpPr>
        <p:spPr>
          <a:xfrm>
            <a:off x="5102352" y="2176272"/>
            <a:ext cx="1956816" cy="1956816"/>
          </a:xfrm>
          <a:prstGeom prst="ellipse">
            <a:avLst/>
          </a:prstGeom>
          <a:ln w="19050">
            <a:solidFill>
              <a:srgbClr val="C41E3A"/>
            </a:solidFill>
            <a:prstDash val="dash"/>
          </a:ln>
        </p:spPr>
      </p:sp>
      <p:sp>
        <p:nvSpPr>
          <p:cNvPr id="11" name="Text 9"/>
          <p:cNvSpPr/>
          <p:nvPr/>
        </p:nvSpPr>
        <p:spPr>
          <a:xfrm>
            <a:off x="4937760" y="2514600"/>
            <a:ext cx="2286000" cy="1280160"/>
          </a:xfrm>
          <a:prstGeom prst="rect">
            <a:avLst/>
          </a:prstGeom>
          <a:noFill/>
          <a:ln/>
        </p:spPr>
        <p:txBody>
          <a:bodyPr wrap="square" lIns="0" tIns="0" rIns="0" bIns="0" rtlCol="0" anchor="ctr"/>
          <a:lstStyle/>
          <a:p>
            <a:pPr algn="ctr" indent="0" marL="0">
              <a:buNone/>
            </a:pPr>
            <a:r>
              <a:rPr lang="en-US" sz="4400" b="1" dirty="0">
                <a:solidFill>
                  <a:srgbClr val="FFD700"/>
                </a:solidFill>
                <a:latin typeface="Segoe UI" pitchFamily="34" charset="0"/>
                <a:ea typeface="Segoe UI" pitchFamily="34" charset="-122"/>
                <a:cs typeface="Segoe UI" pitchFamily="34" charset="-120"/>
              </a:rPr>
              <a:t>100%</a:t>
            </a:r>
            <a:endParaRPr lang="en-US" sz="4400" dirty="0"/>
          </a:p>
        </p:txBody>
      </p:sp>
      <p:sp>
        <p:nvSpPr>
          <p:cNvPr id="12" name="Text 10"/>
          <p:cNvSpPr/>
          <p:nvPr/>
        </p:nvSpPr>
        <p:spPr>
          <a:xfrm>
            <a:off x="4450080" y="4480560"/>
            <a:ext cx="326136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người mang hồ sơ đến đã đủ giấy tờ</a:t>
            </a:r>
            <a:endParaRPr lang="en-US" sz="1500" dirty="0"/>
          </a:p>
        </p:txBody>
      </p:sp>
      <p:sp>
        <p:nvSpPr>
          <p:cNvPr id="13" name="Shape 11"/>
          <p:cNvSpPr/>
          <p:nvPr/>
        </p:nvSpPr>
        <p:spPr>
          <a:xfrm>
            <a:off x="8747760" y="2011680"/>
            <a:ext cx="2286000" cy="2286000"/>
          </a:xfrm>
          <a:prstGeom prst="ellipse">
            <a:avLst/>
          </a:prstGeom>
          <a:solidFill>
            <a:srgbClr val="5F0D14"/>
          </a:solidFill>
          <a:ln w="38100">
            <a:solidFill>
              <a:srgbClr val="FFD700"/>
            </a:solidFill>
            <a:prstDash val="solid"/>
          </a:ln>
          <a:effectLst>
            <a:outerShdw sx="100000" sy="100000" kx="0" ky="0" algn="bl" rotWithShape="0" blurRad="114300" dist="38100" dir="8100000">
              <a:srgbClr val="4E0008">
                <a:alpha val="22000"/>
              </a:srgbClr>
            </a:outerShdw>
          </a:effectLst>
        </p:spPr>
      </p:sp>
      <p:sp>
        <p:nvSpPr>
          <p:cNvPr id="14" name="Shape 12"/>
          <p:cNvSpPr/>
          <p:nvPr/>
        </p:nvSpPr>
        <p:spPr>
          <a:xfrm>
            <a:off x="8912352" y="2176272"/>
            <a:ext cx="1956816" cy="1956816"/>
          </a:xfrm>
          <a:prstGeom prst="ellipse">
            <a:avLst/>
          </a:prstGeom>
          <a:ln w="19050">
            <a:solidFill>
              <a:srgbClr val="C41E3A"/>
            </a:solidFill>
            <a:prstDash val="dash"/>
          </a:ln>
        </p:spPr>
      </p:sp>
      <p:sp>
        <p:nvSpPr>
          <p:cNvPr id="15" name="Text 13"/>
          <p:cNvSpPr/>
          <p:nvPr/>
        </p:nvSpPr>
        <p:spPr>
          <a:xfrm>
            <a:off x="8747760" y="2514600"/>
            <a:ext cx="2286000" cy="1280160"/>
          </a:xfrm>
          <a:prstGeom prst="rect">
            <a:avLst/>
          </a:prstGeom>
          <a:noFill/>
          <a:ln/>
        </p:spPr>
        <p:txBody>
          <a:bodyPr wrap="square" lIns="0" tIns="0" rIns="0" bIns="0" rtlCol="0" anchor="ctr"/>
          <a:lstStyle/>
          <a:p>
            <a:pPr algn="ctr" indent="0" marL="0">
              <a:buNone/>
            </a:pPr>
            <a:r>
              <a:rPr lang="en-US" sz="3000" b="1" dirty="0">
                <a:solidFill>
                  <a:srgbClr val="FFD700"/>
                </a:solidFill>
                <a:latin typeface="Segoe UI" pitchFamily="34" charset="0"/>
                <a:ea typeface="Segoe UI" pitchFamily="34" charset="-122"/>
                <a:cs typeface="Segoe UI" pitchFamily="34" charset="-120"/>
              </a:rPr>
              <a:t>Hàng trăm</a:t>
            </a:r>
            <a:endParaRPr lang="en-US" sz="3000" dirty="0"/>
          </a:p>
        </p:txBody>
      </p:sp>
      <p:sp>
        <p:nvSpPr>
          <p:cNvPr id="16" name="Text 14"/>
          <p:cNvSpPr/>
          <p:nvPr/>
        </p:nvSpPr>
        <p:spPr>
          <a:xfrm>
            <a:off x="8260080" y="4480560"/>
            <a:ext cx="326136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lượt Chatbot phục vụ NGOÀI GIỜ</a:t>
            </a:r>
            <a:endParaRPr lang="en-US" sz="1500" dirty="0"/>
          </a:p>
        </p:txBody>
      </p:sp>
      <p:sp>
        <p:nvSpPr>
          <p:cNvPr id="17" name="Shape 15"/>
          <p:cNvSpPr/>
          <p:nvPr/>
        </p:nvSpPr>
        <p:spPr>
          <a:xfrm>
            <a:off x="640080" y="5532120"/>
            <a:ext cx="10881360" cy="777240"/>
          </a:xfrm>
          <a:prstGeom prst="roundRect">
            <a:avLst>
              <a:gd name="adj" fmla="val 11765"/>
            </a:avLst>
          </a:prstGeom>
          <a:solidFill>
            <a:srgbClr val="C41E3A"/>
          </a:solidFill>
          <a:ln w="12700">
            <a:solidFill>
              <a:srgbClr val="FFD700"/>
            </a:solidFill>
            <a:prstDash val="solid"/>
          </a:ln>
        </p:spPr>
      </p:sp>
      <p:sp>
        <p:nvSpPr>
          <p:cNvPr id="18" name="Text 16"/>
          <p:cNvSpPr/>
          <p:nvPr/>
        </p:nvSpPr>
        <p:spPr>
          <a:xfrm>
            <a:off x="822960" y="5532120"/>
            <a:ext cx="10515600" cy="777240"/>
          </a:xfrm>
          <a:prstGeom prst="rect">
            <a:avLst/>
          </a:prstGeom>
          <a:noFill/>
          <a:ln/>
        </p:spPr>
        <p:txBody>
          <a:bodyPr wrap="square" lIns="0" tIns="0" rIns="0" bIns="0" rtlCol="0" anchor="ctr"/>
          <a:lstStyle/>
          <a:p>
            <a:pPr algn="ctr" indent="0" marL="0">
              <a:buNone/>
            </a:pPr>
            <a:r>
              <a:rPr lang="en-US" sz="1500" b="1" i="1" dirty="0">
                <a:solidFill>
                  <a:srgbClr val="FFFFFF"/>
                </a:solidFill>
                <a:latin typeface="Segoe UI" pitchFamily="34" charset="0"/>
                <a:ea typeface="Segoe UI" pitchFamily="34" charset="-122"/>
                <a:cs typeface="Segoe UI" pitchFamily="34" charset="-120"/>
              </a:rPr>
              <a:t>Những lượt hỏi buổi tối, ngày nghỉ — trước đây không có ai trực để trả lời.</a:t>
            </a:r>
            <a:endParaRPr lang="en-US" sz="1500" dirty="0"/>
          </a:p>
        </p:txBody>
      </p:sp>
      <p:pic>
        <p:nvPicPr>
          <p:cNvPr id="19" name="Image 0" descr="preencoded.png">    </p:cNvPr>
          <p:cNvPicPr>
            <a:picLocks noChangeAspect="1"/>
          </p:cNvPicPr>
          <p:nvPr/>
        </p:nvPicPr>
        <p:blipFill>
          <a:blip r:embed="rId1">
            <a:alphaModFix amt="82000"/>
          </a:blip>
          <a:stretch>
            <a:fillRect/>
          </a:stretch>
        </p:blipFill>
        <p:spPr>
          <a:xfrm>
            <a:off x="11082528" y="384048"/>
            <a:ext cx="566928" cy="566928"/>
          </a:xfrm>
          <a:prstGeom prst="rect">
            <a:avLst/>
          </a:prstGeom>
        </p:spPr>
      </p:pic>
      <p:sp>
        <p:nvSpPr>
          <p:cNvPr id="20" name="Shape 17"/>
          <p:cNvSpPr/>
          <p:nvPr/>
        </p:nvSpPr>
        <p:spPr>
          <a:xfrm>
            <a:off x="640080" y="6437376"/>
            <a:ext cx="10881360" cy="12802"/>
          </a:xfrm>
          <a:prstGeom prst="rect">
            <a:avLst/>
          </a:prstGeom>
          <a:solidFill>
            <a:srgbClr val="FFD700"/>
          </a:solidFill>
          <a:ln/>
        </p:spPr>
      </p:sp>
      <p:sp>
        <p:nvSpPr>
          <p:cNvPr id="21" name="Text 18"/>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FFE9A8"/>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22" name="Text 19"/>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FFD700"/>
                </a:solidFill>
                <a:latin typeface="Segoe UI" pitchFamily="34" charset="0"/>
                <a:ea typeface="Segoe UI" pitchFamily="34" charset="-122"/>
                <a:cs typeface="Segoe UI" pitchFamily="34" charset="-120"/>
              </a:rPr>
              <a:t>09</a:t>
            </a:r>
            <a:endParaRPr lang="en-US" sz="1000" dirty="0"/>
          </a:p>
        </p:txBody>
      </p:sp>
    </p:spTree>
  </p:cSld>
  <p:clrMapOvr>
    <a:masterClrMapping/>
  </p:clrMapOvr>
  <mc:AlternateContent xmlns:mc="http://schemas.openxmlformats.org/markup-compatibility/2006">
    <mc:Choice xmlns:p159="http://schemas.microsoft.com/office/powerpoint/2015/9/main" Requires="p159">
      <p:transition xmlns:p14="http://schemas.microsoft.com/office/powerpoint/2010/main" spd="med" p14:dur="800">
        <p159:morph option="byObject"/>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7A0010"/>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FFD700"/>
                </a:solidFill>
                <a:latin typeface="Segoe UI" pitchFamily="34" charset="0"/>
                <a:ea typeface="Segoe UI" pitchFamily="34" charset="-122"/>
                <a:cs typeface="Segoe UI" pitchFamily="34" charset="-120"/>
              </a:rPr>
              <a:t>GIÁ TRỊ MANG LẠI</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FFFFFF"/>
                </a:solidFill>
                <a:latin typeface="Segoe UI" pitchFamily="34" charset="0"/>
                <a:ea typeface="Segoe UI" pitchFamily="34" charset="-122"/>
                <a:cs typeface="Segoe UI" pitchFamily="34" charset="-120"/>
              </a:rPr>
              <a:t>Chuyên môn · Kinh tế · Phục vụ Nhân dân</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Shape 3"/>
          <p:cNvSpPr/>
          <p:nvPr/>
        </p:nvSpPr>
        <p:spPr>
          <a:xfrm>
            <a:off x="640080" y="2194560"/>
            <a:ext cx="3322320" cy="3108960"/>
          </a:xfrm>
          <a:prstGeom prst="roundRect">
            <a:avLst>
              <a:gd name="adj" fmla="val 3529"/>
            </a:avLst>
          </a:prstGeom>
          <a:solidFill>
            <a:srgbClr val="5F0D14"/>
          </a:solidFill>
          <a:ln w="12700">
            <a:solidFill>
              <a:srgbClr val="C41E3A"/>
            </a:solidFill>
            <a:prstDash val="solid"/>
          </a:ln>
          <a:effectLst>
            <a:outerShdw sx="100000" sy="100000" kx="0" ky="0" algn="bl" rotWithShape="0" blurRad="88900" dist="25400" dir="8100000">
              <a:srgbClr val="94A3B8">
                <a:alpha val="30000"/>
              </a:srgbClr>
            </a:outerShdw>
          </a:effectLst>
        </p:spPr>
      </p:sp>
      <p:sp>
        <p:nvSpPr>
          <p:cNvPr id="6" name="Shape 4"/>
          <p:cNvSpPr/>
          <p:nvPr/>
        </p:nvSpPr>
        <p:spPr>
          <a:xfrm>
            <a:off x="1752600" y="2542032"/>
            <a:ext cx="1097280" cy="109728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7" name="Image 0" descr="preencoded.png">    </p:cNvPr>
          <p:cNvPicPr>
            <a:picLocks noChangeAspect="1"/>
          </p:cNvPicPr>
          <p:nvPr/>
        </p:nvPicPr>
        <p:blipFill>
          <a:blip r:embed="rId1"/>
          <a:stretch>
            <a:fillRect/>
          </a:stretch>
        </p:blipFill>
        <p:spPr>
          <a:xfrm>
            <a:off x="2048866" y="2838298"/>
            <a:ext cx="504749" cy="504749"/>
          </a:xfrm>
          <a:prstGeom prst="rect">
            <a:avLst/>
          </a:prstGeom>
        </p:spPr>
      </p:pic>
      <p:sp>
        <p:nvSpPr>
          <p:cNvPr id="8" name="Text 5"/>
          <p:cNvSpPr/>
          <p:nvPr/>
        </p:nvSpPr>
        <p:spPr>
          <a:xfrm>
            <a:off x="822960" y="3794760"/>
            <a:ext cx="295656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Segoe UI" pitchFamily="34" charset="0"/>
                <a:ea typeface="Segoe UI" pitchFamily="34" charset="-122"/>
                <a:cs typeface="Segoe UI" pitchFamily="34" charset="-120"/>
              </a:rPr>
              <a:t>≥50% thời gian</a:t>
            </a:r>
            <a:endParaRPr lang="en-US" sz="2100" dirty="0"/>
          </a:p>
        </p:txBody>
      </p:sp>
      <p:sp>
        <p:nvSpPr>
          <p:cNvPr id="9" name="Text 6"/>
          <p:cNvSpPr/>
          <p:nvPr/>
        </p:nvSpPr>
        <p:spPr>
          <a:xfrm>
            <a:off x="914400" y="4389120"/>
            <a:ext cx="2773680" cy="868680"/>
          </a:xfrm>
          <a:prstGeom prst="rect">
            <a:avLst/>
          </a:prstGeom>
          <a:noFill/>
          <a:ln/>
        </p:spPr>
        <p:txBody>
          <a:bodyPr wrap="square" lIns="0" tIns="0" rIns="0" bIns="0" rtlCol="0" anchor="ctr"/>
          <a:lstStyle/>
          <a:p>
            <a:pPr algn="ctr" indent="0" marL="0">
              <a:buNone/>
            </a:pPr>
            <a:r>
              <a:rPr lang="en-US" sz="1400" dirty="0">
                <a:solidFill>
                  <a:srgbClr val="FFE9A8"/>
                </a:solidFill>
                <a:latin typeface="Segoe UI" pitchFamily="34" charset="0"/>
                <a:ea typeface="Segoe UI" pitchFamily="34" charset="-122"/>
                <a:cs typeface="Segoe UI" pitchFamily="34" charset="-120"/>
              </a:rPr>
              <a:t>Giảm thời gian giải đáp — cán bộ tập trung nghiệp vụ chính.</a:t>
            </a:r>
            <a:endParaRPr lang="en-US" sz="1400" dirty="0"/>
          </a:p>
        </p:txBody>
      </p:sp>
      <p:sp>
        <p:nvSpPr>
          <p:cNvPr id="10" name="Shape 7"/>
          <p:cNvSpPr/>
          <p:nvPr/>
        </p:nvSpPr>
        <p:spPr>
          <a:xfrm>
            <a:off x="4419600" y="2194560"/>
            <a:ext cx="3322320" cy="3108960"/>
          </a:xfrm>
          <a:prstGeom prst="roundRect">
            <a:avLst>
              <a:gd name="adj" fmla="val 3529"/>
            </a:avLst>
          </a:prstGeom>
          <a:solidFill>
            <a:srgbClr val="5F0D14"/>
          </a:solidFill>
          <a:ln w="12700">
            <a:solidFill>
              <a:srgbClr val="1F7A1F"/>
            </a:solidFill>
            <a:prstDash val="solid"/>
          </a:ln>
          <a:effectLst>
            <a:outerShdw sx="100000" sy="100000" kx="0" ky="0" algn="bl" rotWithShape="0" blurRad="88900" dist="25400" dir="8100000">
              <a:srgbClr val="94A3B8">
                <a:alpha val="30000"/>
              </a:srgbClr>
            </a:outerShdw>
          </a:effectLst>
        </p:spPr>
      </p:sp>
      <p:sp>
        <p:nvSpPr>
          <p:cNvPr id="11" name="Shape 8"/>
          <p:cNvSpPr/>
          <p:nvPr/>
        </p:nvSpPr>
        <p:spPr>
          <a:xfrm>
            <a:off x="5532120" y="2542032"/>
            <a:ext cx="1097280" cy="1097280"/>
          </a:xfrm>
          <a:prstGeom prst="ellipse">
            <a:avLst/>
          </a:prstGeom>
          <a:solidFill>
            <a:srgbClr val="1F7A1F"/>
          </a:solidFill>
          <a:ln/>
          <a:effectLst>
            <a:outerShdw sx="100000" sy="100000" kx="0" ky="0" algn="bl" rotWithShape="0" blurRad="114300" dist="38100" dir="8100000">
              <a:srgbClr val="4E0008">
                <a:alpha val="22000"/>
              </a:srgbClr>
            </a:outerShdw>
          </a:effectLst>
        </p:spPr>
      </p:sp>
      <p:pic>
        <p:nvPicPr>
          <p:cNvPr id="12" name="Image 1" descr="preencoded.png">    </p:cNvPr>
          <p:cNvPicPr>
            <a:picLocks noChangeAspect="1"/>
          </p:cNvPicPr>
          <p:nvPr/>
        </p:nvPicPr>
        <p:blipFill>
          <a:blip r:embed="rId2"/>
          <a:stretch>
            <a:fillRect/>
          </a:stretch>
        </p:blipFill>
        <p:spPr>
          <a:xfrm>
            <a:off x="5828386" y="2838298"/>
            <a:ext cx="504749" cy="504749"/>
          </a:xfrm>
          <a:prstGeom prst="rect">
            <a:avLst/>
          </a:prstGeom>
        </p:spPr>
      </p:pic>
      <p:sp>
        <p:nvSpPr>
          <p:cNvPr id="13" name="Text 9"/>
          <p:cNvSpPr/>
          <p:nvPr/>
        </p:nvSpPr>
        <p:spPr>
          <a:xfrm>
            <a:off x="4602480" y="3794760"/>
            <a:ext cx="295656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Segoe UI" pitchFamily="34" charset="0"/>
                <a:ea typeface="Segoe UI" pitchFamily="34" charset="-122"/>
                <a:cs typeface="Segoe UI" pitchFamily="34" charset="-120"/>
              </a:rPr>
              <a:t>Tiết kiệm</a:t>
            </a:r>
            <a:endParaRPr lang="en-US" sz="2100" dirty="0"/>
          </a:p>
        </p:txBody>
      </p:sp>
      <p:sp>
        <p:nvSpPr>
          <p:cNvPr id="14" name="Text 10"/>
          <p:cNvSpPr/>
          <p:nvPr/>
        </p:nvSpPr>
        <p:spPr>
          <a:xfrm>
            <a:off x="4693920" y="4389120"/>
            <a:ext cx="2773680" cy="868680"/>
          </a:xfrm>
          <a:prstGeom prst="rect">
            <a:avLst/>
          </a:prstGeom>
          <a:noFill/>
          <a:ln/>
        </p:spPr>
        <p:txBody>
          <a:bodyPr wrap="square" lIns="0" tIns="0" rIns="0" bIns="0" rtlCol="0" anchor="ctr"/>
          <a:lstStyle/>
          <a:p>
            <a:pPr algn="ctr" indent="0" marL="0">
              <a:buNone/>
            </a:pPr>
            <a:r>
              <a:rPr lang="en-US" sz="1400" dirty="0">
                <a:solidFill>
                  <a:srgbClr val="FFE9A8"/>
                </a:solidFill>
                <a:latin typeface="Segoe UI" pitchFamily="34" charset="0"/>
                <a:ea typeface="Segoe UI" pitchFamily="34" charset="-122"/>
                <a:cs typeface="Segoe UI" pitchFamily="34" charset="-120"/>
              </a:rPr>
              <a:t>Cắt giảm chi phí in ấn tờ rơi, biểu mẫu giấy.</a:t>
            </a:r>
            <a:endParaRPr lang="en-US" sz="1400" dirty="0"/>
          </a:p>
        </p:txBody>
      </p:sp>
      <p:sp>
        <p:nvSpPr>
          <p:cNvPr id="15" name="Shape 11"/>
          <p:cNvSpPr/>
          <p:nvPr/>
        </p:nvSpPr>
        <p:spPr>
          <a:xfrm>
            <a:off x="8199120" y="2194560"/>
            <a:ext cx="3322320" cy="3108960"/>
          </a:xfrm>
          <a:prstGeom prst="roundRect">
            <a:avLst>
              <a:gd name="adj" fmla="val 3529"/>
            </a:avLst>
          </a:prstGeom>
          <a:solidFill>
            <a:srgbClr val="5F0D14"/>
          </a:solidFill>
          <a:ln w="12700">
            <a:solidFill>
              <a:srgbClr val="C2410C"/>
            </a:solidFill>
            <a:prstDash val="solid"/>
          </a:ln>
          <a:effectLst>
            <a:outerShdw sx="100000" sy="100000" kx="0" ky="0" algn="bl" rotWithShape="0" blurRad="88900" dist="25400" dir="8100000">
              <a:srgbClr val="94A3B8">
                <a:alpha val="30000"/>
              </a:srgbClr>
            </a:outerShdw>
          </a:effectLst>
        </p:spPr>
      </p:sp>
      <p:sp>
        <p:nvSpPr>
          <p:cNvPr id="16" name="Shape 12"/>
          <p:cNvSpPr/>
          <p:nvPr/>
        </p:nvSpPr>
        <p:spPr>
          <a:xfrm>
            <a:off x="9311640" y="2542032"/>
            <a:ext cx="1097280" cy="1097280"/>
          </a:xfrm>
          <a:prstGeom prst="ellipse">
            <a:avLst/>
          </a:prstGeom>
          <a:solidFill>
            <a:srgbClr val="C2410C"/>
          </a:solidFill>
          <a:ln/>
          <a:effectLst>
            <a:outerShdw sx="100000" sy="100000" kx="0" ky="0" algn="bl" rotWithShape="0" blurRad="114300" dist="38100" dir="8100000">
              <a:srgbClr val="4E0008">
                <a:alpha val="22000"/>
              </a:srgbClr>
            </a:outerShdw>
          </a:effectLst>
        </p:spPr>
      </p:sp>
      <p:pic>
        <p:nvPicPr>
          <p:cNvPr id="17" name="Image 2" descr="preencoded.png">    </p:cNvPr>
          <p:cNvPicPr>
            <a:picLocks noChangeAspect="1"/>
          </p:cNvPicPr>
          <p:nvPr/>
        </p:nvPicPr>
        <p:blipFill>
          <a:blip r:embed="rId3"/>
          <a:stretch>
            <a:fillRect/>
          </a:stretch>
        </p:blipFill>
        <p:spPr>
          <a:xfrm>
            <a:off x="9607906" y="2838298"/>
            <a:ext cx="504749" cy="504749"/>
          </a:xfrm>
          <a:prstGeom prst="rect">
            <a:avLst/>
          </a:prstGeom>
        </p:spPr>
      </p:pic>
      <p:sp>
        <p:nvSpPr>
          <p:cNvPr id="18" name="Text 13"/>
          <p:cNvSpPr/>
          <p:nvPr/>
        </p:nvSpPr>
        <p:spPr>
          <a:xfrm>
            <a:off x="8382000" y="3794760"/>
            <a:ext cx="295656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Segoe UI" pitchFamily="34" charset="0"/>
                <a:ea typeface="Segoe UI" pitchFamily="34" charset="-122"/>
                <a:cs typeface="Segoe UI" pitchFamily="34" charset="-120"/>
              </a:rPr>
              <a:t>24/7</a:t>
            </a:r>
            <a:endParaRPr lang="en-US" sz="2100" dirty="0"/>
          </a:p>
        </p:txBody>
      </p:sp>
      <p:sp>
        <p:nvSpPr>
          <p:cNvPr id="19" name="Text 14"/>
          <p:cNvSpPr/>
          <p:nvPr/>
        </p:nvSpPr>
        <p:spPr>
          <a:xfrm>
            <a:off x="8473440" y="4389120"/>
            <a:ext cx="2773680" cy="868680"/>
          </a:xfrm>
          <a:prstGeom prst="rect">
            <a:avLst/>
          </a:prstGeom>
          <a:noFill/>
          <a:ln/>
        </p:spPr>
        <p:txBody>
          <a:bodyPr wrap="square" lIns="0" tIns="0" rIns="0" bIns="0" rtlCol="0" anchor="ctr"/>
          <a:lstStyle/>
          <a:p>
            <a:pPr algn="ctr" indent="0" marL="0">
              <a:buNone/>
            </a:pPr>
            <a:r>
              <a:rPr lang="en-US" sz="1400" dirty="0">
                <a:solidFill>
                  <a:srgbClr val="FFE9A8"/>
                </a:solidFill>
                <a:latin typeface="Segoe UI" pitchFamily="34" charset="0"/>
                <a:ea typeface="Segoe UI" pitchFamily="34" charset="-122"/>
                <a:cs typeface="Segoe UI" pitchFamily="34" charset="-120"/>
              </a:rPr>
              <a:t>Phục vụ dân mọi lúc — hướng tới Công an phường kiểu mẫu.</a:t>
            </a:r>
            <a:endParaRPr lang="en-US" sz="1400" dirty="0"/>
          </a:p>
        </p:txBody>
      </p:sp>
      <p:pic>
        <p:nvPicPr>
          <p:cNvPr id="20" name="Image 3" descr="preencoded.png">    </p:cNvPr>
          <p:cNvPicPr>
            <a:picLocks noChangeAspect="1"/>
          </p:cNvPicPr>
          <p:nvPr/>
        </p:nvPicPr>
        <p:blipFill>
          <a:blip r:embed="rId4">
            <a:alphaModFix amt="82000"/>
          </a:blip>
          <a:stretch>
            <a:fillRect/>
          </a:stretch>
        </p:blipFill>
        <p:spPr>
          <a:xfrm>
            <a:off x="11082528" y="384048"/>
            <a:ext cx="566928" cy="566928"/>
          </a:xfrm>
          <a:prstGeom prst="rect">
            <a:avLst/>
          </a:prstGeom>
        </p:spPr>
      </p:pic>
      <p:sp>
        <p:nvSpPr>
          <p:cNvPr id="21" name="Shape 15"/>
          <p:cNvSpPr/>
          <p:nvPr/>
        </p:nvSpPr>
        <p:spPr>
          <a:xfrm>
            <a:off x="640080" y="6437376"/>
            <a:ext cx="10881360" cy="12802"/>
          </a:xfrm>
          <a:prstGeom prst="rect">
            <a:avLst/>
          </a:prstGeom>
          <a:solidFill>
            <a:srgbClr val="FFD700"/>
          </a:solidFill>
          <a:ln/>
        </p:spPr>
      </p:sp>
      <p:sp>
        <p:nvSpPr>
          <p:cNvPr id="22" name="Text 16"/>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FFE9A8"/>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23" name="Text 17"/>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FFD700"/>
                </a:solidFill>
                <a:latin typeface="Segoe UI" pitchFamily="34" charset="0"/>
                <a:ea typeface="Segoe UI" pitchFamily="34" charset="-122"/>
                <a:cs typeface="Segoe UI" pitchFamily="34" charset="-120"/>
              </a:rPr>
              <a:t>10</a:t>
            </a:r>
            <a:endParaRPr lang="en-US" sz="1000" dirty="0"/>
          </a:p>
        </p:txBody>
      </p:sp>
    </p:spTree>
  </p:cSld>
  <p:clrMapOvr>
    <a:masterClrMapping/>
  </p:clrMapOvr>
  <p:transition xmlns:p14="http://schemas.microsoft.com/office/powerpoint/2010/main" spd="med" p14:dur="450">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C41E3A"/>
                </a:solidFill>
                <a:latin typeface="Segoe UI" pitchFamily="34" charset="0"/>
                <a:ea typeface="Segoe UI" pitchFamily="34" charset="-122"/>
                <a:cs typeface="Segoe UI" pitchFamily="34" charset="-120"/>
              </a:rPr>
              <a:t>LỘ TRÌNH &amp; KHẢ NĂNG NHÂN RỘNG</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1F2937"/>
                </a:solidFill>
                <a:latin typeface="Segoe UI" pitchFamily="34" charset="0"/>
                <a:ea typeface="Segoe UI" pitchFamily="34" charset="-122"/>
                <a:cs typeface="Segoe UI" pitchFamily="34" charset="-120"/>
              </a:rPr>
              <a:t>Từ thí điểm một phường → toàn tỉnh</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Shape 3"/>
          <p:cNvSpPr/>
          <p:nvPr/>
        </p:nvSpPr>
        <p:spPr>
          <a:xfrm>
            <a:off x="914400" y="3383280"/>
            <a:ext cx="10332720" cy="45720"/>
          </a:xfrm>
          <a:prstGeom prst="rect">
            <a:avLst/>
          </a:prstGeom>
          <a:solidFill>
            <a:srgbClr val="C41E3A"/>
          </a:solidFill>
          <a:ln/>
        </p:spPr>
      </p:sp>
      <p:sp>
        <p:nvSpPr>
          <p:cNvPr id="6" name="Shape 4"/>
          <p:cNvSpPr/>
          <p:nvPr/>
        </p:nvSpPr>
        <p:spPr>
          <a:xfrm>
            <a:off x="685800" y="3177540"/>
            <a:ext cx="457200" cy="457200"/>
          </a:xfrm>
          <a:prstGeom prst="ellipse">
            <a:avLst/>
          </a:prstGeom>
          <a:solidFill>
            <a:srgbClr val="FFD700"/>
          </a:solidFill>
          <a:ln/>
          <a:effectLst>
            <a:outerShdw sx="100000" sy="100000" kx="0" ky="0" algn="bl" rotWithShape="0" blurRad="114300" dist="38100" dir="8100000">
              <a:srgbClr val="4E0008">
                <a:alpha val="22000"/>
              </a:srgbClr>
            </a:outerShdw>
          </a:effectLst>
        </p:spPr>
      </p:sp>
      <p:sp>
        <p:nvSpPr>
          <p:cNvPr id="7" name="Shape 5"/>
          <p:cNvSpPr/>
          <p:nvPr/>
        </p:nvSpPr>
        <p:spPr>
          <a:xfrm>
            <a:off x="822960" y="3314700"/>
            <a:ext cx="182880" cy="182880"/>
          </a:xfrm>
          <a:prstGeom prst="ellipse">
            <a:avLst/>
          </a:prstGeom>
          <a:solidFill>
            <a:srgbClr val="8B0000"/>
          </a:solidFill>
          <a:ln/>
        </p:spPr>
      </p:sp>
      <p:sp>
        <p:nvSpPr>
          <p:cNvPr id="8" name="Shape 6"/>
          <p:cNvSpPr/>
          <p:nvPr/>
        </p:nvSpPr>
        <p:spPr>
          <a:xfrm>
            <a:off x="914400" y="1965960"/>
            <a:ext cx="2286000" cy="914400"/>
          </a:xfrm>
          <a:prstGeom prst="roundRect">
            <a:avLst>
              <a:gd name="adj" fmla="val 8000"/>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9" name="Text 7"/>
          <p:cNvSpPr/>
          <p:nvPr/>
        </p:nvSpPr>
        <p:spPr>
          <a:xfrm>
            <a:off x="1024128" y="2039112"/>
            <a:ext cx="2066544" cy="274320"/>
          </a:xfrm>
          <a:prstGeom prst="rect">
            <a:avLst/>
          </a:prstGeom>
          <a:noFill/>
          <a:ln/>
        </p:spPr>
        <p:txBody>
          <a:bodyPr wrap="square" lIns="0" tIns="0" rIns="0" bIns="0" rtlCol="0" anchor="ctr"/>
          <a:lstStyle/>
          <a:p>
            <a:pPr indent="0" marL="0">
              <a:buNone/>
            </a:pPr>
            <a:r>
              <a:rPr lang="en-US" sz="1300" b="1" dirty="0">
                <a:solidFill>
                  <a:srgbClr val="C41E3A"/>
                </a:solidFill>
                <a:latin typeface="Segoe UI" pitchFamily="34" charset="0"/>
                <a:ea typeface="Segoe UI" pitchFamily="34" charset="-122"/>
                <a:cs typeface="Segoe UI" pitchFamily="34" charset="-120"/>
              </a:rPr>
              <a:t>10/3/2026</a:t>
            </a:r>
            <a:endParaRPr lang="en-US" sz="1300" dirty="0"/>
          </a:p>
        </p:txBody>
      </p:sp>
      <p:sp>
        <p:nvSpPr>
          <p:cNvPr id="10" name="Text 8"/>
          <p:cNvSpPr/>
          <p:nvPr/>
        </p:nvSpPr>
        <p:spPr>
          <a:xfrm>
            <a:off x="1024128" y="2295144"/>
            <a:ext cx="2066544" cy="274320"/>
          </a:xfrm>
          <a:prstGeom prst="rect">
            <a:avLst/>
          </a:prstGeom>
          <a:noFill/>
          <a:ln/>
        </p:spPr>
        <p:txBody>
          <a:bodyPr wrap="square" lIns="0" tIns="0" rIns="0" bIns="0" rtlCol="0" anchor="ctr"/>
          <a:lstStyle/>
          <a:p>
            <a:pPr indent="0" marL="0">
              <a:buNone/>
            </a:pPr>
            <a:r>
              <a:rPr lang="en-US" sz="1350" b="1" dirty="0">
                <a:solidFill>
                  <a:srgbClr val="1F2937"/>
                </a:solidFill>
                <a:latin typeface="Segoe UI" pitchFamily="34" charset="0"/>
                <a:ea typeface="Segoe UI" pitchFamily="34" charset="-122"/>
                <a:cs typeface="Segoe UI" pitchFamily="34" charset="-120"/>
              </a:rPr>
              <a:t>Thí điểm</a:t>
            </a:r>
            <a:endParaRPr lang="en-US" sz="1350" dirty="0"/>
          </a:p>
        </p:txBody>
      </p:sp>
      <p:sp>
        <p:nvSpPr>
          <p:cNvPr id="11" name="Text 9"/>
          <p:cNvSpPr/>
          <p:nvPr/>
        </p:nvSpPr>
        <p:spPr>
          <a:xfrm>
            <a:off x="1024128" y="2532888"/>
            <a:ext cx="2066544" cy="329184"/>
          </a:xfrm>
          <a:prstGeom prst="rect">
            <a:avLst/>
          </a:prstGeom>
          <a:noFill/>
          <a:ln/>
        </p:spPr>
        <p:txBody>
          <a:bodyPr wrap="square" lIns="0" tIns="0" rIns="0" bIns="0" rtlCol="0" anchor="ctr"/>
          <a:lstStyle/>
          <a:p>
            <a:pPr indent="0" marL="0">
              <a:buNone/>
            </a:pPr>
            <a:r>
              <a:rPr lang="en-US" sz="1050" dirty="0">
                <a:solidFill>
                  <a:srgbClr val="6B7280"/>
                </a:solidFill>
                <a:latin typeface="Segoe UI" pitchFamily="34" charset="0"/>
                <a:ea typeface="Segoe UI" pitchFamily="34" charset="-122"/>
                <a:cs typeface="Segoe UI" pitchFamily="34" charset="-120"/>
              </a:rPr>
              <a:t>Dán mã QR tại trụ sở &amp; nhà văn hóa khu dân cư.</a:t>
            </a:r>
            <a:endParaRPr lang="en-US" sz="1050" dirty="0"/>
          </a:p>
        </p:txBody>
      </p:sp>
      <p:sp>
        <p:nvSpPr>
          <p:cNvPr id="12" name="Shape 10"/>
          <p:cNvSpPr/>
          <p:nvPr/>
        </p:nvSpPr>
        <p:spPr>
          <a:xfrm>
            <a:off x="4130040" y="3177540"/>
            <a:ext cx="457200" cy="457200"/>
          </a:xfrm>
          <a:prstGeom prst="ellipse">
            <a:avLst/>
          </a:prstGeom>
          <a:solidFill>
            <a:srgbClr val="FFD700"/>
          </a:solidFill>
          <a:ln/>
          <a:effectLst>
            <a:outerShdw sx="100000" sy="100000" kx="0" ky="0" algn="bl" rotWithShape="0" blurRad="114300" dist="38100" dir="8100000">
              <a:srgbClr val="4E0008">
                <a:alpha val="22000"/>
              </a:srgbClr>
            </a:outerShdw>
          </a:effectLst>
        </p:spPr>
      </p:sp>
      <p:sp>
        <p:nvSpPr>
          <p:cNvPr id="13" name="Shape 11"/>
          <p:cNvSpPr/>
          <p:nvPr/>
        </p:nvSpPr>
        <p:spPr>
          <a:xfrm>
            <a:off x="4267200" y="3314700"/>
            <a:ext cx="182880" cy="182880"/>
          </a:xfrm>
          <a:prstGeom prst="ellipse">
            <a:avLst/>
          </a:prstGeom>
          <a:solidFill>
            <a:srgbClr val="8B0000"/>
          </a:solidFill>
          <a:ln/>
        </p:spPr>
      </p:sp>
      <p:sp>
        <p:nvSpPr>
          <p:cNvPr id="14" name="Shape 12"/>
          <p:cNvSpPr/>
          <p:nvPr/>
        </p:nvSpPr>
        <p:spPr>
          <a:xfrm>
            <a:off x="3215640" y="3886200"/>
            <a:ext cx="2286000" cy="914400"/>
          </a:xfrm>
          <a:prstGeom prst="roundRect">
            <a:avLst>
              <a:gd name="adj" fmla="val 8000"/>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15" name="Text 13"/>
          <p:cNvSpPr/>
          <p:nvPr/>
        </p:nvSpPr>
        <p:spPr>
          <a:xfrm>
            <a:off x="3325368" y="3959352"/>
            <a:ext cx="2066544" cy="274320"/>
          </a:xfrm>
          <a:prstGeom prst="rect">
            <a:avLst/>
          </a:prstGeom>
          <a:noFill/>
          <a:ln/>
        </p:spPr>
        <p:txBody>
          <a:bodyPr wrap="square" lIns="0" tIns="0" rIns="0" bIns="0" rtlCol="0" anchor="ctr"/>
          <a:lstStyle/>
          <a:p>
            <a:pPr indent="0" marL="0">
              <a:buNone/>
            </a:pPr>
            <a:r>
              <a:rPr lang="en-US" sz="1300" b="1" dirty="0">
                <a:solidFill>
                  <a:srgbClr val="C41E3A"/>
                </a:solidFill>
                <a:latin typeface="Segoe UI" pitchFamily="34" charset="0"/>
                <a:ea typeface="Segoe UI" pitchFamily="34" charset="-122"/>
                <a:cs typeface="Segoe UI" pitchFamily="34" charset="-120"/>
              </a:rPr>
              <a:t>Sau 1 tháng</a:t>
            </a:r>
            <a:endParaRPr lang="en-US" sz="1300" dirty="0"/>
          </a:p>
        </p:txBody>
      </p:sp>
      <p:sp>
        <p:nvSpPr>
          <p:cNvPr id="16" name="Text 14"/>
          <p:cNvSpPr/>
          <p:nvPr/>
        </p:nvSpPr>
        <p:spPr>
          <a:xfrm>
            <a:off x="3325368" y="4215384"/>
            <a:ext cx="2066544" cy="274320"/>
          </a:xfrm>
          <a:prstGeom prst="rect">
            <a:avLst/>
          </a:prstGeom>
          <a:noFill/>
          <a:ln/>
        </p:spPr>
        <p:txBody>
          <a:bodyPr wrap="square" lIns="0" tIns="0" rIns="0" bIns="0" rtlCol="0" anchor="ctr"/>
          <a:lstStyle/>
          <a:p>
            <a:pPr indent="0" marL="0">
              <a:buNone/>
            </a:pPr>
            <a:r>
              <a:rPr lang="en-US" sz="1350" b="1" dirty="0">
                <a:solidFill>
                  <a:srgbClr val="1F2937"/>
                </a:solidFill>
                <a:latin typeface="Segoe UI" pitchFamily="34" charset="0"/>
                <a:ea typeface="Segoe UI" pitchFamily="34" charset="-122"/>
                <a:cs typeface="Segoe UI" pitchFamily="34" charset="-120"/>
              </a:rPr>
              <a:t>Kết quả tích cực</a:t>
            </a:r>
            <a:endParaRPr lang="en-US" sz="1350" dirty="0"/>
          </a:p>
        </p:txBody>
      </p:sp>
      <p:sp>
        <p:nvSpPr>
          <p:cNvPr id="17" name="Text 15"/>
          <p:cNvSpPr/>
          <p:nvPr/>
        </p:nvSpPr>
        <p:spPr>
          <a:xfrm>
            <a:off x="3325368" y="4453128"/>
            <a:ext cx="2066544" cy="329184"/>
          </a:xfrm>
          <a:prstGeom prst="rect">
            <a:avLst/>
          </a:prstGeom>
          <a:noFill/>
          <a:ln/>
        </p:spPr>
        <p:txBody>
          <a:bodyPr wrap="square" lIns="0" tIns="0" rIns="0" bIns="0" rtlCol="0" anchor="ctr"/>
          <a:lstStyle/>
          <a:p>
            <a:pPr indent="0" marL="0">
              <a:buNone/>
            </a:pPr>
            <a:r>
              <a:rPr lang="en-US" sz="1050" dirty="0">
                <a:solidFill>
                  <a:srgbClr val="6B7280"/>
                </a:solidFill>
                <a:latin typeface="Segoe UI" pitchFamily="34" charset="0"/>
                <a:ea typeface="Segoe UI" pitchFamily="34" charset="-122"/>
                <a:cs typeface="Segoe UI" pitchFamily="34" charset="-120"/>
              </a:rPr>
              <a:t>Người dân đón nhận, hiệu quả rõ rệt.</a:t>
            </a:r>
            <a:endParaRPr lang="en-US" sz="1050" dirty="0"/>
          </a:p>
        </p:txBody>
      </p:sp>
      <p:sp>
        <p:nvSpPr>
          <p:cNvPr id="18" name="Shape 16"/>
          <p:cNvSpPr/>
          <p:nvPr/>
        </p:nvSpPr>
        <p:spPr>
          <a:xfrm>
            <a:off x="7574280" y="3177540"/>
            <a:ext cx="457200" cy="457200"/>
          </a:xfrm>
          <a:prstGeom prst="ellipse">
            <a:avLst/>
          </a:prstGeom>
          <a:solidFill>
            <a:srgbClr val="FFD700"/>
          </a:solidFill>
          <a:ln/>
          <a:effectLst>
            <a:outerShdw sx="100000" sy="100000" kx="0" ky="0" algn="bl" rotWithShape="0" blurRad="114300" dist="38100" dir="8100000">
              <a:srgbClr val="4E0008">
                <a:alpha val="22000"/>
              </a:srgbClr>
            </a:outerShdw>
          </a:effectLst>
        </p:spPr>
      </p:sp>
      <p:sp>
        <p:nvSpPr>
          <p:cNvPr id="19" name="Shape 17"/>
          <p:cNvSpPr/>
          <p:nvPr/>
        </p:nvSpPr>
        <p:spPr>
          <a:xfrm>
            <a:off x="7711440" y="3314700"/>
            <a:ext cx="182880" cy="182880"/>
          </a:xfrm>
          <a:prstGeom prst="ellipse">
            <a:avLst/>
          </a:prstGeom>
          <a:solidFill>
            <a:srgbClr val="8B0000"/>
          </a:solidFill>
          <a:ln/>
        </p:spPr>
      </p:sp>
      <p:sp>
        <p:nvSpPr>
          <p:cNvPr id="20" name="Shape 18"/>
          <p:cNvSpPr/>
          <p:nvPr/>
        </p:nvSpPr>
        <p:spPr>
          <a:xfrm>
            <a:off x="6659880" y="1965960"/>
            <a:ext cx="2286000" cy="914400"/>
          </a:xfrm>
          <a:prstGeom prst="roundRect">
            <a:avLst>
              <a:gd name="adj" fmla="val 8000"/>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21" name="Text 19"/>
          <p:cNvSpPr/>
          <p:nvPr/>
        </p:nvSpPr>
        <p:spPr>
          <a:xfrm>
            <a:off x="6769608" y="2039112"/>
            <a:ext cx="2066544" cy="274320"/>
          </a:xfrm>
          <a:prstGeom prst="rect">
            <a:avLst/>
          </a:prstGeom>
          <a:noFill/>
          <a:ln/>
        </p:spPr>
        <p:txBody>
          <a:bodyPr wrap="square" lIns="0" tIns="0" rIns="0" bIns="0" rtlCol="0" anchor="ctr"/>
          <a:lstStyle/>
          <a:p>
            <a:pPr indent="0" marL="0">
              <a:buNone/>
            </a:pPr>
            <a:r>
              <a:rPr lang="en-US" sz="1300" b="1" dirty="0">
                <a:solidFill>
                  <a:srgbClr val="C41E3A"/>
                </a:solidFill>
                <a:latin typeface="Segoe UI" pitchFamily="34" charset="0"/>
                <a:ea typeface="Segoe UI" pitchFamily="34" charset="-122"/>
                <a:cs typeface="Segoe UI" pitchFamily="34" charset="-120"/>
              </a:rPr>
              <a:t>4/4/2026</a:t>
            </a:r>
            <a:endParaRPr lang="en-US" sz="1300" dirty="0"/>
          </a:p>
        </p:txBody>
      </p:sp>
      <p:sp>
        <p:nvSpPr>
          <p:cNvPr id="22" name="Text 20"/>
          <p:cNvSpPr/>
          <p:nvPr/>
        </p:nvSpPr>
        <p:spPr>
          <a:xfrm>
            <a:off x="6769608" y="2295144"/>
            <a:ext cx="2066544" cy="274320"/>
          </a:xfrm>
          <a:prstGeom prst="rect">
            <a:avLst/>
          </a:prstGeom>
          <a:noFill/>
          <a:ln/>
        </p:spPr>
        <p:txBody>
          <a:bodyPr wrap="square" lIns="0" tIns="0" rIns="0" bIns="0" rtlCol="0" anchor="ctr"/>
          <a:lstStyle/>
          <a:p>
            <a:pPr indent="0" marL="0">
              <a:buNone/>
            </a:pPr>
            <a:r>
              <a:rPr lang="en-US" sz="1350" b="1" dirty="0">
                <a:solidFill>
                  <a:srgbClr val="1F2937"/>
                </a:solidFill>
                <a:latin typeface="Segoe UI" pitchFamily="34" charset="0"/>
                <a:ea typeface="Segoe UI" pitchFamily="34" charset="-122"/>
                <a:cs typeface="Segoe UI" pitchFamily="34" charset="-120"/>
              </a:rPr>
              <a:t>Đề nghị công nhận</a:t>
            </a:r>
            <a:endParaRPr lang="en-US" sz="1350" dirty="0"/>
          </a:p>
        </p:txBody>
      </p:sp>
      <p:sp>
        <p:nvSpPr>
          <p:cNvPr id="23" name="Text 21"/>
          <p:cNvSpPr/>
          <p:nvPr/>
        </p:nvSpPr>
        <p:spPr>
          <a:xfrm>
            <a:off x="6769608" y="2532888"/>
            <a:ext cx="2066544" cy="329184"/>
          </a:xfrm>
          <a:prstGeom prst="rect">
            <a:avLst/>
          </a:prstGeom>
          <a:noFill/>
          <a:ln/>
        </p:spPr>
        <p:txBody>
          <a:bodyPr wrap="square" lIns="0" tIns="0" rIns="0" bIns="0" rtlCol="0" anchor="ctr"/>
          <a:lstStyle/>
          <a:p>
            <a:pPr indent="0" marL="0">
              <a:buNone/>
            </a:pPr>
            <a:r>
              <a:rPr lang="en-US" sz="1050" dirty="0">
                <a:solidFill>
                  <a:srgbClr val="6B7280"/>
                </a:solidFill>
                <a:latin typeface="Segoe UI" pitchFamily="34" charset="0"/>
                <a:ea typeface="Segoe UI" pitchFamily="34" charset="-122"/>
                <a:cs typeface="Segoe UI" pitchFamily="34" charset="-120"/>
              </a:rPr>
              <a:t>Hoàn thiện bản mô tả sáng kiến.</a:t>
            </a:r>
            <a:endParaRPr lang="en-US" sz="1050" dirty="0"/>
          </a:p>
        </p:txBody>
      </p:sp>
      <p:sp>
        <p:nvSpPr>
          <p:cNvPr id="24" name="Shape 22"/>
          <p:cNvSpPr/>
          <p:nvPr/>
        </p:nvSpPr>
        <p:spPr>
          <a:xfrm>
            <a:off x="11018520" y="3177540"/>
            <a:ext cx="457200" cy="457200"/>
          </a:xfrm>
          <a:prstGeom prst="ellipse">
            <a:avLst/>
          </a:prstGeom>
          <a:solidFill>
            <a:srgbClr val="FFD700"/>
          </a:solidFill>
          <a:ln/>
          <a:effectLst>
            <a:outerShdw sx="100000" sy="100000" kx="0" ky="0" algn="bl" rotWithShape="0" blurRad="114300" dist="38100" dir="8100000">
              <a:srgbClr val="4E0008">
                <a:alpha val="22000"/>
              </a:srgbClr>
            </a:outerShdw>
          </a:effectLst>
        </p:spPr>
      </p:sp>
      <p:sp>
        <p:nvSpPr>
          <p:cNvPr id="25" name="Shape 23"/>
          <p:cNvSpPr/>
          <p:nvPr/>
        </p:nvSpPr>
        <p:spPr>
          <a:xfrm>
            <a:off x="11155680" y="3314700"/>
            <a:ext cx="182880" cy="182880"/>
          </a:xfrm>
          <a:prstGeom prst="ellipse">
            <a:avLst/>
          </a:prstGeom>
          <a:solidFill>
            <a:srgbClr val="8B0000"/>
          </a:solidFill>
          <a:ln/>
        </p:spPr>
      </p:sp>
      <p:sp>
        <p:nvSpPr>
          <p:cNvPr id="26" name="Shape 24"/>
          <p:cNvSpPr/>
          <p:nvPr/>
        </p:nvSpPr>
        <p:spPr>
          <a:xfrm>
            <a:off x="8961120" y="3886200"/>
            <a:ext cx="2286000" cy="914400"/>
          </a:xfrm>
          <a:prstGeom prst="roundRect">
            <a:avLst>
              <a:gd name="adj" fmla="val 8000"/>
            </a:avLst>
          </a:prstGeom>
          <a:solidFill>
            <a:srgbClr val="7A0010"/>
          </a:solidFill>
          <a:ln w="12700">
            <a:solidFill>
              <a:srgbClr val="FFD700"/>
            </a:solidFill>
            <a:prstDash val="solid"/>
          </a:ln>
          <a:effectLst>
            <a:outerShdw sx="100000" sy="100000" kx="0" ky="0" algn="bl" rotWithShape="0" blurRad="88900" dist="25400" dir="8100000">
              <a:srgbClr val="94A3B8">
                <a:alpha val="30000"/>
              </a:srgbClr>
            </a:outerShdw>
          </a:effectLst>
        </p:spPr>
      </p:sp>
      <p:sp>
        <p:nvSpPr>
          <p:cNvPr id="27" name="Text 25"/>
          <p:cNvSpPr/>
          <p:nvPr/>
        </p:nvSpPr>
        <p:spPr>
          <a:xfrm>
            <a:off x="9070848" y="3959352"/>
            <a:ext cx="2066544" cy="274320"/>
          </a:xfrm>
          <a:prstGeom prst="rect">
            <a:avLst/>
          </a:prstGeom>
          <a:noFill/>
          <a:ln/>
        </p:spPr>
        <p:txBody>
          <a:bodyPr wrap="square" lIns="0" tIns="0" rIns="0" bIns="0" rtlCol="0" anchor="ctr"/>
          <a:lstStyle/>
          <a:p>
            <a:pPr indent="0" marL="0">
              <a:buNone/>
            </a:pPr>
            <a:r>
              <a:rPr lang="en-US" sz="1300" b="1" dirty="0">
                <a:solidFill>
                  <a:srgbClr val="FFD700"/>
                </a:solidFill>
                <a:latin typeface="Segoe UI" pitchFamily="34" charset="0"/>
                <a:ea typeface="Segoe UI" pitchFamily="34" charset="-122"/>
                <a:cs typeface="Segoe UI" pitchFamily="34" charset="-120"/>
              </a:rPr>
              <a:t>Năm 2026</a:t>
            </a:r>
            <a:endParaRPr lang="en-US" sz="1300" dirty="0"/>
          </a:p>
        </p:txBody>
      </p:sp>
      <p:sp>
        <p:nvSpPr>
          <p:cNvPr id="28" name="Text 26"/>
          <p:cNvSpPr/>
          <p:nvPr/>
        </p:nvSpPr>
        <p:spPr>
          <a:xfrm>
            <a:off x="9070848" y="4215384"/>
            <a:ext cx="2066544" cy="274320"/>
          </a:xfrm>
          <a:prstGeom prst="rect">
            <a:avLst/>
          </a:prstGeom>
          <a:noFill/>
          <a:ln/>
        </p:spPr>
        <p:txBody>
          <a:bodyPr wrap="square" lIns="0" tIns="0" rIns="0" bIns="0" rtlCol="0" anchor="ctr"/>
          <a:lstStyle/>
          <a:p>
            <a:pPr indent="0" marL="0">
              <a:buNone/>
            </a:pPr>
            <a:r>
              <a:rPr lang="en-US" sz="1350" b="1" dirty="0">
                <a:solidFill>
                  <a:srgbClr val="FFFFFF"/>
                </a:solidFill>
                <a:latin typeface="Segoe UI" pitchFamily="34" charset="0"/>
                <a:ea typeface="Segoe UI" pitchFamily="34" charset="-122"/>
                <a:cs typeface="Segoe UI" pitchFamily="34" charset="-120"/>
              </a:rPr>
              <a:t>Nhân rộng toàn tỉnh</a:t>
            </a:r>
            <a:endParaRPr lang="en-US" sz="1350" dirty="0"/>
          </a:p>
        </p:txBody>
      </p:sp>
      <p:sp>
        <p:nvSpPr>
          <p:cNvPr id="29" name="Text 27"/>
          <p:cNvSpPr/>
          <p:nvPr/>
        </p:nvSpPr>
        <p:spPr>
          <a:xfrm>
            <a:off x="9070848" y="4453128"/>
            <a:ext cx="2066544" cy="329184"/>
          </a:xfrm>
          <a:prstGeom prst="rect">
            <a:avLst/>
          </a:prstGeom>
          <a:noFill/>
          <a:ln/>
        </p:spPr>
        <p:txBody>
          <a:bodyPr wrap="square" lIns="0" tIns="0" rIns="0" bIns="0" rtlCol="0" anchor="ctr"/>
          <a:lstStyle/>
          <a:p>
            <a:pPr indent="0" marL="0">
              <a:buNone/>
            </a:pPr>
            <a:r>
              <a:rPr lang="en-US" sz="1050" dirty="0">
                <a:solidFill>
                  <a:srgbClr val="FFE9A8"/>
                </a:solidFill>
                <a:latin typeface="Segoe UI" pitchFamily="34" charset="0"/>
                <a:ea typeface="Segoe UI" pitchFamily="34" charset="-122"/>
                <a:cs typeface="Segoe UI" pitchFamily="34" charset="-120"/>
              </a:rPr>
              <a:t>Đổi logo &amp; tên đơn vị → 100% CA xã/phường.</a:t>
            </a:r>
            <a:endParaRPr lang="en-US" sz="1050" dirty="0"/>
          </a:p>
        </p:txBody>
      </p:sp>
      <p:sp>
        <p:nvSpPr>
          <p:cNvPr id="30" name="Text 28"/>
          <p:cNvSpPr/>
          <p:nvPr/>
        </p:nvSpPr>
        <p:spPr>
          <a:xfrm>
            <a:off x="640080" y="5669280"/>
            <a:ext cx="10881360" cy="457200"/>
          </a:xfrm>
          <a:prstGeom prst="rect">
            <a:avLst/>
          </a:prstGeom>
          <a:noFill/>
          <a:ln/>
        </p:spPr>
        <p:txBody>
          <a:bodyPr wrap="square" lIns="0" tIns="0" rIns="0" bIns="0" rtlCol="0" anchor="ctr"/>
          <a:lstStyle/>
          <a:p>
            <a:pPr algn="ctr" indent="0" marL="0">
              <a:buNone/>
            </a:pPr>
            <a:r>
              <a:rPr lang="en-US" sz="1500" b="1" i="1" dirty="0">
                <a:solidFill>
                  <a:srgbClr val="8B0000"/>
                </a:solidFill>
                <a:latin typeface="Segoe UI" pitchFamily="34" charset="0"/>
                <a:ea typeface="Segoe UI" pitchFamily="34" charset="-122"/>
                <a:cs typeface="Segoe UI" pitchFamily="34" charset="-120"/>
              </a:rPr>
              <a:t>Mã nguồn dạng module độc lập — nhân rộng KHÔNG mất thêm chi phí lập trình.</a:t>
            </a:r>
            <a:endParaRPr lang="en-US" sz="1500" dirty="0"/>
          </a:p>
        </p:txBody>
      </p:sp>
      <p:pic>
        <p:nvPicPr>
          <p:cNvPr id="31" name="Image 0" descr="preencoded.png">    </p:cNvPr>
          <p:cNvPicPr>
            <a:picLocks noChangeAspect="1"/>
          </p:cNvPicPr>
          <p:nvPr/>
        </p:nvPicPr>
        <p:blipFill>
          <a:blip r:embed="rId1">
            <a:alphaModFix amt="70000"/>
          </a:blip>
          <a:stretch>
            <a:fillRect/>
          </a:stretch>
        </p:blipFill>
        <p:spPr>
          <a:xfrm>
            <a:off x="11082528" y="384048"/>
            <a:ext cx="566928" cy="566928"/>
          </a:xfrm>
          <a:prstGeom prst="rect">
            <a:avLst/>
          </a:prstGeom>
        </p:spPr>
      </p:pic>
      <p:sp>
        <p:nvSpPr>
          <p:cNvPr id="32" name="Shape 29"/>
          <p:cNvSpPr/>
          <p:nvPr/>
        </p:nvSpPr>
        <p:spPr>
          <a:xfrm>
            <a:off x="640080" y="6437376"/>
            <a:ext cx="10881360" cy="12802"/>
          </a:xfrm>
          <a:prstGeom prst="rect">
            <a:avLst/>
          </a:prstGeom>
          <a:solidFill>
            <a:srgbClr val="F3D2D7"/>
          </a:solidFill>
          <a:ln/>
        </p:spPr>
      </p:sp>
      <p:sp>
        <p:nvSpPr>
          <p:cNvPr id="33" name="Text 30"/>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6B7280"/>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34" name="Text 31"/>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C41E3A"/>
                </a:solidFill>
                <a:latin typeface="Segoe UI" pitchFamily="34" charset="0"/>
                <a:ea typeface="Segoe UI" pitchFamily="34" charset="-122"/>
                <a:cs typeface="Segoe UI" pitchFamily="34" charset="-120"/>
              </a:rPr>
              <a:t>11</a:t>
            </a:r>
            <a:endParaRPr lang="en-US" sz="1000" dirty="0"/>
          </a:p>
        </p:txBody>
      </p:sp>
    </p:spTree>
  </p:cSld>
  <p:clrMapOvr>
    <a:masterClrMapping/>
  </p:clrMapOvr>
  <p:transition xmlns:p14="http://schemas.microsoft.com/office/powerpoint/2010/main" spd="med" p14:dur="450">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7A001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16000"/>
          </a:blip>
          <a:stretch>
            <a:fillRect/>
          </a:stretch>
        </p:blipFill>
        <p:spPr>
          <a:xfrm>
            <a:off x="8778240" y="1280160"/>
            <a:ext cx="4206240" cy="4206240"/>
          </a:xfrm>
          <a:prstGeom prst="rect">
            <a:avLst/>
          </a:prstGeom>
        </p:spPr>
      </p:pic>
      <p:sp>
        <p:nvSpPr>
          <p:cNvPr id="3" name="Text 0"/>
          <p:cNvSpPr/>
          <p:nvPr/>
        </p:nvSpPr>
        <p:spPr>
          <a:xfrm>
            <a:off x="640080" y="548640"/>
            <a:ext cx="9144000" cy="365760"/>
          </a:xfrm>
          <a:prstGeom prst="rect">
            <a:avLst/>
          </a:prstGeom>
          <a:noFill/>
          <a:ln/>
        </p:spPr>
        <p:txBody>
          <a:bodyPr wrap="square" lIns="0" tIns="0" rIns="0" bIns="0" rtlCol="0" anchor="ctr"/>
          <a:lstStyle/>
          <a:p>
            <a:pPr indent="0" marL="0">
              <a:buNone/>
            </a:pPr>
            <a:r>
              <a:rPr lang="en-US" sz="1400" b="1" spc="200" kern="0" dirty="0">
                <a:solidFill>
                  <a:srgbClr val="FFD700"/>
                </a:solidFill>
                <a:latin typeface="Segoe UI" pitchFamily="34" charset="0"/>
                <a:ea typeface="Segoe UI" pitchFamily="34" charset="-122"/>
                <a:cs typeface="Segoe UI" pitchFamily="34" charset="-120"/>
              </a:rPr>
              <a:t>KẾT LUẬN &amp; KIẾN NGHỊ</a:t>
            </a:r>
            <a:endParaRPr lang="en-US" sz="1400" dirty="0"/>
          </a:p>
        </p:txBody>
      </p:sp>
      <p:sp>
        <p:nvSpPr>
          <p:cNvPr id="4" name="Text 1"/>
          <p:cNvSpPr/>
          <p:nvPr/>
        </p:nvSpPr>
        <p:spPr>
          <a:xfrm>
            <a:off x="640080" y="896112"/>
            <a:ext cx="10515600" cy="777240"/>
          </a:xfrm>
          <a:prstGeom prst="rect">
            <a:avLst/>
          </a:prstGeom>
          <a:noFill/>
          <a:ln/>
        </p:spPr>
        <p:txBody>
          <a:bodyPr wrap="square" lIns="0" tIns="0" rIns="0" bIns="0" rtlCol="0" anchor="ctr"/>
          <a:lstStyle/>
          <a:p>
            <a:pPr indent="0" marL="0">
              <a:buNone/>
            </a:pPr>
            <a:r>
              <a:rPr lang="en-US" sz="2800" b="1" dirty="0">
                <a:solidFill>
                  <a:srgbClr val="FFFFFF"/>
                </a:solidFill>
                <a:latin typeface="Segoe UI" pitchFamily="34" charset="0"/>
                <a:ea typeface="Segoe UI" pitchFamily="34" charset="-122"/>
                <a:cs typeface="Segoe UI" pitchFamily="34" charset="-120"/>
              </a:rPr>
              <a:t>Giải pháp thực tiễn cao từ yêu cầu công tác</a:t>
            </a:r>
            <a:endParaRPr lang="en-US" sz="2800" dirty="0"/>
          </a:p>
        </p:txBody>
      </p:sp>
      <p:pic>
        <p:nvPicPr>
          <p:cNvPr id="5" name="Image 1" descr="preencoded.png">    </p:cNvPr>
          <p:cNvPicPr>
            <a:picLocks noChangeAspect="1"/>
          </p:cNvPicPr>
          <p:nvPr/>
        </p:nvPicPr>
        <p:blipFill>
          <a:blip r:embed="rId2"/>
          <a:stretch>
            <a:fillRect/>
          </a:stretch>
        </p:blipFill>
        <p:spPr>
          <a:xfrm>
            <a:off x="640080" y="1874520"/>
            <a:ext cx="384048" cy="384048"/>
          </a:xfrm>
          <a:prstGeom prst="rect">
            <a:avLst/>
          </a:prstGeom>
        </p:spPr>
      </p:pic>
      <p:sp>
        <p:nvSpPr>
          <p:cNvPr id="6" name="Text 2"/>
          <p:cNvSpPr/>
          <p:nvPr/>
        </p:nvSpPr>
        <p:spPr>
          <a:xfrm>
            <a:off x="1207008" y="1828800"/>
            <a:ext cx="7863840" cy="548640"/>
          </a:xfrm>
          <a:prstGeom prst="rect">
            <a:avLst/>
          </a:prstGeom>
          <a:noFill/>
          <a:ln/>
        </p:spPr>
        <p:txBody>
          <a:bodyPr wrap="square" lIns="0" tIns="0" rIns="0" bIns="0" rtlCol="0" anchor="ctr"/>
          <a:lstStyle/>
          <a:p>
            <a:pPr indent="0" marL="0">
              <a:buNone/>
            </a:pPr>
            <a:r>
              <a:rPr lang="en-US" sz="1600" dirty="0">
                <a:solidFill>
                  <a:srgbClr val="FFE9A8"/>
                </a:solidFill>
                <a:latin typeface="Segoe UI" pitchFamily="34" charset="0"/>
                <a:ea typeface="Segoe UI" pitchFamily="34" charset="-122"/>
                <a:cs typeface="Segoe UI" pitchFamily="34" charset="-120"/>
              </a:rPr>
              <a:t>Giải quyết triệt để quá tải trong khâu hướng dẫn thủ tục.</a:t>
            </a:r>
            <a:endParaRPr lang="en-US" sz="1600" dirty="0"/>
          </a:p>
        </p:txBody>
      </p:sp>
      <p:pic>
        <p:nvPicPr>
          <p:cNvPr id="7" name="Image 2" descr="preencoded.png">    </p:cNvPr>
          <p:cNvPicPr>
            <a:picLocks noChangeAspect="1"/>
          </p:cNvPicPr>
          <p:nvPr/>
        </p:nvPicPr>
        <p:blipFill>
          <a:blip r:embed="rId3"/>
          <a:stretch>
            <a:fillRect/>
          </a:stretch>
        </p:blipFill>
        <p:spPr>
          <a:xfrm>
            <a:off x="640080" y="2587752"/>
            <a:ext cx="384048" cy="384048"/>
          </a:xfrm>
          <a:prstGeom prst="rect">
            <a:avLst/>
          </a:prstGeom>
        </p:spPr>
      </p:pic>
      <p:sp>
        <p:nvSpPr>
          <p:cNvPr id="8" name="Text 3"/>
          <p:cNvSpPr/>
          <p:nvPr/>
        </p:nvSpPr>
        <p:spPr>
          <a:xfrm>
            <a:off x="1207008" y="2542032"/>
            <a:ext cx="7863840" cy="548640"/>
          </a:xfrm>
          <a:prstGeom prst="rect">
            <a:avLst/>
          </a:prstGeom>
          <a:noFill/>
          <a:ln/>
        </p:spPr>
        <p:txBody>
          <a:bodyPr wrap="square" lIns="0" tIns="0" rIns="0" bIns="0" rtlCol="0" anchor="ctr"/>
          <a:lstStyle/>
          <a:p>
            <a:pPr indent="0" marL="0">
              <a:buNone/>
            </a:pPr>
            <a:r>
              <a:rPr lang="en-US" sz="1600" dirty="0">
                <a:solidFill>
                  <a:srgbClr val="FFE9A8"/>
                </a:solidFill>
                <a:latin typeface="Segoe UI" pitchFamily="34" charset="0"/>
                <a:ea typeface="Segoe UI" pitchFamily="34" charset="-122"/>
                <a:cs typeface="Segoe UI" pitchFamily="34" charset="-120"/>
              </a:rPr>
              <a:t>Thuận tiện tối đa cho người dân — đúng định hướng NQ 57 &amp; KH 342.</a:t>
            </a:r>
            <a:endParaRPr lang="en-US" sz="1600" dirty="0"/>
          </a:p>
        </p:txBody>
      </p:sp>
      <p:pic>
        <p:nvPicPr>
          <p:cNvPr id="9" name="Image 3" descr="preencoded.png">    </p:cNvPr>
          <p:cNvPicPr>
            <a:picLocks noChangeAspect="1"/>
          </p:cNvPicPr>
          <p:nvPr/>
        </p:nvPicPr>
        <p:blipFill>
          <a:blip r:embed="rId4"/>
          <a:stretch>
            <a:fillRect/>
          </a:stretch>
        </p:blipFill>
        <p:spPr>
          <a:xfrm>
            <a:off x="640080" y="3300984"/>
            <a:ext cx="384048" cy="384048"/>
          </a:xfrm>
          <a:prstGeom prst="rect">
            <a:avLst/>
          </a:prstGeom>
        </p:spPr>
      </p:pic>
      <p:sp>
        <p:nvSpPr>
          <p:cNvPr id="10" name="Text 4"/>
          <p:cNvSpPr/>
          <p:nvPr/>
        </p:nvSpPr>
        <p:spPr>
          <a:xfrm>
            <a:off x="1207008" y="3255264"/>
            <a:ext cx="7863840" cy="548640"/>
          </a:xfrm>
          <a:prstGeom prst="rect">
            <a:avLst/>
          </a:prstGeom>
          <a:noFill/>
          <a:ln/>
        </p:spPr>
        <p:txBody>
          <a:bodyPr wrap="square" lIns="0" tIns="0" rIns="0" bIns="0" rtlCol="0" anchor="ctr"/>
          <a:lstStyle/>
          <a:p>
            <a:pPr indent="0" marL="0">
              <a:buNone/>
            </a:pPr>
            <a:r>
              <a:rPr lang="en-US" sz="1600" dirty="0">
                <a:solidFill>
                  <a:srgbClr val="FFE9A8"/>
                </a:solidFill>
                <a:latin typeface="Segoe UI" pitchFamily="34" charset="0"/>
                <a:ea typeface="Segoe UI" pitchFamily="34" charset="-122"/>
                <a:cs typeface="Segoe UI" pitchFamily="34" charset="-120"/>
              </a:rPr>
              <a:t>Chi phí gần 0 · dễ chuyển giao · hiệu quả thực chất.</a:t>
            </a:r>
            <a:endParaRPr lang="en-US" sz="1600" dirty="0"/>
          </a:p>
        </p:txBody>
      </p:sp>
      <p:sp>
        <p:nvSpPr>
          <p:cNvPr id="11" name="Shape 5"/>
          <p:cNvSpPr/>
          <p:nvPr/>
        </p:nvSpPr>
        <p:spPr>
          <a:xfrm>
            <a:off x="640080" y="4251960"/>
            <a:ext cx="10881360" cy="1691640"/>
          </a:xfrm>
          <a:prstGeom prst="roundRect">
            <a:avLst>
              <a:gd name="adj" fmla="val 6486"/>
            </a:avLst>
          </a:prstGeom>
          <a:solidFill>
            <a:srgbClr val="5F0D14"/>
          </a:solidFill>
          <a:ln w="16510">
            <a:solidFill>
              <a:srgbClr val="FFD700"/>
            </a:solidFill>
            <a:prstDash val="solid"/>
          </a:ln>
          <a:effectLst>
            <a:outerShdw sx="100000" sy="100000" kx="0" ky="0" algn="bl" rotWithShape="0" blurRad="114300" dist="38100" dir="8100000">
              <a:srgbClr val="4E0008">
                <a:alpha val="22000"/>
              </a:srgbClr>
            </a:outerShdw>
          </a:effectLst>
        </p:spPr>
      </p:sp>
      <p:sp>
        <p:nvSpPr>
          <p:cNvPr id="12" name="Text 6"/>
          <p:cNvSpPr/>
          <p:nvPr/>
        </p:nvSpPr>
        <p:spPr>
          <a:xfrm>
            <a:off x="1097280" y="4434840"/>
            <a:ext cx="10058400" cy="411480"/>
          </a:xfrm>
          <a:prstGeom prst="rect">
            <a:avLst/>
          </a:prstGeom>
          <a:noFill/>
          <a:ln/>
        </p:spPr>
        <p:txBody>
          <a:bodyPr wrap="square" lIns="0" tIns="0" rIns="0" bIns="0" rtlCol="0" anchor="ctr"/>
          <a:lstStyle/>
          <a:p>
            <a:pPr indent="0" marL="0">
              <a:buNone/>
            </a:pPr>
            <a:r>
              <a:rPr lang="en-US" sz="1400" b="1" spc="150" kern="0" dirty="0">
                <a:solidFill>
                  <a:srgbClr val="FFD700"/>
                </a:solidFill>
                <a:latin typeface="Segoe UI" pitchFamily="34" charset="0"/>
                <a:ea typeface="Segoe UI" pitchFamily="34" charset="-122"/>
                <a:cs typeface="Segoe UI" pitchFamily="34" charset="-120"/>
              </a:rPr>
              <a:t>KÍNH ĐỀ NGHỊ</a:t>
            </a:r>
            <a:endParaRPr lang="en-US" sz="1400" dirty="0"/>
          </a:p>
        </p:txBody>
      </p:sp>
      <p:sp>
        <p:nvSpPr>
          <p:cNvPr id="13" name="Text 7"/>
          <p:cNvSpPr/>
          <p:nvPr/>
        </p:nvSpPr>
        <p:spPr>
          <a:xfrm>
            <a:off x="1143000" y="4846320"/>
            <a:ext cx="9966960" cy="1005840"/>
          </a:xfrm>
          <a:prstGeom prst="rect">
            <a:avLst/>
          </a:prstGeom>
          <a:noFill/>
          <a:ln/>
        </p:spPr>
        <p:txBody>
          <a:bodyPr wrap="square" lIns="0" tIns="0" rIns="0" bIns="0" rtlCol="0" anchor="ctr"/>
          <a:lstStyle/>
          <a:p>
            <a:pPr marL="342900" indent="-342900">
              <a:spcAft>
                <a:spcPts val="800"/>
              </a:spcAft>
              <a:buSzPct val="100000"/>
              <a:buChar char="•"/>
            </a:pPr>
            <a:r>
              <a:rPr lang="en-US" sz="1650" b="1" dirty="0">
                <a:solidFill>
                  <a:srgbClr val="FFFFFF"/>
                </a:solidFill>
                <a:latin typeface="Segoe UI" pitchFamily="34" charset="0"/>
                <a:ea typeface="Segoe UI" pitchFamily="34" charset="-122"/>
                <a:cs typeface="Segoe UI" pitchFamily="34" charset="-120"/>
              </a:rPr>
              <a:t>Hội đồng Sáng kiến Công an tỉnh công nhận Sáng kiến cấp cơ sở năm 2026</a:t>
            </a:r>
            <a:endParaRPr lang="en-US" sz="1650" dirty="0"/>
          </a:p>
          <a:p>
            <a:pPr marL="342900" indent="-342900">
              <a:spcAft>
                <a:spcPts val="800"/>
              </a:spcAft>
              <a:buSzPct val="100000"/>
              <a:buChar char="•"/>
            </a:pPr>
            <a:r>
              <a:rPr lang="en-US" sz="1650" b="1" dirty="0">
                <a:solidFill>
                  <a:srgbClr val="FFFFFF"/>
                </a:solidFill>
                <a:latin typeface="Segoe UI" pitchFamily="34" charset="0"/>
                <a:ea typeface="Segoe UI" pitchFamily="34" charset="-122"/>
                <a:cs typeface="Segoe UI" pitchFamily="34" charset="-120"/>
              </a:rPr>
              <a:t>Ban Giám đốc cho phép chuyển giao mã nguồn, nhân rộng toàn tỉnh</a:t>
            </a:r>
            <a:endParaRPr lang="en-US" sz="1650" dirty="0"/>
          </a:p>
        </p:txBody>
      </p:sp>
      <p:sp>
        <p:nvSpPr>
          <p:cNvPr id="14" name="Text 8"/>
          <p:cNvSpPr/>
          <p:nvPr/>
        </p:nvSpPr>
        <p:spPr>
          <a:xfrm>
            <a:off x="640080" y="5989320"/>
            <a:ext cx="10881360" cy="365760"/>
          </a:xfrm>
          <a:prstGeom prst="rect">
            <a:avLst/>
          </a:prstGeom>
          <a:noFill/>
          <a:ln/>
        </p:spPr>
        <p:txBody>
          <a:bodyPr wrap="square" lIns="0" tIns="0" rIns="0" bIns="0" rtlCol="0" anchor="ctr"/>
          <a:lstStyle/>
          <a:p>
            <a:pPr algn="r" indent="0" marL="0">
              <a:buNone/>
            </a:pPr>
            <a:r>
              <a:rPr lang="en-US" sz="1600" i="1" dirty="0">
                <a:solidFill>
                  <a:srgbClr val="FFD700"/>
                </a:solidFill>
                <a:latin typeface="Segoe UI" pitchFamily="34" charset="0"/>
                <a:ea typeface="Segoe UI" pitchFamily="34" charset="-122"/>
                <a:cs typeface="Segoe UI" pitchFamily="34" charset="-120"/>
              </a:rPr>
              <a:t>Trân trọng cảm ơn Hội đồng!</a:t>
            </a:r>
            <a:endParaRPr lang="en-US" sz="1600" dirty="0"/>
          </a:p>
        </p:txBody>
      </p:sp>
      <p:pic>
        <p:nvPicPr>
          <p:cNvPr id="15" name="Image 4" descr="preencoded.png">    </p:cNvPr>
          <p:cNvPicPr>
            <a:picLocks noChangeAspect="1"/>
          </p:cNvPicPr>
          <p:nvPr/>
        </p:nvPicPr>
        <p:blipFill>
          <a:blip r:embed="rId5">
            <a:alphaModFix amt="82000"/>
          </a:blip>
          <a:stretch>
            <a:fillRect/>
          </a:stretch>
        </p:blipFill>
        <p:spPr>
          <a:xfrm>
            <a:off x="11082528" y="384048"/>
            <a:ext cx="566928" cy="566928"/>
          </a:xfrm>
          <a:prstGeom prst="rect">
            <a:avLst/>
          </a:prstGeom>
        </p:spPr>
      </p:pic>
      <p:sp>
        <p:nvSpPr>
          <p:cNvPr id="16" name="Shape 9"/>
          <p:cNvSpPr/>
          <p:nvPr/>
        </p:nvSpPr>
        <p:spPr>
          <a:xfrm>
            <a:off x="640080" y="6437376"/>
            <a:ext cx="10881360" cy="12802"/>
          </a:xfrm>
          <a:prstGeom prst="rect">
            <a:avLst/>
          </a:prstGeom>
          <a:solidFill>
            <a:srgbClr val="FFD700"/>
          </a:solidFill>
          <a:ln/>
        </p:spPr>
      </p:sp>
      <p:sp>
        <p:nvSpPr>
          <p:cNvPr id="17" name="Text 10"/>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FFE9A8"/>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18" name="Text 11"/>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FFD700"/>
                </a:solidFill>
                <a:latin typeface="Segoe UI" pitchFamily="34" charset="0"/>
                <a:ea typeface="Segoe UI" pitchFamily="34" charset="-122"/>
                <a:cs typeface="Segoe UI" pitchFamily="34" charset="-120"/>
              </a:rPr>
              <a:t>12</a:t>
            </a:r>
            <a:endParaRPr lang="en-US" sz="1000" dirty="0"/>
          </a:p>
        </p:txBody>
      </p:sp>
    </p:spTree>
  </p:cSld>
  <p:clrMapOvr>
    <a:masterClrMapping/>
  </p:clrMapOvr>
  <p:transition xmlns:p14="http://schemas.microsoft.com/office/powerpoint/2010/main" spd="med" p14:dur="450">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C41E3A"/>
                </a:solidFill>
                <a:latin typeface="Segoe UI" pitchFamily="34" charset="0"/>
                <a:ea typeface="Segoe UI" pitchFamily="34" charset="-122"/>
                <a:cs typeface="Segoe UI" pitchFamily="34" charset="-120"/>
              </a:rPr>
              <a:t>PHỤ LỤC — TỔ CHỨC THỰC HIỆN &amp; KỸ THUẬT</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1F2937"/>
                </a:solidFill>
                <a:latin typeface="Segoe UI" pitchFamily="34" charset="0"/>
                <a:ea typeface="Segoe UI" pitchFamily="34" charset="-122"/>
                <a:cs typeface="Segoe UI" pitchFamily="34" charset="-120"/>
              </a:rPr>
              <a:t>Chỉ trình chiếu khi được hỏi sâu</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Shape 3"/>
          <p:cNvSpPr/>
          <p:nvPr/>
        </p:nvSpPr>
        <p:spPr>
          <a:xfrm>
            <a:off x="640080" y="1783080"/>
            <a:ext cx="3291840" cy="603504"/>
          </a:xfrm>
          <a:prstGeom prst="rect">
            <a:avLst/>
          </a:prstGeom>
          <a:solidFill>
            <a:srgbClr val="FBE4E7"/>
          </a:solidFill>
          <a:ln/>
        </p:spPr>
      </p:sp>
      <p:sp>
        <p:nvSpPr>
          <p:cNvPr id="6" name="Shape 4"/>
          <p:cNvSpPr/>
          <p:nvPr/>
        </p:nvSpPr>
        <p:spPr>
          <a:xfrm>
            <a:off x="3931920" y="1783080"/>
            <a:ext cx="7589520" cy="603504"/>
          </a:xfrm>
          <a:prstGeom prst="rect">
            <a:avLst/>
          </a:prstGeom>
          <a:solidFill>
            <a:srgbClr val="FFF8F9"/>
          </a:solidFill>
          <a:ln/>
        </p:spPr>
      </p:sp>
      <p:sp>
        <p:nvSpPr>
          <p:cNvPr id="7" name="Text 5"/>
          <p:cNvSpPr/>
          <p:nvPr/>
        </p:nvSpPr>
        <p:spPr>
          <a:xfrm>
            <a:off x="804672" y="1783080"/>
            <a:ext cx="3017520" cy="603504"/>
          </a:xfrm>
          <a:prstGeom prst="rect">
            <a:avLst/>
          </a:prstGeom>
          <a:noFill/>
          <a:ln/>
        </p:spPr>
        <p:txBody>
          <a:bodyPr wrap="square" lIns="0" tIns="0" rIns="0" bIns="0" rtlCol="0" anchor="ctr"/>
          <a:lstStyle/>
          <a:p>
            <a:pPr indent="0" marL="0">
              <a:buNone/>
            </a:pPr>
            <a:r>
              <a:rPr lang="en-US" sz="1400" b="1" dirty="0">
                <a:solidFill>
                  <a:srgbClr val="C41E3A"/>
                </a:solidFill>
                <a:latin typeface="Segoe UI" pitchFamily="34" charset="0"/>
                <a:ea typeface="Segoe UI" pitchFamily="34" charset="-122"/>
                <a:cs typeface="Segoe UI" pitchFamily="34" charset="-120"/>
              </a:rPr>
              <a:t>Hạ tầng</a:t>
            </a:r>
            <a:endParaRPr lang="en-US" sz="1400" dirty="0"/>
          </a:p>
        </p:txBody>
      </p:sp>
      <p:sp>
        <p:nvSpPr>
          <p:cNvPr id="8" name="Text 6"/>
          <p:cNvSpPr/>
          <p:nvPr/>
        </p:nvSpPr>
        <p:spPr>
          <a:xfrm>
            <a:off x="4096512" y="1783080"/>
            <a:ext cx="7269480" cy="603504"/>
          </a:xfrm>
          <a:prstGeom prst="rect">
            <a:avLst/>
          </a:prstGeom>
          <a:noFill/>
          <a:ln/>
        </p:spPr>
        <p:txBody>
          <a:bodyPr wrap="square" lIns="0" tIns="0" rIns="0" bIns="0" rtlCol="0" anchor="ctr"/>
          <a:lstStyle/>
          <a:p>
            <a:pPr indent="0" marL="0">
              <a:buNone/>
            </a:pPr>
            <a:r>
              <a:rPr lang="en-US" sz="1300" dirty="0">
                <a:solidFill>
                  <a:srgbClr val="374151"/>
                </a:solidFill>
                <a:latin typeface="Segoe UI" pitchFamily="34" charset="0"/>
                <a:ea typeface="Segoe UI" pitchFamily="34" charset="-122"/>
                <a:cs typeface="Segoe UI" pitchFamily="34" charset="-120"/>
              </a:rPr>
              <a:t>Lưu trữ web miễn phí / máy chủ Công an tỉnh · link rút gọn + mã QR</a:t>
            </a:r>
            <a:endParaRPr lang="en-US" sz="1300" dirty="0"/>
          </a:p>
        </p:txBody>
      </p:sp>
      <p:sp>
        <p:nvSpPr>
          <p:cNvPr id="9" name="Shape 7"/>
          <p:cNvSpPr/>
          <p:nvPr/>
        </p:nvSpPr>
        <p:spPr>
          <a:xfrm>
            <a:off x="640080" y="2386584"/>
            <a:ext cx="3291840" cy="603504"/>
          </a:xfrm>
          <a:prstGeom prst="rect">
            <a:avLst/>
          </a:prstGeom>
          <a:solidFill>
            <a:srgbClr val="FFF4F2"/>
          </a:solidFill>
          <a:ln/>
        </p:spPr>
      </p:sp>
      <p:sp>
        <p:nvSpPr>
          <p:cNvPr id="10" name="Shape 8"/>
          <p:cNvSpPr/>
          <p:nvPr/>
        </p:nvSpPr>
        <p:spPr>
          <a:xfrm>
            <a:off x="3931920" y="2386584"/>
            <a:ext cx="7589520" cy="603504"/>
          </a:xfrm>
          <a:prstGeom prst="rect">
            <a:avLst/>
          </a:prstGeom>
          <a:solidFill>
            <a:srgbClr val="FFFFFF"/>
          </a:solidFill>
          <a:ln/>
        </p:spPr>
      </p:sp>
      <p:sp>
        <p:nvSpPr>
          <p:cNvPr id="11" name="Text 9"/>
          <p:cNvSpPr/>
          <p:nvPr/>
        </p:nvSpPr>
        <p:spPr>
          <a:xfrm>
            <a:off x="804672" y="2386584"/>
            <a:ext cx="3017520" cy="603504"/>
          </a:xfrm>
          <a:prstGeom prst="rect">
            <a:avLst/>
          </a:prstGeom>
          <a:noFill/>
          <a:ln/>
        </p:spPr>
        <p:txBody>
          <a:bodyPr wrap="square" lIns="0" tIns="0" rIns="0" bIns="0" rtlCol="0" anchor="ctr"/>
          <a:lstStyle/>
          <a:p>
            <a:pPr indent="0" marL="0">
              <a:buNone/>
            </a:pPr>
            <a:r>
              <a:rPr lang="en-US" sz="1400" b="1" dirty="0">
                <a:solidFill>
                  <a:srgbClr val="C41E3A"/>
                </a:solidFill>
                <a:latin typeface="Segoe UI" pitchFamily="34" charset="0"/>
                <a:ea typeface="Segoe UI" pitchFamily="34" charset="-122"/>
                <a:cs typeface="Segoe UI" pitchFamily="34" charset="-120"/>
              </a:rPr>
              <a:t>Triển khai</a:t>
            </a:r>
            <a:endParaRPr lang="en-US" sz="1400" dirty="0"/>
          </a:p>
        </p:txBody>
      </p:sp>
      <p:sp>
        <p:nvSpPr>
          <p:cNvPr id="12" name="Text 10"/>
          <p:cNvSpPr/>
          <p:nvPr/>
        </p:nvSpPr>
        <p:spPr>
          <a:xfrm>
            <a:off x="4096512" y="2386584"/>
            <a:ext cx="7269480" cy="603504"/>
          </a:xfrm>
          <a:prstGeom prst="rect">
            <a:avLst/>
          </a:prstGeom>
          <a:noFill/>
          <a:ln/>
        </p:spPr>
        <p:txBody>
          <a:bodyPr wrap="square" lIns="0" tIns="0" rIns="0" bIns="0" rtlCol="0" anchor="ctr"/>
          <a:lstStyle/>
          <a:p>
            <a:pPr indent="0" marL="0">
              <a:buNone/>
            </a:pPr>
            <a:r>
              <a:rPr lang="en-US" sz="1300" dirty="0">
                <a:solidFill>
                  <a:srgbClr val="374151"/>
                </a:solidFill>
                <a:latin typeface="Segoe UI" pitchFamily="34" charset="0"/>
                <a:ea typeface="Segoe UI" pitchFamily="34" charset="-122"/>
                <a:cs typeface="Segoe UI" pitchFamily="34" charset="-120"/>
              </a:rPr>
              <a:t>Standee, bảng mica QR tại bàn tiếp dân CA phường, CA thành phố, một cửa UBND</a:t>
            </a:r>
            <a:endParaRPr lang="en-US" sz="1300" dirty="0"/>
          </a:p>
        </p:txBody>
      </p:sp>
      <p:sp>
        <p:nvSpPr>
          <p:cNvPr id="13" name="Shape 11"/>
          <p:cNvSpPr/>
          <p:nvPr/>
        </p:nvSpPr>
        <p:spPr>
          <a:xfrm>
            <a:off x="640080" y="2990088"/>
            <a:ext cx="3291840" cy="603504"/>
          </a:xfrm>
          <a:prstGeom prst="rect">
            <a:avLst/>
          </a:prstGeom>
          <a:solidFill>
            <a:srgbClr val="FBE4E7"/>
          </a:solidFill>
          <a:ln/>
        </p:spPr>
      </p:sp>
      <p:sp>
        <p:nvSpPr>
          <p:cNvPr id="14" name="Shape 12"/>
          <p:cNvSpPr/>
          <p:nvPr/>
        </p:nvSpPr>
        <p:spPr>
          <a:xfrm>
            <a:off x="3931920" y="2990088"/>
            <a:ext cx="7589520" cy="603504"/>
          </a:xfrm>
          <a:prstGeom prst="rect">
            <a:avLst/>
          </a:prstGeom>
          <a:solidFill>
            <a:srgbClr val="FFF8F9"/>
          </a:solidFill>
          <a:ln/>
        </p:spPr>
      </p:sp>
      <p:sp>
        <p:nvSpPr>
          <p:cNvPr id="15" name="Text 13"/>
          <p:cNvSpPr/>
          <p:nvPr/>
        </p:nvSpPr>
        <p:spPr>
          <a:xfrm>
            <a:off x="804672" y="2990088"/>
            <a:ext cx="3017520" cy="603504"/>
          </a:xfrm>
          <a:prstGeom prst="rect">
            <a:avLst/>
          </a:prstGeom>
          <a:noFill/>
          <a:ln/>
        </p:spPr>
        <p:txBody>
          <a:bodyPr wrap="square" lIns="0" tIns="0" rIns="0" bIns="0" rtlCol="0" anchor="ctr"/>
          <a:lstStyle/>
          <a:p>
            <a:pPr indent="0" marL="0">
              <a:buNone/>
            </a:pPr>
            <a:r>
              <a:rPr lang="en-US" sz="1400" b="1" dirty="0">
                <a:solidFill>
                  <a:srgbClr val="C41E3A"/>
                </a:solidFill>
                <a:latin typeface="Segoe UI" pitchFamily="34" charset="0"/>
                <a:ea typeface="Segoe UI" pitchFamily="34" charset="-122"/>
                <a:cs typeface="Segoe UI" pitchFamily="34" charset="-120"/>
              </a:rPr>
              <a:t>Truyền thông</a:t>
            </a:r>
            <a:endParaRPr lang="en-US" sz="1400" dirty="0"/>
          </a:p>
        </p:txBody>
      </p:sp>
      <p:sp>
        <p:nvSpPr>
          <p:cNvPr id="16" name="Text 14"/>
          <p:cNvSpPr/>
          <p:nvPr/>
        </p:nvSpPr>
        <p:spPr>
          <a:xfrm>
            <a:off x="4096512" y="2990088"/>
            <a:ext cx="7269480" cy="603504"/>
          </a:xfrm>
          <a:prstGeom prst="rect">
            <a:avLst/>
          </a:prstGeom>
          <a:noFill/>
          <a:ln/>
        </p:spPr>
        <p:txBody>
          <a:bodyPr wrap="square" lIns="0" tIns="0" rIns="0" bIns="0" rtlCol="0" anchor="ctr"/>
          <a:lstStyle/>
          <a:p>
            <a:pPr indent="0" marL="0">
              <a:buNone/>
            </a:pPr>
            <a:r>
              <a:rPr lang="en-US" sz="1300" dirty="0">
                <a:solidFill>
                  <a:srgbClr val="374151"/>
                </a:solidFill>
                <a:latin typeface="Segoe UI" pitchFamily="34" charset="0"/>
                <a:ea typeface="Segoe UI" pitchFamily="34" charset="-122"/>
                <a:cs typeface="Segoe UI" pitchFamily="34" charset="-120"/>
              </a:rPr>
              <a:t>Zalo OA Công an phường · CSKV gửi link vào nhóm Zalo tổ dân phố</a:t>
            </a:r>
            <a:endParaRPr lang="en-US" sz="1300" dirty="0"/>
          </a:p>
        </p:txBody>
      </p:sp>
      <p:sp>
        <p:nvSpPr>
          <p:cNvPr id="17" name="Shape 15"/>
          <p:cNvSpPr/>
          <p:nvPr/>
        </p:nvSpPr>
        <p:spPr>
          <a:xfrm>
            <a:off x="640080" y="3593592"/>
            <a:ext cx="3291840" cy="603504"/>
          </a:xfrm>
          <a:prstGeom prst="rect">
            <a:avLst/>
          </a:prstGeom>
          <a:solidFill>
            <a:srgbClr val="FFF4F2"/>
          </a:solidFill>
          <a:ln/>
        </p:spPr>
      </p:sp>
      <p:sp>
        <p:nvSpPr>
          <p:cNvPr id="18" name="Shape 16"/>
          <p:cNvSpPr/>
          <p:nvPr/>
        </p:nvSpPr>
        <p:spPr>
          <a:xfrm>
            <a:off x="3931920" y="3593592"/>
            <a:ext cx="7589520" cy="603504"/>
          </a:xfrm>
          <a:prstGeom prst="rect">
            <a:avLst/>
          </a:prstGeom>
          <a:solidFill>
            <a:srgbClr val="FFFFFF"/>
          </a:solidFill>
          <a:ln/>
        </p:spPr>
      </p:sp>
      <p:sp>
        <p:nvSpPr>
          <p:cNvPr id="19" name="Text 17"/>
          <p:cNvSpPr/>
          <p:nvPr/>
        </p:nvSpPr>
        <p:spPr>
          <a:xfrm>
            <a:off x="804672" y="3593592"/>
            <a:ext cx="3017520" cy="603504"/>
          </a:xfrm>
          <a:prstGeom prst="rect">
            <a:avLst/>
          </a:prstGeom>
          <a:noFill/>
          <a:ln/>
        </p:spPr>
        <p:txBody>
          <a:bodyPr wrap="square" lIns="0" tIns="0" rIns="0" bIns="0" rtlCol="0" anchor="ctr"/>
          <a:lstStyle/>
          <a:p>
            <a:pPr indent="0" marL="0">
              <a:buNone/>
            </a:pPr>
            <a:r>
              <a:rPr lang="en-US" sz="1400" b="1" dirty="0">
                <a:solidFill>
                  <a:srgbClr val="C41E3A"/>
                </a:solidFill>
                <a:latin typeface="Segoe UI" pitchFamily="34" charset="0"/>
                <a:ea typeface="Segoe UI" pitchFamily="34" charset="-122"/>
                <a:cs typeface="Segoe UI" pitchFamily="34" charset="-120"/>
              </a:rPr>
              <a:t>Công nghệ</a:t>
            </a:r>
            <a:endParaRPr lang="en-US" sz="1400" dirty="0"/>
          </a:p>
        </p:txBody>
      </p:sp>
      <p:sp>
        <p:nvSpPr>
          <p:cNvPr id="20" name="Text 18"/>
          <p:cNvSpPr/>
          <p:nvPr/>
        </p:nvSpPr>
        <p:spPr>
          <a:xfrm>
            <a:off x="4096512" y="3593592"/>
            <a:ext cx="7269480" cy="603504"/>
          </a:xfrm>
          <a:prstGeom prst="rect">
            <a:avLst/>
          </a:prstGeom>
          <a:noFill/>
          <a:ln/>
        </p:spPr>
        <p:txBody>
          <a:bodyPr wrap="square" lIns="0" tIns="0" rIns="0" bIns="0" rtlCol="0" anchor="ctr"/>
          <a:lstStyle/>
          <a:p>
            <a:pPr indent="0" marL="0">
              <a:buNone/>
            </a:pPr>
            <a:r>
              <a:rPr lang="en-US" sz="1300" dirty="0">
                <a:solidFill>
                  <a:srgbClr val="374151"/>
                </a:solidFill>
                <a:latin typeface="Segoe UI" pitchFamily="34" charset="0"/>
                <a:ea typeface="Segoe UI" pitchFamily="34" charset="-122"/>
                <a:cs typeface="Segoe UI" pitchFamily="34" charset="-120"/>
              </a:rPr>
              <a:t>Web App tĩnh HTML / CSS / JS — không backend, không CSDL</a:t>
            </a:r>
            <a:endParaRPr lang="en-US" sz="1300" dirty="0"/>
          </a:p>
        </p:txBody>
      </p:sp>
      <p:sp>
        <p:nvSpPr>
          <p:cNvPr id="21" name="Shape 19"/>
          <p:cNvSpPr/>
          <p:nvPr/>
        </p:nvSpPr>
        <p:spPr>
          <a:xfrm>
            <a:off x="640080" y="4197096"/>
            <a:ext cx="3291840" cy="603504"/>
          </a:xfrm>
          <a:prstGeom prst="rect">
            <a:avLst/>
          </a:prstGeom>
          <a:solidFill>
            <a:srgbClr val="FBE4E7"/>
          </a:solidFill>
          <a:ln/>
        </p:spPr>
      </p:sp>
      <p:sp>
        <p:nvSpPr>
          <p:cNvPr id="22" name="Shape 20"/>
          <p:cNvSpPr/>
          <p:nvPr/>
        </p:nvSpPr>
        <p:spPr>
          <a:xfrm>
            <a:off x="3931920" y="4197096"/>
            <a:ext cx="7589520" cy="603504"/>
          </a:xfrm>
          <a:prstGeom prst="rect">
            <a:avLst/>
          </a:prstGeom>
          <a:solidFill>
            <a:srgbClr val="FFF8F9"/>
          </a:solidFill>
          <a:ln/>
        </p:spPr>
      </p:sp>
      <p:sp>
        <p:nvSpPr>
          <p:cNvPr id="23" name="Text 21"/>
          <p:cNvSpPr/>
          <p:nvPr/>
        </p:nvSpPr>
        <p:spPr>
          <a:xfrm>
            <a:off x="804672" y="4197096"/>
            <a:ext cx="3017520" cy="603504"/>
          </a:xfrm>
          <a:prstGeom prst="rect">
            <a:avLst/>
          </a:prstGeom>
          <a:noFill/>
          <a:ln/>
        </p:spPr>
        <p:txBody>
          <a:bodyPr wrap="square" lIns="0" tIns="0" rIns="0" bIns="0" rtlCol="0" anchor="ctr"/>
          <a:lstStyle/>
          <a:p>
            <a:pPr indent="0" marL="0">
              <a:buNone/>
            </a:pPr>
            <a:r>
              <a:rPr lang="en-US" sz="1400" b="1" dirty="0">
                <a:solidFill>
                  <a:srgbClr val="C41E3A"/>
                </a:solidFill>
                <a:latin typeface="Segoe UI" pitchFamily="34" charset="0"/>
                <a:ea typeface="Segoe UI" pitchFamily="34" charset="-122"/>
                <a:cs typeface="Segoe UI" pitchFamily="34" charset="-120"/>
              </a:rPr>
              <a:t>Trợ lý ảo</a:t>
            </a:r>
            <a:endParaRPr lang="en-US" sz="1400" dirty="0"/>
          </a:p>
        </p:txBody>
      </p:sp>
      <p:sp>
        <p:nvSpPr>
          <p:cNvPr id="24" name="Text 22"/>
          <p:cNvSpPr/>
          <p:nvPr/>
        </p:nvSpPr>
        <p:spPr>
          <a:xfrm>
            <a:off x="4096512" y="4197096"/>
            <a:ext cx="7269480" cy="603504"/>
          </a:xfrm>
          <a:prstGeom prst="rect">
            <a:avLst/>
          </a:prstGeom>
          <a:noFill/>
          <a:ln/>
        </p:spPr>
        <p:txBody>
          <a:bodyPr wrap="square" lIns="0" tIns="0" rIns="0" bIns="0" rtlCol="0" anchor="ctr"/>
          <a:lstStyle/>
          <a:p>
            <a:pPr indent="0" marL="0">
              <a:buNone/>
            </a:pPr>
            <a:r>
              <a:rPr lang="en-US" sz="1300" dirty="0">
                <a:solidFill>
                  <a:srgbClr val="374151"/>
                </a:solidFill>
                <a:latin typeface="Segoe UI" pitchFamily="34" charset="0"/>
                <a:ea typeface="Segoe UI" pitchFamily="34" charset="-122"/>
                <a:cs typeface="Segoe UI" pitchFamily="34" charset="-120"/>
              </a:rPr>
              <a:t>Chatbot FAQ quét từ khóa, trả lời tự động</a:t>
            </a:r>
            <a:endParaRPr lang="en-US" sz="1300" dirty="0"/>
          </a:p>
        </p:txBody>
      </p:sp>
      <p:sp>
        <p:nvSpPr>
          <p:cNvPr id="25" name="Shape 23"/>
          <p:cNvSpPr/>
          <p:nvPr/>
        </p:nvSpPr>
        <p:spPr>
          <a:xfrm>
            <a:off x="640080" y="4800600"/>
            <a:ext cx="3291840" cy="603504"/>
          </a:xfrm>
          <a:prstGeom prst="rect">
            <a:avLst/>
          </a:prstGeom>
          <a:solidFill>
            <a:srgbClr val="FFF4F2"/>
          </a:solidFill>
          <a:ln/>
        </p:spPr>
      </p:sp>
      <p:sp>
        <p:nvSpPr>
          <p:cNvPr id="26" name="Shape 24"/>
          <p:cNvSpPr/>
          <p:nvPr/>
        </p:nvSpPr>
        <p:spPr>
          <a:xfrm>
            <a:off x="3931920" y="4800600"/>
            <a:ext cx="7589520" cy="603504"/>
          </a:xfrm>
          <a:prstGeom prst="rect">
            <a:avLst/>
          </a:prstGeom>
          <a:solidFill>
            <a:srgbClr val="FFFFFF"/>
          </a:solidFill>
          <a:ln/>
        </p:spPr>
      </p:sp>
      <p:sp>
        <p:nvSpPr>
          <p:cNvPr id="27" name="Text 25"/>
          <p:cNvSpPr/>
          <p:nvPr/>
        </p:nvSpPr>
        <p:spPr>
          <a:xfrm>
            <a:off x="804672" y="4800600"/>
            <a:ext cx="3017520" cy="603504"/>
          </a:xfrm>
          <a:prstGeom prst="rect">
            <a:avLst/>
          </a:prstGeom>
          <a:noFill/>
          <a:ln/>
        </p:spPr>
        <p:txBody>
          <a:bodyPr wrap="square" lIns="0" tIns="0" rIns="0" bIns="0" rtlCol="0" anchor="ctr"/>
          <a:lstStyle/>
          <a:p>
            <a:pPr indent="0" marL="0">
              <a:buNone/>
            </a:pPr>
            <a:r>
              <a:rPr lang="en-US" sz="1400" b="1" dirty="0">
                <a:solidFill>
                  <a:srgbClr val="C41E3A"/>
                </a:solidFill>
                <a:latin typeface="Segoe UI" pitchFamily="34" charset="0"/>
                <a:ea typeface="Segoe UI" pitchFamily="34" charset="-122"/>
                <a:cs typeface="Segoe UI" pitchFamily="34" charset="-120"/>
              </a:rPr>
              <a:t>Chi phí</a:t>
            </a:r>
            <a:endParaRPr lang="en-US" sz="1400" dirty="0"/>
          </a:p>
        </p:txBody>
      </p:sp>
      <p:sp>
        <p:nvSpPr>
          <p:cNvPr id="28" name="Text 26"/>
          <p:cNvSpPr/>
          <p:nvPr/>
        </p:nvSpPr>
        <p:spPr>
          <a:xfrm>
            <a:off x="4096512" y="4800600"/>
            <a:ext cx="7269480" cy="603504"/>
          </a:xfrm>
          <a:prstGeom prst="rect">
            <a:avLst/>
          </a:prstGeom>
          <a:noFill/>
          <a:ln/>
        </p:spPr>
        <p:txBody>
          <a:bodyPr wrap="square" lIns="0" tIns="0" rIns="0" bIns="0" rtlCol="0" anchor="ctr"/>
          <a:lstStyle/>
          <a:p>
            <a:pPr indent="0" marL="0">
              <a:buNone/>
            </a:pPr>
            <a:r>
              <a:rPr lang="en-US" sz="1300" dirty="0">
                <a:solidFill>
                  <a:srgbClr val="374151"/>
                </a:solidFill>
                <a:latin typeface="Segoe UI" pitchFamily="34" charset="0"/>
                <a:ea typeface="Segoe UI" pitchFamily="34" charset="-122"/>
                <a:cs typeface="Segoe UI" pitchFamily="34" charset="-120"/>
              </a:rPr>
              <a:t>Server / Hosting gần 0 đồng · module độc lập, dễ chuyển giao</a:t>
            </a:r>
            <a:endParaRPr lang="en-US" sz="1300" dirty="0"/>
          </a:p>
        </p:txBody>
      </p:sp>
      <p:pic>
        <p:nvPicPr>
          <p:cNvPr id="29" name="Image 0" descr="preencoded.png">    </p:cNvPr>
          <p:cNvPicPr>
            <a:picLocks noChangeAspect="1"/>
          </p:cNvPicPr>
          <p:nvPr/>
        </p:nvPicPr>
        <p:blipFill>
          <a:blip r:embed="rId1">
            <a:alphaModFix amt="70000"/>
          </a:blip>
          <a:stretch>
            <a:fillRect/>
          </a:stretch>
        </p:blipFill>
        <p:spPr>
          <a:xfrm>
            <a:off x="11082528" y="384048"/>
            <a:ext cx="566928" cy="566928"/>
          </a:xfrm>
          <a:prstGeom prst="rect">
            <a:avLst/>
          </a:prstGeom>
        </p:spPr>
      </p:pic>
      <p:sp>
        <p:nvSpPr>
          <p:cNvPr id="30" name="Shape 27"/>
          <p:cNvSpPr/>
          <p:nvPr/>
        </p:nvSpPr>
        <p:spPr>
          <a:xfrm>
            <a:off x="640080" y="6437376"/>
            <a:ext cx="10881360" cy="12802"/>
          </a:xfrm>
          <a:prstGeom prst="rect">
            <a:avLst/>
          </a:prstGeom>
          <a:solidFill>
            <a:srgbClr val="F3D2D7"/>
          </a:solidFill>
          <a:ln/>
        </p:spPr>
      </p:sp>
      <p:sp>
        <p:nvSpPr>
          <p:cNvPr id="31" name="Text 28"/>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6B7280"/>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32" name="Text 29"/>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C41E3A"/>
                </a:solidFill>
                <a:latin typeface="Segoe UI" pitchFamily="34" charset="0"/>
                <a:ea typeface="Segoe UI" pitchFamily="34" charset="-122"/>
                <a:cs typeface="Segoe UI" pitchFamily="34" charset="-120"/>
              </a:rPr>
              <a:t>13</a:t>
            </a:r>
            <a:endParaRPr lang="en-US" sz="1000" dirty="0"/>
          </a:p>
        </p:txBody>
      </p:sp>
    </p:spTree>
  </p:cSld>
  <p:clrMapOvr>
    <a:masterClrMapping/>
  </p:clrMapOvr>
  <p:transition xmlns:p14="http://schemas.microsoft.com/office/powerpoint/2010/main" spd="med" p14:dur="45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Cổng thông tin số và Trợ lý ảo hỗ trợ tra cứu thủ tục hành chính</dc:title>
  <dc:subject>PptxGenJS Presentation</dc:subject>
  <dc:creator>Nguyễn Minh Hiếu — Công an phường Phú Thọ</dc:creator>
  <cp:lastModifiedBy>Nguyễn Minh Hiếu — Công an phường Phú Thọ</cp:lastModifiedBy>
  <cp:revision>1</cp:revision>
  <dcterms:created xsi:type="dcterms:W3CDTF">2026-06-20T02:54:58Z</dcterms:created>
  <dcterms:modified xsi:type="dcterms:W3CDTF">2026-06-20T02:54:58Z</dcterms:modified>
</cp:coreProperties>
</file>