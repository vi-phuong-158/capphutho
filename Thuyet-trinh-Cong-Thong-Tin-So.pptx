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Hội đồng. Chỉ với một chiếc điện thoại và một mã QR, người dân phường Phú Thọ giờ đây có thể tra cứu 7 nhóm thủ tục hành chính, hỏi đáp hơn 90 tình huống thường gặp và xem hướng dẫn bằng 3 ngôn ngữ — bất kể là mấy giờ. Đó là kết quả của sáng kiến Cổng Thông Tin Số do Công an phường Phú Thọ tự xây dựng, không tốn một đồng ngân sách. Một cánh cổng bằng dữ liệu, mở 24/7, đưa thông tin chính thống đến tận tay người dân.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có sáng kiến, người dân muốn biết một thủ tục thì phải tìm ở rất nhiều nơi: hỏi người quen, lục trên mạng xã hội, hoặc trực tiếp lên trụ sở. Thông tin phân tán, mỗi nơi nói một kiểu. Trong khi đó, tin giả và tin sai về thủ tục lan rất nhanh, khiến bà con đi lại nhiều lần, làm sai mẫu, mất thời gian. Khoảng cách số, đặc biệt với người cao tuổi, càng làm việc tiếp cận thông tin chính thống trở nên khó khăn.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Cách làm cũ kéo theo bốn hệ quả. Thứ nhất, cán bộ luôn bị động, chờ dân đến tận nơi mới hướng dẫn được. Thứ hai là quá tải, vì cùng một câu hỏi đơn giản phải trả lời đi trả lời lại mỗi ngày. Thứ ba, người dân dễ làm sai do nghe theo tin đồn, dẫn đến phải bổ sung, làm lại hồ sơ. Và thứ tư, những nhóm yếu thế như người cao tuổi hay người nước ngoài gần như bị bỏ lại phía sau vì rào cản công nghệ và ngôn ngữ.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pháp của chúng tôi là một Cổng Thông Tin Số duy nhất, gom tất cả về một địa chỉ, một chạm là tới. Cổng hoạt động như một trợ lý số theo ba bước rất tự nhiên: người dân tra cứu lĩnh vực cần làm, đọc hướng dẫn chi tiết kèm biểu mẫu, rồi được kết nối thẳng tới Cổng dịch vụ công và VNeID để thực hiện trực tuyến. Không phải nhớ nhiều địa chỉ, không phải đi lại nhiều lần.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giao diện thật của cổng khi đang vận hành. Tất cả được thiết kế cho màn hình điện thoại: trang chủ với các thẻ dịch vụ lớn, ô tìm kiếm thông minh, trợ lý ảo hỏi đáp, và trang hướng dẫn từng lĩnh vực. Màu sắc đỏ vàng truyền thống của lực lượng Công an, chữ rõ, nút bấm to, ai cũng dùng được ngay từ lần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rất nhiều tính năng, có hai trụ cột đáng chú ý nhất. Một là trợ lý ảo hỏi đáp: người dân gõ câu hỏi, hệ thống tự tìm trong kho hơn 90 câu hỏi đáp đã được biên soạn và trả lời ngay, không cần chờ giờ hành chính. Hai là khu vực thủ tục liên thông, hướng dẫn nộp một bộ hồ sơ mà nhiều cơ quan cùng xử lý, đúng tinh thần Nghị định 63 năm 2024, ví dụ liên thông khai sinh, thường trú và cấp thẻ bảo hiểm y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phạm vi, cổng bao phủ 7 nhóm dịch vụ sát với đời sống người dân: cư trú và định danh điện tử; đăng ký xe; vũ khí và pháo; an ninh trật tự; khiếu nại tố cáo; người nước ngoài; và thủ tục liên thông. Mỗi nhóm có trang hướng dẫn riêng, kèm biểu mẫu tải về và đường dẫn tới dịch vụ công trực tuyến. Một cổng phủ trọn những việc bà con hay cần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Và đây là kết quả thật, đã chạy được. Cổng hiện phục vụ 7 nhóm dịch vụ, với kho hơn 90 câu hỏi đáp thường gặp, hỗ trợ 3 ngôn ngữ là tiếng Việt, tiếng Anh và tiếng Trung, để cả người nước ngoài cũng dùng được. Hệ thống hoạt động 24/7, người dân chỉ cần quét mã QR dán tại khu dân cư là vào ngay. Đặc biệt có chế độ chữ to, dễ đọc dành riêng cho người cao tuổi. Đây không phải ý tưởng trên giấy, nó đang phục vụ bà con mỗi ngày.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Hiệu quả thể hiện ở ba mặt. Về chi phí: gần như 0 đồng, vì cán bộ tự xây dựng, không thuê ngoài, không cần máy chủ. Về thời gian: người dân tra cứu được bất cứ lúc nào, giảm hẳn việc đi lại và hỏi trực tiếp, cán bộ cũng bớt phải trả lời lặp lại. Và về xã hội: cổng góp phần thu hẹp khoảng cách số, đưa thông tin chính thống đến với dân nhanh hơn, từ đó đẩy lùi tin giả, tin sai trên mạng xã hội.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là web tĩnh, gọn nhẹ, mô hình này rất dễ nhân rộng: một đơn vị khác chỉ cần thay logo, thông tin liên hệ và nội dung địa phương là dùng được ngay, không phát sinh chi phí. Tại phường Phú Thọ, Đoàn Thanh niên đồng hành cùng lực lượng Công an, trực tiếp hướng dẫn bà con cài đặt, quét mã QR và tra cứu, nhất là với người lớn tuổi. Đây là một cách làm chuyển đổi số từ cơ sở, có thể lan ra toàn tỉnh.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Hội đồng. Từ chỗ thông tin phân tán, nay phường Phú Thọ đã có một điểm chạm số thống nhất, chính thống và chủ động phục vụ người dân. Sáng kiến cho kết quả thật, số liệu cụ thể, chi phí gần như bằng không và an toàn thông tin. Vì vậy, chúng tôi kính đề nghị Hội đồng: một là công nhận đây là Sáng kiến cấp cơ sở năm 2026; hai là cho phép áp dụng, nhân rộng sang các đơn vị khác trong tỉnh. Trân trọng cảm ơn Hội đồng đã lắng nghe.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mặt kỹ thuật, toàn bộ cổng là một web tĩnh viết bằng HTML, CSS và JavaScript thuần, không có máy chủ xử lý, không có cơ sở dữ liệu, nên gần như không có chi phí vận hành và rất khó bị tấn công kiểu truyền thống. Đa ngôn ngữ do chúng tôi tự xây bằng cơ chế i18n. Trợ lý ảo dùng một bộ tìm kiếm nội bộ khớp từ khóa tiếng Việt không dấu, dữ liệu nằm hoàn toàn trên máy người dùng. Về an toàn, chúng tôi đã xử lý chống tấn công XSS, gắn kiểm tra toàn vẹn SRI cho thư viện ngoài và định hướng áp dụng CSP. Sản phẩm được triển khai trên hạ tầng hosting tĩnh và phát hành tới người dân qua mã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B000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D700"/>
          </a:solidFill>
          <a:ln/>
        </p:spPr>
      </p:sp>
      <p:pic>
        <p:nvPicPr>
          <p:cNvPr id="3" name="Image 0" descr="preencoded.png">    </p:cNvPr>
          <p:cNvPicPr>
            <a:picLocks noChangeAspect="1"/>
          </p:cNvPicPr>
          <p:nvPr/>
        </p:nvPicPr>
        <p:blipFill>
          <a:blip r:embed="rId1">
            <a:alphaModFix amt="12000"/>
          </a:blip>
          <a:stretch>
            <a:fillRect/>
          </a:stretch>
        </p:blipFill>
        <p:spPr>
          <a:xfrm>
            <a:off x="8869680" y="914400"/>
            <a:ext cx="4754880" cy="4754880"/>
          </a:xfrm>
          <a:prstGeom prst="rect">
            <a:avLst/>
          </a:prstGeom>
        </p:spPr>
      </p:pic>
      <p:sp>
        <p:nvSpPr>
          <p:cNvPr id="4" name="Text 1"/>
          <p:cNvSpPr/>
          <p:nvPr/>
        </p:nvSpPr>
        <p:spPr>
          <a:xfrm>
            <a:off x="640080" y="1051560"/>
            <a:ext cx="8686800" cy="365760"/>
          </a:xfrm>
          <a:prstGeom prst="rect">
            <a:avLst/>
          </a:prstGeom>
          <a:noFill/>
          <a:ln/>
        </p:spPr>
        <p:txBody>
          <a:bodyPr wrap="square" lIns="0" tIns="0" rIns="0" bIns="0" rtlCol="0" anchor="ctr"/>
          <a:lstStyle/>
          <a:p>
            <a:pPr indent="0" marL="0">
              <a:buNone/>
            </a:pPr>
            <a:r>
              <a:rPr lang="en-US" sz="1400" b="1" spc="150" kern="0" dirty="0">
                <a:solidFill>
                  <a:srgbClr val="FFD700"/>
                </a:solidFill>
                <a:latin typeface="Segoe UI" pitchFamily="34" charset="0"/>
                <a:ea typeface="Segoe UI" pitchFamily="34" charset="-122"/>
                <a:cs typeface="Segoe UI" pitchFamily="34" charset="-120"/>
              </a:rPr>
              <a:t>CÔNG AN PHƯỜNG PHÚ THỌ · TỈNH PHÚ THỌ</a:t>
            </a:r>
            <a:endParaRPr lang="en-US" sz="1400" dirty="0"/>
          </a:p>
        </p:txBody>
      </p:sp>
      <p:sp>
        <p:nvSpPr>
          <p:cNvPr id="5" name="Text 2"/>
          <p:cNvSpPr/>
          <p:nvPr/>
        </p:nvSpPr>
        <p:spPr>
          <a:xfrm>
            <a:off x="640080" y="1600200"/>
            <a:ext cx="10058400" cy="1097280"/>
          </a:xfrm>
          <a:prstGeom prst="rect">
            <a:avLst/>
          </a:prstGeom>
          <a:noFill/>
          <a:ln/>
        </p:spPr>
        <p:txBody>
          <a:bodyPr wrap="square" lIns="0" tIns="0" rIns="0" bIns="0" rtlCol="0" anchor="ctr"/>
          <a:lstStyle/>
          <a:p>
            <a:pPr indent="0" marL="0">
              <a:buNone/>
            </a:pPr>
            <a:r>
              <a:rPr lang="en-US" sz="5400" b="1" dirty="0">
                <a:solidFill>
                  <a:srgbClr val="FFFFFF"/>
                </a:solidFill>
                <a:latin typeface="Segoe UI" pitchFamily="34" charset="0"/>
                <a:ea typeface="Segoe UI" pitchFamily="34" charset="-122"/>
                <a:cs typeface="Segoe UI" pitchFamily="34" charset="-120"/>
              </a:rPr>
              <a:t>CỔNG THÔNG TIN SỐ</a:t>
            </a:r>
            <a:endParaRPr lang="en-US" sz="5400" dirty="0"/>
          </a:p>
        </p:txBody>
      </p:sp>
      <p:sp>
        <p:nvSpPr>
          <p:cNvPr id="6" name="Text 3"/>
          <p:cNvSpPr/>
          <p:nvPr/>
        </p:nvSpPr>
        <p:spPr>
          <a:xfrm>
            <a:off x="640080" y="2880360"/>
            <a:ext cx="10058400" cy="640080"/>
          </a:xfrm>
          <a:prstGeom prst="rect">
            <a:avLst/>
          </a:prstGeom>
          <a:noFill/>
          <a:ln/>
        </p:spPr>
        <p:txBody>
          <a:bodyPr wrap="square" lIns="0" tIns="0" rIns="0" bIns="0" rtlCol="0" anchor="ctr"/>
          <a:lstStyle/>
          <a:p>
            <a:pPr indent="0" marL="0">
              <a:buNone/>
            </a:pPr>
            <a:r>
              <a:rPr lang="en-US" sz="2300" dirty="0">
                <a:solidFill>
                  <a:srgbClr val="FFE9A8"/>
                </a:solidFill>
                <a:latin typeface="Segoe UI" pitchFamily="34" charset="0"/>
                <a:ea typeface="Segoe UI" pitchFamily="34" charset="-122"/>
                <a:cs typeface="Segoe UI" pitchFamily="34" charset="-120"/>
              </a:rPr>
              <a:t>Một địa chỉ số, một chạm — tra cứu mọi thủ tục hành chính</a:t>
            </a:r>
            <a:endParaRPr lang="en-US" sz="2300" dirty="0"/>
          </a:p>
        </p:txBody>
      </p:sp>
      <p:sp>
        <p:nvSpPr>
          <p:cNvPr id="7" name="Shape 4"/>
          <p:cNvSpPr/>
          <p:nvPr/>
        </p:nvSpPr>
        <p:spPr>
          <a:xfrm>
            <a:off x="640080" y="3749040"/>
            <a:ext cx="1856232" cy="475488"/>
          </a:xfrm>
          <a:prstGeom prst="roundRect">
            <a:avLst>
              <a:gd name="adj" fmla="val 50000"/>
            </a:avLst>
          </a:prstGeom>
          <a:solidFill>
            <a:srgbClr val="C41E3A"/>
          </a:solidFill>
          <a:ln w="12700">
            <a:solidFill>
              <a:srgbClr val="FFD700"/>
            </a:solidFill>
            <a:prstDash val="solid"/>
          </a:ln>
        </p:spPr>
      </p:sp>
      <p:sp>
        <p:nvSpPr>
          <p:cNvPr id="8" name="Text 5"/>
          <p:cNvSpPr/>
          <p:nvPr/>
        </p:nvSpPr>
        <p:spPr>
          <a:xfrm>
            <a:off x="640080" y="3749040"/>
            <a:ext cx="1856232"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Chi phí 0 đồng</a:t>
            </a:r>
            <a:endParaRPr lang="en-US" sz="1400" dirty="0"/>
          </a:p>
        </p:txBody>
      </p:sp>
      <p:sp>
        <p:nvSpPr>
          <p:cNvPr id="9" name="Shape 6"/>
          <p:cNvSpPr/>
          <p:nvPr/>
        </p:nvSpPr>
        <p:spPr>
          <a:xfrm>
            <a:off x="2724912" y="3749040"/>
            <a:ext cx="1856232" cy="475488"/>
          </a:xfrm>
          <a:prstGeom prst="roundRect">
            <a:avLst>
              <a:gd name="adj" fmla="val 50000"/>
            </a:avLst>
          </a:prstGeom>
          <a:solidFill>
            <a:srgbClr val="C41E3A"/>
          </a:solidFill>
          <a:ln w="12700">
            <a:solidFill>
              <a:srgbClr val="FFD700"/>
            </a:solidFill>
            <a:prstDash val="solid"/>
          </a:ln>
        </p:spPr>
      </p:sp>
      <p:sp>
        <p:nvSpPr>
          <p:cNvPr id="10" name="Text 7"/>
          <p:cNvSpPr/>
          <p:nvPr/>
        </p:nvSpPr>
        <p:spPr>
          <a:xfrm>
            <a:off x="2724912" y="3749040"/>
            <a:ext cx="1856232"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Hoạt động 24/7</a:t>
            </a:r>
            <a:endParaRPr lang="en-US" sz="1400" dirty="0"/>
          </a:p>
        </p:txBody>
      </p:sp>
      <p:sp>
        <p:nvSpPr>
          <p:cNvPr id="11" name="Shape 8"/>
          <p:cNvSpPr/>
          <p:nvPr/>
        </p:nvSpPr>
        <p:spPr>
          <a:xfrm>
            <a:off x="4809744" y="3749040"/>
            <a:ext cx="2276856" cy="475488"/>
          </a:xfrm>
          <a:prstGeom prst="roundRect">
            <a:avLst>
              <a:gd name="adj" fmla="val 50000"/>
            </a:avLst>
          </a:prstGeom>
          <a:solidFill>
            <a:srgbClr val="C41E3A"/>
          </a:solidFill>
          <a:ln w="12700">
            <a:solidFill>
              <a:srgbClr val="FFD700"/>
            </a:solidFill>
            <a:prstDash val="solid"/>
          </a:ln>
        </p:spPr>
      </p:sp>
      <p:sp>
        <p:nvSpPr>
          <p:cNvPr id="12" name="Text 9"/>
          <p:cNvSpPr/>
          <p:nvPr/>
        </p:nvSpPr>
        <p:spPr>
          <a:xfrm>
            <a:off x="4809744" y="3749040"/>
            <a:ext cx="2276856"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Cán bộ tự xây dựng</a:t>
            </a:r>
            <a:endParaRPr lang="en-US" sz="1400" dirty="0"/>
          </a:p>
        </p:txBody>
      </p:sp>
      <p:sp>
        <p:nvSpPr>
          <p:cNvPr id="13" name="Text 10"/>
          <p:cNvSpPr/>
          <p:nvPr/>
        </p:nvSpPr>
        <p:spPr>
          <a:xfrm>
            <a:off x="640080" y="5806440"/>
            <a:ext cx="10058400" cy="365760"/>
          </a:xfrm>
          <a:prstGeom prst="rect">
            <a:avLst/>
          </a:prstGeom>
          <a:noFill/>
          <a:ln/>
        </p:spPr>
        <p:txBody>
          <a:bodyPr wrap="square" lIns="0" tIns="0" rIns="0" bIns="0" rtlCol="0" anchor="ctr"/>
          <a:lstStyle/>
          <a:p>
            <a:pPr indent="0" marL="0">
              <a:buNone/>
            </a:pPr>
            <a:r>
              <a:rPr lang="en-US" sz="1500" dirty="0">
                <a:solidFill>
                  <a:srgbClr val="FFD700"/>
                </a:solidFill>
                <a:latin typeface="Segoe UI" pitchFamily="34" charset="0"/>
                <a:ea typeface="Segoe UI" pitchFamily="34" charset="-122"/>
                <a:cs typeface="Segoe UI" pitchFamily="34" charset="-120"/>
              </a:rPr>
              <a:t>Tác giả: </a:t>
            </a:r>
            <a:pPr indent="0" marL="0">
              <a:buNone/>
            </a:pPr>
            <a:r>
              <a:rPr lang="en-US" sz="1500" b="1" dirty="0">
                <a:solidFill>
                  <a:srgbClr val="FFFFFF"/>
                </a:solidFill>
                <a:latin typeface="Segoe UI" pitchFamily="34" charset="0"/>
                <a:ea typeface="Segoe UI" pitchFamily="34" charset="-122"/>
                <a:cs typeface="Segoe UI" pitchFamily="34" charset="-120"/>
              </a:rPr>
              <a:t>Công an phường Phú Thọ</a:t>
            </a:r>
            <a:endParaRPr lang="en-US" sz="1500" dirty="0"/>
          </a:p>
        </p:txBody>
      </p:sp>
    </p:spTree>
  </p:cSld>
  <p:clrMapOvr>
    <a:masterClrMapping/>
  </p:clrMapOvr>
  <p:transition xmlns:p14="http://schemas.microsoft.com/office/powerpoint/2010/main" spd="med" p14:dur="450">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8B0000"/>
        </a:solidFill>
      </p:bgPr>
    </p:bg>
    <p:spTree>
      <p:nvGrpSpPr>
        <p:cNvPr id="1" name=""/>
        <p:cNvGrpSpPr/>
        <p:nvPr/>
      </p:nvGrpSpPr>
      <p:grpSpPr>
        <a:xfrm>
          <a:off x="0" y="0"/>
          <a:ext cx="0" cy="0"/>
          <a:chOff x="0" y="0"/>
          <a:chExt cx="0" cy="0"/>
        </a:xfrm>
      </p:grpSpPr>
      <p:sp>
        <p:nvSpPr>
          <p:cNvPr id="2" name="Text 0"/>
          <p:cNvSpPr/>
          <p:nvPr/>
        </p:nvSpPr>
        <p:spPr>
          <a:xfrm>
            <a:off x="640080" y="457200"/>
            <a:ext cx="10881360" cy="320040"/>
          </a:xfrm>
          <a:prstGeom prst="rect">
            <a:avLst/>
          </a:prstGeom>
          <a:noFill/>
          <a:ln/>
        </p:spPr>
        <p:txBody>
          <a:bodyPr wrap="square" lIns="0" tIns="0" rIns="0" bIns="0" rtlCol="0" anchor="ctr"/>
          <a:lstStyle/>
          <a:p>
            <a:pPr indent="0" marL="0">
              <a:buNone/>
            </a:pPr>
            <a:r>
              <a:rPr lang="en-US" sz="1300" b="1" spc="200" kern="0" dirty="0">
                <a:solidFill>
                  <a:srgbClr val="FFD700"/>
                </a:solidFill>
                <a:latin typeface="Segoe UI" pitchFamily="34" charset="0"/>
                <a:ea typeface="Segoe UI" pitchFamily="34" charset="-122"/>
                <a:cs typeface="Segoe UI" pitchFamily="34" charset="-120"/>
              </a:rPr>
              <a:t>BÀI TOÁN ĐẶT RA</a:t>
            </a:r>
            <a:endParaRPr lang="en-US" sz="1300" dirty="0"/>
          </a:p>
        </p:txBody>
      </p:sp>
      <p:sp>
        <p:nvSpPr>
          <p:cNvPr id="3" name="Text 1"/>
          <p:cNvSpPr/>
          <p:nvPr/>
        </p:nvSpPr>
        <p:spPr>
          <a:xfrm>
            <a:off x="640080" y="768096"/>
            <a:ext cx="10881360" cy="777240"/>
          </a:xfrm>
          <a:prstGeom prst="rect">
            <a:avLst/>
          </a:prstGeom>
          <a:noFill/>
          <a:ln/>
        </p:spPr>
        <p:txBody>
          <a:bodyPr wrap="square" lIns="0" tIns="0" rIns="0" bIns="0" rtlCol="0" anchor="t"/>
          <a:lstStyle/>
          <a:p>
            <a:pPr indent="0" marL="0">
              <a:buNone/>
            </a:pPr>
            <a:endParaRPr lang="en-US" sz="2900" dirty="0"/>
          </a:p>
        </p:txBody>
      </p:sp>
      <p:sp>
        <p:nvSpPr>
          <p:cNvPr id="4" name="Shape 2"/>
          <p:cNvSpPr/>
          <p:nvPr/>
        </p:nvSpPr>
        <p:spPr>
          <a:xfrm>
            <a:off x="640080" y="1481328"/>
            <a:ext cx="1005840" cy="64008"/>
          </a:xfrm>
          <a:prstGeom prst="rect">
            <a:avLst/>
          </a:prstGeom>
          <a:solidFill>
            <a:srgbClr val="FFD700"/>
          </a:solidFill>
          <a:ln/>
        </p:spPr>
      </p:sp>
      <p:sp>
        <p:nvSpPr>
          <p:cNvPr id="5" name="Text 3"/>
          <p:cNvSpPr/>
          <p:nvPr/>
        </p:nvSpPr>
        <p:spPr>
          <a:xfrm>
            <a:off x="548640" y="1828800"/>
            <a:ext cx="5852160" cy="1554480"/>
          </a:xfrm>
          <a:prstGeom prst="rect">
            <a:avLst/>
          </a:prstGeom>
          <a:noFill/>
          <a:ln/>
        </p:spPr>
        <p:txBody>
          <a:bodyPr wrap="square" lIns="0" tIns="0" rIns="0" bIns="0" rtlCol="0" anchor="ctr"/>
          <a:lstStyle/>
          <a:p>
            <a:pPr algn="ctr" indent="0" marL="0">
              <a:buNone/>
            </a:pPr>
            <a:r>
              <a:rPr lang="en-US" sz="9000" b="1" dirty="0">
                <a:solidFill>
                  <a:srgbClr val="FFD700"/>
                </a:solidFill>
                <a:latin typeface="Segoe UI" pitchFamily="34" charset="0"/>
                <a:ea typeface="Segoe UI" pitchFamily="34" charset="-122"/>
                <a:cs typeface="Segoe UI" pitchFamily="34" charset="-120"/>
              </a:rPr>
              <a:t>03</a:t>
            </a:r>
            <a:endParaRPr lang="en-US" sz="9000" dirty="0"/>
          </a:p>
        </p:txBody>
      </p:sp>
      <p:sp>
        <p:nvSpPr>
          <p:cNvPr id="6" name="Text 4"/>
          <p:cNvSpPr/>
          <p:nvPr/>
        </p:nvSpPr>
        <p:spPr>
          <a:xfrm>
            <a:off x="640080" y="3383280"/>
            <a:ext cx="5669280" cy="822960"/>
          </a:xfrm>
          <a:prstGeom prst="rect">
            <a:avLst/>
          </a:prstGeom>
          <a:noFill/>
          <a:ln/>
        </p:spPr>
        <p:txBody>
          <a:bodyPr wrap="square" lIns="0" tIns="0" rIns="0" bIns="0" rtlCol="0" anchor="ctr"/>
          <a:lstStyle/>
          <a:p>
            <a:pPr algn="ctr" indent="0" marL="0">
              <a:buNone/>
            </a:pPr>
            <a:r>
              <a:rPr lang="en-US" sz="1800" dirty="0">
                <a:solidFill>
                  <a:srgbClr val="FFE9A8"/>
                </a:solidFill>
                <a:latin typeface="Segoe UI" pitchFamily="34" charset="0"/>
                <a:ea typeface="Segoe UI" pitchFamily="34" charset="-122"/>
                <a:cs typeface="Segoe UI" pitchFamily="34" charset="-120"/>
              </a:rPr>
              <a:t>rào cản lớn khi người dân tiếp cận thông tin chính thống</a:t>
            </a:r>
            <a:endParaRPr lang="en-US" sz="1800" dirty="0"/>
          </a:p>
        </p:txBody>
      </p:sp>
      <p:sp>
        <p:nvSpPr>
          <p:cNvPr id="7" name="Shape 5"/>
          <p:cNvSpPr/>
          <p:nvPr/>
        </p:nvSpPr>
        <p:spPr>
          <a:xfrm>
            <a:off x="6492240" y="2057400"/>
            <a:ext cx="5029200" cy="868680"/>
          </a:xfrm>
          <a:prstGeom prst="roundRect">
            <a:avLst>
              <a:gd name="adj" fmla="val 10526"/>
            </a:avLst>
          </a:prstGeom>
          <a:solidFill>
            <a:srgbClr val="6E1014"/>
          </a:solidFill>
          <a:ln w="12700">
            <a:solidFill>
              <a:srgbClr val="FFD700"/>
            </a:solidFill>
            <a:prstDash val="solid"/>
          </a:ln>
        </p:spPr>
      </p:sp>
      <p:sp>
        <p:nvSpPr>
          <p:cNvPr id="8" name="Shape 6"/>
          <p:cNvSpPr/>
          <p:nvPr/>
        </p:nvSpPr>
        <p:spPr>
          <a:xfrm>
            <a:off x="6766560" y="2221992"/>
            <a:ext cx="548640" cy="548640"/>
          </a:xfrm>
          <a:prstGeom prst="ellipse">
            <a:avLst/>
          </a:prstGeom>
          <a:solidFill>
            <a:srgbClr val="C41E3A"/>
          </a:solidFill>
          <a:ln/>
          <a:effectLst>
            <a:outerShdw sx="100000" sy="100000" kx="0" ky="0" algn="bl" rotWithShape="0" blurRad="114300" dist="38100" dir="8100000">
              <a:srgbClr val="5A0000">
                <a:alpha val="22000"/>
              </a:srgbClr>
            </a:outerShdw>
          </a:effectLst>
        </p:spPr>
      </p:sp>
      <p:pic>
        <p:nvPicPr>
          <p:cNvPr id="9" name="Image 0" descr="preencoded.png">    </p:cNvPr>
          <p:cNvPicPr>
            <a:picLocks noChangeAspect="1"/>
          </p:cNvPicPr>
          <p:nvPr/>
        </p:nvPicPr>
        <p:blipFill>
          <a:blip r:embed="rId1"/>
          <a:stretch>
            <a:fillRect/>
          </a:stretch>
        </p:blipFill>
        <p:spPr>
          <a:xfrm>
            <a:off x="6914693" y="2370125"/>
            <a:ext cx="252374" cy="252374"/>
          </a:xfrm>
          <a:prstGeom prst="rect">
            <a:avLst/>
          </a:prstGeom>
        </p:spPr>
      </p:pic>
      <p:sp>
        <p:nvSpPr>
          <p:cNvPr id="10" name="Text 7"/>
          <p:cNvSpPr/>
          <p:nvPr/>
        </p:nvSpPr>
        <p:spPr>
          <a:xfrm>
            <a:off x="7498080" y="2057400"/>
            <a:ext cx="3886200" cy="868680"/>
          </a:xfrm>
          <a:prstGeom prst="rect">
            <a:avLst/>
          </a:prstGeom>
          <a:noFill/>
          <a:ln/>
        </p:spPr>
        <p:txBody>
          <a:bodyPr wrap="square" lIns="0" tIns="0" rIns="0" bIns="0"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Thông tin thủ tục nằm rải rác nhiều nơi</a:t>
            </a:r>
            <a:endParaRPr lang="en-US" sz="1600" dirty="0"/>
          </a:p>
        </p:txBody>
      </p:sp>
      <p:sp>
        <p:nvSpPr>
          <p:cNvPr id="11" name="Shape 8"/>
          <p:cNvSpPr/>
          <p:nvPr/>
        </p:nvSpPr>
        <p:spPr>
          <a:xfrm>
            <a:off x="6492240" y="3108960"/>
            <a:ext cx="5029200" cy="868680"/>
          </a:xfrm>
          <a:prstGeom prst="roundRect">
            <a:avLst>
              <a:gd name="adj" fmla="val 10526"/>
            </a:avLst>
          </a:prstGeom>
          <a:solidFill>
            <a:srgbClr val="6E1014"/>
          </a:solidFill>
          <a:ln w="12700">
            <a:solidFill>
              <a:srgbClr val="FFD700"/>
            </a:solidFill>
            <a:prstDash val="solid"/>
          </a:ln>
        </p:spPr>
      </p:sp>
      <p:sp>
        <p:nvSpPr>
          <p:cNvPr id="12" name="Shape 9"/>
          <p:cNvSpPr/>
          <p:nvPr/>
        </p:nvSpPr>
        <p:spPr>
          <a:xfrm>
            <a:off x="6766560" y="3273552"/>
            <a:ext cx="548640" cy="548640"/>
          </a:xfrm>
          <a:prstGeom prst="ellipse">
            <a:avLst/>
          </a:prstGeom>
          <a:solidFill>
            <a:srgbClr val="C41E3A"/>
          </a:solidFill>
          <a:ln/>
          <a:effectLst>
            <a:outerShdw sx="100000" sy="100000" kx="0" ky="0" algn="bl" rotWithShape="0" blurRad="114300" dist="38100" dir="8100000">
              <a:srgbClr val="5A0000">
                <a:alpha val="22000"/>
              </a:srgbClr>
            </a:outerShdw>
          </a:effectLst>
        </p:spPr>
      </p:sp>
      <p:pic>
        <p:nvPicPr>
          <p:cNvPr id="13" name="Image 1" descr="preencoded.png">    </p:cNvPr>
          <p:cNvPicPr>
            <a:picLocks noChangeAspect="1"/>
          </p:cNvPicPr>
          <p:nvPr/>
        </p:nvPicPr>
        <p:blipFill>
          <a:blip r:embed="rId2"/>
          <a:stretch>
            <a:fillRect/>
          </a:stretch>
        </p:blipFill>
        <p:spPr>
          <a:xfrm>
            <a:off x="6914693" y="3421685"/>
            <a:ext cx="252374" cy="252374"/>
          </a:xfrm>
          <a:prstGeom prst="rect">
            <a:avLst/>
          </a:prstGeom>
        </p:spPr>
      </p:pic>
      <p:sp>
        <p:nvSpPr>
          <p:cNvPr id="14" name="Text 10"/>
          <p:cNvSpPr/>
          <p:nvPr/>
        </p:nvSpPr>
        <p:spPr>
          <a:xfrm>
            <a:off x="7498080" y="3108960"/>
            <a:ext cx="3886200" cy="868680"/>
          </a:xfrm>
          <a:prstGeom prst="rect">
            <a:avLst/>
          </a:prstGeom>
          <a:noFill/>
          <a:ln/>
        </p:spPr>
        <p:txBody>
          <a:bodyPr wrap="square" lIns="0" tIns="0" rIns="0" bIns="0"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Tin giả, tin sai lan nhanh trên mạng xã hội</a:t>
            </a:r>
            <a:endParaRPr lang="en-US" sz="1600" dirty="0"/>
          </a:p>
        </p:txBody>
      </p:sp>
      <p:sp>
        <p:nvSpPr>
          <p:cNvPr id="15" name="Shape 11"/>
          <p:cNvSpPr/>
          <p:nvPr/>
        </p:nvSpPr>
        <p:spPr>
          <a:xfrm>
            <a:off x="6492240" y="4160520"/>
            <a:ext cx="5029200" cy="868680"/>
          </a:xfrm>
          <a:prstGeom prst="roundRect">
            <a:avLst>
              <a:gd name="adj" fmla="val 10526"/>
            </a:avLst>
          </a:prstGeom>
          <a:solidFill>
            <a:srgbClr val="6E1014"/>
          </a:solidFill>
          <a:ln w="12700">
            <a:solidFill>
              <a:srgbClr val="FFD700"/>
            </a:solidFill>
            <a:prstDash val="solid"/>
          </a:ln>
        </p:spPr>
      </p:sp>
      <p:sp>
        <p:nvSpPr>
          <p:cNvPr id="16" name="Shape 12"/>
          <p:cNvSpPr/>
          <p:nvPr/>
        </p:nvSpPr>
        <p:spPr>
          <a:xfrm>
            <a:off x="6766560" y="4325112"/>
            <a:ext cx="548640" cy="548640"/>
          </a:xfrm>
          <a:prstGeom prst="ellipse">
            <a:avLst/>
          </a:prstGeom>
          <a:solidFill>
            <a:srgbClr val="C41E3A"/>
          </a:solidFill>
          <a:ln/>
          <a:effectLst>
            <a:outerShdw sx="100000" sy="100000" kx="0" ky="0" algn="bl" rotWithShape="0" blurRad="114300" dist="38100" dir="8100000">
              <a:srgbClr val="5A0000">
                <a:alpha val="22000"/>
              </a:srgbClr>
            </a:outerShdw>
          </a:effectLst>
        </p:spPr>
      </p:sp>
      <p:pic>
        <p:nvPicPr>
          <p:cNvPr id="17" name="Image 2" descr="preencoded.png">    </p:cNvPr>
          <p:cNvPicPr>
            <a:picLocks noChangeAspect="1"/>
          </p:cNvPicPr>
          <p:nvPr/>
        </p:nvPicPr>
        <p:blipFill>
          <a:blip r:embed="rId3"/>
          <a:stretch>
            <a:fillRect/>
          </a:stretch>
        </p:blipFill>
        <p:spPr>
          <a:xfrm>
            <a:off x="6914693" y="4473245"/>
            <a:ext cx="252374" cy="252374"/>
          </a:xfrm>
          <a:prstGeom prst="rect">
            <a:avLst/>
          </a:prstGeom>
        </p:spPr>
      </p:pic>
      <p:sp>
        <p:nvSpPr>
          <p:cNvPr id="18" name="Text 13"/>
          <p:cNvSpPr/>
          <p:nvPr/>
        </p:nvSpPr>
        <p:spPr>
          <a:xfrm>
            <a:off x="7498080" y="4160520"/>
            <a:ext cx="3886200" cy="868680"/>
          </a:xfrm>
          <a:prstGeom prst="rect">
            <a:avLst/>
          </a:prstGeom>
          <a:noFill/>
          <a:ln/>
        </p:spPr>
        <p:txBody>
          <a:bodyPr wrap="square" lIns="0" tIns="0" rIns="0" bIns="0"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Người cao tuổi khó tiếp cận do khoảng cách số</a:t>
            </a:r>
            <a:endParaRPr lang="en-US" sz="1600" dirty="0"/>
          </a:p>
        </p:txBody>
      </p:sp>
      <p:sp>
        <p:nvSpPr>
          <p:cNvPr id="19" name="Text 14"/>
          <p:cNvSpPr/>
          <p:nvPr/>
        </p:nvSpPr>
        <p:spPr>
          <a:xfrm>
            <a:off x="640080" y="5623560"/>
            <a:ext cx="10881360" cy="640080"/>
          </a:xfrm>
          <a:prstGeom prst="rect">
            <a:avLst/>
          </a:prstGeom>
          <a:noFill/>
          <a:ln/>
        </p:spPr>
        <p:txBody>
          <a:bodyPr wrap="square" lIns="0" tIns="0" rIns="0" bIns="0" rtlCol="0" anchor="ctr"/>
          <a:lstStyle/>
          <a:p>
            <a:pPr indent="0" marL="0">
              <a:buNone/>
            </a:pPr>
            <a:r>
              <a:rPr lang="en-US" sz="1600" i="1" dirty="0">
                <a:solidFill>
                  <a:srgbClr val="FFD700"/>
                </a:solidFill>
                <a:latin typeface="Segoe UI" pitchFamily="34" charset="0"/>
                <a:ea typeface="Segoe UI" pitchFamily="34" charset="-122"/>
                <a:cs typeface="Segoe UI" pitchFamily="34" charset="-120"/>
              </a:rPr>
              <a:t>Người dân đi lại nhiều lần, làm sai mẫu, mất thời gian — vì thiếu một điểm chạm số thống nhất.</a:t>
            </a:r>
            <a:endParaRPr lang="en-US" sz="1600" dirty="0"/>
          </a:p>
        </p:txBody>
      </p:sp>
    </p:spTree>
  </p:cSld>
  <p:clrMapOvr>
    <a:masterClrMapping/>
  </p:clrMapOvr>
  <p:transition xmlns:p14="http://schemas.microsoft.com/office/powerpoint/2010/main" spd="med" p14:dur="450">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320040"/>
          </a:xfrm>
          <a:prstGeom prst="rect">
            <a:avLst/>
          </a:prstGeom>
          <a:noFill/>
          <a:ln/>
        </p:spPr>
        <p:txBody>
          <a:bodyPr wrap="square" lIns="0" tIns="0" rIns="0" bIns="0" rtlCol="0" anchor="ctr"/>
          <a:lstStyle/>
          <a:p>
            <a:pPr indent="0" marL="0">
              <a:buNone/>
            </a:pPr>
            <a:r>
              <a:rPr lang="en-US" sz="1300" b="1" spc="200" kern="0" dirty="0">
                <a:solidFill>
                  <a:srgbClr val="C41E3A"/>
                </a:solidFill>
                <a:latin typeface="Segoe UI" pitchFamily="34" charset="0"/>
                <a:ea typeface="Segoe UI" pitchFamily="34" charset="-122"/>
                <a:cs typeface="Segoe UI" pitchFamily="34" charset="-120"/>
              </a:rPr>
              <a:t>HỆ QUẢ CỦA CÁCH LÀM CŨ</a:t>
            </a:r>
            <a:endParaRPr lang="en-US" sz="1300" dirty="0"/>
          </a:p>
        </p:txBody>
      </p:sp>
      <p:sp>
        <p:nvSpPr>
          <p:cNvPr id="3" name="Text 1"/>
          <p:cNvSpPr/>
          <p:nvPr/>
        </p:nvSpPr>
        <p:spPr>
          <a:xfrm>
            <a:off x="640080" y="768096"/>
            <a:ext cx="10881360" cy="777240"/>
          </a:xfrm>
          <a:prstGeom prst="rect">
            <a:avLst/>
          </a:prstGeom>
          <a:noFill/>
          <a:ln/>
        </p:spPr>
        <p:txBody>
          <a:bodyPr wrap="square" lIns="0" tIns="0" rIns="0" bIns="0" rtlCol="0" anchor="t"/>
          <a:lstStyle/>
          <a:p>
            <a:pPr indent="0" marL="0">
              <a:buNone/>
            </a:pPr>
            <a:r>
              <a:rPr lang="en-US" sz="2900" b="1" dirty="0">
                <a:solidFill>
                  <a:srgbClr val="1F2937"/>
                </a:solidFill>
                <a:latin typeface="Segoe UI" pitchFamily="34" charset="0"/>
                <a:ea typeface="Segoe UI" pitchFamily="34" charset="-122"/>
                <a:cs typeface="Segoe UI" pitchFamily="34" charset="-120"/>
              </a:rPr>
              <a:t>Bốn hệ quả chính</a:t>
            </a:r>
            <a:endParaRPr lang="en-US" sz="2900" dirty="0"/>
          </a:p>
        </p:txBody>
      </p:sp>
      <p:sp>
        <p:nvSpPr>
          <p:cNvPr id="4" name="Shape 2"/>
          <p:cNvSpPr/>
          <p:nvPr/>
        </p:nvSpPr>
        <p:spPr>
          <a:xfrm>
            <a:off x="640080" y="1481328"/>
            <a:ext cx="1005840" cy="64008"/>
          </a:xfrm>
          <a:prstGeom prst="rect">
            <a:avLst/>
          </a:prstGeom>
          <a:solidFill>
            <a:srgbClr val="FFD700"/>
          </a:solidFill>
          <a:ln/>
        </p:spPr>
      </p:sp>
      <p:sp>
        <p:nvSpPr>
          <p:cNvPr id="5" name="Shape 3"/>
          <p:cNvSpPr/>
          <p:nvPr/>
        </p:nvSpPr>
        <p:spPr>
          <a:xfrm>
            <a:off x="640080" y="1874520"/>
            <a:ext cx="5212080" cy="1828800"/>
          </a:xfrm>
          <a:prstGeom prst="roundRect">
            <a:avLst>
              <a:gd name="adj" fmla="val 5000"/>
            </a:avLst>
          </a:prstGeom>
          <a:solidFill>
            <a:srgbClr val="FFF0F2"/>
          </a:solidFill>
          <a:ln w="12700">
            <a:solidFill>
              <a:srgbClr val="F3D2D7"/>
            </a:solidFill>
            <a:prstDash val="solid"/>
          </a:ln>
          <a:effectLst>
            <a:outerShdw sx="100000" sy="100000" kx="0" ky="0" algn="bl" rotWithShape="0" blurRad="88900" dist="25400" dir="8100000">
              <a:srgbClr val="94A3B8">
                <a:alpha val="28000"/>
              </a:srgbClr>
            </a:outerShdw>
          </a:effectLst>
        </p:spPr>
      </p:sp>
      <p:sp>
        <p:nvSpPr>
          <p:cNvPr id="6" name="Shape 4"/>
          <p:cNvSpPr/>
          <p:nvPr/>
        </p:nvSpPr>
        <p:spPr>
          <a:xfrm>
            <a:off x="960120" y="2194560"/>
            <a:ext cx="822960" cy="822960"/>
          </a:xfrm>
          <a:prstGeom prst="ellipse">
            <a:avLst/>
          </a:prstGeom>
          <a:solidFill>
            <a:srgbClr val="C41E3A"/>
          </a:solidFill>
          <a:ln/>
          <a:effectLst>
            <a:outerShdw sx="100000" sy="100000" kx="0" ky="0" algn="bl" rotWithShape="0" blurRad="114300" dist="38100" dir="8100000">
              <a:srgbClr val="5A0000">
                <a:alpha val="22000"/>
              </a:srgbClr>
            </a:outerShdw>
          </a:effectLst>
        </p:spPr>
      </p:sp>
      <p:pic>
        <p:nvPicPr>
          <p:cNvPr id="7" name="Image 0" descr="preencoded.png">    </p:cNvPr>
          <p:cNvPicPr>
            <a:picLocks noChangeAspect="1"/>
          </p:cNvPicPr>
          <p:nvPr/>
        </p:nvPicPr>
        <p:blipFill>
          <a:blip r:embed="rId1"/>
          <a:stretch>
            <a:fillRect/>
          </a:stretch>
        </p:blipFill>
        <p:spPr>
          <a:xfrm>
            <a:off x="1182319" y="2416759"/>
            <a:ext cx="378562" cy="378562"/>
          </a:xfrm>
          <a:prstGeom prst="rect">
            <a:avLst/>
          </a:prstGeom>
        </p:spPr>
      </p:pic>
      <p:sp>
        <p:nvSpPr>
          <p:cNvPr id="8" name="Text 5"/>
          <p:cNvSpPr/>
          <p:nvPr/>
        </p:nvSpPr>
        <p:spPr>
          <a:xfrm>
            <a:off x="1965960" y="2167128"/>
            <a:ext cx="3657600" cy="457200"/>
          </a:xfrm>
          <a:prstGeom prst="rect">
            <a:avLst/>
          </a:prstGeom>
          <a:noFill/>
          <a:ln/>
        </p:spPr>
        <p:txBody>
          <a:bodyPr wrap="square" lIns="0" tIns="0" rIns="0" bIns="0" rtlCol="0" anchor="ctr"/>
          <a:lstStyle/>
          <a:p>
            <a:pPr indent="0" marL="0">
              <a:buNone/>
            </a:pPr>
            <a:r>
              <a:rPr lang="en-US" sz="1800" b="1" dirty="0">
                <a:solidFill>
                  <a:srgbClr val="1F2937"/>
                </a:solidFill>
                <a:latin typeface="Segoe UI" pitchFamily="34" charset="0"/>
                <a:ea typeface="Segoe UI" pitchFamily="34" charset="-122"/>
                <a:cs typeface="Segoe UI" pitchFamily="34" charset="-120"/>
              </a:rPr>
              <a:t>Bị động</a:t>
            </a:r>
            <a:endParaRPr lang="en-US" sz="1800" dirty="0"/>
          </a:p>
        </p:txBody>
      </p:sp>
      <p:sp>
        <p:nvSpPr>
          <p:cNvPr id="9" name="Text 6"/>
          <p:cNvSpPr/>
          <p:nvPr/>
        </p:nvSpPr>
        <p:spPr>
          <a:xfrm>
            <a:off x="1965960" y="2651760"/>
            <a:ext cx="3657600" cy="914400"/>
          </a:xfrm>
          <a:prstGeom prst="rect">
            <a:avLst/>
          </a:prstGeom>
          <a:noFill/>
          <a:ln/>
        </p:spPr>
        <p:txBody>
          <a:bodyPr wrap="square" lIns="0" tIns="0" rIns="0" bIns="0" rtlCol="0" anchor="ctr"/>
          <a:lstStyle/>
          <a:p>
            <a:pPr indent="0" marL="0">
              <a:buNone/>
            </a:pPr>
            <a:r>
              <a:rPr lang="en-US" sz="1400" dirty="0">
                <a:solidFill>
                  <a:srgbClr val="374151"/>
                </a:solidFill>
                <a:latin typeface="Segoe UI" pitchFamily="34" charset="0"/>
                <a:ea typeface="Segoe UI" pitchFamily="34" charset="-122"/>
                <a:cs typeface="Segoe UI" pitchFamily="34" charset="-120"/>
              </a:rPr>
              <a:t>Chờ dân đến tận nơi mới hướng dẫn được.</a:t>
            </a:r>
            <a:endParaRPr lang="en-US" sz="1400" dirty="0"/>
          </a:p>
        </p:txBody>
      </p:sp>
      <p:sp>
        <p:nvSpPr>
          <p:cNvPr id="10" name="Shape 7"/>
          <p:cNvSpPr/>
          <p:nvPr/>
        </p:nvSpPr>
        <p:spPr>
          <a:xfrm>
            <a:off x="6309360" y="1874520"/>
            <a:ext cx="5212080" cy="1828800"/>
          </a:xfrm>
          <a:prstGeom prst="roundRect">
            <a:avLst>
              <a:gd name="adj" fmla="val 5000"/>
            </a:avLst>
          </a:prstGeom>
          <a:solidFill>
            <a:srgbClr val="FFF0F2"/>
          </a:solidFill>
          <a:ln w="12700">
            <a:solidFill>
              <a:srgbClr val="F3D2D7"/>
            </a:solidFill>
            <a:prstDash val="solid"/>
          </a:ln>
          <a:effectLst>
            <a:outerShdw sx="100000" sy="100000" kx="0" ky="0" algn="bl" rotWithShape="0" blurRad="88900" dist="25400" dir="8100000">
              <a:srgbClr val="94A3B8">
                <a:alpha val="28000"/>
              </a:srgbClr>
            </a:outerShdw>
          </a:effectLst>
        </p:spPr>
      </p:sp>
      <p:sp>
        <p:nvSpPr>
          <p:cNvPr id="11" name="Shape 8"/>
          <p:cNvSpPr/>
          <p:nvPr/>
        </p:nvSpPr>
        <p:spPr>
          <a:xfrm>
            <a:off x="6629400" y="2194560"/>
            <a:ext cx="822960" cy="822960"/>
          </a:xfrm>
          <a:prstGeom prst="ellipse">
            <a:avLst/>
          </a:prstGeom>
          <a:solidFill>
            <a:srgbClr val="1F7A1F"/>
          </a:solidFill>
          <a:ln/>
          <a:effectLst>
            <a:outerShdw sx="100000" sy="100000" kx="0" ky="0" algn="bl" rotWithShape="0" blurRad="114300" dist="38100" dir="8100000">
              <a:srgbClr val="5A0000">
                <a:alpha val="22000"/>
              </a:srgbClr>
            </a:outerShdw>
          </a:effectLst>
        </p:spPr>
      </p:sp>
      <p:pic>
        <p:nvPicPr>
          <p:cNvPr id="12" name="Image 1" descr="preencoded.png">    </p:cNvPr>
          <p:cNvPicPr>
            <a:picLocks noChangeAspect="1"/>
          </p:cNvPicPr>
          <p:nvPr/>
        </p:nvPicPr>
        <p:blipFill>
          <a:blip r:embed="rId2"/>
          <a:stretch>
            <a:fillRect/>
          </a:stretch>
        </p:blipFill>
        <p:spPr>
          <a:xfrm>
            <a:off x="6851599" y="2416759"/>
            <a:ext cx="378562" cy="378562"/>
          </a:xfrm>
          <a:prstGeom prst="rect">
            <a:avLst/>
          </a:prstGeom>
        </p:spPr>
      </p:pic>
      <p:sp>
        <p:nvSpPr>
          <p:cNvPr id="13" name="Text 9"/>
          <p:cNvSpPr/>
          <p:nvPr/>
        </p:nvSpPr>
        <p:spPr>
          <a:xfrm>
            <a:off x="7635240" y="2167128"/>
            <a:ext cx="3657600" cy="457200"/>
          </a:xfrm>
          <a:prstGeom prst="rect">
            <a:avLst/>
          </a:prstGeom>
          <a:noFill/>
          <a:ln/>
        </p:spPr>
        <p:txBody>
          <a:bodyPr wrap="square" lIns="0" tIns="0" rIns="0" bIns="0" rtlCol="0" anchor="ctr"/>
          <a:lstStyle/>
          <a:p>
            <a:pPr indent="0" marL="0">
              <a:buNone/>
            </a:pPr>
            <a:r>
              <a:rPr lang="en-US" sz="1800" b="1" dirty="0">
                <a:solidFill>
                  <a:srgbClr val="1F2937"/>
                </a:solidFill>
                <a:latin typeface="Segoe UI" pitchFamily="34" charset="0"/>
                <a:ea typeface="Segoe UI" pitchFamily="34" charset="-122"/>
                <a:cs typeface="Segoe UI" pitchFamily="34" charset="-120"/>
              </a:rPr>
              <a:t>Quá tải</a:t>
            </a:r>
            <a:endParaRPr lang="en-US" sz="1800" dirty="0"/>
          </a:p>
        </p:txBody>
      </p:sp>
      <p:sp>
        <p:nvSpPr>
          <p:cNvPr id="14" name="Text 10"/>
          <p:cNvSpPr/>
          <p:nvPr/>
        </p:nvSpPr>
        <p:spPr>
          <a:xfrm>
            <a:off x="7635240" y="2651760"/>
            <a:ext cx="3657600" cy="914400"/>
          </a:xfrm>
          <a:prstGeom prst="rect">
            <a:avLst/>
          </a:prstGeom>
          <a:noFill/>
          <a:ln/>
        </p:spPr>
        <p:txBody>
          <a:bodyPr wrap="square" lIns="0" tIns="0" rIns="0" bIns="0" rtlCol="0" anchor="ctr"/>
          <a:lstStyle/>
          <a:p>
            <a:pPr indent="0" marL="0">
              <a:buNone/>
            </a:pPr>
            <a:r>
              <a:rPr lang="en-US" sz="1400" dirty="0">
                <a:solidFill>
                  <a:srgbClr val="374151"/>
                </a:solidFill>
                <a:latin typeface="Segoe UI" pitchFamily="34" charset="0"/>
                <a:ea typeface="Segoe UI" pitchFamily="34" charset="-122"/>
                <a:cs typeface="Segoe UI" pitchFamily="34" charset="-120"/>
              </a:rPr>
              <a:t>Cùng một câu hỏi lặp lại mỗi ngày.</a:t>
            </a:r>
            <a:endParaRPr lang="en-US" sz="1400" dirty="0"/>
          </a:p>
        </p:txBody>
      </p:sp>
      <p:sp>
        <p:nvSpPr>
          <p:cNvPr id="15" name="Shape 11"/>
          <p:cNvSpPr/>
          <p:nvPr/>
        </p:nvSpPr>
        <p:spPr>
          <a:xfrm>
            <a:off x="640080" y="3931920"/>
            <a:ext cx="5212080" cy="1828800"/>
          </a:xfrm>
          <a:prstGeom prst="roundRect">
            <a:avLst>
              <a:gd name="adj" fmla="val 5000"/>
            </a:avLst>
          </a:prstGeom>
          <a:solidFill>
            <a:srgbClr val="FFF0F2"/>
          </a:solidFill>
          <a:ln w="12700">
            <a:solidFill>
              <a:srgbClr val="F3D2D7"/>
            </a:solidFill>
            <a:prstDash val="solid"/>
          </a:ln>
          <a:effectLst>
            <a:outerShdw sx="100000" sy="100000" kx="0" ky="0" algn="bl" rotWithShape="0" blurRad="88900" dist="25400" dir="8100000">
              <a:srgbClr val="94A3B8">
                <a:alpha val="28000"/>
              </a:srgbClr>
            </a:outerShdw>
          </a:effectLst>
        </p:spPr>
      </p:sp>
      <p:sp>
        <p:nvSpPr>
          <p:cNvPr id="16" name="Shape 12"/>
          <p:cNvSpPr/>
          <p:nvPr/>
        </p:nvSpPr>
        <p:spPr>
          <a:xfrm>
            <a:off x="960120" y="4251960"/>
            <a:ext cx="822960" cy="822960"/>
          </a:xfrm>
          <a:prstGeom prst="ellipse">
            <a:avLst/>
          </a:prstGeom>
          <a:solidFill>
            <a:srgbClr val="D97706"/>
          </a:solidFill>
          <a:ln/>
          <a:effectLst>
            <a:outerShdw sx="100000" sy="100000" kx="0" ky="0" algn="bl" rotWithShape="0" blurRad="114300" dist="38100" dir="8100000">
              <a:srgbClr val="5A0000">
                <a:alpha val="22000"/>
              </a:srgbClr>
            </a:outerShdw>
          </a:effectLst>
        </p:spPr>
      </p:sp>
      <p:pic>
        <p:nvPicPr>
          <p:cNvPr id="17" name="Image 2" descr="preencoded.png">    </p:cNvPr>
          <p:cNvPicPr>
            <a:picLocks noChangeAspect="1"/>
          </p:cNvPicPr>
          <p:nvPr/>
        </p:nvPicPr>
        <p:blipFill>
          <a:blip r:embed="rId3"/>
          <a:stretch>
            <a:fillRect/>
          </a:stretch>
        </p:blipFill>
        <p:spPr>
          <a:xfrm>
            <a:off x="1182319" y="4474159"/>
            <a:ext cx="378562" cy="378562"/>
          </a:xfrm>
          <a:prstGeom prst="rect">
            <a:avLst/>
          </a:prstGeom>
        </p:spPr>
      </p:pic>
      <p:sp>
        <p:nvSpPr>
          <p:cNvPr id="18" name="Text 13"/>
          <p:cNvSpPr/>
          <p:nvPr/>
        </p:nvSpPr>
        <p:spPr>
          <a:xfrm>
            <a:off x="1965960" y="4224528"/>
            <a:ext cx="3657600" cy="457200"/>
          </a:xfrm>
          <a:prstGeom prst="rect">
            <a:avLst/>
          </a:prstGeom>
          <a:noFill/>
          <a:ln/>
        </p:spPr>
        <p:txBody>
          <a:bodyPr wrap="square" lIns="0" tIns="0" rIns="0" bIns="0" rtlCol="0" anchor="ctr"/>
          <a:lstStyle/>
          <a:p>
            <a:pPr indent="0" marL="0">
              <a:buNone/>
            </a:pPr>
            <a:r>
              <a:rPr lang="en-US" sz="1800" b="1" dirty="0">
                <a:solidFill>
                  <a:srgbClr val="1F2937"/>
                </a:solidFill>
                <a:latin typeface="Segoe UI" pitchFamily="34" charset="0"/>
                <a:ea typeface="Segoe UI" pitchFamily="34" charset="-122"/>
                <a:cs typeface="Segoe UI" pitchFamily="34" charset="-120"/>
              </a:rPr>
              <a:t>Dễ sai lệch</a:t>
            </a:r>
            <a:endParaRPr lang="en-US" sz="1800" dirty="0"/>
          </a:p>
        </p:txBody>
      </p:sp>
      <p:sp>
        <p:nvSpPr>
          <p:cNvPr id="19" name="Text 14"/>
          <p:cNvSpPr/>
          <p:nvPr/>
        </p:nvSpPr>
        <p:spPr>
          <a:xfrm>
            <a:off x="1965960" y="4709160"/>
            <a:ext cx="3657600" cy="914400"/>
          </a:xfrm>
          <a:prstGeom prst="rect">
            <a:avLst/>
          </a:prstGeom>
          <a:noFill/>
          <a:ln/>
        </p:spPr>
        <p:txBody>
          <a:bodyPr wrap="square" lIns="0" tIns="0" rIns="0" bIns="0" rtlCol="0" anchor="ctr"/>
          <a:lstStyle/>
          <a:p>
            <a:pPr indent="0" marL="0">
              <a:buNone/>
            </a:pPr>
            <a:r>
              <a:rPr lang="en-US" sz="1400" dirty="0">
                <a:solidFill>
                  <a:srgbClr val="374151"/>
                </a:solidFill>
                <a:latin typeface="Segoe UI" pitchFamily="34" charset="0"/>
                <a:ea typeface="Segoe UI" pitchFamily="34" charset="-122"/>
                <a:cs typeface="Segoe UI" pitchFamily="34" charset="-120"/>
              </a:rPr>
              <a:t>Dân làm theo tin đồn, sai mẫu hồ sơ.</a:t>
            </a:r>
            <a:endParaRPr lang="en-US" sz="1400" dirty="0"/>
          </a:p>
        </p:txBody>
      </p:sp>
      <p:sp>
        <p:nvSpPr>
          <p:cNvPr id="20" name="Shape 15"/>
          <p:cNvSpPr/>
          <p:nvPr/>
        </p:nvSpPr>
        <p:spPr>
          <a:xfrm>
            <a:off x="6309360" y="3931920"/>
            <a:ext cx="5212080" cy="1828800"/>
          </a:xfrm>
          <a:prstGeom prst="roundRect">
            <a:avLst>
              <a:gd name="adj" fmla="val 5000"/>
            </a:avLst>
          </a:prstGeom>
          <a:solidFill>
            <a:srgbClr val="FFF0F2"/>
          </a:solidFill>
          <a:ln w="12700">
            <a:solidFill>
              <a:srgbClr val="F3D2D7"/>
            </a:solidFill>
            <a:prstDash val="solid"/>
          </a:ln>
          <a:effectLst>
            <a:outerShdw sx="100000" sy="100000" kx="0" ky="0" algn="bl" rotWithShape="0" blurRad="88900" dist="25400" dir="8100000">
              <a:srgbClr val="94A3B8">
                <a:alpha val="28000"/>
              </a:srgbClr>
            </a:outerShdw>
          </a:effectLst>
        </p:spPr>
      </p:sp>
      <p:sp>
        <p:nvSpPr>
          <p:cNvPr id="21" name="Shape 16"/>
          <p:cNvSpPr/>
          <p:nvPr/>
        </p:nvSpPr>
        <p:spPr>
          <a:xfrm>
            <a:off x="6629400" y="4251960"/>
            <a:ext cx="822960" cy="822960"/>
          </a:xfrm>
          <a:prstGeom prst="ellipse">
            <a:avLst/>
          </a:prstGeom>
          <a:solidFill>
            <a:srgbClr val="B00020"/>
          </a:solidFill>
          <a:ln/>
          <a:effectLst>
            <a:outerShdw sx="100000" sy="100000" kx="0" ky="0" algn="bl" rotWithShape="0" blurRad="114300" dist="38100" dir="8100000">
              <a:srgbClr val="5A0000">
                <a:alpha val="22000"/>
              </a:srgbClr>
            </a:outerShdw>
          </a:effectLst>
        </p:spPr>
      </p:sp>
      <p:pic>
        <p:nvPicPr>
          <p:cNvPr id="22" name="Image 3" descr="preencoded.png">    </p:cNvPr>
          <p:cNvPicPr>
            <a:picLocks noChangeAspect="1"/>
          </p:cNvPicPr>
          <p:nvPr/>
        </p:nvPicPr>
        <p:blipFill>
          <a:blip r:embed="rId4"/>
          <a:stretch>
            <a:fillRect/>
          </a:stretch>
        </p:blipFill>
        <p:spPr>
          <a:xfrm>
            <a:off x="6851599" y="4474159"/>
            <a:ext cx="378562" cy="378562"/>
          </a:xfrm>
          <a:prstGeom prst="rect">
            <a:avLst/>
          </a:prstGeom>
        </p:spPr>
      </p:pic>
      <p:sp>
        <p:nvSpPr>
          <p:cNvPr id="23" name="Text 17"/>
          <p:cNvSpPr/>
          <p:nvPr/>
        </p:nvSpPr>
        <p:spPr>
          <a:xfrm>
            <a:off x="7635240" y="4224528"/>
            <a:ext cx="3657600" cy="457200"/>
          </a:xfrm>
          <a:prstGeom prst="rect">
            <a:avLst/>
          </a:prstGeom>
          <a:noFill/>
          <a:ln/>
        </p:spPr>
        <p:txBody>
          <a:bodyPr wrap="square" lIns="0" tIns="0" rIns="0" bIns="0" rtlCol="0" anchor="ctr"/>
          <a:lstStyle/>
          <a:p>
            <a:pPr indent="0" marL="0">
              <a:buNone/>
            </a:pPr>
            <a:r>
              <a:rPr lang="en-US" sz="1800" b="1" dirty="0">
                <a:solidFill>
                  <a:srgbClr val="1F2937"/>
                </a:solidFill>
                <a:latin typeface="Segoe UI" pitchFamily="34" charset="0"/>
                <a:ea typeface="Segoe UI" pitchFamily="34" charset="-122"/>
                <a:cs typeface="Segoe UI" pitchFamily="34" charset="-120"/>
              </a:rPr>
              <a:t>Bỏ lại phía sau</a:t>
            </a:r>
            <a:endParaRPr lang="en-US" sz="1800" dirty="0"/>
          </a:p>
        </p:txBody>
      </p:sp>
      <p:sp>
        <p:nvSpPr>
          <p:cNvPr id="24" name="Text 18"/>
          <p:cNvSpPr/>
          <p:nvPr/>
        </p:nvSpPr>
        <p:spPr>
          <a:xfrm>
            <a:off x="7635240" y="4709160"/>
            <a:ext cx="3657600" cy="914400"/>
          </a:xfrm>
          <a:prstGeom prst="rect">
            <a:avLst/>
          </a:prstGeom>
          <a:noFill/>
          <a:ln/>
        </p:spPr>
        <p:txBody>
          <a:bodyPr wrap="square" lIns="0" tIns="0" rIns="0" bIns="0" rtlCol="0" anchor="ctr"/>
          <a:lstStyle/>
          <a:p>
            <a:pPr indent="0" marL="0">
              <a:buNone/>
            </a:pPr>
            <a:r>
              <a:rPr lang="en-US" sz="1400" dirty="0">
                <a:solidFill>
                  <a:srgbClr val="374151"/>
                </a:solidFill>
                <a:latin typeface="Segoe UI" pitchFamily="34" charset="0"/>
                <a:ea typeface="Segoe UI" pitchFamily="34" charset="-122"/>
                <a:cs typeface="Segoe UI" pitchFamily="34" charset="-120"/>
              </a:rPr>
              <a:t>Người cao tuổi, người nước ngoài khó tiếp cận.</a:t>
            </a:r>
            <a:endParaRPr lang="en-US" sz="1400" dirty="0"/>
          </a:p>
        </p:txBody>
      </p:sp>
    </p:spTree>
  </p:cSld>
  <p:clrMapOvr>
    <a:masterClrMapping/>
  </p:clrMapOvr>
  <p:transition xmlns:p14="http://schemas.microsoft.com/office/powerpoint/2010/main" spd="med" p14:dur="450">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320040"/>
          </a:xfrm>
          <a:prstGeom prst="rect">
            <a:avLst/>
          </a:prstGeom>
          <a:noFill/>
          <a:ln/>
        </p:spPr>
        <p:txBody>
          <a:bodyPr wrap="square" lIns="0" tIns="0" rIns="0" bIns="0" rtlCol="0" anchor="ctr"/>
          <a:lstStyle/>
          <a:p>
            <a:pPr indent="0" marL="0">
              <a:buNone/>
            </a:pPr>
            <a:r>
              <a:rPr lang="en-US" sz="1300" b="1" spc="200" kern="0" dirty="0">
                <a:solidFill>
                  <a:srgbClr val="C41E3A"/>
                </a:solidFill>
                <a:latin typeface="Segoe UI" pitchFamily="34" charset="0"/>
                <a:ea typeface="Segoe UI" pitchFamily="34" charset="-122"/>
                <a:cs typeface="Segoe UI" pitchFamily="34" charset="-120"/>
              </a:rPr>
              <a:t>GIẢI PHÁP</a:t>
            </a:r>
            <a:endParaRPr lang="en-US" sz="1300" dirty="0"/>
          </a:p>
        </p:txBody>
      </p:sp>
      <p:sp>
        <p:nvSpPr>
          <p:cNvPr id="3" name="Text 1"/>
          <p:cNvSpPr/>
          <p:nvPr/>
        </p:nvSpPr>
        <p:spPr>
          <a:xfrm>
            <a:off x="640080" y="768096"/>
            <a:ext cx="10881360" cy="777240"/>
          </a:xfrm>
          <a:prstGeom prst="rect">
            <a:avLst/>
          </a:prstGeom>
          <a:noFill/>
          <a:ln/>
        </p:spPr>
        <p:txBody>
          <a:bodyPr wrap="square" lIns="0" tIns="0" rIns="0" bIns="0" rtlCol="0" anchor="t"/>
          <a:lstStyle/>
          <a:p>
            <a:pPr indent="0" marL="0">
              <a:buNone/>
            </a:pPr>
            <a:r>
              <a:rPr lang="en-US" sz="2900" b="1" dirty="0">
                <a:solidFill>
                  <a:srgbClr val="1F2937"/>
                </a:solidFill>
                <a:latin typeface="Segoe UI" pitchFamily="34" charset="0"/>
                <a:ea typeface="Segoe UI" pitchFamily="34" charset="-122"/>
                <a:cs typeface="Segoe UI" pitchFamily="34" charset="-120"/>
              </a:rPr>
              <a:t>Một cổng — một chạm</a:t>
            </a:r>
            <a:endParaRPr lang="en-US" sz="2900" dirty="0"/>
          </a:p>
        </p:txBody>
      </p:sp>
      <p:sp>
        <p:nvSpPr>
          <p:cNvPr id="4" name="Shape 2"/>
          <p:cNvSpPr/>
          <p:nvPr/>
        </p:nvSpPr>
        <p:spPr>
          <a:xfrm>
            <a:off x="640080" y="1481328"/>
            <a:ext cx="1005840" cy="64008"/>
          </a:xfrm>
          <a:prstGeom prst="rect">
            <a:avLst/>
          </a:prstGeom>
          <a:solidFill>
            <a:srgbClr val="FFD700"/>
          </a:solidFill>
          <a:ln/>
        </p:spPr>
      </p:sp>
      <p:sp>
        <p:nvSpPr>
          <p:cNvPr id="5" name="Text 3"/>
          <p:cNvSpPr/>
          <p:nvPr/>
        </p:nvSpPr>
        <p:spPr>
          <a:xfrm>
            <a:off x="640080" y="1645920"/>
            <a:ext cx="10881360" cy="548640"/>
          </a:xfrm>
          <a:prstGeom prst="rect">
            <a:avLst/>
          </a:prstGeom>
          <a:noFill/>
          <a:ln/>
        </p:spPr>
        <p:txBody>
          <a:bodyPr wrap="square" lIns="0" tIns="0" rIns="0" bIns="0" rtlCol="0" anchor="ctr"/>
          <a:lstStyle/>
          <a:p>
            <a:pPr indent="0" marL="0">
              <a:buNone/>
            </a:pPr>
            <a:r>
              <a:rPr lang="en-US" sz="1600" dirty="0">
                <a:solidFill>
                  <a:srgbClr val="374151"/>
                </a:solidFill>
                <a:latin typeface="Segoe UI" pitchFamily="34" charset="0"/>
                <a:ea typeface="Segoe UI" pitchFamily="34" charset="-122"/>
                <a:cs typeface="Segoe UI" pitchFamily="34" charset="-120"/>
              </a:rPr>
              <a:t>Cổng đóng vai trò trợ lý số theo ba bước tự nhiên: Tra cứu → Hướng dẫn → Kết nối thực hiện.</a:t>
            </a:r>
            <a:endParaRPr lang="en-US" sz="1600" dirty="0"/>
          </a:p>
        </p:txBody>
      </p:sp>
      <p:sp>
        <p:nvSpPr>
          <p:cNvPr id="6" name="Shape 4"/>
          <p:cNvSpPr/>
          <p:nvPr/>
        </p:nvSpPr>
        <p:spPr>
          <a:xfrm>
            <a:off x="640080" y="2468880"/>
            <a:ext cx="3078480" cy="3108960"/>
          </a:xfrm>
          <a:prstGeom prst="roundRect">
            <a:avLst>
              <a:gd name="adj" fmla="val 3564"/>
            </a:avLst>
          </a:prstGeom>
          <a:solidFill>
            <a:srgbClr val="FFF0F2"/>
          </a:solidFill>
          <a:ln w="12700">
            <a:solidFill>
              <a:srgbClr val="F3D2D7"/>
            </a:solidFill>
            <a:prstDash val="solid"/>
          </a:ln>
          <a:effectLst>
            <a:outerShdw sx="100000" sy="100000" kx="0" ky="0" algn="bl" rotWithShape="0" blurRad="88900" dist="25400" dir="8100000">
              <a:srgbClr val="94A3B8">
                <a:alpha val="28000"/>
              </a:srgbClr>
            </a:outerShdw>
          </a:effectLst>
        </p:spPr>
      </p:sp>
      <p:sp>
        <p:nvSpPr>
          <p:cNvPr id="7" name="Shape 5"/>
          <p:cNvSpPr/>
          <p:nvPr/>
        </p:nvSpPr>
        <p:spPr>
          <a:xfrm>
            <a:off x="1630680" y="2788920"/>
            <a:ext cx="1097280" cy="1097280"/>
          </a:xfrm>
          <a:prstGeom prst="ellipse">
            <a:avLst/>
          </a:prstGeom>
          <a:solidFill>
            <a:srgbClr val="C41E3A"/>
          </a:solidFill>
          <a:ln/>
          <a:effectLst>
            <a:outerShdw sx="100000" sy="100000" kx="0" ky="0" algn="bl" rotWithShape="0" blurRad="114300" dist="38100" dir="8100000">
              <a:srgbClr val="5A0000">
                <a:alpha val="22000"/>
              </a:srgbClr>
            </a:outerShdw>
          </a:effectLst>
        </p:spPr>
      </p:sp>
      <p:pic>
        <p:nvPicPr>
          <p:cNvPr id="8" name="Image 0" descr="preencoded.png">    </p:cNvPr>
          <p:cNvPicPr>
            <a:picLocks noChangeAspect="1"/>
          </p:cNvPicPr>
          <p:nvPr/>
        </p:nvPicPr>
        <p:blipFill>
          <a:blip r:embed="rId1"/>
          <a:stretch>
            <a:fillRect/>
          </a:stretch>
        </p:blipFill>
        <p:spPr>
          <a:xfrm>
            <a:off x="1926946" y="3085186"/>
            <a:ext cx="504749" cy="504749"/>
          </a:xfrm>
          <a:prstGeom prst="rect">
            <a:avLst/>
          </a:prstGeom>
        </p:spPr>
      </p:pic>
      <p:sp>
        <p:nvSpPr>
          <p:cNvPr id="9" name="Text 6"/>
          <p:cNvSpPr/>
          <p:nvPr/>
        </p:nvSpPr>
        <p:spPr>
          <a:xfrm>
            <a:off x="868680" y="4069080"/>
            <a:ext cx="2621280" cy="502920"/>
          </a:xfrm>
          <a:prstGeom prst="rect">
            <a:avLst/>
          </a:prstGeom>
          <a:noFill/>
          <a:ln/>
        </p:spPr>
        <p:txBody>
          <a:bodyPr wrap="square" lIns="0" tIns="0" rIns="0" bIns="0" rtlCol="0" anchor="ctr"/>
          <a:lstStyle/>
          <a:p>
            <a:pPr algn="ctr" indent="0" marL="0">
              <a:buNone/>
            </a:pPr>
            <a:r>
              <a:rPr lang="en-US" sz="1900" b="1" dirty="0">
                <a:solidFill>
                  <a:srgbClr val="1F2937"/>
                </a:solidFill>
                <a:latin typeface="Segoe UI" pitchFamily="34" charset="0"/>
                <a:ea typeface="Segoe UI" pitchFamily="34" charset="-122"/>
                <a:cs typeface="Segoe UI" pitchFamily="34" charset="-120"/>
              </a:rPr>
              <a:t>1. Tra cứu</a:t>
            </a:r>
            <a:endParaRPr lang="en-US" sz="1900" dirty="0"/>
          </a:p>
        </p:txBody>
      </p:sp>
      <p:sp>
        <p:nvSpPr>
          <p:cNvPr id="10" name="Text 7"/>
          <p:cNvSpPr/>
          <p:nvPr/>
        </p:nvSpPr>
        <p:spPr>
          <a:xfrm>
            <a:off x="914400" y="4617720"/>
            <a:ext cx="2529840" cy="868680"/>
          </a:xfrm>
          <a:prstGeom prst="rect">
            <a:avLst/>
          </a:prstGeom>
          <a:noFill/>
          <a:ln/>
        </p:spPr>
        <p:txBody>
          <a:bodyPr wrap="square" lIns="0" tIns="0" rIns="0" bIns="0" rtlCol="0" anchor="ctr"/>
          <a:lstStyle/>
          <a:p>
            <a:pPr algn="ctr" indent="0" marL="0">
              <a:buNone/>
            </a:pPr>
            <a:r>
              <a:rPr lang="en-US" sz="1450" dirty="0">
                <a:solidFill>
                  <a:srgbClr val="374151"/>
                </a:solidFill>
                <a:latin typeface="Segoe UI" pitchFamily="34" charset="0"/>
                <a:ea typeface="Segoe UI" pitchFamily="34" charset="-122"/>
                <a:cs typeface="Segoe UI" pitchFamily="34" charset="-120"/>
              </a:rPr>
              <a:t>Người dân tìm đúng lĩnh vực cần làm.</a:t>
            </a:r>
            <a:endParaRPr lang="en-US" sz="1450" dirty="0"/>
          </a:p>
        </p:txBody>
      </p:sp>
      <p:pic>
        <p:nvPicPr>
          <p:cNvPr id="11" name="Image 1" descr="preencoded.png">    </p:cNvPr>
          <p:cNvPicPr>
            <a:picLocks noChangeAspect="1"/>
          </p:cNvPicPr>
          <p:nvPr/>
        </p:nvPicPr>
        <p:blipFill>
          <a:blip r:embed="rId2"/>
          <a:stretch>
            <a:fillRect/>
          </a:stretch>
        </p:blipFill>
        <p:spPr>
          <a:xfrm>
            <a:off x="3919728" y="3794760"/>
            <a:ext cx="420624" cy="420624"/>
          </a:xfrm>
          <a:prstGeom prst="rect">
            <a:avLst/>
          </a:prstGeom>
        </p:spPr>
      </p:pic>
      <p:sp>
        <p:nvSpPr>
          <p:cNvPr id="12" name="Shape 8"/>
          <p:cNvSpPr/>
          <p:nvPr/>
        </p:nvSpPr>
        <p:spPr>
          <a:xfrm>
            <a:off x="4541520" y="2468880"/>
            <a:ext cx="3078480" cy="3108960"/>
          </a:xfrm>
          <a:prstGeom prst="roundRect">
            <a:avLst>
              <a:gd name="adj" fmla="val 3564"/>
            </a:avLst>
          </a:prstGeom>
          <a:solidFill>
            <a:srgbClr val="FFF0F2"/>
          </a:solidFill>
          <a:ln w="12700">
            <a:solidFill>
              <a:srgbClr val="F3D2D7"/>
            </a:solidFill>
            <a:prstDash val="solid"/>
          </a:ln>
          <a:effectLst>
            <a:outerShdw sx="100000" sy="100000" kx="0" ky="0" algn="bl" rotWithShape="0" blurRad="88900" dist="25400" dir="8100000">
              <a:srgbClr val="94A3B8">
                <a:alpha val="28000"/>
              </a:srgbClr>
            </a:outerShdw>
          </a:effectLst>
        </p:spPr>
      </p:sp>
      <p:sp>
        <p:nvSpPr>
          <p:cNvPr id="13" name="Shape 9"/>
          <p:cNvSpPr/>
          <p:nvPr/>
        </p:nvSpPr>
        <p:spPr>
          <a:xfrm>
            <a:off x="5532120" y="2788920"/>
            <a:ext cx="1097280" cy="1097280"/>
          </a:xfrm>
          <a:prstGeom prst="ellipse">
            <a:avLst/>
          </a:prstGeom>
          <a:solidFill>
            <a:srgbClr val="C41E3A"/>
          </a:solidFill>
          <a:ln/>
          <a:effectLst>
            <a:outerShdw sx="100000" sy="100000" kx="0" ky="0" algn="bl" rotWithShape="0" blurRad="114300" dist="38100" dir="8100000">
              <a:srgbClr val="5A0000">
                <a:alpha val="22000"/>
              </a:srgbClr>
            </a:outerShdw>
          </a:effectLst>
        </p:spPr>
      </p:sp>
      <p:pic>
        <p:nvPicPr>
          <p:cNvPr id="14" name="Image 2" descr="preencoded.png">    </p:cNvPr>
          <p:cNvPicPr>
            <a:picLocks noChangeAspect="1"/>
          </p:cNvPicPr>
          <p:nvPr/>
        </p:nvPicPr>
        <p:blipFill>
          <a:blip r:embed="rId3"/>
          <a:stretch>
            <a:fillRect/>
          </a:stretch>
        </p:blipFill>
        <p:spPr>
          <a:xfrm>
            <a:off x="5828386" y="3085186"/>
            <a:ext cx="504749" cy="504749"/>
          </a:xfrm>
          <a:prstGeom prst="rect">
            <a:avLst/>
          </a:prstGeom>
        </p:spPr>
      </p:pic>
      <p:sp>
        <p:nvSpPr>
          <p:cNvPr id="15" name="Text 10"/>
          <p:cNvSpPr/>
          <p:nvPr/>
        </p:nvSpPr>
        <p:spPr>
          <a:xfrm>
            <a:off x="4770120" y="4069080"/>
            <a:ext cx="2621280" cy="502920"/>
          </a:xfrm>
          <a:prstGeom prst="rect">
            <a:avLst/>
          </a:prstGeom>
          <a:noFill/>
          <a:ln/>
        </p:spPr>
        <p:txBody>
          <a:bodyPr wrap="square" lIns="0" tIns="0" rIns="0" bIns="0" rtlCol="0" anchor="ctr"/>
          <a:lstStyle/>
          <a:p>
            <a:pPr algn="ctr" indent="0" marL="0">
              <a:buNone/>
            </a:pPr>
            <a:r>
              <a:rPr lang="en-US" sz="1900" b="1" dirty="0">
                <a:solidFill>
                  <a:srgbClr val="1F2937"/>
                </a:solidFill>
                <a:latin typeface="Segoe UI" pitchFamily="34" charset="0"/>
                <a:ea typeface="Segoe UI" pitchFamily="34" charset="-122"/>
                <a:cs typeface="Segoe UI" pitchFamily="34" charset="-120"/>
              </a:rPr>
              <a:t>2. Xem hướng dẫn</a:t>
            </a:r>
            <a:endParaRPr lang="en-US" sz="1900" dirty="0"/>
          </a:p>
        </p:txBody>
      </p:sp>
      <p:sp>
        <p:nvSpPr>
          <p:cNvPr id="16" name="Text 11"/>
          <p:cNvSpPr/>
          <p:nvPr/>
        </p:nvSpPr>
        <p:spPr>
          <a:xfrm>
            <a:off x="4815840" y="4617720"/>
            <a:ext cx="2529840" cy="868680"/>
          </a:xfrm>
          <a:prstGeom prst="rect">
            <a:avLst/>
          </a:prstGeom>
          <a:noFill/>
          <a:ln/>
        </p:spPr>
        <p:txBody>
          <a:bodyPr wrap="square" lIns="0" tIns="0" rIns="0" bIns="0" rtlCol="0" anchor="ctr"/>
          <a:lstStyle/>
          <a:p>
            <a:pPr algn="ctr" indent="0" marL="0">
              <a:buNone/>
            </a:pPr>
            <a:r>
              <a:rPr lang="en-US" sz="1450" dirty="0">
                <a:solidFill>
                  <a:srgbClr val="374151"/>
                </a:solidFill>
                <a:latin typeface="Segoe UI" pitchFamily="34" charset="0"/>
                <a:ea typeface="Segoe UI" pitchFamily="34" charset="-122"/>
                <a:cs typeface="Segoe UI" pitchFamily="34" charset="-120"/>
              </a:rPr>
              <a:t>Đọc hướng dẫn chi tiết kèm biểu mẫu.</a:t>
            </a:r>
            <a:endParaRPr lang="en-US" sz="1450" dirty="0"/>
          </a:p>
        </p:txBody>
      </p:sp>
      <p:pic>
        <p:nvPicPr>
          <p:cNvPr id="17" name="Image 3" descr="preencoded.png">    </p:cNvPr>
          <p:cNvPicPr>
            <a:picLocks noChangeAspect="1"/>
          </p:cNvPicPr>
          <p:nvPr/>
        </p:nvPicPr>
        <p:blipFill>
          <a:blip r:embed="rId4"/>
          <a:stretch>
            <a:fillRect/>
          </a:stretch>
        </p:blipFill>
        <p:spPr>
          <a:xfrm>
            <a:off x="7821168" y="3794760"/>
            <a:ext cx="420624" cy="420624"/>
          </a:xfrm>
          <a:prstGeom prst="rect">
            <a:avLst/>
          </a:prstGeom>
        </p:spPr>
      </p:pic>
      <p:sp>
        <p:nvSpPr>
          <p:cNvPr id="18" name="Shape 12"/>
          <p:cNvSpPr/>
          <p:nvPr/>
        </p:nvSpPr>
        <p:spPr>
          <a:xfrm>
            <a:off x="8442960" y="2468880"/>
            <a:ext cx="3078480" cy="3108960"/>
          </a:xfrm>
          <a:prstGeom prst="roundRect">
            <a:avLst>
              <a:gd name="adj" fmla="val 3564"/>
            </a:avLst>
          </a:prstGeom>
          <a:solidFill>
            <a:srgbClr val="8B0000"/>
          </a:solidFill>
          <a:ln w="12700">
            <a:solidFill>
              <a:srgbClr val="FFD700"/>
            </a:solidFill>
            <a:prstDash val="solid"/>
          </a:ln>
          <a:effectLst>
            <a:outerShdw sx="100000" sy="100000" kx="0" ky="0" algn="bl" rotWithShape="0" blurRad="88900" dist="25400" dir="8100000">
              <a:srgbClr val="94A3B8">
                <a:alpha val="28000"/>
              </a:srgbClr>
            </a:outerShdw>
          </a:effectLst>
        </p:spPr>
      </p:sp>
      <p:sp>
        <p:nvSpPr>
          <p:cNvPr id="19" name="Shape 13"/>
          <p:cNvSpPr/>
          <p:nvPr/>
        </p:nvSpPr>
        <p:spPr>
          <a:xfrm>
            <a:off x="9433560" y="2788920"/>
            <a:ext cx="1097280" cy="1097280"/>
          </a:xfrm>
          <a:prstGeom prst="ellipse">
            <a:avLst/>
          </a:prstGeom>
          <a:solidFill>
            <a:srgbClr val="1F7A1F"/>
          </a:solidFill>
          <a:ln/>
          <a:effectLst>
            <a:outerShdw sx="100000" sy="100000" kx="0" ky="0" algn="bl" rotWithShape="0" blurRad="114300" dist="38100" dir="8100000">
              <a:srgbClr val="5A0000">
                <a:alpha val="22000"/>
              </a:srgbClr>
            </a:outerShdw>
          </a:effectLst>
        </p:spPr>
      </p:sp>
      <p:pic>
        <p:nvPicPr>
          <p:cNvPr id="20" name="Image 4" descr="preencoded.png">    </p:cNvPr>
          <p:cNvPicPr>
            <a:picLocks noChangeAspect="1"/>
          </p:cNvPicPr>
          <p:nvPr/>
        </p:nvPicPr>
        <p:blipFill>
          <a:blip r:embed="rId5"/>
          <a:stretch>
            <a:fillRect/>
          </a:stretch>
        </p:blipFill>
        <p:spPr>
          <a:xfrm>
            <a:off x="9729826" y="3085186"/>
            <a:ext cx="504749" cy="504749"/>
          </a:xfrm>
          <a:prstGeom prst="rect">
            <a:avLst/>
          </a:prstGeom>
        </p:spPr>
      </p:pic>
      <p:sp>
        <p:nvSpPr>
          <p:cNvPr id="21" name="Text 14"/>
          <p:cNvSpPr/>
          <p:nvPr/>
        </p:nvSpPr>
        <p:spPr>
          <a:xfrm>
            <a:off x="8671560" y="4069080"/>
            <a:ext cx="262128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Segoe UI" pitchFamily="34" charset="0"/>
                <a:ea typeface="Segoe UI" pitchFamily="34" charset="-122"/>
                <a:cs typeface="Segoe UI" pitchFamily="34" charset="-120"/>
              </a:rPr>
              <a:t>3. Thực hiện trực tuyến</a:t>
            </a:r>
            <a:endParaRPr lang="en-US" sz="1900" dirty="0"/>
          </a:p>
        </p:txBody>
      </p:sp>
      <p:sp>
        <p:nvSpPr>
          <p:cNvPr id="22" name="Text 15"/>
          <p:cNvSpPr/>
          <p:nvPr/>
        </p:nvSpPr>
        <p:spPr>
          <a:xfrm>
            <a:off x="8717280" y="4617720"/>
            <a:ext cx="2529840" cy="868680"/>
          </a:xfrm>
          <a:prstGeom prst="rect">
            <a:avLst/>
          </a:prstGeom>
          <a:noFill/>
          <a:ln/>
        </p:spPr>
        <p:txBody>
          <a:bodyPr wrap="square" lIns="0" tIns="0" rIns="0" bIns="0" rtlCol="0" anchor="ctr"/>
          <a:lstStyle/>
          <a:p>
            <a:pPr algn="ctr" indent="0" marL="0">
              <a:buNone/>
            </a:pPr>
            <a:r>
              <a:rPr lang="en-US" sz="1450" dirty="0">
                <a:solidFill>
                  <a:srgbClr val="FFE9A8"/>
                </a:solidFill>
                <a:latin typeface="Segoe UI" pitchFamily="34" charset="0"/>
                <a:ea typeface="Segoe UI" pitchFamily="34" charset="-122"/>
                <a:cs typeface="Segoe UI" pitchFamily="34" charset="-120"/>
              </a:rPr>
              <a:t>Kết nối thẳng tới Cổng DVC &amp; VNeID.</a:t>
            </a:r>
            <a:endParaRPr lang="en-US" sz="1450" dirty="0"/>
          </a:p>
        </p:txBody>
      </p:sp>
    </p:spTree>
  </p:cSld>
  <p:clrMapOvr>
    <a:masterClrMapping/>
  </p:clrMapOvr>
  <p:transition xmlns:p14="http://schemas.microsoft.com/office/powerpoint/2010/main" spd="med" p14:dur="450">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320040"/>
          </a:xfrm>
          <a:prstGeom prst="rect">
            <a:avLst/>
          </a:prstGeom>
          <a:noFill/>
          <a:ln/>
        </p:spPr>
        <p:txBody>
          <a:bodyPr wrap="square" lIns="0" tIns="0" rIns="0" bIns="0" rtlCol="0" anchor="ctr"/>
          <a:lstStyle/>
          <a:p>
            <a:pPr indent="0" marL="0">
              <a:buNone/>
            </a:pPr>
            <a:r>
              <a:rPr lang="en-US" sz="1300" b="1" spc="200" kern="0" dirty="0">
                <a:solidFill>
                  <a:srgbClr val="C41E3A"/>
                </a:solidFill>
                <a:latin typeface="Segoe UI" pitchFamily="34" charset="0"/>
                <a:ea typeface="Segoe UI" pitchFamily="34" charset="-122"/>
                <a:cs typeface="Segoe UI" pitchFamily="34" charset="-120"/>
              </a:rPr>
              <a:t>GIAO DIỆN THỰC TẾ</a:t>
            </a:r>
            <a:endParaRPr lang="en-US" sz="1300" dirty="0"/>
          </a:p>
        </p:txBody>
      </p:sp>
      <p:sp>
        <p:nvSpPr>
          <p:cNvPr id="3" name="Text 1"/>
          <p:cNvSpPr/>
          <p:nvPr/>
        </p:nvSpPr>
        <p:spPr>
          <a:xfrm>
            <a:off x="640080" y="768096"/>
            <a:ext cx="10881360" cy="777240"/>
          </a:xfrm>
          <a:prstGeom prst="rect">
            <a:avLst/>
          </a:prstGeom>
          <a:noFill/>
          <a:ln/>
        </p:spPr>
        <p:txBody>
          <a:bodyPr wrap="square" lIns="0" tIns="0" rIns="0" bIns="0" rtlCol="0" anchor="t"/>
          <a:lstStyle/>
          <a:p>
            <a:pPr indent="0" marL="0">
              <a:buNone/>
            </a:pPr>
            <a:r>
              <a:rPr lang="en-US" sz="2900" b="1" dirty="0">
                <a:solidFill>
                  <a:srgbClr val="1F2937"/>
                </a:solidFill>
                <a:latin typeface="Segoe UI" pitchFamily="34" charset="0"/>
                <a:ea typeface="Segoe UI" pitchFamily="34" charset="-122"/>
                <a:cs typeface="Segoe UI" pitchFamily="34" charset="-120"/>
              </a:rPr>
              <a:t>Hình ảnh phần mềm đang vận hành</a:t>
            </a:r>
            <a:endParaRPr lang="en-US" sz="2900" dirty="0"/>
          </a:p>
        </p:txBody>
      </p:sp>
      <p:sp>
        <p:nvSpPr>
          <p:cNvPr id="4" name="Shape 2"/>
          <p:cNvSpPr/>
          <p:nvPr/>
        </p:nvSpPr>
        <p:spPr>
          <a:xfrm>
            <a:off x="640080" y="1481328"/>
            <a:ext cx="1005840" cy="64008"/>
          </a:xfrm>
          <a:prstGeom prst="rect">
            <a:avLst/>
          </a:prstGeom>
          <a:solidFill>
            <a:srgbClr val="FFD700"/>
          </a:solidFill>
          <a:ln/>
        </p:spPr>
      </p:sp>
      <p:sp>
        <p:nvSpPr>
          <p:cNvPr id="5" name="Shape 3"/>
          <p:cNvSpPr/>
          <p:nvPr/>
        </p:nvSpPr>
        <p:spPr>
          <a:xfrm>
            <a:off x="640080" y="1783080"/>
            <a:ext cx="5166360" cy="1874520"/>
          </a:xfrm>
          <a:prstGeom prst="roundRect">
            <a:avLst>
              <a:gd name="adj" fmla="val 2927"/>
            </a:avLst>
          </a:prstGeom>
          <a:solidFill>
            <a:srgbClr val="FFFFFF"/>
          </a:solidFill>
          <a:ln w="25400">
            <a:solidFill>
              <a:srgbClr val="F3D2D7"/>
            </a:solidFill>
            <a:prstDash val="solid"/>
          </a:ln>
          <a:effectLst>
            <a:outerShdw sx="100000" sy="100000" kx="0" ky="0" algn="bl" rotWithShape="0" blurRad="114300" dist="38100" dir="8100000">
              <a:srgbClr val="5A0000">
                <a:alpha val="22000"/>
              </a:srgbClr>
            </a:outerShdw>
          </a:effectLst>
        </p:spPr>
      </p:sp>
      <p:pic>
        <p:nvPicPr>
          <p:cNvPr id="6" name="Image 0" descr="/home/user/capphutho/shots/home.png">    </p:cNvPr>
          <p:cNvPicPr>
            <a:picLocks noChangeAspect="1"/>
          </p:cNvPicPr>
          <p:nvPr/>
        </p:nvPicPr>
        <p:blipFill>
          <a:blip r:embed="rId1"/>
          <a:srcRect l="0" r="0" t="0" b="0"/>
          <a:stretch/>
        </p:blipFill>
        <p:spPr>
          <a:xfrm>
            <a:off x="713232" y="1856232"/>
            <a:ext cx="5020056" cy="1728216"/>
          </a:xfrm>
          <a:prstGeom prst="rect">
            <a:avLst/>
          </a:prstGeom>
        </p:spPr>
      </p:pic>
      <p:sp>
        <p:nvSpPr>
          <p:cNvPr id="7" name="Text 4"/>
          <p:cNvSpPr/>
          <p:nvPr/>
        </p:nvSpPr>
        <p:spPr>
          <a:xfrm>
            <a:off x="640080" y="3712464"/>
            <a:ext cx="5166360" cy="292608"/>
          </a:xfrm>
          <a:prstGeom prst="rect">
            <a:avLst/>
          </a:prstGeom>
          <a:noFill/>
          <a:ln/>
        </p:spPr>
        <p:txBody>
          <a:bodyPr wrap="square" lIns="0" tIns="0" rIns="0" bIns="0" rtlCol="0" anchor="ctr"/>
          <a:lstStyle/>
          <a:p>
            <a:pPr algn="ctr" indent="0" marL="0">
              <a:buNone/>
            </a:pPr>
            <a:r>
              <a:rPr lang="en-US" sz="1250" i="1" dirty="0">
                <a:solidFill>
                  <a:srgbClr val="6B7280"/>
                </a:solidFill>
                <a:latin typeface="Segoe UI" pitchFamily="34" charset="0"/>
                <a:ea typeface="Segoe UI" pitchFamily="34" charset="-122"/>
                <a:cs typeface="Segoe UI" pitchFamily="34" charset="-120"/>
              </a:rPr>
              <a:t>Trang chủ — các thẻ dịch vụ</a:t>
            </a:r>
            <a:endParaRPr lang="en-US" sz="1250" dirty="0"/>
          </a:p>
        </p:txBody>
      </p:sp>
      <p:sp>
        <p:nvSpPr>
          <p:cNvPr id="8" name="Shape 5"/>
          <p:cNvSpPr/>
          <p:nvPr/>
        </p:nvSpPr>
        <p:spPr>
          <a:xfrm>
            <a:off x="6355080" y="1783080"/>
            <a:ext cx="5166360" cy="1874520"/>
          </a:xfrm>
          <a:prstGeom prst="roundRect">
            <a:avLst>
              <a:gd name="adj" fmla="val 2927"/>
            </a:avLst>
          </a:prstGeom>
          <a:solidFill>
            <a:srgbClr val="FFFFFF"/>
          </a:solidFill>
          <a:ln w="25400">
            <a:solidFill>
              <a:srgbClr val="F3D2D7"/>
            </a:solidFill>
            <a:prstDash val="solid"/>
          </a:ln>
          <a:effectLst>
            <a:outerShdw sx="100000" sy="100000" kx="0" ky="0" algn="bl" rotWithShape="0" blurRad="114300" dist="38100" dir="8100000">
              <a:srgbClr val="5A0000">
                <a:alpha val="22000"/>
              </a:srgbClr>
            </a:outerShdw>
          </a:effectLst>
        </p:spPr>
      </p:sp>
      <p:pic>
        <p:nvPicPr>
          <p:cNvPr id="9" name="Image 1" descr="/home/user/capphutho/shots/modules.png">    </p:cNvPr>
          <p:cNvPicPr>
            <a:picLocks noChangeAspect="1"/>
          </p:cNvPicPr>
          <p:nvPr/>
        </p:nvPicPr>
        <p:blipFill>
          <a:blip r:embed="rId2"/>
          <a:srcRect l="0" r="0" t="0" b="0"/>
          <a:stretch/>
        </p:blipFill>
        <p:spPr>
          <a:xfrm>
            <a:off x="6428232" y="1856232"/>
            <a:ext cx="5020056" cy="1728216"/>
          </a:xfrm>
          <a:prstGeom prst="rect">
            <a:avLst/>
          </a:prstGeom>
        </p:spPr>
      </p:pic>
      <p:sp>
        <p:nvSpPr>
          <p:cNvPr id="10" name="Text 6"/>
          <p:cNvSpPr/>
          <p:nvPr/>
        </p:nvSpPr>
        <p:spPr>
          <a:xfrm>
            <a:off x="6355080" y="3712464"/>
            <a:ext cx="5166360" cy="292608"/>
          </a:xfrm>
          <a:prstGeom prst="rect">
            <a:avLst/>
          </a:prstGeom>
          <a:noFill/>
          <a:ln/>
        </p:spPr>
        <p:txBody>
          <a:bodyPr wrap="square" lIns="0" tIns="0" rIns="0" bIns="0" rtlCol="0" anchor="ctr"/>
          <a:lstStyle/>
          <a:p>
            <a:pPr algn="ctr" indent="0" marL="0">
              <a:buNone/>
            </a:pPr>
            <a:r>
              <a:rPr lang="en-US" sz="1250" i="1" dirty="0">
                <a:solidFill>
                  <a:srgbClr val="6B7280"/>
                </a:solidFill>
                <a:latin typeface="Segoe UI" pitchFamily="34" charset="0"/>
                <a:ea typeface="Segoe UI" pitchFamily="34" charset="-122"/>
                <a:cs typeface="Segoe UI" pitchFamily="34" charset="-120"/>
              </a:rPr>
              <a:t>Hướng dẫn theo lĩnh vực</a:t>
            </a:r>
            <a:endParaRPr lang="en-US" sz="1250" dirty="0"/>
          </a:p>
        </p:txBody>
      </p:sp>
      <p:sp>
        <p:nvSpPr>
          <p:cNvPr id="11" name="Shape 7"/>
          <p:cNvSpPr/>
          <p:nvPr/>
        </p:nvSpPr>
        <p:spPr>
          <a:xfrm>
            <a:off x="640080" y="4178808"/>
            <a:ext cx="5166360" cy="1874520"/>
          </a:xfrm>
          <a:prstGeom prst="roundRect">
            <a:avLst>
              <a:gd name="adj" fmla="val 2927"/>
            </a:avLst>
          </a:prstGeom>
          <a:solidFill>
            <a:srgbClr val="FFFFFF"/>
          </a:solidFill>
          <a:ln w="25400">
            <a:solidFill>
              <a:srgbClr val="F3D2D7"/>
            </a:solidFill>
            <a:prstDash val="solid"/>
          </a:ln>
          <a:effectLst>
            <a:outerShdw sx="100000" sy="100000" kx="0" ky="0" algn="bl" rotWithShape="0" blurRad="114300" dist="38100" dir="8100000">
              <a:srgbClr val="5A0000">
                <a:alpha val="22000"/>
              </a:srgbClr>
            </a:outerShdw>
          </a:effectLst>
        </p:spPr>
      </p:sp>
      <p:pic>
        <p:nvPicPr>
          <p:cNvPr id="12" name="Image 2" descr="/home/user/capphutho/shots/chatbot.png">    </p:cNvPr>
          <p:cNvPicPr>
            <a:picLocks noChangeAspect="1"/>
          </p:cNvPicPr>
          <p:nvPr/>
        </p:nvPicPr>
        <p:blipFill>
          <a:blip r:embed="rId3"/>
          <a:srcRect l="0" r="0" t="0" b="0"/>
          <a:stretch/>
        </p:blipFill>
        <p:spPr>
          <a:xfrm>
            <a:off x="713232" y="4251960"/>
            <a:ext cx="5020056" cy="1728216"/>
          </a:xfrm>
          <a:prstGeom prst="rect">
            <a:avLst/>
          </a:prstGeom>
        </p:spPr>
      </p:pic>
      <p:sp>
        <p:nvSpPr>
          <p:cNvPr id="13" name="Text 8"/>
          <p:cNvSpPr/>
          <p:nvPr/>
        </p:nvSpPr>
        <p:spPr>
          <a:xfrm>
            <a:off x="640080" y="6108192"/>
            <a:ext cx="5166360" cy="292608"/>
          </a:xfrm>
          <a:prstGeom prst="rect">
            <a:avLst/>
          </a:prstGeom>
          <a:noFill/>
          <a:ln/>
        </p:spPr>
        <p:txBody>
          <a:bodyPr wrap="square" lIns="0" tIns="0" rIns="0" bIns="0" rtlCol="0" anchor="ctr"/>
          <a:lstStyle/>
          <a:p>
            <a:pPr algn="ctr" indent="0" marL="0">
              <a:buNone/>
            </a:pPr>
            <a:r>
              <a:rPr lang="en-US" sz="1250" i="1" dirty="0">
                <a:solidFill>
                  <a:srgbClr val="6B7280"/>
                </a:solidFill>
                <a:latin typeface="Segoe UI" pitchFamily="34" charset="0"/>
                <a:ea typeface="Segoe UI" pitchFamily="34" charset="-122"/>
                <a:cs typeface="Segoe UI" pitchFamily="34" charset="-120"/>
              </a:rPr>
              <a:t>Trợ lý ảo hỏi – đáp</a:t>
            </a:r>
            <a:endParaRPr lang="en-US" sz="1250" dirty="0"/>
          </a:p>
        </p:txBody>
      </p:sp>
      <p:sp>
        <p:nvSpPr>
          <p:cNvPr id="14" name="Shape 9"/>
          <p:cNvSpPr/>
          <p:nvPr/>
        </p:nvSpPr>
        <p:spPr>
          <a:xfrm>
            <a:off x="6355080" y="4178808"/>
            <a:ext cx="5166360" cy="1874520"/>
          </a:xfrm>
          <a:prstGeom prst="roundRect">
            <a:avLst>
              <a:gd name="adj" fmla="val 2927"/>
            </a:avLst>
          </a:prstGeom>
          <a:solidFill>
            <a:srgbClr val="FFFFFF"/>
          </a:solidFill>
          <a:ln w="25400">
            <a:solidFill>
              <a:srgbClr val="F3D2D7"/>
            </a:solidFill>
            <a:prstDash val="solid"/>
          </a:ln>
          <a:effectLst>
            <a:outerShdw sx="100000" sy="100000" kx="0" ky="0" algn="bl" rotWithShape="0" blurRad="114300" dist="38100" dir="8100000">
              <a:srgbClr val="5A0000">
                <a:alpha val="22000"/>
              </a:srgbClr>
            </a:outerShdw>
          </a:effectLst>
        </p:spPr>
      </p:sp>
      <p:pic>
        <p:nvPicPr>
          <p:cNvPr id="15" name="Image 3" descr="/home/user/capphutho/shots/lienthong.png">    </p:cNvPr>
          <p:cNvPicPr>
            <a:picLocks noChangeAspect="1"/>
          </p:cNvPicPr>
          <p:nvPr/>
        </p:nvPicPr>
        <p:blipFill>
          <a:blip r:embed="rId4"/>
          <a:srcRect l="0" r="0" t="0" b="0"/>
          <a:stretch/>
        </p:blipFill>
        <p:spPr>
          <a:xfrm>
            <a:off x="6428232" y="4251960"/>
            <a:ext cx="5020056" cy="1728216"/>
          </a:xfrm>
          <a:prstGeom prst="rect">
            <a:avLst/>
          </a:prstGeom>
        </p:spPr>
      </p:pic>
      <p:sp>
        <p:nvSpPr>
          <p:cNvPr id="16" name="Text 10"/>
          <p:cNvSpPr/>
          <p:nvPr/>
        </p:nvSpPr>
        <p:spPr>
          <a:xfrm>
            <a:off x="6355080" y="6108192"/>
            <a:ext cx="5166360" cy="292608"/>
          </a:xfrm>
          <a:prstGeom prst="rect">
            <a:avLst/>
          </a:prstGeom>
          <a:noFill/>
          <a:ln/>
        </p:spPr>
        <p:txBody>
          <a:bodyPr wrap="square" lIns="0" tIns="0" rIns="0" bIns="0" rtlCol="0" anchor="ctr"/>
          <a:lstStyle/>
          <a:p>
            <a:pPr algn="ctr" indent="0" marL="0">
              <a:buNone/>
            </a:pPr>
            <a:r>
              <a:rPr lang="en-US" sz="1250" i="1" dirty="0">
                <a:solidFill>
                  <a:srgbClr val="6B7280"/>
                </a:solidFill>
                <a:latin typeface="Segoe UI" pitchFamily="34" charset="0"/>
                <a:ea typeface="Segoe UI" pitchFamily="34" charset="-122"/>
                <a:cs typeface="Segoe UI" pitchFamily="34" charset="-120"/>
              </a:rPr>
              <a:t>Thủ tục liên thông</a:t>
            </a:r>
            <a:endParaRPr lang="en-US" sz="1250" dirty="0"/>
          </a:p>
        </p:txBody>
      </p:sp>
    </p:spTree>
  </p:cSld>
  <p:clrMapOvr>
    <a:masterClrMapping/>
  </p:clrMapOvr>
  <p:transition xmlns:p14="http://schemas.microsoft.com/office/powerpoint/2010/main" spd="med" p14:dur="450">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320040"/>
          </a:xfrm>
          <a:prstGeom prst="rect">
            <a:avLst/>
          </a:prstGeom>
          <a:noFill/>
          <a:ln/>
        </p:spPr>
        <p:txBody>
          <a:bodyPr wrap="square" lIns="0" tIns="0" rIns="0" bIns="0" rtlCol="0" anchor="ctr"/>
          <a:lstStyle/>
          <a:p>
            <a:pPr indent="0" marL="0">
              <a:buNone/>
            </a:pPr>
            <a:r>
              <a:rPr lang="en-US" sz="1300" b="1" spc="200" kern="0" dirty="0">
                <a:solidFill>
                  <a:srgbClr val="C41E3A"/>
                </a:solidFill>
                <a:latin typeface="Segoe UI" pitchFamily="34" charset="0"/>
                <a:ea typeface="Segoe UI" pitchFamily="34" charset="-122"/>
                <a:cs typeface="Segoe UI" pitchFamily="34" charset="-120"/>
              </a:rPr>
              <a:t>TÍNH NĂNG NỔI BẬT</a:t>
            </a:r>
            <a:endParaRPr lang="en-US" sz="1300" dirty="0"/>
          </a:p>
        </p:txBody>
      </p:sp>
      <p:sp>
        <p:nvSpPr>
          <p:cNvPr id="3" name="Text 1"/>
          <p:cNvSpPr/>
          <p:nvPr/>
        </p:nvSpPr>
        <p:spPr>
          <a:xfrm>
            <a:off x="640080" y="768096"/>
            <a:ext cx="10881360" cy="777240"/>
          </a:xfrm>
          <a:prstGeom prst="rect">
            <a:avLst/>
          </a:prstGeom>
          <a:noFill/>
          <a:ln/>
        </p:spPr>
        <p:txBody>
          <a:bodyPr wrap="square" lIns="0" tIns="0" rIns="0" bIns="0" rtlCol="0" anchor="t"/>
          <a:lstStyle/>
          <a:p>
            <a:pPr indent="0" marL="0">
              <a:buNone/>
            </a:pPr>
            <a:r>
              <a:rPr lang="en-US" sz="2900" b="1" dirty="0">
                <a:solidFill>
                  <a:srgbClr val="1F2937"/>
                </a:solidFill>
                <a:latin typeface="Segoe UI" pitchFamily="34" charset="0"/>
                <a:ea typeface="Segoe UI" pitchFamily="34" charset="-122"/>
                <a:cs typeface="Segoe UI" pitchFamily="34" charset="-120"/>
              </a:rPr>
              <a:t>Hai trụ cột nghiệp vụ</a:t>
            </a:r>
            <a:endParaRPr lang="en-US" sz="2900" dirty="0"/>
          </a:p>
        </p:txBody>
      </p:sp>
      <p:sp>
        <p:nvSpPr>
          <p:cNvPr id="4" name="Shape 2"/>
          <p:cNvSpPr/>
          <p:nvPr/>
        </p:nvSpPr>
        <p:spPr>
          <a:xfrm>
            <a:off x="640080" y="1481328"/>
            <a:ext cx="1005840" cy="64008"/>
          </a:xfrm>
          <a:prstGeom prst="rect">
            <a:avLst/>
          </a:prstGeom>
          <a:solidFill>
            <a:srgbClr val="FFD700"/>
          </a:solidFill>
          <a:ln/>
        </p:spPr>
      </p:sp>
      <p:sp>
        <p:nvSpPr>
          <p:cNvPr id="5" name="Shape 3"/>
          <p:cNvSpPr/>
          <p:nvPr/>
        </p:nvSpPr>
        <p:spPr>
          <a:xfrm>
            <a:off x="640080" y="1828800"/>
            <a:ext cx="5577840" cy="1783080"/>
          </a:xfrm>
          <a:prstGeom prst="roundRect">
            <a:avLst>
              <a:gd name="adj" fmla="val 5128"/>
            </a:avLst>
          </a:prstGeom>
          <a:solidFill>
            <a:srgbClr val="FFF0F2"/>
          </a:solidFill>
          <a:ln w="12700">
            <a:solidFill>
              <a:srgbClr val="F3D2D7"/>
            </a:solidFill>
            <a:prstDash val="solid"/>
          </a:ln>
          <a:effectLst>
            <a:outerShdw sx="100000" sy="100000" kx="0" ky="0" algn="bl" rotWithShape="0" blurRad="88900" dist="25400" dir="8100000">
              <a:srgbClr val="94A3B8">
                <a:alpha val="28000"/>
              </a:srgbClr>
            </a:outerShdw>
          </a:effectLst>
        </p:spPr>
      </p:sp>
      <p:sp>
        <p:nvSpPr>
          <p:cNvPr id="6" name="Shape 4"/>
          <p:cNvSpPr/>
          <p:nvPr/>
        </p:nvSpPr>
        <p:spPr>
          <a:xfrm>
            <a:off x="914400" y="2103120"/>
            <a:ext cx="777240" cy="777240"/>
          </a:xfrm>
          <a:prstGeom prst="ellipse">
            <a:avLst/>
          </a:prstGeom>
          <a:solidFill>
            <a:srgbClr val="C41E3A"/>
          </a:solidFill>
          <a:ln/>
          <a:effectLst>
            <a:outerShdw sx="100000" sy="100000" kx="0" ky="0" algn="bl" rotWithShape="0" blurRad="114300" dist="38100" dir="8100000">
              <a:srgbClr val="5A0000">
                <a:alpha val="22000"/>
              </a:srgbClr>
            </a:outerShdw>
          </a:effectLst>
        </p:spPr>
      </p:sp>
      <p:pic>
        <p:nvPicPr>
          <p:cNvPr id="7" name="Image 0" descr="preencoded.png">    </p:cNvPr>
          <p:cNvPicPr>
            <a:picLocks noChangeAspect="1"/>
          </p:cNvPicPr>
          <p:nvPr/>
        </p:nvPicPr>
        <p:blipFill>
          <a:blip r:embed="rId1"/>
          <a:stretch>
            <a:fillRect/>
          </a:stretch>
        </p:blipFill>
        <p:spPr>
          <a:xfrm>
            <a:off x="1124255" y="2312975"/>
            <a:ext cx="357530" cy="357530"/>
          </a:xfrm>
          <a:prstGeom prst="rect">
            <a:avLst/>
          </a:prstGeom>
        </p:spPr>
      </p:pic>
      <p:sp>
        <p:nvSpPr>
          <p:cNvPr id="8" name="Text 5"/>
          <p:cNvSpPr/>
          <p:nvPr/>
        </p:nvSpPr>
        <p:spPr>
          <a:xfrm>
            <a:off x="1920240" y="2084832"/>
            <a:ext cx="4160520" cy="457200"/>
          </a:xfrm>
          <a:prstGeom prst="rect">
            <a:avLst/>
          </a:prstGeom>
          <a:noFill/>
          <a:ln/>
        </p:spPr>
        <p:txBody>
          <a:bodyPr wrap="square" lIns="0" tIns="0" rIns="0" bIns="0" rtlCol="0" anchor="ctr"/>
          <a:lstStyle/>
          <a:p>
            <a:pPr indent="0" marL="0">
              <a:buNone/>
            </a:pPr>
            <a:r>
              <a:rPr lang="en-US" sz="1800" b="1" dirty="0">
                <a:solidFill>
                  <a:srgbClr val="1F2937"/>
                </a:solidFill>
                <a:latin typeface="Segoe UI" pitchFamily="34" charset="0"/>
                <a:ea typeface="Segoe UI" pitchFamily="34" charset="-122"/>
                <a:cs typeface="Segoe UI" pitchFamily="34" charset="-120"/>
              </a:rPr>
              <a:t>Trợ lý ảo hỏi – đáp</a:t>
            </a:r>
            <a:endParaRPr lang="en-US" sz="1800" dirty="0"/>
          </a:p>
        </p:txBody>
      </p:sp>
      <p:sp>
        <p:nvSpPr>
          <p:cNvPr id="9" name="Text 6"/>
          <p:cNvSpPr/>
          <p:nvPr/>
        </p:nvSpPr>
        <p:spPr>
          <a:xfrm>
            <a:off x="1920240" y="2560320"/>
            <a:ext cx="4160520" cy="914400"/>
          </a:xfrm>
          <a:prstGeom prst="rect">
            <a:avLst/>
          </a:prstGeom>
          <a:noFill/>
          <a:ln/>
        </p:spPr>
        <p:txBody>
          <a:bodyPr wrap="square" lIns="0" tIns="0" rIns="0" bIns="0" rtlCol="0" anchor="ctr"/>
          <a:lstStyle/>
          <a:p>
            <a:pPr indent="0" marL="0">
              <a:buNone/>
            </a:pPr>
            <a:r>
              <a:rPr lang="en-US" sz="1350" dirty="0">
                <a:solidFill>
                  <a:srgbClr val="374151"/>
                </a:solidFill>
                <a:latin typeface="Segoe UI" pitchFamily="34" charset="0"/>
                <a:ea typeface="Segoe UI" pitchFamily="34" charset="-122"/>
                <a:cs typeface="Segoe UI" pitchFamily="34" charset="-120"/>
              </a:rPr>
              <a:t>Người dân gõ câu hỏi, hệ thống tự tìm trong kho hơn 90 câu hỏi – đáp và trả lời ngay, 24/7.</a:t>
            </a:r>
            <a:endParaRPr lang="en-US" sz="1350" dirty="0"/>
          </a:p>
        </p:txBody>
      </p:sp>
      <p:sp>
        <p:nvSpPr>
          <p:cNvPr id="10" name="Shape 7"/>
          <p:cNvSpPr/>
          <p:nvPr/>
        </p:nvSpPr>
        <p:spPr>
          <a:xfrm>
            <a:off x="640080" y="3794760"/>
            <a:ext cx="5577840" cy="1783080"/>
          </a:xfrm>
          <a:prstGeom prst="roundRect">
            <a:avLst>
              <a:gd name="adj" fmla="val 5128"/>
            </a:avLst>
          </a:prstGeom>
          <a:solidFill>
            <a:srgbClr val="8B0000"/>
          </a:solidFill>
          <a:ln w="12700">
            <a:solidFill>
              <a:srgbClr val="FFD700"/>
            </a:solidFill>
            <a:prstDash val="solid"/>
          </a:ln>
          <a:effectLst>
            <a:outerShdw sx="100000" sy="100000" kx="0" ky="0" algn="bl" rotWithShape="0" blurRad="88900" dist="25400" dir="8100000">
              <a:srgbClr val="94A3B8">
                <a:alpha val="28000"/>
              </a:srgbClr>
            </a:outerShdw>
          </a:effectLst>
        </p:spPr>
      </p:sp>
      <p:sp>
        <p:nvSpPr>
          <p:cNvPr id="11" name="Shape 8"/>
          <p:cNvSpPr/>
          <p:nvPr/>
        </p:nvSpPr>
        <p:spPr>
          <a:xfrm>
            <a:off x="914400" y="4069080"/>
            <a:ext cx="777240" cy="777240"/>
          </a:xfrm>
          <a:prstGeom prst="ellipse">
            <a:avLst/>
          </a:prstGeom>
          <a:solidFill>
            <a:srgbClr val="1F7A1F"/>
          </a:solidFill>
          <a:ln/>
          <a:effectLst>
            <a:outerShdw sx="100000" sy="100000" kx="0" ky="0" algn="bl" rotWithShape="0" blurRad="114300" dist="38100" dir="8100000">
              <a:srgbClr val="5A0000">
                <a:alpha val="22000"/>
              </a:srgbClr>
            </a:outerShdw>
          </a:effectLst>
        </p:spPr>
      </p:sp>
      <p:pic>
        <p:nvPicPr>
          <p:cNvPr id="12" name="Image 1" descr="preencoded.png">    </p:cNvPr>
          <p:cNvPicPr>
            <a:picLocks noChangeAspect="1"/>
          </p:cNvPicPr>
          <p:nvPr/>
        </p:nvPicPr>
        <p:blipFill>
          <a:blip r:embed="rId2"/>
          <a:stretch>
            <a:fillRect/>
          </a:stretch>
        </p:blipFill>
        <p:spPr>
          <a:xfrm>
            <a:off x="1124255" y="4278935"/>
            <a:ext cx="357530" cy="357530"/>
          </a:xfrm>
          <a:prstGeom prst="rect">
            <a:avLst/>
          </a:prstGeom>
        </p:spPr>
      </p:pic>
      <p:sp>
        <p:nvSpPr>
          <p:cNvPr id="13" name="Text 9"/>
          <p:cNvSpPr/>
          <p:nvPr/>
        </p:nvSpPr>
        <p:spPr>
          <a:xfrm>
            <a:off x="1920240" y="4050792"/>
            <a:ext cx="4160520" cy="457200"/>
          </a:xfrm>
          <a:prstGeom prst="rect">
            <a:avLst/>
          </a:prstGeom>
          <a:noFill/>
          <a:ln/>
        </p:spPr>
        <p:txBody>
          <a:bodyPr wrap="square" lIns="0" tIns="0" rIns="0" bIns="0"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Thủ tục liên thông</a:t>
            </a:r>
            <a:endParaRPr lang="en-US" sz="1800" dirty="0"/>
          </a:p>
        </p:txBody>
      </p:sp>
      <p:sp>
        <p:nvSpPr>
          <p:cNvPr id="14" name="Text 10"/>
          <p:cNvSpPr/>
          <p:nvPr/>
        </p:nvSpPr>
        <p:spPr>
          <a:xfrm>
            <a:off x="1920240" y="4526280"/>
            <a:ext cx="4160520" cy="914400"/>
          </a:xfrm>
          <a:prstGeom prst="rect">
            <a:avLst/>
          </a:prstGeom>
          <a:noFill/>
          <a:ln/>
        </p:spPr>
        <p:txBody>
          <a:bodyPr wrap="square" lIns="0" tIns="0" rIns="0" bIns="0" rtlCol="0" anchor="ctr"/>
          <a:lstStyle/>
          <a:p>
            <a:pPr indent="0" marL="0">
              <a:buNone/>
            </a:pPr>
            <a:r>
              <a:rPr lang="en-US" sz="1350" dirty="0">
                <a:solidFill>
                  <a:srgbClr val="FFE9A8"/>
                </a:solidFill>
                <a:latin typeface="Segoe UI" pitchFamily="34" charset="0"/>
                <a:ea typeface="Segoe UI" pitchFamily="34" charset="-122"/>
                <a:cs typeface="Segoe UI" pitchFamily="34" charset="-120"/>
              </a:rPr>
              <a:t>Hướng dẫn nộp một bộ hồ sơ, nhiều cơ quan cùng xử lý — theo Nghị định 63/2024/NĐ-CP.</a:t>
            </a:r>
            <a:endParaRPr lang="en-US" sz="1350" dirty="0"/>
          </a:p>
        </p:txBody>
      </p:sp>
      <p:sp>
        <p:nvSpPr>
          <p:cNvPr id="15" name="Shape 11"/>
          <p:cNvSpPr/>
          <p:nvPr/>
        </p:nvSpPr>
        <p:spPr>
          <a:xfrm>
            <a:off x="6537960" y="1920240"/>
            <a:ext cx="4983480" cy="3383280"/>
          </a:xfrm>
          <a:prstGeom prst="roundRect">
            <a:avLst>
              <a:gd name="adj" fmla="val 1622"/>
            </a:avLst>
          </a:prstGeom>
          <a:solidFill>
            <a:srgbClr val="FFFFFF"/>
          </a:solidFill>
          <a:ln w="25400">
            <a:solidFill>
              <a:srgbClr val="F3D2D7"/>
            </a:solidFill>
            <a:prstDash val="solid"/>
          </a:ln>
          <a:effectLst>
            <a:outerShdw sx="100000" sy="100000" kx="0" ky="0" algn="bl" rotWithShape="0" blurRad="114300" dist="38100" dir="8100000">
              <a:srgbClr val="5A0000">
                <a:alpha val="22000"/>
              </a:srgbClr>
            </a:outerShdw>
          </a:effectLst>
        </p:spPr>
      </p:sp>
      <p:pic>
        <p:nvPicPr>
          <p:cNvPr id="16" name="Image 2" descr="/home/user/capphutho/shots/chatbot.png">    </p:cNvPr>
          <p:cNvPicPr>
            <a:picLocks noChangeAspect="1"/>
          </p:cNvPicPr>
          <p:nvPr/>
        </p:nvPicPr>
        <p:blipFill>
          <a:blip r:embed="rId3"/>
          <a:srcRect l="0" r="0" t="0" b="0"/>
          <a:stretch/>
        </p:blipFill>
        <p:spPr>
          <a:xfrm>
            <a:off x="6611112" y="1993392"/>
            <a:ext cx="4837176" cy="3236976"/>
          </a:xfrm>
          <a:prstGeom prst="rect">
            <a:avLst/>
          </a:prstGeom>
        </p:spPr>
      </p:pic>
      <p:sp>
        <p:nvSpPr>
          <p:cNvPr id="17" name="Text 12"/>
          <p:cNvSpPr/>
          <p:nvPr/>
        </p:nvSpPr>
        <p:spPr>
          <a:xfrm>
            <a:off x="6537960" y="5358384"/>
            <a:ext cx="4983480" cy="292608"/>
          </a:xfrm>
          <a:prstGeom prst="rect">
            <a:avLst/>
          </a:prstGeom>
          <a:noFill/>
          <a:ln/>
        </p:spPr>
        <p:txBody>
          <a:bodyPr wrap="square" lIns="0" tIns="0" rIns="0" bIns="0" rtlCol="0" anchor="ctr"/>
          <a:lstStyle/>
          <a:p>
            <a:pPr algn="ctr" indent="0" marL="0">
              <a:buNone/>
            </a:pPr>
            <a:r>
              <a:rPr lang="en-US" sz="1250" i="1" dirty="0">
                <a:solidFill>
                  <a:srgbClr val="6B7280"/>
                </a:solidFill>
                <a:latin typeface="Segoe UI" pitchFamily="34" charset="0"/>
                <a:ea typeface="Segoe UI" pitchFamily="34" charset="-122"/>
                <a:cs typeface="Segoe UI" pitchFamily="34" charset="-120"/>
              </a:rPr>
              <a:t>Trợ lý ảo trả lời người dân</a:t>
            </a:r>
            <a:endParaRPr lang="en-US" sz="1250" dirty="0"/>
          </a:p>
        </p:txBody>
      </p:sp>
    </p:spTree>
  </p:cSld>
  <p:clrMapOvr>
    <a:masterClrMapping/>
  </p:clrMapOvr>
  <p:transition xmlns:p14="http://schemas.microsoft.com/office/powerpoint/2010/main" spd="med" p14:dur="450">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320040"/>
          </a:xfrm>
          <a:prstGeom prst="rect">
            <a:avLst/>
          </a:prstGeom>
          <a:noFill/>
          <a:ln/>
        </p:spPr>
        <p:txBody>
          <a:bodyPr wrap="square" lIns="0" tIns="0" rIns="0" bIns="0" rtlCol="0" anchor="ctr"/>
          <a:lstStyle/>
          <a:p>
            <a:pPr indent="0" marL="0">
              <a:buNone/>
            </a:pPr>
            <a:r>
              <a:rPr lang="en-US" sz="1300" b="1" spc="200" kern="0" dirty="0">
                <a:solidFill>
                  <a:srgbClr val="C41E3A"/>
                </a:solidFill>
                <a:latin typeface="Segoe UI" pitchFamily="34" charset="0"/>
                <a:ea typeface="Segoe UI" pitchFamily="34" charset="-122"/>
                <a:cs typeface="Segoe UI" pitchFamily="34" charset="-120"/>
              </a:rPr>
              <a:t>PHẠM VI PHỤC VỤ</a:t>
            </a:r>
            <a:endParaRPr lang="en-US" sz="1300" dirty="0"/>
          </a:p>
        </p:txBody>
      </p:sp>
      <p:sp>
        <p:nvSpPr>
          <p:cNvPr id="3" name="Text 1"/>
          <p:cNvSpPr/>
          <p:nvPr/>
        </p:nvSpPr>
        <p:spPr>
          <a:xfrm>
            <a:off x="640080" y="768096"/>
            <a:ext cx="10881360" cy="777240"/>
          </a:xfrm>
          <a:prstGeom prst="rect">
            <a:avLst/>
          </a:prstGeom>
          <a:noFill/>
          <a:ln/>
        </p:spPr>
        <p:txBody>
          <a:bodyPr wrap="square" lIns="0" tIns="0" rIns="0" bIns="0" rtlCol="0" anchor="t"/>
          <a:lstStyle/>
          <a:p>
            <a:pPr indent="0" marL="0">
              <a:buNone/>
            </a:pPr>
            <a:r>
              <a:rPr lang="en-US" sz="2900" b="1" dirty="0">
                <a:solidFill>
                  <a:srgbClr val="1F2937"/>
                </a:solidFill>
                <a:latin typeface="Segoe UI" pitchFamily="34" charset="0"/>
                <a:ea typeface="Segoe UI" pitchFamily="34" charset="-122"/>
                <a:cs typeface="Segoe UI" pitchFamily="34" charset="-120"/>
              </a:rPr>
              <a:t>Bảy nhóm dịch vụ sát với đời sống</a:t>
            </a:r>
            <a:endParaRPr lang="en-US" sz="2900" dirty="0"/>
          </a:p>
        </p:txBody>
      </p:sp>
      <p:sp>
        <p:nvSpPr>
          <p:cNvPr id="4" name="Shape 2"/>
          <p:cNvSpPr/>
          <p:nvPr/>
        </p:nvSpPr>
        <p:spPr>
          <a:xfrm>
            <a:off x="640080" y="1481328"/>
            <a:ext cx="1005840" cy="64008"/>
          </a:xfrm>
          <a:prstGeom prst="rect">
            <a:avLst/>
          </a:prstGeom>
          <a:solidFill>
            <a:srgbClr val="FFD700"/>
          </a:solidFill>
          <a:ln/>
        </p:spPr>
      </p:sp>
      <p:sp>
        <p:nvSpPr>
          <p:cNvPr id="5" name="Shape 3"/>
          <p:cNvSpPr/>
          <p:nvPr/>
        </p:nvSpPr>
        <p:spPr>
          <a:xfrm>
            <a:off x="640080" y="1828800"/>
            <a:ext cx="5212080" cy="676656"/>
          </a:xfrm>
          <a:prstGeom prst="roundRect">
            <a:avLst>
              <a:gd name="adj" fmla="val 12162"/>
            </a:avLst>
          </a:prstGeom>
          <a:solidFill>
            <a:srgbClr val="FFF0F2"/>
          </a:solidFill>
          <a:ln w="12700">
            <a:solidFill>
              <a:srgbClr val="F3D2D7"/>
            </a:solidFill>
            <a:prstDash val="solid"/>
          </a:ln>
          <a:effectLst>
            <a:outerShdw sx="100000" sy="100000" kx="0" ky="0" algn="bl" rotWithShape="0" blurRad="88900" dist="25400" dir="8100000">
              <a:srgbClr val="94A3B8">
                <a:alpha val="28000"/>
              </a:srgbClr>
            </a:outerShdw>
          </a:effectLst>
        </p:spPr>
      </p:sp>
      <p:sp>
        <p:nvSpPr>
          <p:cNvPr id="6" name="Shape 4"/>
          <p:cNvSpPr/>
          <p:nvPr/>
        </p:nvSpPr>
        <p:spPr>
          <a:xfrm>
            <a:off x="804672" y="1938528"/>
            <a:ext cx="457200" cy="457200"/>
          </a:xfrm>
          <a:prstGeom prst="ellipse">
            <a:avLst/>
          </a:prstGeom>
          <a:solidFill>
            <a:srgbClr val="C41E3A"/>
          </a:solidFill>
          <a:ln/>
          <a:effectLst>
            <a:outerShdw sx="100000" sy="100000" kx="0" ky="0" algn="bl" rotWithShape="0" blurRad="114300" dist="38100" dir="8100000">
              <a:srgbClr val="5A0000">
                <a:alpha val="22000"/>
              </a:srgbClr>
            </a:outerShdw>
          </a:effectLst>
        </p:spPr>
      </p:sp>
      <p:pic>
        <p:nvPicPr>
          <p:cNvPr id="7" name="Image 0" descr="preencoded.png">    </p:cNvPr>
          <p:cNvPicPr>
            <a:picLocks noChangeAspect="1"/>
          </p:cNvPicPr>
          <p:nvPr/>
        </p:nvPicPr>
        <p:blipFill>
          <a:blip r:embed="rId1"/>
          <a:stretch>
            <a:fillRect/>
          </a:stretch>
        </p:blipFill>
        <p:spPr>
          <a:xfrm>
            <a:off x="928116" y="2061972"/>
            <a:ext cx="210312" cy="210312"/>
          </a:xfrm>
          <a:prstGeom prst="rect">
            <a:avLst/>
          </a:prstGeom>
        </p:spPr>
      </p:pic>
      <p:sp>
        <p:nvSpPr>
          <p:cNvPr id="8" name="Text 5"/>
          <p:cNvSpPr/>
          <p:nvPr/>
        </p:nvSpPr>
        <p:spPr>
          <a:xfrm>
            <a:off x="1508760" y="1901952"/>
            <a:ext cx="4160520" cy="310896"/>
          </a:xfrm>
          <a:prstGeom prst="rect">
            <a:avLst/>
          </a:prstGeom>
          <a:noFill/>
          <a:ln/>
        </p:spPr>
        <p:txBody>
          <a:bodyPr wrap="square" lIns="0" tIns="0" rIns="0" bIns="0" rtlCol="0" anchor="ctr"/>
          <a:lstStyle/>
          <a:p>
            <a:pPr indent="0" marL="0">
              <a:buNone/>
            </a:pPr>
            <a:r>
              <a:rPr lang="en-US" sz="1550" b="1" dirty="0">
                <a:solidFill>
                  <a:srgbClr val="1F2937"/>
                </a:solidFill>
                <a:latin typeface="Segoe UI" pitchFamily="34" charset="0"/>
                <a:ea typeface="Segoe UI" pitchFamily="34" charset="-122"/>
                <a:cs typeface="Segoe UI" pitchFamily="34" charset="-120"/>
              </a:rPr>
              <a:t>Cư trú &amp; Định danh</a:t>
            </a:r>
            <a:endParaRPr lang="en-US" sz="1550" dirty="0"/>
          </a:p>
        </p:txBody>
      </p:sp>
      <p:sp>
        <p:nvSpPr>
          <p:cNvPr id="9" name="Text 6"/>
          <p:cNvSpPr/>
          <p:nvPr/>
        </p:nvSpPr>
        <p:spPr>
          <a:xfrm>
            <a:off x="1508760" y="2194560"/>
            <a:ext cx="4160520" cy="256032"/>
          </a:xfrm>
          <a:prstGeom prst="rect">
            <a:avLst/>
          </a:prstGeom>
          <a:noFill/>
          <a:ln/>
        </p:spPr>
        <p:txBody>
          <a:bodyPr wrap="square" lIns="0" tIns="0" rIns="0" bIns="0" rtlCol="0" anchor="ctr"/>
          <a:lstStyle/>
          <a:p>
            <a:pPr indent="0" marL="0">
              <a:buNone/>
            </a:pPr>
            <a:r>
              <a:rPr lang="en-US" sz="1150" dirty="0">
                <a:solidFill>
                  <a:srgbClr val="6B7280"/>
                </a:solidFill>
                <a:latin typeface="Segoe UI" pitchFamily="34" charset="0"/>
                <a:ea typeface="Segoe UI" pitchFamily="34" charset="-122"/>
                <a:cs typeface="Segoe UI" pitchFamily="34" charset="-120"/>
              </a:rPr>
              <a:t>CCCD, VNeID, CT07, CT08</a:t>
            </a:r>
            <a:endParaRPr lang="en-US" sz="1150" dirty="0"/>
          </a:p>
        </p:txBody>
      </p:sp>
      <p:sp>
        <p:nvSpPr>
          <p:cNvPr id="10" name="Shape 7"/>
          <p:cNvSpPr/>
          <p:nvPr/>
        </p:nvSpPr>
        <p:spPr>
          <a:xfrm>
            <a:off x="6309360" y="1828800"/>
            <a:ext cx="5212080" cy="676656"/>
          </a:xfrm>
          <a:prstGeom prst="roundRect">
            <a:avLst>
              <a:gd name="adj" fmla="val 12162"/>
            </a:avLst>
          </a:prstGeom>
          <a:solidFill>
            <a:srgbClr val="FFF0F2"/>
          </a:solidFill>
          <a:ln w="12700">
            <a:solidFill>
              <a:srgbClr val="F3D2D7"/>
            </a:solidFill>
            <a:prstDash val="solid"/>
          </a:ln>
          <a:effectLst>
            <a:outerShdw sx="100000" sy="100000" kx="0" ky="0" algn="bl" rotWithShape="0" blurRad="88900" dist="25400" dir="8100000">
              <a:srgbClr val="94A3B8">
                <a:alpha val="28000"/>
              </a:srgbClr>
            </a:outerShdw>
          </a:effectLst>
        </p:spPr>
      </p:sp>
      <p:sp>
        <p:nvSpPr>
          <p:cNvPr id="11" name="Shape 8"/>
          <p:cNvSpPr/>
          <p:nvPr/>
        </p:nvSpPr>
        <p:spPr>
          <a:xfrm>
            <a:off x="6473952" y="1938528"/>
            <a:ext cx="457200" cy="457200"/>
          </a:xfrm>
          <a:prstGeom prst="ellipse">
            <a:avLst/>
          </a:prstGeom>
          <a:solidFill>
            <a:srgbClr val="1F7A1F"/>
          </a:solidFill>
          <a:ln/>
          <a:effectLst>
            <a:outerShdw sx="100000" sy="100000" kx="0" ky="0" algn="bl" rotWithShape="0" blurRad="114300" dist="38100" dir="8100000">
              <a:srgbClr val="5A0000">
                <a:alpha val="22000"/>
              </a:srgbClr>
            </a:outerShdw>
          </a:effectLst>
        </p:spPr>
      </p:sp>
      <p:pic>
        <p:nvPicPr>
          <p:cNvPr id="12" name="Image 1" descr="preencoded.png">    </p:cNvPr>
          <p:cNvPicPr>
            <a:picLocks noChangeAspect="1"/>
          </p:cNvPicPr>
          <p:nvPr/>
        </p:nvPicPr>
        <p:blipFill>
          <a:blip r:embed="rId2"/>
          <a:stretch>
            <a:fillRect/>
          </a:stretch>
        </p:blipFill>
        <p:spPr>
          <a:xfrm>
            <a:off x="6597396" y="2061972"/>
            <a:ext cx="210312" cy="210312"/>
          </a:xfrm>
          <a:prstGeom prst="rect">
            <a:avLst/>
          </a:prstGeom>
        </p:spPr>
      </p:pic>
      <p:sp>
        <p:nvSpPr>
          <p:cNvPr id="13" name="Text 9"/>
          <p:cNvSpPr/>
          <p:nvPr/>
        </p:nvSpPr>
        <p:spPr>
          <a:xfrm>
            <a:off x="7178040" y="1901952"/>
            <a:ext cx="4160520" cy="310896"/>
          </a:xfrm>
          <a:prstGeom prst="rect">
            <a:avLst/>
          </a:prstGeom>
          <a:noFill/>
          <a:ln/>
        </p:spPr>
        <p:txBody>
          <a:bodyPr wrap="square" lIns="0" tIns="0" rIns="0" bIns="0" rtlCol="0" anchor="ctr"/>
          <a:lstStyle/>
          <a:p>
            <a:pPr indent="0" marL="0">
              <a:buNone/>
            </a:pPr>
            <a:r>
              <a:rPr lang="en-US" sz="1550" b="1" dirty="0">
                <a:solidFill>
                  <a:srgbClr val="1F2937"/>
                </a:solidFill>
                <a:latin typeface="Segoe UI" pitchFamily="34" charset="0"/>
                <a:ea typeface="Segoe UI" pitchFamily="34" charset="-122"/>
                <a:cs typeface="Segoe UI" pitchFamily="34" charset="-120"/>
              </a:rPr>
              <a:t>Đăng ký xe</a:t>
            </a:r>
            <a:endParaRPr lang="en-US" sz="1550" dirty="0"/>
          </a:p>
        </p:txBody>
      </p:sp>
      <p:sp>
        <p:nvSpPr>
          <p:cNvPr id="14" name="Text 10"/>
          <p:cNvSpPr/>
          <p:nvPr/>
        </p:nvSpPr>
        <p:spPr>
          <a:xfrm>
            <a:off x="7178040" y="2194560"/>
            <a:ext cx="4160520" cy="256032"/>
          </a:xfrm>
          <a:prstGeom prst="rect">
            <a:avLst/>
          </a:prstGeom>
          <a:noFill/>
          <a:ln/>
        </p:spPr>
        <p:txBody>
          <a:bodyPr wrap="square" lIns="0" tIns="0" rIns="0" bIns="0" rtlCol="0" anchor="ctr"/>
          <a:lstStyle/>
          <a:p>
            <a:pPr indent="0" marL="0">
              <a:buNone/>
            </a:pPr>
            <a:r>
              <a:rPr lang="en-US" sz="1150" dirty="0">
                <a:solidFill>
                  <a:srgbClr val="6B7280"/>
                </a:solidFill>
                <a:latin typeface="Segoe UI" pitchFamily="34" charset="0"/>
                <a:ea typeface="Segoe UI" pitchFamily="34" charset="-122"/>
                <a:cs typeface="Segoe UI" pitchFamily="34" charset="-120"/>
              </a:rPr>
              <a:t>Cấp biển số, sang tên đổi chủ</a:t>
            </a:r>
            <a:endParaRPr lang="en-US" sz="1150" dirty="0"/>
          </a:p>
        </p:txBody>
      </p:sp>
      <p:sp>
        <p:nvSpPr>
          <p:cNvPr id="15" name="Shape 11"/>
          <p:cNvSpPr/>
          <p:nvPr/>
        </p:nvSpPr>
        <p:spPr>
          <a:xfrm>
            <a:off x="640080" y="2670048"/>
            <a:ext cx="5212080" cy="676656"/>
          </a:xfrm>
          <a:prstGeom prst="roundRect">
            <a:avLst>
              <a:gd name="adj" fmla="val 12162"/>
            </a:avLst>
          </a:prstGeom>
          <a:solidFill>
            <a:srgbClr val="FFF0F2"/>
          </a:solidFill>
          <a:ln w="12700">
            <a:solidFill>
              <a:srgbClr val="F3D2D7"/>
            </a:solidFill>
            <a:prstDash val="solid"/>
          </a:ln>
          <a:effectLst>
            <a:outerShdw sx="100000" sy="100000" kx="0" ky="0" algn="bl" rotWithShape="0" blurRad="88900" dist="25400" dir="8100000">
              <a:srgbClr val="94A3B8">
                <a:alpha val="28000"/>
              </a:srgbClr>
            </a:outerShdw>
          </a:effectLst>
        </p:spPr>
      </p:sp>
      <p:sp>
        <p:nvSpPr>
          <p:cNvPr id="16" name="Shape 12"/>
          <p:cNvSpPr/>
          <p:nvPr/>
        </p:nvSpPr>
        <p:spPr>
          <a:xfrm>
            <a:off x="804672" y="2779776"/>
            <a:ext cx="457200" cy="457200"/>
          </a:xfrm>
          <a:prstGeom prst="ellipse">
            <a:avLst/>
          </a:prstGeom>
          <a:solidFill>
            <a:srgbClr val="C41E3A"/>
          </a:solidFill>
          <a:ln/>
          <a:effectLst>
            <a:outerShdw sx="100000" sy="100000" kx="0" ky="0" algn="bl" rotWithShape="0" blurRad="114300" dist="38100" dir="8100000">
              <a:srgbClr val="5A0000">
                <a:alpha val="22000"/>
              </a:srgbClr>
            </a:outerShdw>
          </a:effectLst>
        </p:spPr>
      </p:sp>
      <p:pic>
        <p:nvPicPr>
          <p:cNvPr id="17" name="Image 2" descr="preencoded.png">    </p:cNvPr>
          <p:cNvPicPr>
            <a:picLocks noChangeAspect="1"/>
          </p:cNvPicPr>
          <p:nvPr/>
        </p:nvPicPr>
        <p:blipFill>
          <a:blip r:embed="rId3"/>
          <a:stretch>
            <a:fillRect/>
          </a:stretch>
        </p:blipFill>
        <p:spPr>
          <a:xfrm>
            <a:off x="928116" y="2903220"/>
            <a:ext cx="210312" cy="210312"/>
          </a:xfrm>
          <a:prstGeom prst="rect">
            <a:avLst/>
          </a:prstGeom>
        </p:spPr>
      </p:pic>
      <p:sp>
        <p:nvSpPr>
          <p:cNvPr id="18" name="Text 13"/>
          <p:cNvSpPr/>
          <p:nvPr/>
        </p:nvSpPr>
        <p:spPr>
          <a:xfrm>
            <a:off x="1508760" y="2743200"/>
            <a:ext cx="4160520" cy="310896"/>
          </a:xfrm>
          <a:prstGeom prst="rect">
            <a:avLst/>
          </a:prstGeom>
          <a:noFill/>
          <a:ln/>
        </p:spPr>
        <p:txBody>
          <a:bodyPr wrap="square" lIns="0" tIns="0" rIns="0" bIns="0" rtlCol="0" anchor="ctr"/>
          <a:lstStyle/>
          <a:p>
            <a:pPr indent="0" marL="0">
              <a:buNone/>
            </a:pPr>
            <a:r>
              <a:rPr lang="en-US" sz="1550" b="1" dirty="0">
                <a:solidFill>
                  <a:srgbClr val="1F2937"/>
                </a:solidFill>
                <a:latin typeface="Segoe UI" pitchFamily="34" charset="0"/>
                <a:ea typeface="Segoe UI" pitchFamily="34" charset="-122"/>
                <a:cs typeface="Segoe UI" pitchFamily="34" charset="-120"/>
              </a:rPr>
              <a:t>Vũ khí &amp; Pháo</a:t>
            </a:r>
            <a:endParaRPr lang="en-US" sz="1550" dirty="0"/>
          </a:p>
        </p:txBody>
      </p:sp>
      <p:sp>
        <p:nvSpPr>
          <p:cNvPr id="19" name="Text 14"/>
          <p:cNvSpPr/>
          <p:nvPr/>
        </p:nvSpPr>
        <p:spPr>
          <a:xfrm>
            <a:off x="1508760" y="3035808"/>
            <a:ext cx="4160520" cy="256032"/>
          </a:xfrm>
          <a:prstGeom prst="rect">
            <a:avLst/>
          </a:prstGeom>
          <a:noFill/>
          <a:ln/>
        </p:spPr>
        <p:txBody>
          <a:bodyPr wrap="square" lIns="0" tIns="0" rIns="0" bIns="0" rtlCol="0" anchor="ctr"/>
          <a:lstStyle/>
          <a:p>
            <a:pPr indent="0" marL="0">
              <a:buNone/>
            </a:pPr>
            <a:r>
              <a:rPr lang="en-US" sz="1150" dirty="0">
                <a:solidFill>
                  <a:srgbClr val="6B7280"/>
                </a:solidFill>
                <a:latin typeface="Segoe UI" pitchFamily="34" charset="0"/>
                <a:ea typeface="Segoe UI" pitchFamily="34" charset="-122"/>
                <a:cs typeface="Segoe UI" pitchFamily="34" charset="-120"/>
              </a:rPr>
              <a:t>Vận động giao nộp, tố giác</a:t>
            </a:r>
            <a:endParaRPr lang="en-US" sz="1150" dirty="0"/>
          </a:p>
        </p:txBody>
      </p:sp>
      <p:sp>
        <p:nvSpPr>
          <p:cNvPr id="20" name="Shape 15"/>
          <p:cNvSpPr/>
          <p:nvPr/>
        </p:nvSpPr>
        <p:spPr>
          <a:xfrm>
            <a:off x="6309360" y="2670048"/>
            <a:ext cx="5212080" cy="676656"/>
          </a:xfrm>
          <a:prstGeom prst="roundRect">
            <a:avLst>
              <a:gd name="adj" fmla="val 12162"/>
            </a:avLst>
          </a:prstGeom>
          <a:solidFill>
            <a:srgbClr val="FFF0F2"/>
          </a:solidFill>
          <a:ln w="12700">
            <a:solidFill>
              <a:srgbClr val="F3D2D7"/>
            </a:solidFill>
            <a:prstDash val="solid"/>
          </a:ln>
          <a:effectLst>
            <a:outerShdw sx="100000" sy="100000" kx="0" ky="0" algn="bl" rotWithShape="0" blurRad="88900" dist="25400" dir="8100000">
              <a:srgbClr val="94A3B8">
                <a:alpha val="28000"/>
              </a:srgbClr>
            </a:outerShdw>
          </a:effectLst>
        </p:spPr>
      </p:sp>
      <p:sp>
        <p:nvSpPr>
          <p:cNvPr id="21" name="Shape 16"/>
          <p:cNvSpPr/>
          <p:nvPr/>
        </p:nvSpPr>
        <p:spPr>
          <a:xfrm>
            <a:off x="6473952" y="2779776"/>
            <a:ext cx="457200" cy="457200"/>
          </a:xfrm>
          <a:prstGeom prst="ellipse">
            <a:avLst/>
          </a:prstGeom>
          <a:solidFill>
            <a:srgbClr val="1F7A1F"/>
          </a:solidFill>
          <a:ln/>
          <a:effectLst>
            <a:outerShdw sx="100000" sy="100000" kx="0" ky="0" algn="bl" rotWithShape="0" blurRad="114300" dist="38100" dir="8100000">
              <a:srgbClr val="5A0000">
                <a:alpha val="22000"/>
              </a:srgbClr>
            </a:outerShdw>
          </a:effectLst>
        </p:spPr>
      </p:sp>
      <p:pic>
        <p:nvPicPr>
          <p:cNvPr id="22" name="Image 3" descr="preencoded.png">    </p:cNvPr>
          <p:cNvPicPr>
            <a:picLocks noChangeAspect="1"/>
          </p:cNvPicPr>
          <p:nvPr/>
        </p:nvPicPr>
        <p:blipFill>
          <a:blip r:embed="rId4"/>
          <a:stretch>
            <a:fillRect/>
          </a:stretch>
        </p:blipFill>
        <p:spPr>
          <a:xfrm>
            <a:off x="6597396" y="2903220"/>
            <a:ext cx="210312" cy="210312"/>
          </a:xfrm>
          <a:prstGeom prst="rect">
            <a:avLst/>
          </a:prstGeom>
        </p:spPr>
      </p:pic>
      <p:sp>
        <p:nvSpPr>
          <p:cNvPr id="23" name="Text 17"/>
          <p:cNvSpPr/>
          <p:nvPr/>
        </p:nvSpPr>
        <p:spPr>
          <a:xfrm>
            <a:off x="7178040" y="2743200"/>
            <a:ext cx="4160520" cy="310896"/>
          </a:xfrm>
          <a:prstGeom prst="rect">
            <a:avLst/>
          </a:prstGeom>
          <a:noFill/>
          <a:ln/>
        </p:spPr>
        <p:txBody>
          <a:bodyPr wrap="square" lIns="0" tIns="0" rIns="0" bIns="0" rtlCol="0" anchor="ctr"/>
          <a:lstStyle/>
          <a:p>
            <a:pPr indent="0" marL="0">
              <a:buNone/>
            </a:pPr>
            <a:r>
              <a:rPr lang="en-US" sz="1550" b="1" dirty="0">
                <a:solidFill>
                  <a:srgbClr val="1F2937"/>
                </a:solidFill>
                <a:latin typeface="Segoe UI" pitchFamily="34" charset="0"/>
                <a:ea typeface="Segoe UI" pitchFamily="34" charset="-122"/>
                <a:cs typeface="Segoe UI" pitchFamily="34" charset="-120"/>
              </a:rPr>
              <a:t>An ninh trật tự</a:t>
            </a:r>
            <a:endParaRPr lang="en-US" sz="1550" dirty="0"/>
          </a:p>
        </p:txBody>
      </p:sp>
      <p:sp>
        <p:nvSpPr>
          <p:cNvPr id="24" name="Text 18"/>
          <p:cNvSpPr/>
          <p:nvPr/>
        </p:nvSpPr>
        <p:spPr>
          <a:xfrm>
            <a:off x="7178040" y="3035808"/>
            <a:ext cx="4160520" cy="256032"/>
          </a:xfrm>
          <a:prstGeom prst="rect">
            <a:avLst/>
          </a:prstGeom>
          <a:noFill/>
          <a:ln/>
        </p:spPr>
        <p:txBody>
          <a:bodyPr wrap="square" lIns="0" tIns="0" rIns="0" bIns="0" rtlCol="0" anchor="ctr"/>
          <a:lstStyle/>
          <a:p>
            <a:pPr indent="0" marL="0">
              <a:buNone/>
            </a:pPr>
            <a:r>
              <a:rPr lang="en-US" sz="1150" dirty="0">
                <a:solidFill>
                  <a:srgbClr val="6B7280"/>
                </a:solidFill>
                <a:latin typeface="Segoe UI" pitchFamily="34" charset="0"/>
                <a:ea typeface="Segoe UI" pitchFamily="34" charset="-122"/>
                <a:cs typeface="Segoe UI" pitchFamily="34" charset="-120"/>
              </a:rPr>
              <a:t>Ngành nghề kinh doanh, lưu trú</a:t>
            </a:r>
            <a:endParaRPr lang="en-US" sz="1150" dirty="0"/>
          </a:p>
        </p:txBody>
      </p:sp>
      <p:sp>
        <p:nvSpPr>
          <p:cNvPr id="25" name="Shape 19"/>
          <p:cNvSpPr/>
          <p:nvPr/>
        </p:nvSpPr>
        <p:spPr>
          <a:xfrm>
            <a:off x="640080" y="3511296"/>
            <a:ext cx="5212080" cy="676656"/>
          </a:xfrm>
          <a:prstGeom prst="roundRect">
            <a:avLst>
              <a:gd name="adj" fmla="val 12162"/>
            </a:avLst>
          </a:prstGeom>
          <a:solidFill>
            <a:srgbClr val="FFF0F2"/>
          </a:solidFill>
          <a:ln w="12700">
            <a:solidFill>
              <a:srgbClr val="F3D2D7"/>
            </a:solidFill>
            <a:prstDash val="solid"/>
          </a:ln>
          <a:effectLst>
            <a:outerShdw sx="100000" sy="100000" kx="0" ky="0" algn="bl" rotWithShape="0" blurRad="88900" dist="25400" dir="8100000">
              <a:srgbClr val="94A3B8">
                <a:alpha val="28000"/>
              </a:srgbClr>
            </a:outerShdw>
          </a:effectLst>
        </p:spPr>
      </p:sp>
      <p:sp>
        <p:nvSpPr>
          <p:cNvPr id="26" name="Shape 20"/>
          <p:cNvSpPr/>
          <p:nvPr/>
        </p:nvSpPr>
        <p:spPr>
          <a:xfrm>
            <a:off x="804672" y="3621024"/>
            <a:ext cx="457200" cy="457200"/>
          </a:xfrm>
          <a:prstGeom prst="ellipse">
            <a:avLst/>
          </a:prstGeom>
          <a:solidFill>
            <a:srgbClr val="C41E3A"/>
          </a:solidFill>
          <a:ln/>
          <a:effectLst>
            <a:outerShdw sx="100000" sy="100000" kx="0" ky="0" algn="bl" rotWithShape="0" blurRad="114300" dist="38100" dir="8100000">
              <a:srgbClr val="5A0000">
                <a:alpha val="22000"/>
              </a:srgbClr>
            </a:outerShdw>
          </a:effectLst>
        </p:spPr>
      </p:sp>
      <p:pic>
        <p:nvPicPr>
          <p:cNvPr id="27" name="Image 4" descr="preencoded.png">    </p:cNvPr>
          <p:cNvPicPr>
            <a:picLocks noChangeAspect="1"/>
          </p:cNvPicPr>
          <p:nvPr/>
        </p:nvPicPr>
        <p:blipFill>
          <a:blip r:embed="rId5"/>
          <a:stretch>
            <a:fillRect/>
          </a:stretch>
        </p:blipFill>
        <p:spPr>
          <a:xfrm>
            <a:off x="928116" y="3744468"/>
            <a:ext cx="210312" cy="210312"/>
          </a:xfrm>
          <a:prstGeom prst="rect">
            <a:avLst/>
          </a:prstGeom>
        </p:spPr>
      </p:pic>
      <p:sp>
        <p:nvSpPr>
          <p:cNvPr id="28" name="Text 21"/>
          <p:cNvSpPr/>
          <p:nvPr/>
        </p:nvSpPr>
        <p:spPr>
          <a:xfrm>
            <a:off x="1508760" y="3584448"/>
            <a:ext cx="4160520" cy="310896"/>
          </a:xfrm>
          <a:prstGeom prst="rect">
            <a:avLst/>
          </a:prstGeom>
          <a:noFill/>
          <a:ln/>
        </p:spPr>
        <p:txBody>
          <a:bodyPr wrap="square" lIns="0" tIns="0" rIns="0" bIns="0" rtlCol="0" anchor="ctr"/>
          <a:lstStyle/>
          <a:p>
            <a:pPr indent="0" marL="0">
              <a:buNone/>
            </a:pPr>
            <a:r>
              <a:rPr lang="en-US" sz="1550" b="1" dirty="0">
                <a:solidFill>
                  <a:srgbClr val="1F2937"/>
                </a:solidFill>
                <a:latin typeface="Segoe UI" pitchFamily="34" charset="0"/>
                <a:ea typeface="Segoe UI" pitchFamily="34" charset="-122"/>
                <a:cs typeface="Segoe UI" pitchFamily="34" charset="-120"/>
              </a:rPr>
              <a:t>Khiếu nại &amp; Tố cáo</a:t>
            </a:r>
            <a:endParaRPr lang="en-US" sz="1550" dirty="0"/>
          </a:p>
        </p:txBody>
      </p:sp>
      <p:sp>
        <p:nvSpPr>
          <p:cNvPr id="29" name="Text 22"/>
          <p:cNvSpPr/>
          <p:nvPr/>
        </p:nvSpPr>
        <p:spPr>
          <a:xfrm>
            <a:off x="1508760" y="3877056"/>
            <a:ext cx="4160520" cy="256032"/>
          </a:xfrm>
          <a:prstGeom prst="rect">
            <a:avLst/>
          </a:prstGeom>
          <a:noFill/>
          <a:ln/>
        </p:spPr>
        <p:txBody>
          <a:bodyPr wrap="square" lIns="0" tIns="0" rIns="0" bIns="0" rtlCol="0" anchor="ctr"/>
          <a:lstStyle/>
          <a:p>
            <a:pPr indent="0" marL="0">
              <a:buNone/>
            </a:pPr>
            <a:r>
              <a:rPr lang="en-US" sz="1150" dirty="0">
                <a:solidFill>
                  <a:srgbClr val="6B7280"/>
                </a:solidFill>
                <a:latin typeface="Segoe UI" pitchFamily="34" charset="0"/>
                <a:ea typeface="Segoe UI" pitchFamily="34" charset="-122"/>
                <a:cs typeface="Segoe UI" pitchFamily="34" charset="-120"/>
              </a:rPr>
              <a:t>Gửi đơn thư, phản ánh</a:t>
            </a:r>
            <a:endParaRPr lang="en-US" sz="1150" dirty="0"/>
          </a:p>
        </p:txBody>
      </p:sp>
      <p:sp>
        <p:nvSpPr>
          <p:cNvPr id="30" name="Shape 23"/>
          <p:cNvSpPr/>
          <p:nvPr/>
        </p:nvSpPr>
        <p:spPr>
          <a:xfrm>
            <a:off x="6309360" y="3511296"/>
            <a:ext cx="5212080" cy="676656"/>
          </a:xfrm>
          <a:prstGeom prst="roundRect">
            <a:avLst>
              <a:gd name="adj" fmla="val 12162"/>
            </a:avLst>
          </a:prstGeom>
          <a:solidFill>
            <a:srgbClr val="FFF0F2"/>
          </a:solidFill>
          <a:ln w="12700">
            <a:solidFill>
              <a:srgbClr val="F3D2D7"/>
            </a:solidFill>
            <a:prstDash val="solid"/>
          </a:ln>
          <a:effectLst>
            <a:outerShdw sx="100000" sy="100000" kx="0" ky="0" algn="bl" rotWithShape="0" blurRad="88900" dist="25400" dir="8100000">
              <a:srgbClr val="94A3B8">
                <a:alpha val="28000"/>
              </a:srgbClr>
            </a:outerShdw>
          </a:effectLst>
        </p:spPr>
      </p:sp>
      <p:sp>
        <p:nvSpPr>
          <p:cNvPr id="31" name="Shape 24"/>
          <p:cNvSpPr/>
          <p:nvPr/>
        </p:nvSpPr>
        <p:spPr>
          <a:xfrm>
            <a:off x="6473952" y="3621024"/>
            <a:ext cx="457200" cy="457200"/>
          </a:xfrm>
          <a:prstGeom prst="ellipse">
            <a:avLst/>
          </a:prstGeom>
          <a:solidFill>
            <a:srgbClr val="1F7A1F"/>
          </a:solidFill>
          <a:ln/>
          <a:effectLst>
            <a:outerShdw sx="100000" sy="100000" kx="0" ky="0" algn="bl" rotWithShape="0" blurRad="114300" dist="38100" dir="8100000">
              <a:srgbClr val="5A0000">
                <a:alpha val="22000"/>
              </a:srgbClr>
            </a:outerShdw>
          </a:effectLst>
        </p:spPr>
      </p:sp>
      <p:pic>
        <p:nvPicPr>
          <p:cNvPr id="32" name="Image 5" descr="preencoded.png">    </p:cNvPr>
          <p:cNvPicPr>
            <a:picLocks noChangeAspect="1"/>
          </p:cNvPicPr>
          <p:nvPr/>
        </p:nvPicPr>
        <p:blipFill>
          <a:blip r:embed="rId6"/>
          <a:stretch>
            <a:fillRect/>
          </a:stretch>
        </p:blipFill>
        <p:spPr>
          <a:xfrm>
            <a:off x="6597396" y="3744468"/>
            <a:ext cx="210312" cy="210312"/>
          </a:xfrm>
          <a:prstGeom prst="rect">
            <a:avLst/>
          </a:prstGeom>
        </p:spPr>
      </p:pic>
      <p:sp>
        <p:nvSpPr>
          <p:cNvPr id="33" name="Text 25"/>
          <p:cNvSpPr/>
          <p:nvPr/>
        </p:nvSpPr>
        <p:spPr>
          <a:xfrm>
            <a:off x="7178040" y="3584448"/>
            <a:ext cx="4160520" cy="310896"/>
          </a:xfrm>
          <a:prstGeom prst="rect">
            <a:avLst/>
          </a:prstGeom>
          <a:noFill/>
          <a:ln/>
        </p:spPr>
        <p:txBody>
          <a:bodyPr wrap="square" lIns="0" tIns="0" rIns="0" bIns="0" rtlCol="0" anchor="ctr"/>
          <a:lstStyle/>
          <a:p>
            <a:pPr indent="0" marL="0">
              <a:buNone/>
            </a:pPr>
            <a:r>
              <a:rPr lang="en-US" sz="1550" b="1" dirty="0">
                <a:solidFill>
                  <a:srgbClr val="1F2937"/>
                </a:solidFill>
                <a:latin typeface="Segoe UI" pitchFamily="34" charset="0"/>
                <a:ea typeface="Segoe UI" pitchFamily="34" charset="-122"/>
                <a:cs typeface="Segoe UI" pitchFamily="34" charset="-120"/>
              </a:rPr>
              <a:t>Người nước ngoài</a:t>
            </a:r>
            <a:endParaRPr lang="en-US" sz="1550" dirty="0"/>
          </a:p>
        </p:txBody>
      </p:sp>
      <p:sp>
        <p:nvSpPr>
          <p:cNvPr id="34" name="Text 26"/>
          <p:cNvSpPr/>
          <p:nvPr/>
        </p:nvSpPr>
        <p:spPr>
          <a:xfrm>
            <a:off x="7178040" y="3877056"/>
            <a:ext cx="4160520" cy="256032"/>
          </a:xfrm>
          <a:prstGeom prst="rect">
            <a:avLst/>
          </a:prstGeom>
          <a:noFill/>
          <a:ln/>
        </p:spPr>
        <p:txBody>
          <a:bodyPr wrap="square" lIns="0" tIns="0" rIns="0" bIns="0" rtlCol="0" anchor="ctr"/>
          <a:lstStyle/>
          <a:p>
            <a:pPr indent="0" marL="0">
              <a:buNone/>
            </a:pPr>
            <a:r>
              <a:rPr lang="en-US" sz="1150" dirty="0">
                <a:solidFill>
                  <a:srgbClr val="6B7280"/>
                </a:solidFill>
                <a:latin typeface="Segoe UI" pitchFamily="34" charset="0"/>
                <a:ea typeface="Segoe UI" pitchFamily="34" charset="-122"/>
                <a:cs typeface="Segoe UI" pitchFamily="34" charset="-120"/>
              </a:rPr>
              <a:t>Khai báo tạm trú, Visa, XNC</a:t>
            </a:r>
            <a:endParaRPr lang="en-US" sz="1150" dirty="0"/>
          </a:p>
        </p:txBody>
      </p:sp>
      <p:sp>
        <p:nvSpPr>
          <p:cNvPr id="35" name="Shape 27"/>
          <p:cNvSpPr/>
          <p:nvPr/>
        </p:nvSpPr>
        <p:spPr>
          <a:xfrm>
            <a:off x="640080" y="4352544"/>
            <a:ext cx="5212080" cy="676656"/>
          </a:xfrm>
          <a:prstGeom prst="roundRect">
            <a:avLst>
              <a:gd name="adj" fmla="val 12162"/>
            </a:avLst>
          </a:prstGeom>
          <a:solidFill>
            <a:srgbClr val="FFF0F2"/>
          </a:solidFill>
          <a:ln w="12700">
            <a:solidFill>
              <a:srgbClr val="F3D2D7"/>
            </a:solidFill>
            <a:prstDash val="solid"/>
          </a:ln>
          <a:effectLst>
            <a:outerShdw sx="100000" sy="100000" kx="0" ky="0" algn="bl" rotWithShape="0" blurRad="88900" dist="25400" dir="8100000">
              <a:srgbClr val="94A3B8">
                <a:alpha val="28000"/>
              </a:srgbClr>
            </a:outerShdw>
          </a:effectLst>
        </p:spPr>
      </p:sp>
      <p:sp>
        <p:nvSpPr>
          <p:cNvPr id="36" name="Shape 28"/>
          <p:cNvSpPr/>
          <p:nvPr/>
        </p:nvSpPr>
        <p:spPr>
          <a:xfrm>
            <a:off x="804672" y="4462272"/>
            <a:ext cx="457200" cy="457200"/>
          </a:xfrm>
          <a:prstGeom prst="ellipse">
            <a:avLst/>
          </a:prstGeom>
          <a:solidFill>
            <a:srgbClr val="C41E3A"/>
          </a:solidFill>
          <a:ln/>
          <a:effectLst>
            <a:outerShdw sx="100000" sy="100000" kx="0" ky="0" algn="bl" rotWithShape="0" blurRad="114300" dist="38100" dir="8100000">
              <a:srgbClr val="5A0000">
                <a:alpha val="22000"/>
              </a:srgbClr>
            </a:outerShdw>
          </a:effectLst>
        </p:spPr>
      </p:sp>
      <p:pic>
        <p:nvPicPr>
          <p:cNvPr id="37" name="Image 6" descr="preencoded.png">    </p:cNvPr>
          <p:cNvPicPr>
            <a:picLocks noChangeAspect="1"/>
          </p:cNvPicPr>
          <p:nvPr/>
        </p:nvPicPr>
        <p:blipFill>
          <a:blip r:embed="rId7"/>
          <a:stretch>
            <a:fillRect/>
          </a:stretch>
        </p:blipFill>
        <p:spPr>
          <a:xfrm>
            <a:off x="928116" y="4585716"/>
            <a:ext cx="210312" cy="210312"/>
          </a:xfrm>
          <a:prstGeom prst="rect">
            <a:avLst/>
          </a:prstGeom>
        </p:spPr>
      </p:pic>
      <p:sp>
        <p:nvSpPr>
          <p:cNvPr id="38" name="Text 29"/>
          <p:cNvSpPr/>
          <p:nvPr/>
        </p:nvSpPr>
        <p:spPr>
          <a:xfrm>
            <a:off x="1508760" y="4425696"/>
            <a:ext cx="4160520" cy="310896"/>
          </a:xfrm>
          <a:prstGeom prst="rect">
            <a:avLst/>
          </a:prstGeom>
          <a:noFill/>
          <a:ln/>
        </p:spPr>
        <p:txBody>
          <a:bodyPr wrap="square" lIns="0" tIns="0" rIns="0" bIns="0" rtlCol="0" anchor="ctr"/>
          <a:lstStyle/>
          <a:p>
            <a:pPr indent="0" marL="0">
              <a:buNone/>
            </a:pPr>
            <a:r>
              <a:rPr lang="en-US" sz="1550" b="1" dirty="0">
                <a:solidFill>
                  <a:srgbClr val="1F2937"/>
                </a:solidFill>
                <a:latin typeface="Segoe UI" pitchFamily="34" charset="0"/>
                <a:ea typeface="Segoe UI" pitchFamily="34" charset="-122"/>
                <a:cs typeface="Segoe UI" pitchFamily="34" charset="-120"/>
              </a:rPr>
              <a:t>Thủ tục liên thông</a:t>
            </a:r>
            <a:endParaRPr lang="en-US" sz="1550" dirty="0"/>
          </a:p>
        </p:txBody>
      </p:sp>
      <p:sp>
        <p:nvSpPr>
          <p:cNvPr id="39" name="Text 30"/>
          <p:cNvSpPr/>
          <p:nvPr/>
        </p:nvSpPr>
        <p:spPr>
          <a:xfrm>
            <a:off x="1508760" y="4718304"/>
            <a:ext cx="4160520" cy="256032"/>
          </a:xfrm>
          <a:prstGeom prst="rect">
            <a:avLst/>
          </a:prstGeom>
          <a:noFill/>
          <a:ln/>
        </p:spPr>
        <p:txBody>
          <a:bodyPr wrap="square" lIns="0" tIns="0" rIns="0" bIns="0" rtlCol="0" anchor="ctr"/>
          <a:lstStyle/>
          <a:p>
            <a:pPr indent="0" marL="0">
              <a:buNone/>
            </a:pPr>
            <a:r>
              <a:rPr lang="en-US" sz="1150" dirty="0">
                <a:solidFill>
                  <a:srgbClr val="6B7280"/>
                </a:solidFill>
                <a:latin typeface="Segoe UI" pitchFamily="34" charset="0"/>
                <a:ea typeface="Segoe UI" pitchFamily="34" charset="-122"/>
                <a:cs typeface="Segoe UI" pitchFamily="34" charset="-120"/>
              </a:rPr>
              <a:t>Khai sinh, khai tử, cư trú, BHYT</a:t>
            </a:r>
            <a:endParaRPr lang="en-US" sz="1150" dirty="0"/>
          </a:p>
        </p:txBody>
      </p:sp>
    </p:spTree>
  </p:cSld>
  <p:clrMapOvr>
    <a:masterClrMapping/>
  </p:clrMapOvr>
  <p:transition xmlns:p14="http://schemas.microsoft.com/office/powerpoint/2010/main" spd="med" p14:dur="450">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8B0000"/>
        </a:solidFill>
      </p:bgPr>
    </p:bg>
    <p:spTree>
      <p:nvGrpSpPr>
        <p:cNvPr id="1" name=""/>
        <p:cNvGrpSpPr/>
        <p:nvPr/>
      </p:nvGrpSpPr>
      <p:grpSpPr>
        <a:xfrm>
          <a:off x="0" y="0"/>
          <a:ext cx="0" cy="0"/>
          <a:chOff x="0" y="0"/>
          <a:chExt cx="0" cy="0"/>
        </a:xfrm>
      </p:grpSpPr>
      <p:sp>
        <p:nvSpPr>
          <p:cNvPr id="2" name="Text 0"/>
          <p:cNvSpPr/>
          <p:nvPr/>
        </p:nvSpPr>
        <p:spPr>
          <a:xfrm>
            <a:off x="640080" y="548640"/>
            <a:ext cx="9144000" cy="365760"/>
          </a:xfrm>
          <a:prstGeom prst="rect">
            <a:avLst/>
          </a:prstGeom>
          <a:noFill/>
          <a:ln/>
        </p:spPr>
        <p:txBody>
          <a:bodyPr wrap="square" lIns="0" tIns="0" rIns="0" bIns="0" rtlCol="0" anchor="ctr"/>
          <a:lstStyle/>
          <a:p>
            <a:pPr indent="0" marL="0">
              <a:buNone/>
            </a:pPr>
            <a:r>
              <a:rPr lang="en-US" sz="1400" b="1" spc="200" kern="0" dirty="0">
                <a:solidFill>
                  <a:srgbClr val="FFD700"/>
                </a:solidFill>
                <a:latin typeface="Segoe UI" pitchFamily="34" charset="0"/>
                <a:ea typeface="Segoe UI" pitchFamily="34" charset="-122"/>
                <a:cs typeface="Segoe UI" pitchFamily="34" charset="-120"/>
              </a:rPr>
              <a:t>KẾT QUẢ THẬT</a:t>
            </a:r>
            <a:endParaRPr lang="en-US" sz="1400" dirty="0"/>
          </a:p>
        </p:txBody>
      </p:sp>
      <p:sp>
        <p:nvSpPr>
          <p:cNvPr id="3" name="Text 1"/>
          <p:cNvSpPr/>
          <p:nvPr/>
        </p:nvSpPr>
        <p:spPr>
          <a:xfrm>
            <a:off x="640080" y="896112"/>
            <a:ext cx="10515600" cy="731520"/>
          </a:xfrm>
          <a:prstGeom prst="rect">
            <a:avLst/>
          </a:prstGeom>
          <a:noFill/>
          <a:ln/>
        </p:spPr>
        <p:txBody>
          <a:bodyPr wrap="square" lIns="0" tIns="0" rIns="0" bIns="0"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Sáng kiến đã cho kết quả thật</a:t>
            </a:r>
            <a:endParaRPr lang="en-US" sz="3000" dirty="0"/>
          </a:p>
        </p:txBody>
      </p:sp>
      <p:sp>
        <p:nvSpPr>
          <p:cNvPr id="4" name="Shape 2"/>
          <p:cNvSpPr/>
          <p:nvPr/>
        </p:nvSpPr>
        <p:spPr>
          <a:xfrm>
            <a:off x="640080" y="1920240"/>
            <a:ext cx="5486400" cy="3200400"/>
          </a:xfrm>
          <a:prstGeom prst="roundRect">
            <a:avLst>
              <a:gd name="adj" fmla="val 3429"/>
            </a:avLst>
          </a:prstGeom>
          <a:solidFill>
            <a:srgbClr val="6E1014"/>
          </a:solidFill>
          <a:ln w="15240">
            <a:solidFill>
              <a:srgbClr val="FFD700"/>
            </a:solidFill>
            <a:prstDash val="solid"/>
          </a:ln>
          <a:effectLst>
            <a:outerShdw sx="100000" sy="100000" kx="0" ky="0" algn="bl" rotWithShape="0" blurRad="114300" dist="38100" dir="8100000">
              <a:srgbClr val="5A0000">
                <a:alpha val="22000"/>
              </a:srgbClr>
            </a:outerShdw>
          </a:effectLst>
        </p:spPr>
      </p:sp>
      <p:pic>
        <p:nvPicPr>
          <p:cNvPr id="5" name="Image 0" descr="preencoded.png">    </p:cNvPr>
          <p:cNvPicPr>
            <a:picLocks noChangeAspect="1"/>
          </p:cNvPicPr>
          <p:nvPr/>
        </p:nvPicPr>
        <p:blipFill>
          <a:blip r:embed="rId1">
            <a:alphaModFix amt="14000"/>
          </a:blip>
          <a:stretch>
            <a:fillRect/>
          </a:stretch>
        </p:blipFill>
        <p:spPr>
          <a:xfrm>
            <a:off x="1051560" y="2029968"/>
            <a:ext cx="960120" cy="960120"/>
          </a:xfrm>
          <a:prstGeom prst="rect">
            <a:avLst/>
          </a:prstGeom>
        </p:spPr>
      </p:pic>
      <p:sp>
        <p:nvSpPr>
          <p:cNvPr id="6" name="Text 3"/>
          <p:cNvSpPr/>
          <p:nvPr/>
        </p:nvSpPr>
        <p:spPr>
          <a:xfrm>
            <a:off x="914400" y="2084832"/>
            <a:ext cx="4937760" cy="868680"/>
          </a:xfrm>
          <a:prstGeom prst="rect">
            <a:avLst/>
          </a:prstGeom>
          <a:noFill/>
          <a:ln/>
        </p:spPr>
        <p:txBody>
          <a:bodyPr wrap="square" lIns="0" tIns="0" rIns="0" bIns="0" rtlCol="0" anchor="ctr"/>
          <a:lstStyle/>
          <a:p>
            <a:pPr indent="0" marL="0">
              <a:buNone/>
            </a:pPr>
            <a:r>
              <a:rPr lang="en-US" sz="6000" b="1" dirty="0">
                <a:solidFill>
                  <a:srgbClr val="FFD700"/>
                </a:solidFill>
                <a:latin typeface="Segoe UI" pitchFamily="34" charset="0"/>
                <a:ea typeface="Segoe UI" pitchFamily="34" charset="-122"/>
                <a:cs typeface="Segoe UI" pitchFamily="34" charset="-120"/>
              </a:rPr>
              <a:t>07</a:t>
            </a:r>
            <a:endParaRPr lang="en-US" sz="6000" dirty="0"/>
          </a:p>
        </p:txBody>
      </p:sp>
      <p:sp>
        <p:nvSpPr>
          <p:cNvPr id="7" name="Text 4"/>
          <p:cNvSpPr/>
          <p:nvPr/>
        </p:nvSpPr>
        <p:spPr>
          <a:xfrm>
            <a:off x="914400" y="3200400"/>
            <a:ext cx="4937760" cy="1737360"/>
          </a:xfrm>
          <a:prstGeom prst="rect">
            <a:avLst/>
          </a:prstGeom>
          <a:noFill/>
          <a:ln/>
        </p:spPr>
        <p:txBody>
          <a:bodyPr wrap="square" lIns="0" tIns="0" rIns="0" bIns="0" rtlCol="0" anchor="ctr"/>
          <a:lstStyle/>
          <a:p>
            <a:pPr indent="0" marL="0">
              <a:buNone/>
            </a:pPr>
            <a:r>
              <a:rPr lang="en-US" sz="1500" dirty="0">
                <a:solidFill>
                  <a:srgbClr val="FFFFFF"/>
                </a:solidFill>
                <a:latin typeface="Segoe UI" pitchFamily="34" charset="0"/>
                <a:ea typeface="Segoe UI" pitchFamily="34" charset="-122"/>
                <a:cs typeface="Segoe UI" pitchFamily="34" charset="-120"/>
              </a:rPr>
              <a:t>nhóm dịch vụ — phủ những việc người dân hay cần nhất.</a:t>
            </a:r>
            <a:endParaRPr lang="en-US" sz="1500" dirty="0"/>
          </a:p>
        </p:txBody>
      </p:sp>
      <p:sp>
        <p:nvSpPr>
          <p:cNvPr id="8" name="Shape 5"/>
          <p:cNvSpPr/>
          <p:nvPr/>
        </p:nvSpPr>
        <p:spPr>
          <a:xfrm>
            <a:off x="6400800" y="1920240"/>
            <a:ext cx="5120640" cy="3200400"/>
          </a:xfrm>
          <a:prstGeom prst="roundRect">
            <a:avLst>
              <a:gd name="adj" fmla="val 3429"/>
            </a:avLst>
          </a:prstGeom>
          <a:solidFill>
            <a:srgbClr val="6E1014"/>
          </a:solidFill>
          <a:ln w="15240">
            <a:solidFill>
              <a:srgbClr val="FFD700"/>
            </a:solidFill>
            <a:prstDash val="solid"/>
          </a:ln>
          <a:effectLst>
            <a:outerShdw sx="100000" sy="100000" kx="0" ky="0" algn="bl" rotWithShape="0" blurRad="114300" dist="38100" dir="8100000">
              <a:srgbClr val="5A0000">
                <a:alpha val="22000"/>
              </a:srgbClr>
            </a:outerShdw>
          </a:effectLst>
        </p:spPr>
      </p:sp>
      <p:pic>
        <p:nvPicPr>
          <p:cNvPr id="9" name="Image 1" descr="preencoded.png">    </p:cNvPr>
          <p:cNvPicPr>
            <a:picLocks noChangeAspect="1"/>
          </p:cNvPicPr>
          <p:nvPr/>
        </p:nvPicPr>
        <p:blipFill>
          <a:blip r:embed="rId2">
            <a:alphaModFix amt="14000"/>
          </a:blip>
          <a:stretch>
            <a:fillRect/>
          </a:stretch>
        </p:blipFill>
        <p:spPr>
          <a:xfrm>
            <a:off x="6812280" y="2029968"/>
            <a:ext cx="960120" cy="960120"/>
          </a:xfrm>
          <a:prstGeom prst="rect">
            <a:avLst/>
          </a:prstGeom>
        </p:spPr>
      </p:pic>
      <p:sp>
        <p:nvSpPr>
          <p:cNvPr id="10" name="Text 6"/>
          <p:cNvSpPr/>
          <p:nvPr/>
        </p:nvSpPr>
        <p:spPr>
          <a:xfrm>
            <a:off x="6675120" y="2084832"/>
            <a:ext cx="4572000" cy="868680"/>
          </a:xfrm>
          <a:prstGeom prst="rect">
            <a:avLst/>
          </a:prstGeom>
          <a:noFill/>
          <a:ln/>
        </p:spPr>
        <p:txBody>
          <a:bodyPr wrap="square" lIns="0" tIns="0" rIns="0" bIns="0" rtlCol="0" anchor="ctr"/>
          <a:lstStyle/>
          <a:p>
            <a:pPr indent="0" marL="0">
              <a:buNone/>
            </a:pPr>
            <a:r>
              <a:rPr lang="en-US" sz="6000" b="1" dirty="0">
                <a:solidFill>
                  <a:srgbClr val="FFD700"/>
                </a:solidFill>
                <a:latin typeface="Segoe UI" pitchFamily="34" charset="0"/>
                <a:ea typeface="Segoe UI" pitchFamily="34" charset="-122"/>
                <a:cs typeface="Segoe UI" pitchFamily="34" charset="-120"/>
              </a:rPr>
              <a:t>90+</a:t>
            </a:r>
            <a:endParaRPr lang="en-US" sz="6000" dirty="0"/>
          </a:p>
        </p:txBody>
      </p:sp>
      <p:sp>
        <p:nvSpPr>
          <p:cNvPr id="11" name="Text 7"/>
          <p:cNvSpPr/>
          <p:nvPr/>
        </p:nvSpPr>
        <p:spPr>
          <a:xfrm>
            <a:off x="6675120" y="3200400"/>
            <a:ext cx="4572000" cy="1737360"/>
          </a:xfrm>
          <a:prstGeom prst="rect">
            <a:avLst/>
          </a:prstGeom>
          <a:noFill/>
          <a:ln/>
        </p:spPr>
        <p:txBody>
          <a:bodyPr wrap="square" lIns="0" tIns="0" rIns="0" bIns="0" rtlCol="0" anchor="ctr"/>
          <a:lstStyle/>
          <a:p>
            <a:pPr indent="0" marL="0">
              <a:buNone/>
            </a:pPr>
            <a:r>
              <a:rPr lang="en-US" sz="1500" dirty="0">
                <a:solidFill>
                  <a:srgbClr val="FFFFFF"/>
                </a:solidFill>
                <a:latin typeface="Segoe UI" pitchFamily="34" charset="0"/>
                <a:ea typeface="Segoe UI" pitchFamily="34" charset="-122"/>
                <a:cs typeface="Segoe UI" pitchFamily="34" charset="-120"/>
              </a:rPr>
              <a:t>câu hỏi – đáp đã biên soạn cho trợ lý ảo trả lời tức thì.</a:t>
            </a:r>
            <a:endParaRPr lang="en-US" sz="1500" dirty="0"/>
          </a:p>
        </p:txBody>
      </p:sp>
      <p:sp>
        <p:nvSpPr>
          <p:cNvPr id="12" name="Shape 8"/>
          <p:cNvSpPr/>
          <p:nvPr/>
        </p:nvSpPr>
        <p:spPr>
          <a:xfrm>
            <a:off x="640080" y="5394960"/>
            <a:ext cx="10881360" cy="868680"/>
          </a:xfrm>
          <a:prstGeom prst="roundRect">
            <a:avLst>
              <a:gd name="adj" fmla="val 10526"/>
            </a:avLst>
          </a:prstGeom>
          <a:solidFill>
            <a:srgbClr val="C41E3A"/>
          </a:solidFill>
          <a:ln w="12700">
            <a:solidFill>
              <a:srgbClr val="FFD700"/>
            </a:solidFill>
            <a:prstDash val="solid"/>
          </a:ln>
        </p:spPr>
      </p:sp>
      <p:sp>
        <p:nvSpPr>
          <p:cNvPr id="13" name="Text 9"/>
          <p:cNvSpPr/>
          <p:nvPr/>
        </p:nvSpPr>
        <p:spPr>
          <a:xfrm>
            <a:off x="822960" y="5394960"/>
            <a:ext cx="1051560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Hỗ trợ 3 ngôn ngữ (Việt · Anh · Trung) · Hoạt động 24/7 · Quét mã QR là vào · Có chế độ chữ to cho người cao tuổi.</a:t>
            </a:r>
            <a:endParaRPr lang="en-US" sz="1500" dirty="0"/>
          </a:p>
        </p:txBody>
      </p:sp>
    </p:spTree>
  </p:cSld>
  <p:clrMapOvr>
    <a:masterClrMapping/>
  </p:clrMapOvr>
  <mc:AlternateContent xmlns:mc="http://schemas.openxmlformats.org/markup-compatibility/2006">
    <mc:Choice xmlns:p159="http://schemas.microsoft.com/office/powerpoint/2015/9/main" Requires="p159">
      <p:transition xmlns:p14="http://schemas.microsoft.com/office/powerpoint/2010/main" spd="med" p14:dur="800">
        <p159:morph option="byObject"/>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8B0000"/>
        </a:solidFill>
      </p:bgPr>
    </p:bg>
    <p:spTree>
      <p:nvGrpSpPr>
        <p:cNvPr id="1" name=""/>
        <p:cNvGrpSpPr/>
        <p:nvPr/>
      </p:nvGrpSpPr>
      <p:grpSpPr>
        <a:xfrm>
          <a:off x="0" y="0"/>
          <a:ext cx="0" cy="0"/>
          <a:chOff x="0" y="0"/>
          <a:chExt cx="0" cy="0"/>
        </a:xfrm>
      </p:grpSpPr>
      <p:sp>
        <p:nvSpPr>
          <p:cNvPr id="2" name="Text 0"/>
          <p:cNvSpPr/>
          <p:nvPr/>
        </p:nvSpPr>
        <p:spPr>
          <a:xfrm>
            <a:off x="640080" y="457200"/>
            <a:ext cx="10881360" cy="320040"/>
          </a:xfrm>
          <a:prstGeom prst="rect">
            <a:avLst/>
          </a:prstGeom>
          <a:noFill/>
          <a:ln/>
        </p:spPr>
        <p:txBody>
          <a:bodyPr wrap="square" lIns="0" tIns="0" rIns="0" bIns="0" rtlCol="0" anchor="ctr"/>
          <a:lstStyle/>
          <a:p>
            <a:pPr indent="0" marL="0">
              <a:buNone/>
            </a:pPr>
            <a:r>
              <a:rPr lang="en-US" sz="1300" b="1" spc="200" kern="0" dirty="0">
                <a:solidFill>
                  <a:srgbClr val="FFD700"/>
                </a:solidFill>
                <a:latin typeface="Segoe UI" pitchFamily="34" charset="0"/>
                <a:ea typeface="Segoe UI" pitchFamily="34" charset="-122"/>
                <a:cs typeface="Segoe UI" pitchFamily="34" charset="-120"/>
              </a:rPr>
              <a:t>HIỆU QUẢ MANG LẠI</a:t>
            </a:r>
            <a:endParaRPr lang="en-US" sz="1300" dirty="0"/>
          </a:p>
        </p:txBody>
      </p:sp>
      <p:sp>
        <p:nvSpPr>
          <p:cNvPr id="3" name="Text 1"/>
          <p:cNvSpPr/>
          <p:nvPr/>
        </p:nvSpPr>
        <p:spPr>
          <a:xfrm>
            <a:off x="640080" y="768096"/>
            <a:ext cx="10881360" cy="777240"/>
          </a:xfrm>
          <a:prstGeom prst="rect">
            <a:avLst/>
          </a:prstGeom>
          <a:noFill/>
          <a:ln/>
        </p:spPr>
        <p:txBody>
          <a:bodyPr wrap="square" lIns="0" tIns="0" rIns="0" bIns="0" rtlCol="0" anchor="t"/>
          <a:lstStyle/>
          <a:p>
            <a:pPr indent="0" marL="0">
              <a:buNone/>
            </a:pPr>
            <a:r>
              <a:rPr lang="en-US" sz="2900" b="1" dirty="0">
                <a:solidFill>
                  <a:srgbClr val="FFFFFF"/>
                </a:solidFill>
                <a:latin typeface="Segoe UI" pitchFamily="34" charset="0"/>
                <a:ea typeface="Segoe UI" pitchFamily="34" charset="-122"/>
                <a:cs typeface="Segoe UI" pitchFamily="34" charset="-120"/>
              </a:rPr>
              <a:t>Chi phí · Thời gian · Xã hội</a:t>
            </a:r>
            <a:endParaRPr lang="en-US" sz="2900" dirty="0"/>
          </a:p>
        </p:txBody>
      </p:sp>
      <p:sp>
        <p:nvSpPr>
          <p:cNvPr id="4" name="Shape 2"/>
          <p:cNvSpPr/>
          <p:nvPr/>
        </p:nvSpPr>
        <p:spPr>
          <a:xfrm>
            <a:off x="640080" y="1481328"/>
            <a:ext cx="1005840" cy="64008"/>
          </a:xfrm>
          <a:prstGeom prst="rect">
            <a:avLst/>
          </a:prstGeom>
          <a:solidFill>
            <a:srgbClr val="FFD700"/>
          </a:solidFill>
          <a:ln/>
        </p:spPr>
      </p:sp>
      <p:sp>
        <p:nvSpPr>
          <p:cNvPr id="5" name="Shape 3"/>
          <p:cNvSpPr/>
          <p:nvPr/>
        </p:nvSpPr>
        <p:spPr>
          <a:xfrm>
            <a:off x="640080" y="2194560"/>
            <a:ext cx="3322320" cy="3017520"/>
          </a:xfrm>
          <a:prstGeom prst="roundRect">
            <a:avLst>
              <a:gd name="adj" fmla="val 3636"/>
            </a:avLst>
          </a:prstGeom>
          <a:solidFill>
            <a:srgbClr val="6E1014"/>
          </a:solidFill>
          <a:ln w="12700">
            <a:solidFill>
              <a:srgbClr val="1F7A1F"/>
            </a:solidFill>
            <a:prstDash val="solid"/>
          </a:ln>
          <a:effectLst>
            <a:outerShdw sx="100000" sy="100000" kx="0" ky="0" algn="bl" rotWithShape="0" blurRad="88900" dist="25400" dir="8100000">
              <a:srgbClr val="94A3B8">
                <a:alpha val="28000"/>
              </a:srgbClr>
            </a:outerShdw>
          </a:effectLst>
        </p:spPr>
      </p:sp>
      <p:sp>
        <p:nvSpPr>
          <p:cNvPr id="6" name="Shape 4"/>
          <p:cNvSpPr/>
          <p:nvPr/>
        </p:nvSpPr>
        <p:spPr>
          <a:xfrm>
            <a:off x="1752600" y="2514600"/>
            <a:ext cx="1097280" cy="1097280"/>
          </a:xfrm>
          <a:prstGeom prst="ellipse">
            <a:avLst/>
          </a:prstGeom>
          <a:solidFill>
            <a:srgbClr val="1F7A1F"/>
          </a:solidFill>
          <a:ln/>
          <a:effectLst>
            <a:outerShdw sx="100000" sy="100000" kx="0" ky="0" algn="bl" rotWithShape="0" blurRad="114300" dist="38100" dir="8100000">
              <a:srgbClr val="5A0000">
                <a:alpha val="22000"/>
              </a:srgbClr>
            </a:outerShdw>
          </a:effectLst>
        </p:spPr>
      </p:sp>
      <p:pic>
        <p:nvPicPr>
          <p:cNvPr id="7" name="Image 0" descr="preencoded.png">    </p:cNvPr>
          <p:cNvPicPr>
            <a:picLocks noChangeAspect="1"/>
          </p:cNvPicPr>
          <p:nvPr/>
        </p:nvPicPr>
        <p:blipFill>
          <a:blip r:embed="rId1"/>
          <a:stretch>
            <a:fillRect/>
          </a:stretch>
        </p:blipFill>
        <p:spPr>
          <a:xfrm>
            <a:off x="2048866" y="2810866"/>
            <a:ext cx="504749" cy="504749"/>
          </a:xfrm>
          <a:prstGeom prst="rect">
            <a:avLst/>
          </a:prstGeom>
        </p:spPr>
      </p:pic>
      <p:sp>
        <p:nvSpPr>
          <p:cNvPr id="8" name="Text 5"/>
          <p:cNvSpPr/>
          <p:nvPr/>
        </p:nvSpPr>
        <p:spPr>
          <a:xfrm>
            <a:off x="822960" y="3749040"/>
            <a:ext cx="295656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0 đồng</a:t>
            </a:r>
            <a:endParaRPr lang="en-US" sz="2200" dirty="0"/>
          </a:p>
        </p:txBody>
      </p:sp>
      <p:sp>
        <p:nvSpPr>
          <p:cNvPr id="9" name="Text 6"/>
          <p:cNvSpPr/>
          <p:nvPr/>
        </p:nvSpPr>
        <p:spPr>
          <a:xfrm>
            <a:off x="914400" y="4343400"/>
            <a:ext cx="2773680" cy="822960"/>
          </a:xfrm>
          <a:prstGeom prst="rect">
            <a:avLst/>
          </a:prstGeom>
          <a:noFill/>
          <a:ln/>
        </p:spPr>
        <p:txBody>
          <a:bodyPr wrap="square" lIns="0" tIns="0" rIns="0" bIns="0" rtlCol="0" anchor="ctr"/>
          <a:lstStyle/>
          <a:p>
            <a:pPr algn="ctr" indent="0" marL="0">
              <a:buNone/>
            </a:pPr>
            <a:r>
              <a:rPr lang="en-US" sz="1450" dirty="0">
                <a:solidFill>
                  <a:srgbClr val="FFE9A8"/>
                </a:solidFill>
                <a:latin typeface="Segoe UI" pitchFamily="34" charset="0"/>
                <a:ea typeface="Segoe UI" pitchFamily="34" charset="-122"/>
                <a:cs typeface="Segoe UI" pitchFamily="34" charset="-120"/>
              </a:rPr>
              <a:t>chi phí — cán bộ tự phát triển, không thuê ngoài, không máy chủ.</a:t>
            </a:r>
            <a:endParaRPr lang="en-US" sz="1450" dirty="0"/>
          </a:p>
        </p:txBody>
      </p:sp>
      <p:sp>
        <p:nvSpPr>
          <p:cNvPr id="10" name="Shape 7"/>
          <p:cNvSpPr/>
          <p:nvPr/>
        </p:nvSpPr>
        <p:spPr>
          <a:xfrm>
            <a:off x="4419600" y="2194560"/>
            <a:ext cx="3322320" cy="3017520"/>
          </a:xfrm>
          <a:prstGeom prst="roundRect">
            <a:avLst>
              <a:gd name="adj" fmla="val 3636"/>
            </a:avLst>
          </a:prstGeom>
          <a:solidFill>
            <a:srgbClr val="6E1014"/>
          </a:solidFill>
          <a:ln w="12700">
            <a:solidFill>
              <a:srgbClr val="C41E3A"/>
            </a:solidFill>
            <a:prstDash val="solid"/>
          </a:ln>
          <a:effectLst>
            <a:outerShdw sx="100000" sy="100000" kx="0" ky="0" algn="bl" rotWithShape="0" blurRad="88900" dist="25400" dir="8100000">
              <a:srgbClr val="94A3B8">
                <a:alpha val="28000"/>
              </a:srgbClr>
            </a:outerShdw>
          </a:effectLst>
        </p:spPr>
      </p:sp>
      <p:sp>
        <p:nvSpPr>
          <p:cNvPr id="11" name="Shape 8"/>
          <p:cNvSpPr/>
          <p:nvPr/>
        </p:nvSpPr>
        <p:spPr>
          <a:xfrm>
            <a:off x="5532120" y="2514600"/>
            <a:ext cx="1097280" cy="1097280"/>
          </a:xfrm>
          <a:prstGeom prst="ellipse">
            <a:avLst/>
          </a:prstGeom>
          <a:solidFill>
            <a:srgbClr val="C41E3A"/>
          </a:solidFill>
          <a:ln/>
          <a:effectLst>
            <a:outerShdw sx="100000" sy="100000" kx="0" ky="0" algn="bl" rotWithShape="0" blurRad="114300" dist="38100" dir="8100000">
              <a:srgbClr val="5A0000">
                <a:alpha val="22000"/>
              </a:srgbClr>
            </a:outerShdw>
          </a:effectLst>
        </p:spPr>
      </p:sp>
      <p:pic>
        <p:nvPicPr>
          <p:cNvPr id="12" name="Image 1" descr="preencoded.png">    </p:cNvPr>
          <p:cNvPicPr>
            <a:picLocks noChangeAspect="1"/>
          </p:cNvPicPr>
          <p:nvPr/>
        </p:nvPicPr>
        <p:blipFill>
          <a:blip r:embed="rId2"/>
          <a:stretch>
            <a:fillRect/>
          </a:stretch>
        </p:blipFill>
        <p:spPr>
          <a:xfrm>
            <a:off x="5828386" y="2810866"/>
            <a:ext cx="504749" cy="504749"/>
          </a:xfrm>
          <a:prstGeom prst="rect">
            <a:avLst/>
          </a:prstGeom>
        </p:spPr>
      </p:pic>
      <p:sp>
        <p:nvSpPr>
          <p:cNvPr id="13" name="Text 9"/>
          <p:cNvSpPr/>
          <p:nvPr/>
        </p:nvSpPr>
        <p:spPr>
          <a:xfrm>
            <a:off x="4602480" y="3749040"/>
            <a:ext cx="295656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24/7</a:t>
            </a:r>
            <a:endParaRPr lang="en-US" sz="2200" dirty="0"/>
          </a:p>
        </p:txBody>
      </p:sp>
      <p:sp>
        <p:nvSpPr>
          <p:cNvPr id="14" name="Text 10"/>
          <p:cNvSpPr/>
          <p:nvPr/>
        </p:nvSpPr>
        <p:spPr>
          <a:xfrm>
            <a:off x="4693920" y="4343400"/>
            <a:ext cx="2773680" cy="822960"/>
          </a:xfrm>
          <a:prstGeom prst="rect">
            <a:avLst/>
          </a:prstGeom>
          <a:noFill/>
          <a:ln/>
        </p:spPr>
        <p:txBody>
          <a:bodyPr wrap="square" lIns="0" tIns="0" rIns="0" bIns="0" rtlCol="0" anchor="ctr"/>
          <a:lstStyle/>
          <a:p>
            <a:pPr algn="ctr" indent="0" marL="0">
              <a:buNone/>
            </a:pPr>
            <a:r>
              <a:rPr lang="en-US" sz="1450" dirty="0">
                <a:solidFill>
                  <a:srgbClr val="FFE9A8"/>
                </a:solidFill>
                <a:latin typeface="Segoe UI" pitchFamily="34" charset="0"/>
                <a:ea typeface="Segoe UI" pitchFamily="34" charset="-122"/>
                <a:cs typeface="Segoe UI" pitchFamily="34" charset="-120"/>
              </a:rPr>
              <a:t>tra cứu mọi lúc — giảm đi lại và hỏi trực tiếp.</a:t>
            </a:r>
            <a:endParaRPr lang="en-US" sz="1450" dirty="0"/>
          </a:p>
        </p:txBody>
      </p:sp>
      <p:sp>
        <p:nvSpPr>
          <p:cNvPr id="15" name="Shape 11"/>
          <p:cNvSpPr/>
          <p:nvPr/>
        </p:nvSpPr>
        <p:spPr>
          <a:xfrm>
            <a:off x="8199120" y="2194560"/>
            <a:ext cx="3322320" cy="3017520"/>
          </a:xfrm>
          <a:prstGeom prst="roundRect">
            <a:avLst>
              <a:gd name="adj" fmla="val 3636"/>
            </a:avLst>
          </a:prstGeom>
          <a:solidFill>
            <a:srgbClr val="6E1014"/>
          </a:solidFill>
          <a:ln w="12700">
            <a:solidFill>
              <a:srgbClr val="D97706"/>
            </a:solidFill>
            <a:prstDash val="solid"/>
          </a:ln>
          <a:effectLst>
            <a:outerShdw sx="100000" sy="100000" kx="0" ky="0" algn="bl" rotWithShape="0" blurRad="88900" dist="25400" dir="8100000">
              <a:srgbClr val="94A3B8">
                <a:alpha val="28000"/>
              </a:srgbClr>
            </a:outerShdw>
          </a:effectLst>
        </p:spPr>
      </p:sp>
      <p:sp>
        <p:nvSpPr>
          <p:cNvPr id="16" name="Shape 12"/>
          <p:cNvSpPr/>
          <p:nvPr/>
        </p:nvSpPr>
        <p:spPr>
          <a:xfrm>
            <a:off x="9311640" y="2514600"/>
            <a:ext cx="1097280" cy="1097280"/>
          </a:xfrm>
          <a:prstGeom prst="ellipse">
            <a:avLst/>
          </a:prstGeom>
          <a:solidFill>
            <a:srgbClr val="D97706"/>
          </a:solidFill>
          <a:ln/>
          <a:effectLst>
            <a:outerShdw sx="100000" sy="100000" kx="0" ky="0" algn="bl" rotWithShape="0" blurRad="114300" dist="38100" dir="8100000">
              <a:srgbClr val="5A0000">
                <a:alpha val="22000"/>
              </a:srgbClr>
            </a:outerShdw>
          </a:effectLst>
        </p:spPr>
      </p:sp>
      <p:pic>
        <p:nvPicPr>
          <p:cNvPr id="17" name="Image 2" descr="preencoded.png">    </p:cNvPr>
          <p:cNvPicPr>
            <a:picLocks noChangeAspect="1"/>
          </p:cNvPicPr>
          <p:nvPr/>
        </p:nvPicPr>
        <p:blipFill>
          <a:blip r:embed="rId3"/>
          <a:stretch>
            <a:fillRect/>
          </a:stretch>
        </p:blipFill>
        <p:spPr>
          <a:xfrm>
            <a:off x="9607906" y="2810866"/>
            <a:ext cx="504749" cy="504749"/>
          </a:xfrm>
          <a:prstGeom prst="rect">
            <a:avLst/>
          </a:prstGeom>
        </p:spPr>
      </p:pic>
      <p:sp>
        <p:nvSpPr>
          <p:cNvPr id="18" name="Text 13"/>
          <p:cNvSpPr/>
          <p:nvPr/>
        </p:nvSpPr>
        <p:spPr>
          <a:xfrm>
            <a:off x="8382000" y="3749040"/>
            <a:ext cx="295656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Gần hơn</a:t>
            </a:r>
            <a:endParaRPr lang="en-US" sz="2200" dirty="0"/>
          </a:p>
        </p:txBody>
      </p:sp>
      <p:sp>
        <p:nvSpPr>
          <p:cNvPr id="19" name="Text 14"/>
          <p:cNvSpPr/>
          <p:nvPr/>
        </p:nvSpPr>
        <p:spPr>
          <a:xfrm>
            <a:off x="8473440" y="4343400"/>
            <a:ext cx="2773680" cy="822960"/>
          </a:xfrm>
          <a:prstGeom prst="rect">
            <a:avLst/>
          </a:prstGeom>
          <a:noFill/>
          <a:ln/>
        </p:spPr>
        <p:txBody>
          <a:bodyPr wrap="square" lIns="0" tIns="0" rIns="0" bIns="0" rtlCol="0" anchor="ctr"/>
          <a:lstStyle/>
          <a:p>
            <a:pPr algn="ctr" indent="0" marL="0">
              <a:buNone/>
            </a:pPr>
            <a:r>
              <a:rPr lang="en-US" sz="1450" dirty="0">
                <a:solidFill>
                  <a:srgbClr val="FFE9A8"/>
                </a:solidFill>
                <a:latin typeface="Segoe UI" pitchFamily="34" charset="0"/>
                <a:ea typeface="Segoe UI" pitchFamily="34" charset="-122"/>
                <a:cs typeface="Segoe UI" pitchFamily="34" charset="-120"/>
              </a:rPr>
              <a:t>thu hẹp khoảng cách số, đẩy lùi tin giả, tin sai.</a:t>
            </a:r>
            <a:endParaRPr lang="en-US" sz="1450" dirty="0"/>
          </a:p>
        </p:txBody>
      </p:sp>
    </p:spTree>
  </p:cSld>
  <p:clrMapOvr>
    <a:masterClrMapping/>
  </p:clrMapOvr>
  <p:transition xmlns:p14="http://schemas.microsoft.com/office/powerpoint/2010/main" spd="med" p14:dur="450">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320040"/>
          </a:xfrm>
          <a:prstGeom prst="rect">
            <a:avLst/>
          </a:prstGeom>
          <a:noFill/>
          <a:ln/>
        </p:spPr>
        <p:txBody>
          <a:bodyPr wrap="square" lIns="0" tIns="0" rIns="0" bIns="0" rtlCol="0" anchor="ctr"/>
          <a:lstStyle/>
          <a:p>
            <a:pPr indent="0" marL="0">
              <a:buNone/>
            </a:pPr>
            <a:r>
              <a:rPr lang="en-US" sz="1300" b="1" spc="200" kern="0" dirty="0">
                <a:solidFill>
                  <a:srgbClr val="C41E3A"/>
                </a:solidFill>
                <a:latin typeface="Segoe UI" pitchFamily="34" charset="0"/>
                <a:ea typeface="Segoe UI" pitchFamily="34" charset="-122"/>
                <a:cs typeface="Segoe UI" pitchFamily="34" charset="-120"/>
              </a:rPr>
              <a:t>KHẢ NĂNG NHÂN RỘNG</a:t>
            </a:r>
            <a:endParaRPr lang="en-US" sz="1300" dirty="0"/>
          </a:p>
        </p:txBody>
      </p:sp>
      <p:sp>
        <p:nvSpPr>
          <p:cNvPr id="3" name="Text 1"/>
          <p:cNvSpPr/>
          <p:nvPr/>
        </p:nvSpPr>
        <p:spPr>
          <a:xfrm>
            <a:off x="640080" y="768096"/>
            <a:ext cx="10881360" cy="777240"/>
          </a:xfrm>
          <a:prstGeom prst="rect">
            <a:avLst/>
          </a:prstGeom>
          <a:noFill/>
          <a:ln/>
        </p:spPr>
        <p:txBody>
          <a:bodyPr wrap="square" lIns="0" tIns="0" rIns="0" bIns="0" rtlCol="0" anchor="t"/>
          <a:lstStyle/>
          <a:p>
            <a:pPr indent="0" marL="0">
              <a:buNone/>
            </a:pPr>
            <a:r>
              <a:rPr lang="en-US" sz="2900" b="1" dirty="0">
                <a:solidFill>
                  <a:srgbClr val="1F2937"/>
                </a:solidFill>
                <a:latin typeface="Segoe UI" pitchFamily="34" charset="0"/>
                <a:ea typeface="Segoe UI" pitchFamily="34" charset="-122"/>
                <a:cs typeface="Segoe UI" pitchFamily="34" charset="-120"/>
              </a:rPr>
              <a:t>Dễ sao chép cho phường, xã khác</a:t>
            </a:r>
            <a:endParaRPr lang="en-US" sz="2900" dirty="0"/>
          </a:p>
        </p:txBody>
      </p:sp>
      <p:sp>
        <p:nvSpPr>
          <p:cNvPr id="4" name="Shape 2"/>
          <p:cNvSpPr/>
          <p:nvPr/>
        </p:nvSpPr>
        <p:spPr>
          <a:xfrm>
            <a:off x="640080" y="1481328"/>
            <a:ext cx="1005840" cy="64008"/>
          </a:xfrm>
          <a:prstGeom prst="rect">
            <a:avLst/>
          </a:prstGeom>
          <a:solidFill>
            <a:srgbClr val="FFD700"/>
          </a:solidFill>
          <a:ln/>
        </p:spPr>
      </p:sp>
      <p:sp>
        <p:nvSpPr>
          <p:cNvPr id="5" name="Shape 3"/>
          <p:cNvSpPr/>
          <p:nvPr/>
        </p:nvSpPr>
        <p:spPr>
          <a:xfrm>
            <a:off x="640080" y="2194560"/>
            <a:ext cx="3322320" cy="3017520"/>
          </a:xfrm>
          <a:prstGeom prst="roundRect">
            <a:avLst>
              <a:gd name="adj" fmla="val 3636"/>
            </a:avLst>
          </a:prstGeom>
          <a:solidFill>
            <a:srgbClr val="FFF0F2"/>
          </a:solidFill>
          <a:ln w="12700">
            <a:solidFill>
              <a:srgbClr val="F3D2D7"/>
            </a:solidFill>
            <a:prstDash val="solid"/>
          </a:ln>
          <a:effectLst>
            <a:outerShdw sx="100000" sy="100000" kx="0" ky="0" algn="bl" rotWithShape="0" blurRad="88900" dist="25400" dir="8100000">
              <a:srgbClr val="94A3B8">
                <a:alpha val="28000"/>
              </a:srgbClr>
            </a:outerShdw>
          </a:effectLst>
        </p:spPr>
      </p:sp>
      <p:sp>
        <p:nvSpPr>
          <p:cNvPr id="6" name="Shape 4"/>
          <p:cNvSpPr/>
          <p:nvPr/>
        </p:nvSpPr>
        <p:spPr>
          <a:xfrm>
            <a:off x="1752600" y="2514600"/>
            <a:ext cx="1097280" cy="1097280"/>
          </a:xfrm>
          <a:prstGeom prst="ellipse">
            <a:avLst/>
          </a:prstGeom>
          <a:solidFill>
            <a:srgbClr val="C41E3A"/>
          </a:solidFill>
          <a:ln/>
          <a:effectLst>
            <a:outerShdw sx="100000" sy="100000" kx="0" ky="0" algn="bl" rotWithShape="0" blurRad="114300" dist="38100" dir="8100000">
              <a:srgbClr val="5A0000">
                <a:alpha val="22000"/>
              </a:srgbClr>
            </a:outerShdw>
          </a:effectLst>
        </p:spPr>
      </p:sp>
      <p:pic>
        <p:nvPicPr>
          <p:cNvPr id="7" name="Image 0" descr="preencoded.png">    </p:cNvPr>
          <p:cNvPicPr>
            <a:picLocks noChangeAspect="1"/>
          </p:cNvPicPr>
          <p:nvPr/>
        </p:nvPicPr>
        <p:blipFill>
          <a:blip r:embed="rId1"/>
          <a:stretch>
            <a:fillRect/>
          </a:stretch>
        </p:blipFill>
        <p:spPr>
          <a:xfrm>
            <a:off x="2048866" y="2810866"/>
            <a:ext cx="504749" cy="504749"/>
          </a:xfrm>
          <a:prstGeom prst="rect">
            <a:avLst/>
          </a:prstGeom>
        </p:spPr>
      </p:pic>
      <p:sp>
        <p:nvSpPr>
          <p:cNvPr id="8" name="Text 5"/>
          <p:cNvSpPr/>
          <p:nvPr/>
        </p:nvSpPr>
        <p:spPr>
          <a:xfrm>
            <a:off x="822960" y="3749040"/>
            <a:ext cx="2956560" cy="548640"/>
          </a:xfrm>
          <a:prstGeom prst="rect">
            <a:avLst/>
          </a:prstGeom>
          <a:noFill/>
          <a:ln/>
        </p:spPr>
        <p:txBody>
          <a:bodyPr wrap="square" lIns="0" tIns="0" rIns="0" bIns="0" rtlCol="0" anchor="ctr"/>
          <a:lstStyle/>
          <a:p>
            <a:pPr algn="ctr" indent="0" marL="0">
              <a:buNone/>
            </a:pPr>
            <a:r>
              <a:rPr lang="en-US" sz="2200" b="1" dirty="0">
                <a:solidFill>
                  <a:srgbClr val="1F2937"/>
                </a:solidFill>
                <a:latin typeface="Segoe UI" pitchFamily="34" charset="0"/>
                <a:ea typeface="Segoe UI" pitchFamily="34" charset="-122"/>
                <a:cs typeface="Segoe UI" pitchFamily="34" charset="-120"/>
              </a:rPr>
              <a:t>Dễ sao chép</a:t>
            </a:r>
            <a:endParaRPr lang="en-US" sz="2200" dirty="0"/>
          </a:p>
        </p:txBody>
      </p:sp>
      <p:sp>
        <p:nvSpPr>
          <p:cNvPr id="9" name="Text 6"/>
          <p:cNvSpPr/>
          <p:nvPr/>
        </p:nvSpPr>
        <p:spPr>
          <a:xfrm>
            <a:off x="914400" y="4343400"/>
            <a:ext cx="2773680" cy="822960"/>
          </a:xfrm>
          <a:prstGeom prst="rect">
            <a:avLst/>
          </a:prstGeom>
          <a:noFill/>
          <a:ln/>
        </p:spPr>
        <p:txBody>
          <a:bodyPr wrap="square" lIns="0" tIns="0" rIns="0" bIns="0" rtlCol="0" anchor="ctr"/>
          <a:lstStyle/>
          <a:p>
            <a:pPr algn="ctr" indent="0" marL="0">
              <a:buNone/>
            </a:pPr>
            <a:r>
              <a:rPr lang="en-US" sz="1450" dirty="0">
                <a:solidFill>
                  <a:srgbClr val="374151"/>
                </a:solidFill>
                <a:latin typeface="Segoe UI" pitchFamily="34" charset="0"/>
                <a:ea typeface="Segoe UI" pitchFamily="34" charset="-122"/>
                <a:cs typeface="Segoe UI" pitchFamily="34" charset="-120"/>
              </a:rPr>
              <a:t>Chỉ cần đổi logo, thông tin và nội dung địa phương.</a:t>
            </a:r>
            <a:endParaRPr lang="en-US" sz="1450" dirty="0"/>
          </a:p>
        </p:txBody>
      </p:sp>
      <p:sp>
        <p:nvSpPr>
          <p:cNvPr id="10" name="Shape 7"/>
          <p:cNvSpPr/>
          <p:nvPr/>
        </p:nvSpPr>
        <p:spPr>
          <a:xfrm>
            <a:off x="4419600" y="2194560"/>
            <a:ext cx="3322320" cy="3017520"/>
          </a:xfrm>
          <a:prstGeom prst="roundRect">
            <a:avLst>
              <a:gd name="adj" fmla="val 3636"/>
            </a:avLst>
          </a:prstGeom>
          <a:solidFill>
            <a:srgbClr val="FFF0F2"/>
          </a:solidFill>
          <a:ln w="12700">
            <a:solidFill>
              <a:srgbClr val="F3D2D7"/>
            </a:solidFill>
            <a:prstDash val="solid"/>
          </a:ln>
          <a:effectLst>
            <a:outerShdw sx="100000" sy="100000" kx="0" ky="0" algn="bl" rotWithShape="0" blurRad="88900" dist="25400" dir="8100000">
              <a:srgbClr val="94A3B8">
                <a:alpha val="28000"/>
              </a:srgbClr>
            </a:outerShdw>
          </a:effectLst>
        </p:spPr>
      </p:sp>
      <p:sp>
        <p:nvSpPr>
          <p:cNvPr id="11" name="Shape 8"/>
          <p:cNvSpPr/>
          <p:nvPr/>
        </p:nvSpPr>
        <p:spPr>
          <a:xfrm>
            <a:off x="5532120" y="2514600"/>
            <a:ext cx="1097280" cy="1097280"/>
          </a:xfrm>
          <a:prstGeom prst="ellipse">
            <a:avLst/>
          </a:prstGeom>
          <a:solidFill>
            <a:srgbClr val="1F7A1F"/>
          </a:solidFill>
          <a:ln/>
          <a:effectLst>
            <a:outerShdw sx="100000" sy="100000" kx="0" ky="0" algn="bl" rotWithShape="0" blurRad="114300" dist="38100" dir="8100000">
              <a:srgbClr val="5A0000">
                <a:alpha val="22000"/>
              </a:srgbClr>
            </a:outerShdw>
          </a:effectLst>
        </p:spPr>
      </p:sp>
      <p:pic>
        <p:nvPicPr>
          <p:cNvPr id="12" name="Image 1" descr="preencoded.png">    </p:cNvPr>
          <p:cNvPicPr>
            <a:picLocks noChangeAspect="1"/>
          </p:cNvPicPr>
          <p:nvPr/>
        </p:nvPicPr>
        <p:blipFill>
          <a:blip r:embed="rId2"/>
          <a:stretch>
            <a:fillRect/>
          </a:stretch>
        </p:blipFill>
        <p:spPr>
          <a:xfrm>
            <a:off x="5828386" y="2810866"/>
            <a:ext cx="504749" cy="504749"/>
          </a:xfrm>
          <a:prstGeom prst="rect">
            <a:avLst/>
          </a:prstGeom>
        </p:spPr>
      </p:pic>
      <p:sp>
        <p:nvSpPr>
          <p:cNvPr id="13" name="Text 9"/>
          <p:cNvSpPr/>
          <p:nvPr/>
        </p:nvSpPr>
        <p:spPr>
          <a:xfrm>
            <a:off x="4602480" y="3749040"/>
            <a:ext cx="2956560" cy="548640"/>
          </a:xfrm>
          <a:prstGeom prst="rect">
            <a:avLst/>
          </a:prstGeom>
          <a:noFill/>
          <a:ln/>
        </p:spPr>
        <p:txBody>
          <a:bodyPr wrap="square" lIns="0" tIns="0" rIns="0" bIns="0" rtlCol="0" anchor="ctr"/>
          <a:lstStyle/>
          <a:p>
            <a:pPr algn="ctr" indent="0" marL="0">
              <a:buNone/>
            </a:pPr>
            <a:r>
              <a:rPr lang="en-US" sz="2200" b="1" dirty="0">
                <a:solidFill>
                  <a:srgbClr val="1F2937"/>
                </a:solidFill>
                <a:latin typeface="Segoe UI" pitchFamily="34" charset="0"/>
                <a:ea typeface="Segoe UI" pitchFamily="34" charset="-122"/>
                <a:cs typeface="Segoe UI" pitchFamily="34" charset="-120"/>
              </a:rPr>
              <a:t>Đoàn Thanh niên</a:t>
            </a:r>
            <a:endParaRPr lang="en-US" sz="2200" dirty="0"/>
          </a:p>
        </p:txBody>
      </p:sp>
      <p:sp>
        <p:nvSpPr>
          <p:cNvPr id="14" name="Text 10"/>
          <p:cNvSpPr/>
          <p:nvPr/>
        </p:nvSpPr>
        <p:spPr>
          <a:xfrm>
            <a:off x="4693920" y="4343400"/>
            <a:ext cx="2773680" cy="822960"/>
          </a:xfrm>
          <a:prstGeom prst="rect">
            <a:avLst/>
          </a:prstGeom>
          <a:noFill/>
          <a:ln/>
        </p:spPr>
        <p:txBody>
          <a:bodyPr wrap="square" lIns="0" tIns="0" rIns="0" bIns="0" rtlCol="0" anchor="ctr"/>
          <a:lstStyle/>
          <a:p>
            <a:pPr algn="ctr" indent="0" marL="0">
              <a:buNone/>
            </a:pPr>
            <a:r>
              <a:rPr lang="en-US" sz="1450" dirty="0">
                <a:solidFill>
                  <a:srgbClr val="374151"/>
                </a:solidFill>
                <a:latin typeface="Segoe UI" pitchFamily="34" charset="0"/>
                <a:ea typeface="Segoe UI" pitchFamily="34" charset="-122"/>
                <a:cs typeface="Segoe UI" pitchFamily="34" charset="-120"/>
              </a:rPr>
              <a:t>Đồng hành hướng dẫn cài đặt, quét QR, tra cứu.</a:t>
            </a:r>
            <a:endParaRPr lang="en-US" sz="1450" dirty="0"/>
          </a:p>
        </p:txBody>
      </p:sp>
      <p:sp>
        <p:nvSpPr>
          <p:cNvPr id="15" name="Shape 11"/>
          <p:cNvSpPr/>
          <p:nvPr/>
        </p:nvSpPr>
        <p:spPr>
          <a:xfrm>
            <a:off x="8199120" y="2194560"/>
            <a:ext cx="3322320" cy="3017520"/>
          </a:xfrm>
          <a:prstGeom prst="roundRect">
            <a:avLst>
              <a:gd name="adj" fmla="val 3636"/>
            </a:avLst>
          </a:prstGeom>
          <a:solidFill>
            <a:srgbClr val="FFF0F2"/>
          </a:solidFill>
          <a:ln w="12700">
            <a:solidFill>
              <a:srgbClr val="F3D2D7"/>
            </a:solidFill>
            <a:prstDash val="solid"/>
          </a:ln>
          <a:effectLst>
            <a:outerShdw sx="100000" sy="100000" kx="0" ky="0" algn="bl" rotWithShape="0" blurRad="88900" dist="25400" dir="8100000">
              <a:srgbClr val="94A3B8">
                <a:alpha val="28000"/>
              </a:srgbClr>
            </a:outerShdw>
          </a:effectLst>
        </p:spPr>
      </p:sp>
      <p:sp>
        <p:nvSpPr>
          <p:cNvPr id="16" name="Shape 12"/>
          <p:cNvSpPr/>
          <p:nvPr/>
        </p:nvSpPr>
        <p:spPr>
          <a:xfrm>
            <a:off x="9311640" y="2514600"/>
            <a:ext cx="1097280" cy="1097280"/>
          </a:xfrm>
          <a:prstGeom prst="ellipse">
            <a:avLst/>
          </a:prstGeom>
          <a:solidFill>
            <a:srgbClr val="D97706"/>
          </a:solidFill>
          <a:ln/>
          <a:effectLst>
            <a:outerShdw sx="100000" sy="100000" kx="0" ky="0" algn="bl" rotWithShape="0" blurRad="114300" dist="38100" dir="8100000">
              <a:srgbClr val="5A0000">
                <a:alpha val="22000"/>
              </a:srgbClr>
            </a:outerShdw>
          </a:effectLst>
        </p:spPr>
      </p:sp>
      <p:pic>
        <p:nvPicPr>
          <p:cNvPr id="17" name="Image 2" descr="preencoded.png">    </p:cNvPr>
          <p:cNvPicPr>
            <a:picLocks noChangeAspect="1"/>
          </p:cNvPicPr>
          <p:nvPr/>
        </p:nvPicPr>
        <p:blipFill>
          <a:blip r:embed="rId3"/>
          <a:stretch>
            <a:fillRect/>
          </a:stretch>
        </p:blipFill>
        <p:spPr>
          <a:xfrm>
            <a:off x="9607906" y="2810866"/>
            <a:ext cx="504749" cy="504749"/>
          </a:xfrm>
          <a:prstGeom prst="rect">
            <a:avLst/>
          </a:prstGeom>
        </p:spPr>
      </p:pic>
      <p:sp>
        <p:nvSpPr>
          <p:cNvPr id="18" name="Text 13"/>
          <p:cNvSpPr/>
          <p:nvPr/>
        </p:nvSpPr>
        <p:spPr>
          <a:xfrm>
            <a:off x="8382000" y="3749040"/>
            <a:ext cx="2956560" cy="548640"/>
          </a:xfrm>
          <a:prstGeom prst="rect">
            <a:avLst/>
          </a:prstGeom>
          <a:noFill/>
          <a:ln/>
        </p:spPr>
        <p:txBody>
          <a:bodyPr wrap="square" lIns="0" tIns="0" rIns="0" bIns="0" rtlCol="0" anchor="ctr"/>
          <a:lstStyle/>
          <a:p>
            <a:pPr algn="ctr" indent="0" marL="0">
              <a:buNone/>
            </a:pPr>
            <a:r>
              <a:rPr lang="en-US" sz="2200" b="1" dirty="0">
                <a:solidFill>
                  <a:srgbClr val="1F2937"/>
                </a:solidFill>
                <a:latin typeface="Segoe UI" pitchFamily="34" charset="0"/>
                <a:ea typeface="Segoe UI" pitchFamily="34" charset="-122"/>
                <a:cs typeface="Segoe UI" pitchFamily="34" charset="-120"/>
              </a:rPr>
              <a:t>Từ cơ sở</a:t>
            </a:r>
            <a:endParaRPr lang="en-US" sz="2200" dirty="0"/>
          </a:p>
        </p:txBody>
      </p:sp>
      <p:sp>
        <p:nvSpPr>
          <p:cNvPr id="19" name="Text 14"/>
          <p:cNvSpPr/>
          <p:nvPr/>
        </p:nvSpPr>
        <p:spPr>
          <a:xfrm>
            <a:off x="8473440" y="4343400"/>
            <a:ext cx="2773680" cy="822960"/>
          </a:xfrm>
          <a:prstGeom prst="rect">
            <a:avLst/>
          </a:prstGeom>
          <a:noFill/>
          <a:ln/>
        </p:spPr>
        <p:txBody>
          <a:bodyPr wrap="square" lIns="0" tIns="0" rIns="0" bIns="0" rtlCol="0" anchor="ctr"/>
          <a:lstStyle/>
          <a:p>
            <a:pPr algn="ctr" indent="0" marL="0">
              <a:buNone/>
            </a:pPr>
            <a:r>
              <a:rPr lang="en-US" sz="1450" dirty="0">
                <a:solidFill>
                  <a:srgbClr val="374151"/>
                </a:solidFill>
                <a:latin typeface="Segoe UI" pitchFamily="34" charset="0"/>
                <a:ea typeface="Segoe UI" pitchFamily="34" charset="-122"/>
                <a:cs typeface="Segoe UI" pitchFamily="34" charset="-120"/>
              </a:rPr>
              <a:t>Chuyển đổi số bắt đầu từ cơ sở, lan ra toàn tỉnh.</a:t>
            </a:r>
            <a:endParaRPr lang="en-US" sz="1450" dirty="0"/>
          </a:p>
        </p:txBody>
      </p:sp>
    </p:spTree>
  </p:cSld>
  <p:clrMapOvr>
    <a:masterClrMapping/>
  </p:clrMapOvr>
  <p:transition xmlns:p14="http://schemas.microsoft.com/office/powerpoint/2010/main" spd="med" p14:dur="450">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8B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0000"/>
          </a:blip>
          <a:stretch>
            <a:fillRect/>
          </a:stretch>
        </p:blipFill>
        <p:spPr>
          <a:xfrm>
            <a:off x="9052560" y="1097280"/>
            <a:ext cx="4389120" cy="4389120"/>
          </a:xfrm>
          <a:prstGeom prst="rect">
            <a:avLst/>
          </a:prstGeom>
        </p:spPr>
      </p:pic>
      <p:sp>
        <p:nvSpPr>
          <p:cNvPr id="3" name="Text 0"/>
          <p:cNvSpPr/>
          <p:nvPr/>
        </p:nvSpPr>
        <p:spPr>
          <a:xfrm>
            <a:off x="640080" y="548640"/>
            <a:ext cx="9144000" cy="365760"/>
          </a:xfrm>
          <a:prstGeom prst="rect">
            <a:avLst/>
          </a:prstGeom>
          <a:noFill/>
          <a:ln/>
        </p:spPr>
        <p:txBody>
          <a:bodyPr wrap="square" lIns="0" tIns="0" rIns="0" bIns="0" rtlCol="0" anchor="ctr"/>
          <a:lstStyle/>
          <a:p>
            <a:pPr indent="0" marL="0">
              <a:buNone/>
            </a:pPr>
            <a:r>
              <a:rPr lang="en-US" sz="1400" b="1" spc="200" kern="0" dirty="0">
                <a:solidFill>
                  <a:srgbClr val="FFD700"/>
                </a:solidFill>
                <a:latin typeface="Segoe UI" pitchFamily="34" charset="0"/>
                <a:ea typeface="Segoe UI" pitchFamily="34" charset="-122"/>
                <a:cs typeface="Segoe UI" pitchFamily="34" charset="-120"/>
              </a:rPr>
              <a:t>KẾT LUẬN &amp; KIẾN NGHỊ</a:t>
            </a:r>
            <a:endParaRPr lang="en-US" sz="1400" dirty="0"/>
          </a:p>
        </p:txBody>
      </p:sp>
      <p:sp>
        <p:nvSpPr>
          <p:cNvPr id="4" name="Text 1"/>
          <p:cNvSpPr/>
          <p:nvPr/>
        </p:nvSpPr>
        <p:spPr>
          <a:xfrm>
            <a:off x="640080" y="896112"/>
            <a:ext cx="10515600" cy="731520"/>
          </a:xfrm>
          <a:prstGeom prst="rect">
            <a:avLst/>
          </a:prstGeom>
          <a:noFill/>
          <a:ln/>
        </p:spPr>
        <p:txBody>
          <a:bodyPr wrap="square" lIns="0" tIns="0" rIns="0" bIns="0"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Từ phân tán → chủ động, thống nhất</a:t>
            </a:r>
            <a:endParaRPr lang="en-US" sz="3000" dirty="0"/>
          </a:p>
        </p:txBody>
      </p:sp>
      <p:pic>
        <p:nvPicPr>
          <p:cNvPr id="5" name="Image 1" descr="preencoded.png">    </p:cNvPr>
          <p:cNvPicPr>
            <a:picLocks noChangeAspect="1"/>
          </p:cNvPicPr>
          <p:nvPr/>
        </p:nvPicPr>
        <p:blipFill>
          <a:blip r:embed="rId2"/>
          <a:stretch>
            <a:fillRect/>
          </a:stretch>
        </p:blipFill>
        <p:spPr>
          <a:xfrm>
            <a:off x="640080" y="1920240"/>
            <a:ext cx="411480" cy="411480"/>
          </a:xfrm>
          <a:prstGeom prst="rect">
            <a:avLst/>
          </a:prstGeom>
        </p:spPr>
      </p:pic>
      <p:sp>
        <p:nvSpPr>
          <p:cNvPr id="6" name="Text 2"/>
          <p:cNvSpPr/>
          <p:nvPr/>
        </p:nvSpPr>
        <p:spPr>
          <a:xfrm>
            <a:off x="1234440" y="1874520"/>
            <a:ext cx="8046720" cy="548640"/>
          </a:xfrm>
          <a:prstGeom prst="rect">
            <a:avLst/>
          </a:prstGeom>
          <a:noFill/>
          <a:ln/>
        </p:spPr>
        <p:txBody>
          <a:bodyPr wrap="square" lIns="0" tIns="0" rIns="0" bIns="0" rtlCol="0" anchor="ctr"/>
          <a:lstStyle/>
          <a:p>
            <a:pPr indent="0" marL="0">
              <a:buNone/>
            </a:pPr>
            <a:r>
              <a:rPr lang="en-US" sz="1700" dirty="0">
                <a:solidFill>
                  <a:srgbClr val="FFE9A8"/>
                </a:solidFill>
                <a:latin typeface="Segoe UI" pitchFamily="34" charset="0"/>
                <a:ea typeface="Segoe UI" pitchFamily="34" charset="-122"/>
                <a:cs typeface="Segoe UI" pitchFamily="34" charset="-120"/>
              </a:rPr>
              <a:t>Lần đầu có một điểm chạm số thống nhất, chính thống tại đơn vị.</a:t>
            </a:r>
            <a:endParaRPr lang="en-US" sz="1700" dirty="0"/>
          </a:p>
        </p:txBody>
      </p:sp>
      <p:pic>
        <p:nvPicPr>
          <p:cNvPr id="7" name="Image 2" descr="preencoded.png">    </p:cNvPr>
          <p:cNvPicPr>
            <a:picLocks noChangeAspect="1"/>
          </p:cNvPicPr>
          <p:nvPr/>
        </p:nvPicPr>
        <p:blipFill>
          <a:blip r:embed="rId3"/>
          <a:stretch>
            <a:fillRect/>
          </a:stretch>
        </p:blipFill>
        <p:spPr>
          <a:xfrm>
            <a:off x="640080" y="2697480"/>
            <a:ext cx="411480" cy="411480"/>
          </a:xfrm>
          <a:prstGeom prst="rect">
            <a:avLst/>
          </a:prstGeom>
        </p:spPr>
      </p:pic>
      <p:sp>
        <p:nvSpPr>
          <p:cNvPr id="8" name="Text 3"/>
          <p:cNvSpPr/>
          <p:nvPr/>
        </p:nvSpPr>
        <p:spPr>
          <a:xfrm>
            <a:off x="1234440" y="2651760"/>
            <a:ext cx="8046720" cy="548640"/>
          </a:xfrm>
          <a:prstGeom prst="rect">
            <a:avLst/>
          </a:prstGeom>
          <a:noFill/>
          <a:ln/>
        </p:spPr>
        <p:txBody>
          <a:bodyPr wrap="square" lIns="0" tIns="0" rIns="0" bIns="0" rtlCol="0" anchor="ctr"/>
          <a:lstStyle/>
          <a:p>
            <a:pPr indent="0" marL="0">
              <a:buNone/>
            </a:pPr>
            <a:r>
              <a:rPr lang="en-US" sz="1700" dirty="0">
                <a:solidFill>
                  <a:srgbClr val="FFE9A8"/>
                </a:solidFill>
                <a:latin typeface="Segoe UI" pitchFamily="34" charset="0"/>
                <a:ea typeface="Segoe UI" pitchFamily="34" charset="-122"/>
                <a:cs typeface="Segoe UI" pitchFamily="34" charset="-120"/>
              </a:rPr>
              <a:t>Kết quả thật, số liệu cụ thể, chi phí gần như bằng không.</a:t>
            </a:r>
            <a:endParaRPr lang="en-US" sz="1700" dirty="0"/>
          </a:p>
        </p:txBody>
      </p:sp>
      <p:pic>
        <p:nvPicPr>
          <p:cNvPr id="9" name="Image 3" descr="preencoded.png">    </p:cNvPr>
          <p:cNvPicPr>
            <a:picLocks noChangeAspect="1"/>
          </p:cNvPicPr>
          <p:nvPr/>
        </p:nvPicPr>
        <p:blipFill>
          <a:blip r:embed="rId4"/>
          <a:stretch>
            <a:fillRect/>
          </a:stretch>
        </p:blipFill>
        <p:spPr>
          <a:xfrm>
            <a:off x="640080" y="3474720"/>
            <a:ext cx="411480" cy="411480"/>
          </a:xfrm>
          <a:prstGeom prst="rect">
            <a:avLst/>
          </a:prstGeom>
        </p:spPr>
      </p:pic>
      <p:sp>
        <p:nvSpPr>
          <p:cNvPr id="10" name="Text 4"/>
          <p:cNvSpPr/>
          <p:nvPr/>
        </p:nvSpPr>
        <p:spPr>
          <a:xfrm>
            <a:off x="1234440" y="3429000"/>
            <a:ext cx="8046720" cy="548640"/>
          </a:xfrm>
          <a:prstGeom prst="rect">
            <a:avLst/>
          </a:prstGeom>
          <a:noFill/>
          <a:ln/>
        </p:spPr>
        <p:txBody>
          <a:bodyPr wrap="square" lIns="0" tIns="0" rIns="0" bIns="0" rtlCol="0" anchor="ctr"/>
          <a:lstStyle/>
          <a:p>
            <a:pPr indent="0" marL="0">
              <a:buNone/>
            </a:pPr>
            <a:r>
              <a:rPr lang="en-US" sz="1700" dirty="0">
                <a:solidFill>
                  <a:srgbClr val="FFE9A8"/>
                </a:solidFill>
                <a:latin typeface="Segoe UI" pitchFamily="34" charset="0"/>
                <a:ea typeface="Segoe UI" pitchFamily="34" charset="-122"/>
                <a:cs typeface="Segoe UI" pitchFamily="34" charset="-120"/>
              </a:rPr>
              <a:t>Hiệu quả cao · An toàn thông tin · Dễ nhân rộng.</a:t>
            </a:r>
            <a:endParaRPr lang="en-US" sz="1700" dirty="0"/>
          </a:p>
        </p:txBody>
      </p:sp>
      <p:sp>
        <p:nvSpPr>
          <p:cNvPr id="11" name="Shape 5"/>
          <p:cNvSpPr/>
          <p:nvPr/>
        </p:nvSpPr>
        <p:spPr>
          <a:xfrm>
            <a:off x="640080" y="4526280"/>
            <a:ext cx="10881360" cy="1554480"/>
          </a:xfrm>
          <a:prstGeom prst="roundRect">
            <a:avLst>
              <a:gd name="adj" fmla="val 7059"/>
            </a:avLst>
          </a:prstGeom>
          <a:solidFill>
            <a:srgbClr val="6E1014"/>
          </a:solidFill>
          <a:ln w="16510">
            <a:solidFill>
              <a:srgbClr val="FFD700"/>
            </a:solidFill>
            <a:prstDash val="solid"/>
          </a:ln>
          <a:effectLst>
            <a:outerShdw sx="100000" sy="100000" kx="0" ky="0" algn="bl" rotWithShape="0" blurRad="114300" dist="38100" dir="8100000">
              <a:srgbClr val="5A0000">
                <a:alpha val="22000"/>
              </a:srgbClr>
            </a:outerShdw>
          </a:effectLst>
        </p:spPr>
      </p:sp>
      <p:sp>
        <p:nvSpPr>
          <p:cNvPr id="12" name="Text 6"/>
          <p:cNvSpPr/>
          <p:nvPr/>
        </p:nvSpPr>
        <p:spPr>
          <a:xfrm>
            <a:off x="1097280" y="4709160"/>
            <a:ext cx="10058400" cy="411480"/>
          </a:xfrm>
          <a:prstGeom prst="rect">
            <a:avLst/>
          </a:prstGeom>
          <a:noFill/>
          <a:ln/>
        </p:spPr>
        <p:txBody>
          <a:bodyPr wrap="square" lIns="0" tIns="0" rIns="0" bIns="0" rtlCol="0" anchor="ctr"/>
          <a:lstStyle/>
          <a:p>
            <a:pPr indent="0" marL="0">
              <a:buNone/>
            </a:pPr>
            <a:r>
              <a:rPr lang="en-US" sz="1400" b="1" spc="150" kern="0" dirty="0">
                <a:solidFill>
                  <a:srgbClr val="FFD700"/>
                </a:solidFill>
                <a:latin typeface="Segoe UI" pitchFamily="34" charset="0"/>
                <a:ea typeface="Segoe UI" pitchFamily="34" charset="-122"/>
                <a:cs typeface="Segoe UI" pitchFamily="34" charset="-120"/>
              </a:rPr>
              <a:t>KÍNH ĐỀ NGHỊ HỘI ĐỒNG</a:t>
            </a:r>
            <a:endParaRPr lang="en-US" sz="1400" dirty="0"/>
          </a:p>
        </p:txBody>
      </p:sp>
      <p:sp>
        <p:nvSpPr>
          <p:cNvPr id="13" name="Text 7"/>
          <p:cNvSpPr/>
          <p:nvPr/>
        </p:nvSpPr>
        <p:spPr>
          <a:xfrm>
            <a:off x="1143000" y="5120640"/>
            <a:ext cx="10058400" cy="914400"/>
          </a:xfrm>
          <a:prstGeom prst="rect">
            <a:avLst/>
          </a:prstGeom>
          <a:noFill/>
          <a:ln/>
        </p:spPr>
        <p:txBody>
          <a:bodyPr wrap="square" lIns="0" tIns="0" rIns="0" bIns="0" rtlCol="0" anchor="ctr"/>
          <a:lstStyle/>
          <a:p>
            <a:pPr marL="342900" indent="-342900">
              <a:spcAft>
                <a:spcPts val="600"/>
              </a:spcAft>
              <a:buSzPct val="100000"/>
              <a:buChar char="•"/>
            </a:pPr>
            <a:r>
              <a:rPr lang="en-US" sz="1800" b="1" dirty="0">
                <a:solidFill>
                  <a:srgbClr val="FFFFFF"/>
                </a:solidFill>
                <a:latin typeface="Segoe UI" pitchFamily="34" charset="0"/>
                <a:ea typeface="Segoe UI" pitchFamily="34" charset="-122"/>
                <a:cs typeface="Segoe UI" pitchFamily="34" charset="-120"/>
              </a:rPr>
              <a:t>Công nhận Sáng kiến cấp cơ sở năm 2026</a:t>
            </a:r>
            <a:endParaRPr lang="en-US" sz="1800" dirty="0"/>
          </a:p>
          <a:p>
            <a:pPr marL="342900" indent="-342900">
              <a:spcAft>
                <a:spcPts val="600"/>
              </a:spcAft>
              <a:buSzPct val="100000"/>
              <a:buChar char="•"/>
            </a:pPr>
            <a:r>
              <a:rPr lang="en-US" sz="1800" b="1" dirty="0">
                <a:solidFill>
                  <a:srgbClr val="FFFFFF"/>
                </a:solidFill>
                <a:latin typeface="Segoe UI" pitchFamily="34" charset="0"/>
                <a:ea typeface="Segoe UI" pitchFamily="34" charset="-122"/>
                <a:cs typeface="Segoe UI" pitchFamily="34" charset="-120"/>
              </a:rPr>
              <a:t>Cho phép áp dụng, nhân rộng sang các đơn vị khác</a:t>
            </a:r>
            <a:endParaRPr lang="en-US" sz="1800" dirty="0"/>
          </a:p>
        </p:txBody>
      </p:sp>
      <p:sp>
        <p:nvSpPr>
          <p:cNvPr id="14" name="Text 8"/>
          <p:cNvSpPr/>
          <p:nvPr/>
        </p:nvSpPr>
        <p:spPr>
          <a:xfrm>
            <a:off x="640080" y="6263640"/>
            <a:ext cx="10881360" cy="365760"/>
          </a:xfrm>
          <a:prstGeom prst="rect">
            <a:avLst/>
          </a:prstGeom>
          <a:noFill/>
          <a:ln/>
        </p:spPr>
        <p:txBody>
          <a:bodyPr wrap="square" lIns="0" tIns="0" rIns="0" bIns="0" rtlCol="0" anchor="ctr"/>
          <a:lstStyle/>
          <a:p>
            <a:pPr algn="r" indent="0" marL="0">
              <a:buNone/>
            </a:pPr>
            <a:r>
              <a:rPr lang="en-US" sz="1600" i="1" dirty="0">
                <a:solidFill>
                  <a:srgbClr val="FFD700"/>
                </a:solidFill>
                <a:latin typeface="Segoe UI" pitchFamily="34" charset="0"/>
                <a:ea typeface="Segoe UI" pitchFamily="34" charset="-122"/>
                <a:cs typeface="Segoe UI" pitchFamily="34" charset="-120"/>
              </a:rPr>
              <a:t>Trân trọng cảm ơn Hội đồng!</a:t>
            </a:r>
            <a:endParaRPr lang="en-US" sz="1600" dirty="0"/>
          </a:p>
        </p:txBody>
      </p:sp>
    </p:spTree>
  </p:cSld>
  <p:clrMapOvr>
    <a:masterClrMapping/>
  </p:clrMapOvr>
  <p:transition xmlns:p14="http://schemas.microsoft.com/office/powerpoint/2010/main" spd="med" p14:dur="450">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320040"/>
          </a:xfrm>
          <a:prstGeom prst="rect">
            <a:avLst/>
          </a:prstGeom>
          <a:noFill/>
          <a:ln/>
        </p:spPr>
        <p:txBody>
          <a:bodyPr wrap="square" lIns="0" tIns="0" rIns="0" bIns="0" rtlCol="0" anchor="ctr"/>
          <a:lstStyle/>
          <a:p>
            <a:pPr indent="0" marL="0">
              <a:buNone/>
            </a:pPr>
            <a:r>
              <a:rPr lang="en-US" sz="1300" b="1" spc="200" kern="0" dirty="0">
                <a:solidFill>
                  <a:srgbClr val="C41E3A"/>
                </a:solidFill>
                <a:latin typeface="Segoe UI" pitchFamily="34" charset="0"/>
                <a:ea typeface="Segoe UI" pitchFamily="34" charset="-122"/>
                <a:cs typeface="Segoe UI" pitchFamily="34" charset="-120"/>
              </a:rPr>
              <a:t>PHỤ LỤC KỸ THUẬT</a:t>
            </a:r>
            <a:endParaRPr lang="en-US" sz="1300" dirty="0"/>
          </a:p>
        </p:txBody>
      </p:sp>
      <p:sp>
        <p:nvSpPr>
          <p:cNvPr id="3" name="Text 1"/>
          <p:cNvSpPr/>
          <p:nvPr/>
        </p:nvSpPr>
        <p:spPr>
          <a:xfrm>
            <a:off x="640080" y="768096"/>
            <a:ext cx="10881360" cy="777240"/>
          </a:xfrm>
          <a:prstGeom prst="rect">
            <a:avLst/>
          </a:prstGeom>
          <a:noFill/>
          <a:ln/>
        </p:spPr>
        <p:txBody>
          <a:bodyPr wrap="square" lIns="0" tIns="0" rIns="0" bIns="0" rtlCol="0" anchor="t"/>
          <a:lstStyle/>
          <a:p>
            <a:pPr indent="0" marL="0">
              <a:buNone/>
            </a:pPr>
            <a:r>
              <a:rPr lang="en-US" sz="2900" b="1" dirty="0">
                <a:solidFill>
                  <a:srgbClr val="1F2937"/>
                </a:solidFill>
                <a:latin typeface="Segoe UI" pitchFamily="34" charset="0"/>
                <a:ea typeface="Segoe UI" pitchFamily="34" charset="-122"/>
                <a:cs typeface="Segoe UI" pitchFamily="34" charset="-120"/>
              </a:rPr>
              <a:t>Chỉ trình chiếu khi được hỏi sâu</a:t>
            </a:r>
            <a:endParaRPr lang="en-US" sz="2900" dirty="0"/>
          </a:p>
        </p:txBody>
      </p:sp>
      <p:sp>
        <p:nvSpPr>
          <p:cNvPr id="4" name="Shape 2"/>
          <p:cNvSpPr/>
          <p:nvPr/>
        </p:nvSpPr>
        <p:spPr>
          <a:xfrm>
            <a:off x="640080" y="1481328"/>
            <a:ext cx="1005840" cy="64008"/>
          </a:xfrm>
          <a:prstGeom prst="rect">
            <a:avLst/>
          </a:prstGeom>
          <a:solidFill>
            <a:srgbClr val="FFD700"/>
          </a:solidFill>
          <a:ln/>
        </p:spPr>
      </p:sp>
      <p:sp>
        <p:nvSpPr>
          <p:cNvPr id="5" name="Shape 3"/>
          <p:cNvSpPr/>
          <p:nvPr/>
        </p:nvSpPr>
        <p:spPr>
          <a:xfrm>
            <a:off x="640080" y="1737360"/>
            <a:ext cx="3200400" cy="566928"/>
          </a:xfrm>
          <a:prstGeom prst="rect">
            <a:avLst/>
          </a:prstGeom>
          <a:solidFill>
            <a:srgbClr val="FBE4E7"/>
          </a:solidFill>
          <a:ln/>
        </p:spPr>
      </p:sp>
      <p:sp>
        <p:nvSpPr>
          <p:cNvPr id="6" name="Shape 4"/>
          <p:cNvSpPr/>
          <p:nvPr/>
        </p:nvSpPr>
        <p:spPr>
          <a:xfrm>
            <a:off x="3840480" y="1737360"/>
            <a:ext cx="7680960" cy="566928"/>
          </a:xfrm>
          <a:prstGeom prst="rect">
            <a:avLst/>
          </a:prstGeom>
          <a:solidFill>
            <a:srgbClr val="FFF8F9"/>
          </a:solidFill>
          <a:ln/>
        </p:spPr>
      </p:sp>
      <p:sp>
        <p:nvSpPr>
          <p:cNvPr id="7" name="Text 5"/>
          <p:cNvSpPr/>
          <p:nvPr/>
        </p:nvSpPr>
        <p:spPr>
          <a:xfrm>
            <a:off x="777240" y="1737360"/>
            <a:ext cx="2926080" cy="566928"/>
          </a:xfrm>
          <a:prstGeom prst="rect">
            <a:avLst/>
          </a:prstGeom>
          <a:noFill/>
          <a:ln/>
        </p:spPr>
        <p:txBody>
          <a:bodyPr wrap="square" lIns="0" tIns="0" rIns="0" bIns="0" rtlCol="0" anchor="ctr"/>
          <a:lstStyle/>
          <a:p>
            <a:pPr indent="0" marL="0">
              <a:buNone/>
            </a:pPr>
            <a:r>
              <a:rPr lang="en-US" sz="1400" b="1" dirty="0">
                <a:solidFill>
                  <a:srgbClr val="C41E3A"/>
                </a:solidFill>
                <a:latin typeface="Segoe UI" pitchFamily="34" charset="0"/>
                <a:ea typeface="Segoe UI" pitchFamily="34" charset="-122"/>
                <a:cs typeface="Segoe UI" pitchFamily="34" charset="-120"/>
              </a:rPr>
              <a:t>Nền tảng</a:t>
            </a:r>
            <a:endParaRPr lang="en-US" sz="1400" dirty="0"/>
          </a:p>
        </p:txBody>
      </p:sp>
      <p:sp>
        <p:nvSpPr>
          <p:cNvPr id="8" name="Text 6"/>
          <p:cNvSpPr/>
          <p:nvPr/>
        </p:nvSpPr>
        <p:spPr>
          <a:xfrm>
            <a:off x="3977640" y="1737360"/>
            <a:ext cx="7498080" cy="566928"/>
          </a:xfrm>
          <a:prstGeom prst="rect">
            <a:avLst/>
          </a:prstGeom>
          <a:noFill/>
          <a:ln/>
        </p:spPr>
        <p:txBody>
          <a:bodyPr wrap="square" lIns="0" tIns="0" rIns="0" bIns="0" rtlCol="0" anchor="ctr"/>
          <a:lstStyle/>
          <a:p>
            <a:pPr indent="0" marL="0">
              <a:buNone/>
            </a:pPr>
            <a:r>
              <a:rPr lang="en-US" sz="1350" dirty="0">
                <a:solidFill>
                  <a:srgbClr val="374151"/>
                </a:solidFill>
                <a:latin typeface="Segoe UI" pitchFamily="34" charset="0"/>
                <a:ea typeface="Segoe UI" pitchFamily="34" charset="-122"/>
                <a:cs typeface="Segoe UI" pitchFamily="34" charset="-120"/>
              </a:rPr>
              <a:t>Web tĩnh HTML5 / CSS3 / JavaScript thuần — không backend, không CSDL</a:t>
            </a:r>
            <a:endParaRPr lang="en-US" sz="1350" dirty="0"/>
          </a:p>
        </p:txBody>
      </p:sp>
      <p:sp>
        <p:nvSpPr>
          <p:cNvPr id="9" name="Shape 7"/>
          <p:cNvSpPr/>
          <p:nvPr/>
        </p:nvSpPr>
        <p:spPr>
          <a:xfrm>
            <a:off x="640080" y="2304288"/>
            <a:ext cx="3200400" cy="566928"/>
          </a:xfrm>
          <a:prstGeom prst="rect">
            <a:avLst/>
          </a:prstGeom>
          <a:solidFill>
            <a:srgbClr val="FFF0F2"/>
          </a:solidFill>
          <a:ln/>
        </p:spPr>
      </p:sp>
      <p:sp>
        <p:nvSpPr>
          <p:cNvPr id="10" name="Shape 8"/>
          <p:cNvSpPr/>
          <p:nvPr/>
        </p:nvSpPr>
        <p:spPr>
          <a:xfrm>
            <a:off x="3840480" y="2304288"/>
            <a:ext cx="7680960" cy="566928"/>
          </a:xfrm>
          <a:prstGeom prst="rect">
            <a:avLst/>
          </a:prstGeom>
          <a:solidFill>
            <a:srgbClr val="FFFFFF"/>
          </a:solidFill>
          <a:ln/>
        </p:spPr>
      </p:sp>
      <p:sp>
        <p:nvSpPr>
          <p:cNvPr id="11" name="Text 9"/>
          <p:cNvSpPr/>
          <p:nvPr/>
        </p:nvSpPr>
        <p:spPr>
          <a:xfrm>
            <a:off x="777240" y="2304288"/>
            <a:ext cx="2926080" cy="566928"/>
          </a:xfrm>
          <a:prstGeom prst="rect">
            <a:avLst/>
          </a:prstGeom>
          <a:noFill/>
          <a:ln/>
        </p:spPr>
        <p:txBody>
          <a:bodyPr wrap="square" lIns="0" tIns="0" rIns="0" bIns="0" rtlCol="0" anchor="ctr"/>
          <a:lstStyle/>
          <a:p>
            <a:pPr indent="0" marL="0">
              <a:buNone/>
            </a:pPr>
            <a:r>
              <a:rPr lang="en-US" sz="1400" b="1" dirty="0">
                <a:solidFill>
                  <a:srgbClr val="C41E3A"/>
                </a:solidFill>
                <a:latin typeface="Segoe UI" pitchFamily="34" charset="0"/>
                <a:ea typeface="Segoe UI" pitchFamily="34" charset="-122"/>
                <a:cs typeface="Segoe UI" pitchFamily="34" charset="-120"/>
              </a:rPr>
              <a:t>Giao diện</a:t>
            </a:r>
            <a:endParaRPr lang="en-US" sz="1400" dirty="0"/>
          </a:p>
        </p:txBody>
      </p:sp>
      <p:sp>
        <p:nvSpPr>
          <p:cNvPr id="12" name="Text 10"/>
          <p:cNvSpPr/>
          <p:nvPr/>
        </p:nvSpPr>
        <p:spPr>
          <a:xfrm>
            <a:off x="3977640" y="2304288"/>
            <a:ext cx="7498080" cy="566928"/>
          </a:xfrm>
          <a:prstGeom prst="rect">
            <a:avLst/>
          </a:prstGeom>
          <a:noFill/>
          <a:ln/>
        </p:spPr>
        <p:txBody>
          <a:bodyPr wrap="square" lIns="0" tIns="0" rIns="0" bIns="0" rtlCol="0" anchor="ctr"/>
          <a:lstStyle/>
          <a:p>
            <a:pPr indent="0" marL="0">
              <a:buNone/>
            </a:pPr>
            <a:r>
              <a:rPr lang="en-US" sz="1350" dirty="0">
                <a:solidFill>
                  <a:srgbClr val="374151"/>
                </a:solidFill>
                <a:latin typeface="Segoe UI" pitchFamily="34" charset="0"/>
                <a:ea typeface="Segoe UI" pitchFamily="34" charset="-122"/>
                <a:cs typeface="Segoe UI" pitchFamily="34" charset="-120"/>
              </a:rPr>
              <a:t>Be Vietnam Pro · FontAwesome 6 · mobile-first · glassmorphism</a:t>
            </a:r>
            <a:endParaRPr lang="en-US" sz="1350" dirty="0"/>
          </a:p>
        </p:txBody>
      </p:sp>
      <p:sp>
        <p:nvSpPr>
          <p:cNvPr id="13" name="Shape 11"/>
          <p:cNvSpPr/>
          <p:nvPr/>
        </p:nvSpPr>
        <p:spPr>
          <a:xfrm>
            <a:off x="640080" y="2871216"/>
            <a:ext cx="3200400" cy="566928"/>
          </a:xfrm>
          <a:prstGeom prst="rect">
            <a:avLst/>
          </a:prstGeom>
          <a:solidFill>
            <a:srgbClr val="FBE4E7"/>
          </a:solidFill>
          <a:ln/>
        </p:spPr>
      </p:sp>
      <p:sp>
        <p:nvSpPr>
          <p:cNvPr id="14" name="Shape 12"/>
          <p:cNvSpPr/>
          <p:nvPr/>
        </p:nvSpPr>
        <p:spPr>
          <a:xfrm>
            <a:off x="3840480" y="2871216"/>
            <a:ext cx="7680960" cy="566928"/>
          </a:xfrm>
          <a:prstGeom prst="rect">
            <a:avLst/>
          </a:prstGeom>
          <a:solidFill>
            <a:srgbClr val="FFF8F9"/>
          </a:solidFill>
          <a:ln/>
        </p:spPr>
      </p:sp>
      <p:sp>
        <p:nvSpPr>
          <p:cNvPr id="15" name="Text 13"/>
          <p:cNvSpPr/>
          <p:nvPr/>
        </p:nvSpPr>
        <p:spPr>
          <a:xfrm>
            <a:off x="777240" y="2871216"/>
            <a:ext cx="2926080" cy="566928"/>
          </a:xfrm>
          <a:prstGeom prst="rect">
            <a:avLst/>
          </a:prstGeom>
          <a:noFill/>
          <a:ln/>
        </p:spPr>
        <p:txBody>
          <a:bodyPr wrap="square" lIns="0" tIns="0" rIns="0" bIns="0" rtlCol="0" anchor="ctr"/>
          <a:lstStyle/>
          <a:p>
            <a:pPr indent="0" marL="0">
              <a:buNone/>
            </a:pPr>
            <a:r>
              <a:rPr lang="en-US" sz="1400" b="1" dirty="0">
                <a:solidFill>
                  <a:srgbClr val="C41E3A"/>
                </a:solidFill>
                <a:latin typeface="Segoe UI" pitchFamily="34" charset="0"/>
                <a:ea typeface="Segoe UI" pitchFamily="34" charset="-122"/>
                <a:cs typeface="Segoe UI" pitchFamily="34" charset="-120"/>
              </a:rPr>
              <a:t>Đa ngôn ngữ</a:t>
            </a:r>
            <a:endParaRPr lang="en-US" sz="1400" dirty="0"/>
          </a:p>
        </p:txBody>
      </p:sp>
      <p:sp>
        <p:nvSpPr>
          <p:cNvPr id="16" name="Text 14"/>
          <p:cNvSpPr/>
          <p:nvPr/>
        </p:nvSpPr>
        <p:spPr>
          <a:xfrm>
            <a:off x="3977640" y="2871216"/>
            <a:ext cx="7498080" cy="566928"/>
          </a:xfrm>
          <a:prstGeom prst="rect">
            <a:avLst/>
          </a:prstGeom>
          <a:noFill/>
          <a:ln/>
        </p:spPr>
        <p:txBody>
          <a:bodyPr wrap="square" lIns="0" tIns="0" rIns="0" bIns="0" rtlCol="0" anchor="ctr"/>
          <a:lstStyle/>
          <a:p>
            <a:pPr indent="0" marL="0">
              <a:buNone/>
            </a:pPr>
            <a:r>
              <a:rPr lang="en-US" sz="1350" dirty="0">
                <a:solidFill>
                  <a:srgbClr val="374151"/>
                </a:solidFill>
                <a:latin typeface="Segoe UI" pitchFamily="34" charset="0"/>
                <a:ea typeface="Segoe UI" pitchFamily="34" charset="-122"/>
                <a:cs typeface="Segoe UI" pitchFamily="34" charset="-120"/>
              </a:rPr>
              <a:t>Cơ chế i18n tự xây — Tiếng Việt / English / 中文</a:t>
            </a:r>
            <a:endParaRPr lang="en-US" sz="1350" dirty="0"/>
          </a:p>
        </p:txBody>
      </p:sp>
      <p:sp>
        <p:nvSpPr>
          <p:cNvPr id="17" name="Shape 15"/>
          <p:cNvSpPr/>
          <p:nvPr/>
        </p:nvSpPr>
        <p:spPr>
          <a:xfrm>
            <a:off x="640080" y="3438144"/>
            <a:ext cx="3200400" cy="566928"/>
          </a:xfrm>
          <a:prstGeom prst="rect">
            <a:avLst/>
          </a:prstGeom>
          <a:solidFill>
            <a:srgbClr val="FFF0F2"/>
          </a:solidFill>
          <a:ln/>
        </p:spPr>
      </p:sp>
      <p:sp>
        <p:nvSpPr>
          <p:cNvPr id="18" name="Shape 16"/>
          <p:cNvSpPr/>
          <p:nvPr/>
        </p:nvSpPr>
        <p:spPr>
          <a:xfrm>
            <a:off x="3840480" y="3438144"/>
            <a:ext cx="7680960" cy="566928"/>
          </a:xfrm>
          <a:prstGeom prst="rect">
            <a:avLst/>
          </a:prstGeom>
          <a:solidFill>
            <a:srgbClr val="FFFFFF"/>
          </a:solidFill>
          <a:ln/>
        </p:spPr>
      </p:sp>
      <p:sp>
        <p:nvSpPr>
          <p:cNvPr id="19" name="Text 17"/>
          <p:cNvSpPr/>
          <p:nvPr/>
        </p:nvSpPr>
        <p:spPr>
          <a:xfrm>
            <a:off x="777240" y="3438144"/>
            <a:ext cx="2926080" cy="566928"/>
          </a:xfrm>
          <a:prstGeom prst="rect">
            <a:avLst/>
          </a:prstGeom>
          <a:noFill/>
          <a:ln/>
        </p:spPr>
        <p:txBody>
          <a:bodyPr wrap="square" lIns="0" tIns="0" rIns="0" bIns="0" rtlCol="0" anchor="ctr"/>
          <a:lstStyle/>
          <a:p>
            <a:pPr indent="0" marL="0">
              <a:buNone/>
            </a:pPr>
            <a:r>
              <a:rPr lang="en-US" sz="1400" b="1" dirty="0">
                <a:solidFill>
                  <a:srgbClr val="C41E3A"/>
                </a:solidFill>
                <a:latin typeface="Segoe UI" pitchFamily="34" charset="0"/>
                <a:ea typeface="Segoe UI" pitchFamily="34" charset="-122"/>
                <a:cs typeface="Segoe UI" pitchFamily="34" charset="-120"/>
              </a:rPr>
              <a:t>Trợ lý ảo</a:t>
            </a:r>
            <a:endParaRPr lang="en-US" sz="1400" dirty="0"/>
          </a:p>
        </p:txBody>
      </p:sp>
      <p:sp>
        <p:nvSpPr>
          <p:cNvPr id="20" name="Text 18"/>
          <p:cNvSpPr/>
          <p:nvPr/>
        </p:nvSpPr>
        <p:spPr>
          <a:xfrm>
            <a:off x="3977640" y="3438144"/>
            <a:ext cx="7498080" cy="566928"/>
          </a:xfrm>
          <a:prstGeom prst="rect">
            <a:avLst/>
          </a:prstGeom>
          <a:noFill/>
          <a:ln/>
        </p:spPr>
        <p:txBody>
          <a:bodyPr wrap="square" lIns="0" tIns="0" rIns="0" bIns="0" rtlCol="0" anchor="ctr"/>
          <a:lstStyle/>
          <a:p>
            <a:pPr indent="0" marL="0">
              <a:buNone/>
            </a:pPr>
            <a:r>
              <a:rPr lang="en-US" sz="1350" dirty="0">
                <a:solidFill>
                  <a:srgbClr val="374151"/>
                </a:solidFill>
                <a:latin typeface="Segoe UI" pitchFamily="34" charset="0"/>
                <a:ea typeface="Segoe UI" pitchFamily="34" charset="-122"/>
                <a:cs typeface="Segoe UI" pitchFamily="34" charset="-120"/>
              </a:rPr>
              <a:t>Search engine nội bộ khớp từ khóa tiếng Việt không dấu</a:t>
            </a:r>
            <a:endParaRPr lang="en-US" sz="1350" dirty="0"/>
          </a:p>
        </p:txBody>
      </p:sp>
      <p:sp>
        <p:nvSpPr>
          <p:cNvPr id="21" name="Shape 19"/>
          <p:cNvSpPr/>
          <p:nvPr/>
        </p:nvSpPr>
        <p:spPr>
          <a:xfrm>
            <a:off x="640080" y="4005072"/>
            <a:ext cx="3200400" cy="566928"/>
          </a:xfrm>
          <a:prstGeom prst="rect">
            <a:avLst/>
          </a:prstGeom>
          <a:solidFill>
            <a:srgbClr val="FBE4E7"/>
          </a:solidFill>
          <a:ln/>
        </p:spPr>
      </p:sp>
      <p:sp>
        <p:nvSpPr>
          <p:cNvPr id="22" name="Shape 20"/>
          <p:cNvSpPr/>
          <p:nvPr/>
        </p:nvSpPr>
        <p:spPr>
          <a:xfrm>
            <a:off x="3840480" y="4005072"/>
            <a:ext cx="7680960" cy="566928"/>
          </a:xfrm>
          <a:prstGeom prst="rect">
            <a:avLst/>
          </a:prstGeom>
          <a:solidFill>
            <a:srgbClr val="FFF8F9"/>
          </a:solidFill>
          <a:ln/>
        </p:spPr>
      </p:sp>
      <p:sp>
        <p:nvSpPr>
          <p:cNvPr id="23" name="Text 21"/>
          <p:cNvSpPr/>
          <p:nvPr/>
        </p:nvSpPr>
        <p:spPr>
          <a:xfrm>
            <a:off x="777240" y="4005072"/>
            <a:ext cx="2926080" cy="566928"/>
          </a:xfrm>
          <a:prstGeom prst="rect">
            <a:avLst/>
          </a:prstGeom>
          <a:noFill/>
          <a:ln/>
        </p:spPr>
        <p:txBody>
          <a:bodyPr wrap="square" lIns="0" tIns="0" rIns="0" bIns="0" rtlCol="0" anchor="ctr"/>
          <a:lstStyle/>
          <a:p>
            <a:pPr indent="0" marL="0">
              <a:buNone/>
            </a:pPr>
            <a:r>
              <a:rPr lang="en-US" sz="1400" b="1" dirty="0">
                <a:solidFill>
                  <a:srgbClr val="C41E3A"/>
                </a:solidFill>
                <a:latin typeface="Segoe UI" pitchFamily="34" charset="0"/>
                <a:ea typeface="Segoe UI" pitchFamily="34" charset="-122"/>
                <a:cs typeface="Segoe UI" pitchFamily="34" charset="-120"/>
              </a:rPr>
              <a:t>Bảo mật</a:t>
            </a:r>
            <a:endParaRPr lang="en-US" sz="1400" dirty="0"/>
          </a:p>
        </p:txBody>
      </p:sp>
      <p:sp>
        <p:nvSpPr>
          <p:cNvPr id="24" name="Text 22"/>
          <p:cNvSpPr/>
          <p:nvPr/>
        </p:nvSpPr>
        <p:spPr>
          <a:xfrm>
            <a:off x="3977640" y="4005072"/>
            <a:ext cx="7498080" cy="566928"/>
          </a:xfrm>
          <a:prstGeom prst="rect">
            <a:avLst/>
          </a:prstGeom>
          <a:noFill/>
          <a:ln/>
        </p:spPr>
        <p:txBody>
          <a:bodyPr wrap="square" lIns="0" tIns="0" rIns="0" bIns="0" rtlCol="0" anchor="ctr"/>
          <a:lstStyle/>
          <a:p>
            <a:pPr indent="0" marL="0">
              <a:buNone/>
            </a:pPr>
            <a:r>
              <a:rPr lang="en-US" sz="1350" dirty="0">
                <a:solidFill>
                  <a:srgbClr val="374151"/>
                </a:solidFill>
                <a:latin typeface="Segoe UI" pitchFamily="34" charset="0"/>
                <a:ea typeface="Segoe UI" pitchFamily="34" charset="-122"/>
                <a:cs typeface="Segoe UI" pitchFamily="34" charset="-120"/>
              </a:rPr>
              <a:t>Chống XSS (escapeHtml) · SRI cho CDN · định hướng CSP</a:t>
            </a:r>
            <a:endParaRPr lang="en-US" sz="1350" dirty="0"/>
          </a:p>
        </p:txBody>
      </p:sp>
      <p:sp>
        <p:nvSpPr>
          <p:cNvPr id="25" name="Shape 23"/>
          <p:cNvSpPr/>
          <p:nvPr/>
        </p:nvSpPr>
        <p:spPr>
          <a:xfrm>
            <a:off x="640080" y="4572000"/>
            <a:ext cx="3200400" cy="566928"/>
          </a:xfrm>
          <a:prstGeom prst="rect">
            <a:avLst/>
          </a:prstGeom>
          <a:solidFill>
            <a:srgbClr val="FFF0F2"/>
          </a:solidFill>
          <a:ln/>
        </p:spPr>
      </p:sp>
      <p:sp>
        <p:nvSpPr>
          <p:cNvPr id="26" name="Shape 24"/>
          <p:cNvSpPr/>
          <p:nvPr/>
        </p:nvSpPr>
        <p:spPr>
          <a:xfrm>
            <a:off x="3840480" y="4572000"/>
            <a:ext cx="7680960" cy="566928"/>
          </a:xfrm>
          <a:prstGeom prst="rect">
            <a:avLst/>
          </a:prstGeom>
          <a:solidFill>
            <a:srgbClr val="FFFFFF"/>
          </a:solidFill>
          <a:ln/>
        </p:spPr>
      </p:sp>
      <p:sp>
        <p:nvSpPr>
          <p:cNvPr id="27" name="Text 25"/>
          <p:cNvSpPr/>
          <p:nvPr/>
        </p:nvSpPr>
        <p:spPr>
          <a:xfrm>
            <a:off x="777240" y="4572000"/>
            <a:ext cx="2926080" cy="566928"/>
          </a:xfrm>
          <a:prstGeom prst="rect">
            <a:avLst/>
          </a:prstGeom>
          <a:noFill/>
          <a:ln/>
        </p:spPr>
        <p:txBody>
          <a:bodyPr wrap="square" lIns="0" tIns="0" rIns="0" bIns="0" rtlCol="0" anchor="ctr"/>
          <a:lstStyle/>
          <a:p>
            <a:pPr indent="0" marL="0">
              <a:buNone/>
            </a:pPr>
            <a:r>
              <a:rPr lang="en-US" sz="1400" b="1" dirty="0">
                <a:solidFill>
                  <a:srgbClr val="C41E3A"/>
                </a:solidFill>
                <a:latin typeface="Segoe UI" pitchFamily="34" charset="0"/>
                <a:ea typeface="Segoe UI" pitchFamily="34" charset="-122"/>
                <a:cs typeface="Segoe UI" pitchFamily="34" charset="-120"/>
              </a:rPr>
              <a:t>Triển khai</a:t>
            </a:r>
            <a:endParaRPr lang="en-US" sz="1400" dirty="0"/>
          </a:p>
        </p:txBody>
      </p:sp>
      <p:sp>
        <p:nvSpPr>
          <p:cNvPr id="28" name="Text 26"/>
          <p:cNvSpPr/>
          <p:nvPr/>
        </p:nvSpPr>
        <p:spPr>
          <a:xfrm>
            <a:off x="3977640" y="4572000"/>
            <a:ext cx="7498080" cy="566928"/>
          </a:xfrm>
          <a:prstGeom prst="rect">
            <a:avLst/>
          </a:prstGeom>
          <a:noFill/>
          <a:ln/>
        </p:spPr>
        <p:txBody>
          <a:bodyPr wrap="square" lIns="0" tIns="0" rIns="0" bIns="0" rtlCol="0" anchor="ctr"/>
          <a:lstStyle/>
          <a:p>
            <a:pPr indent="0" marL="0">
              <a:buNone/>
            </a:pPr>
            <a:r>
              <a:rPr lang="en-US" sz="1350" dirty="0">
                <a:solidFill>
                  <a:srgbClr val="374151"/>
                </a:solidFill>
                <a:latin typeface="Segoe UI" pitchFamily="34" charset="0"/>
                <a:ea typeface="Segoe UI" pitchFamily="34" charset="-122"/>
                <a:cs typeface="Segoe UI" pitchFamily="34" charset="-120"/>
              </a:rPr>
              <a:t>Hosting tĩnh (Vercel) · phát hành qua mã QR</a:t>
            </a:r>
            <a:endParaRPr lang="en-US" sz="1350" dirty="0"/>
          </a:p>
        </p:txBody>
      </p:sp>
    </p:spTree>
  </p:cSld>
  <p:clrMapOvr>
    <a:masterClrMapping/>
  </p:clrMapOvr>
  <p:transition xmlns:p14="http://schemas.microsoft.com/office/powerpoint/2010/main" spd="med" p14:dur="45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Cổng Thông Tin Số — Công an phường Phú Thọ</dc:title>
  <dc:subject>PptxGenJS Presentation</dc:subject>
  <dc:creator>Công an phường Phú Thọ</dc:creator>
  <cp:lastModifiedBy>Công an phường Phú Thọ</cp:lastModifiedBy>
  <cp:revision>1</cp:revision>
  <dcterms:created xsi:type="dcterms:W3CDTF">2026-06-19T07:18:44Z</dcterms:created>
  <dcterms:modified xsi:type="dcterms:W3CDTF">2026-06-19T07:18:44Z</dcterms:modified>
</cp:coreProperties>
</file>