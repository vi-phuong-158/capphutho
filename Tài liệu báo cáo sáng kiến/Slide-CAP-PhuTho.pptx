
<file path=[Content_Types].xml><?xml version="1.0" encoding="utf-8"?>
<Types xmlns="http://schemas.openxmlformats.org/package/2006/content-types">
  <Default Extension="fntdata" ContentType="application/x-fontdata"/>
  <Default Extension="jpeg" ContentType="image/jpeg"/>
  <Default Extension="png" ContentType="image/png"/>
  <Default Extension="rels" ContentType="application/vnd.openxmlformats-package.relationships+xml"/>
  <Default Extension="svg" ContentType="image/svg+xml"/>
  <Default Extension="xml" ContentType="application/xml"/>
  <Override PartName="/ppt/webextensions/taskpanes.xml" ContentType="application/vnd.ms-office.webextensiontaskpanes+xml"/>
  <Override PartName="/ppt/webextensions/webextension1.xml" ContentType="application/vnd.ms-office.webextens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thumbnail" Target="docProps/thumbnail.jpeg"/><Relationship Id="rId2" Type="http://schemas.openxmlformats.org/officeDocument/2006/relationships/officeDocument" Target="ppt/presentation.xml"/><Relationship Id="rId1" Type="http://schemas.microsoft.com/office/2011/relationships/webextensiontaskpanes" Target="ppt/webextensions/taskpanes.xml"/><Relationship Id="rId5" Type="http://schemas.openxmlformats.org/officeDocument/2006/relationships/extended-properties" Target="docProps/app.xml"/><Relationship Id="rId4" Type="http://schemas.openxmlformats.org/package/2006/relationships/metadata/core-properties" Target="docProps/core.xml"/></Relationships>
</file>

<file path=ppt/presentation.xml><?xml version="1.0" encoding="utf-8"?>
<p:presentation xmlns:a="http://schemas.openxmlformats.org/drawingml/2006/main" xmlns:r="http://schemas.openxmlformats.org/officeDocument/2006/relationships" xmlns:p="http://schemas.openxmlformats.org/presentationml/2006/main" embedTrueTypeFonts="1">
  <p:sldMasterIdLst>
    <p:sldMasterId id="2147483648" r:id="rId1"/>
  </p:sldMasterIdLst>
  <p:notesMasterIdLst>
    <p:notesMasterId r:id="rId14"/>
  </p:notesMasterIdLst>
  <p:sldIdLst>
    <p:sldId id="291" r:id="rId2"/>
    <p:sldId id="293" r:id="rId3"/>
    <p:sldId id="294" r:id="rId4"/>
    <p:sldId id="295" r:id="rId5"/>
    <p:sldId id="296" r:id="rId6"/>
    <p:sldId id="297" r:id="rId7"/>
    <p:sldId id="298" r:id="rId8"/>
    <p:sldId id="299" r:id="rId9"/>
    <p:sldId id="300" r:id="rId10"/>
    <p:sldId id="301" r:id="rId11"/>
    <p:sldId id="302" r:id="rId12"/>
    <p:sldId id="303" r:id="rId13"/>
  </p:sldIdLst>
  <p:sldSz cx="18288000" cy="10287000"/>
  <p:notesSz cx="6858000" cy="9144000"/>
  <p:embeddedFontLst>
    <p:embeddedFont>
      <p:font typeface="Bevan" panose="020B0604020202020204" charset="0"/>
      <p:regular r:id="rId15"/>
    </p:embeddedFont>
    <p:embeddedFont>
      <p:font typeface="Montserrat" panose="00000500000000000000" pitchFamily="2" charset="0"/>
      <p:regular r:id="rId16"/>
      <p:bold r:id="rId17"/>
      <p:italic r:id="rId18"/>
      <p:boldItalic r:id="rId19"/>
    </p:embeddedFont>
    <p:embeddedFont>
      <p:font typeface="Montserrat Bold" panose="00000800000000000000" pitchFamily="2" charset="0"/>
      <p:regular r:id="rId20"/>
    </p:embeddedFont>
    <p:embeddedFont>
      <p:font typeface="Montserrat Bold Italics" panose="020B0604020202020204" charset="0"/>
      <p:regular r:id="rId21"/>
    </p:embeddedFont>
    <p:embeddedFont>
      <p:font typeface="Montserrat Heavy" panose="020B0604020202020204" charset="0"/>
      <p:regular r:id="rId22"/>
    </p:embeddedFont>
    <p:embeddedFont>
      <p:font typeface="Montserrat Italics" panose="020B0604020202020204" charset="0"/>
      <p:regular r:id="rId23"/>
    </p:embeddedFont>
    <p:embeddedFont>
      <p:font typeface="Montserrat Semi-Bold" panose="020B0604020202020204" charset="0"/>
      <p:regular r:id="rId24"/>
    </p:embeddedFont>
  </p:embeddedFont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autoAdjust="0"/>
    <p:restoredTop sz="94622" autoAdjust="0"/>
  </p:normalViewPr>
  <p:slideViewPr>
    <p:cSldViewPr>
      <p:cViewPr varScale="1">
        <p:scale>
          <a:sx n="60" d="100"/>
          <a:sy n="60" d="100"/>
        </p:scale>
        <p:origin x="331" y="34"/>
      </p:cViewPr>
      <p:guideLst>
        <p:guide orient="horz" pos="2160"/>
        <p:guide pos="2880"/>
      </p:guideLst>
    </p:cSldViewPr>
  </p:slideViewPr>
  <p:outlineViewPr>
    <p:cViewPr>
      <p:scale>
        <a:sx n="33" d="100"/>
        <a:sy n="33" d="100"/>
      </p:scale>
      <p:origin x="0" y="0"/>
    </p:cViewPr>
  </p:outlin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font" Target="fonts/font4.fntdata"/><Relationship Id="rId26" Type="http://schemas.openxmlformats.org/officeDocument/2006/relationships/viewProps" Target="viewProps.xml"/><Relationship Id="rId3" Type="http://schemas.openxmlformats.org/officeDocument/2006/relationships/slide" Target="slides/slide2.xml"/><Relationship Id="rId21" Type="http://schemas.openxmlformats.org/officeDocument/2006/relationships/font" Target="fonts/font7.fntdata"/><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font" Target="fonts/font3.fntdata"/><Relationship Id="rId25" Type="http://schemas.openxmlformats.org/officeDocument/2006/relationships/presProps" Target="presProps.xml"/><Relationship Id="rId2" Type="http://schemas.openxmlformats.org/officeDocument/2006/relationships/slide" Target="slides/slide1.xml"/><Relationship Id="rId16" Type="http://schemas.openxmlformats.org/officeDocument/2006/relationships/font" Target="fonts/font2.fntdata"/><Relationship Id="rId20" Type="http://schemas.openxmlformats.org/officeDocument/2006/relationships/font" Target="fonts/font6.fntdata"/><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font" Target="fonts/font10.fntdata"/><Relationship Id="rId5" Type="http://schemas.openxmlformats.org/officeDocument/2006/relationships/slide" Target="slides/slide4.xml"/><Relationship Id="rId15" Type="http://schemas.openxmlformats.org/officeDocument/2006/relationships/font" Target="fonts/font1.fntdata"/><Relationship Id="rId23" Type="http://schemas.openxmlformats.org/officeDocument/2006/relationships/font" Target="fonts/font9.fntdata"/><Relationship Id="rId28" Type="http://schemas.openxmlformats.org/officeDocument/2006/relationships/tableStyles" Target="tableStyles.xml"/><Relationship Id="rId10" Type="http://schemas.openxmlformats.org/officeDocument/2006/relationships/slide" Target="slides/slide9.xml"/><Relationship Id="rId19" Type="http://schemas.openxmlformats.org/officeDocument/2006/relationships/font" Target="fonts/font5.fntdata"/><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notesMaster" Target="notesMasters/notesMaster1.xml"/><Relationship Id="rId22" Type="http://schemas.openxmlformats.org/officeDocument/2006/relationships/font" Target="fonts/font8.fntdata"/><Relationship Id="rId27" Type="http://schemas.openxmlformats.org/officeDocument/2006/relationships/theme" Target="theme/theme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DEF70AFB-CDE9-431C-945B-31B9C5ED7C35}" type="datetimeFigureOut">
              <a:rPr lang="en-US" smtClean="0"/>
              <a:t>6/20/2026</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A7E9FF4C-052C-4841-BAED-C8BD45A2B314}" type="slidenum">
              <a:rPr lang="en-US" smtClean="0"/>
              <a:t>‹#›</a:t>
            </a:fld>
            <a:endParaRPr lang="en-US"/>
          </a:p>
        </p:txBody>
      </p:sp>
    </p:spTree>
    <p:extLst>
      <p:ext uri="{BB962C8B-B14F-4D97-AF65-F5344CB8AC3E}">
        <p14:creationId xmlns:p14="http://schemas.microsoft.com/office/powerpoint/2010/main" val="3825250249"/>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Notes Placeholder 1"/>
          <p:cNvSpPr>
            <a:spLocks noGrp="1"/>
          </p:cNvSpPr>
          <p:nvPr>
            <p:ph type="body" idx="1"/>
          </p:nvPr>
        </p:nvSpPr>
        <p:spPr/>
        <p:txBody>
          <a:bodyPr/>
          <a:lstStyle/>
          <a:p>
            <a:r>
              <a:rPr lang="vi-VN" dirty="0"/>
              <a:t>Kính thưa các đồng chí trong Hội đồng. Tôi xin trình bày sáng kiến "Cổng thông tin số và Trợ lý ảo hỗ trợ tra cứu thủ tục hành chính" tại Công an phường Phú Thọ. Đây là giải pháp chuyển đổi số xuất phát trực tiếp từ thực tiễn công tác tiếp dân hằng ngày: người dân chỉ cần quét một mã QR, không cần cài đặt bất kỳ ứng dụng nào, là đã có ngay một trợ lý hướng dẫn thủ tục phục vụ 24/7. Toàn bộ sáng kiến do cán bộ đơn vị tự nghiên cứu và lập trình, chi phí gần như bằng không — một sản phẩm công nghệ của người Công an cơ sở, ngay trên quê hương Đất Tổ Hùng Vương.</a:t>
            </a: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Notes Placeholder 1"/>
          <p:cNvSpPr>
            <a:spLocks noGrp="1"/>
          </p:cNvSpPr>
          <p:nvPr>
            <p:ph type="body" idx="1"/>
          </p:nvPr>
        </p:nvSpPr>
        <p:spPr/>
        <p:txBody>
          <a:bodyPr/>
          <a:lstStyle/>
          <a:p>
            <a:r>
              <a:rPr lang="vi-VN" dirty="0"/>
              <a:t>Sáng kiến bám sát hai văn bản định hướng. Một là Nghị quyết 57 của Bộ Chính trị về đột phá phát triển khoa học công nghệ, đổi mới sáng tạo và chuyển đổi số quốc gia. Hai là Kế hoạch 342 của Công an tỉnh Phú Thọ về nghiên cứu sáng kiến, nâng cao chất lượng chuyên môn và đẩy mạnh cải cách hành chính năm 2026. Đặc biệt, theo Chỉ số cải cách hành chính PAR INDEX năm 2026, việc ứng dụng trí tuệ nhân tạo hỗ trợ người dân thực hiện thủ tục đã trở thành tiêu chí bắt buộc — nên việc xây dựng cổng là rất cấp thiết.</a:t>
            </a: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Notes Placeholder 1"/>
          <p:cNvSpPr>
            <a:spLocks noGrp="1"/>
          </p:cNvSpPr>
          <p:nvPr>
            <p:ph type="body" idx="1"/>
          </p:nvPr>
        </p:nvSpPr>
        <p:spPr/>
        <p:txBody>
          <a:bodyPr/>
          <a:lstStyle/>
          <a:p>
            <a:r>
              <a:rPr lang="vi-VN" dirty="0"/>
              <a:t>Trong công tác tiếp dân, nhu cầu hỏi và giải quyết thủ tục hành chính rất lớn. Trung bình mỗi ngày, trực ban Công an phường tiếp nhận hàng chục lượt người dân đến tận nơi hoặc gọi điện, chỉ để hỏi những việc lặp đi lặp lại: cần giấy tờ gì, mất bao lâu, lệ phí bao nhiêu. Việc hướng dẫn chủ yếu thủ công nên rất tốn thời gian của cán bộ; còn người dân thì hay đi lại nhiều lần do chuẩn bị thiếu hồ sơ, sinh tâm lý e ngại và giảm sự hài lòng. (Tùy chọn: Quy định liên tục cập nhật — Luật Căn cước 2023, Thông tư 24/2023 về đăng ký xe — càng làm tăng nhu cầu tra cứu chính thống.)</a:t>
            </a: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Notes Placeholder 1"/>
          <p:cNvSpPr>
            <a:spLocks noGrp="1"/>
          </p:cNvSpPr>
          <p:nvPr>
            <p:ph type="body" idx="1"/>
          </p:nvPr>
        </p:nvSpPr>
        <p:spPr/>
        <p:txBody>
          <a:bodyPr/>
          <a:lstStyle/>
          <a:p>
            <a:r>
              <a:rPr lang="vi-VN" dirty="0"/>
              <a:t>Trước đây, đơn vị đã thử tuyên truyền thủ tục qua bảng niêm yết giấy tại trụ sở và gửi file PDF, Word vào các nhóm Zalo khu dân cư. Nhưng cách làm đó thiếu tính tương tác, chữ nhỏ khó đọc trên điện thoại, bà con khó tìm đúng trọng tâm thủ tục mình cần. Sáng kiến lần này là bước nâng cấp toàn diện: từ tờ giấy tĩnh sang một cổng số tương tác, tra cứu được, hỏi là đáp ngay — khắc phục triệt để những hạn chế cũ.</a:t>
            </a: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Notes Placeholder 1"/>
          <p:cNvSpPr>
            <a:spLocks noGrp="1"/>
          </p:cNvSpPr>
          <p:nvPr>
            <p:ph type="body" idx="1"/>
          </p:nvPr>
        </p:nvSpPr>
        <p:spPr/>
        <p:txBody>
          <a:bodyPr/>
          <a:lstStyle/>
          <a:p>
            <a:r>
              <a:rPr lang="vi-VN" dirty="0"/>
              <a:t>Cổng hoạt động dưới dạng một Web App — mở bằng trình duyệt hoặc quét mã QR, không phải cài đặt ứng dụng. Người dân chỉ qua ba bước rất tự nhiên: quét mã QR để vào cổng; tra cứu lĩnh vực cần làm hoặc gõ câu hỏi cho Trợ lý ảo; rồi bấm nút nộp hồ sơ trực tuyến ngay trên Cổng dịch vụ công Bộ Công an. Đơn giản đến mức người lớn tuổi cũng tự làm được.</a:t>
            </a:r>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Notes Placeholder 1"/>
          <p:cNvSpPr>
            <a:spLocks noGrp="1"/>
          </p:cNvSpPr>
          <p:nvPr>
            <p:ph type="body" idx="1"/>
          </p:nvPr>
        </p:nvSpPr>
        <p:spPr/>
        <p:txBody>
          <a:bodyPr/>
          <a:lstStyle/>
          <a:p>
            <a:r>
              <a:rPr lang="vi-VN" dirty="0"/>
              <a:t>Cổng phân loại thủ tục thành 06 nhóm lĩnh vực trọng tâm cấp phường: cư trú và căn cước; đăng ký xe máy; quản lý ngành nghề an ninh trật tự; quản lý người nước ngoài; vũ khí và pháo; cùng khiếu nại, tố cáo và góp ý. Mỗi lĩnh vực trình bày dạng thẻ gập/mở, tóm tắt cực ngắn gọn ba điều người dân cần nhất: cần giấy tờ gì, mất bao lâu, và có nút liên kết nộp hồ sơ online ngay trên Cổng dịch vụ công Bộ Công an. Ngoài 06 nhóm này, Cổng còn dành riêng một chuyên mục Thủ tục liên thông trọng điểm — như khai sinh – đăng ký thường trú – cấp thẻ bảo hiểm y tế cho trẻ dưới 6 tuổi, hay khai tử – xóa thường trú — vốn là những việc người dân hay vướng mắc nhất.</a:t>
            </a:r>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Notes Placeholder 1"/>
          <p:cNvSpPr>
            <a:spLocks noGrp="1"/>
          </p:cNvSpPr>
          <p:nvPr>
            <p:ph type="body" idx="1"/>
          </p:nvPr>
        </p:nvSpPr>
        <p:spPr/>
        <p:txBody>
          <a:bodyPr/>
          <a:lstStyle/>
          <a:p>
            <a:r>
              <a:rPr lang="vi-VN" dirty="0"/>
              <a:t>Đây là giao diện thật của Cổng, chụp trực tiếp trên điện thoại. Thiết kế theo phong cách Cổng dịch vụ công — tối ưu 100% cho điện thoại, nút bấm lớn, icon trực quan, màu đỏ – vàng nhận diện của lực lượng. Ngay trên đầu trang có nút đổi ngôn ngữ Việt – Anh – Trung và chế độ Chữ to / Dễ đọc cho người cao tuổi. Từ trang chủ với các thẻ dịch vụ, đến trợ lý ảo hỏi–đáp, trang hướng dẫn từng lĩnh vực — tất cả gọn trong lòng bàn tay.</a:t>
            </a:r>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Notes Placeholder 1"/>
          <p:cNvSpPr>
            <a:spLocks noGrp="1"/>
          </p:cNvSpPr>
          <p:nvPr>
            <p:ph type="body" idx="1"/>
          </p:nvPr>
        </p:nvSpPr>
        <p:spPr/>
        <p:txBody>
          <a:bodyPr/>
          <a:lstStyle/>
          <a:p>
            <a:r>
              <a:rPr lang="vi-VN" dirty="0"/>
              <a:t>Điểm mới nằm ở bốn chỗ. Thứ nhất, thay vì bắt dân đọc cả văn bản luật dài, Cổng đã "bình dân hóa" ngôn ngữ pháp lý thành những gạch đầu dòng ngắn gọn, dễ hiểu. Thứ hai là Trợ lý ảo Chatbot: người dân chỉ cần gõ từ khóa như "làm sổ tạm trú" hay "mất cà vẹt xe", hệ thống tự quét dữ liệu và trả lời chính xác, không cần con người can thiệp. Thứ ba, Cổng hỗ trợ ba thứ tiếng Việt – Anh – Trung cùng chế độ Chữ to dễ đọc — phục vụ cả người nước ngoài lẫn người cao tuổi tự tra cứu. Thứ tư, nhờ tư duy web tĩnh, trang tải cực nhanh, chi phí vận hành gần bằng 0 và đóng gói chuyển giao cho đơn vị khác rất dễ.</a:t>
            </a:r>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Notes Placeholder 1"/>
          <p:cNvSpPr>
            <a:spLocks noGrp="1"/>
          </p:cNvSpPr>
          <p:nvPr>
            <p:ph type="body" idx="1"/>
          </p:nvPr>
        </p:nvSpPr>
        <p:spPr/>
        <p:txBody>
          <a:bodyPr/>
          <a:lstStyle/>
          <a:p>
            <a:r>
              <a:rPr lang="vi-VN" dirty="0"/>
              <a:t>Và đây là kết quả thật chỉ sau một tháng áp dụng thử. Số người dân phải hỏi trực tiếp giảm khoảng 60%, giải phóng đáng kể thời gian cho cán bộ trực ban. 100% người dân khi mang hồ sơ đến trụ sở đều đã chuẩn bị đầy đủ giấy tờ theo hướng dẫn trên cổng — không còn cảnh đi lại nhiều lần. Và Trợ lý ảo đã tự động phục vụ thành công hàng trăm lượt truy vấn ngoài giờ hành chính — những buổi tối, ngày nghỉ mà trước đây không ai trực để trả lời.</a:t>
            </a:r>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Notes Placeholder 1"/>
          <p:cNvSpPr>
            <a:spLocks noGrp="1"/>
          </p:cNvSpPr>
          <p:nvPr>
            <p:ph type="body" idx="1"/>
          </p:nvPr>
        </p:nvSpPr>
        <p:spPr/>
        <p:txBody>
          <a:bodyPr/>
          <a:lstStyle/>
          <a:p>
            <a:r>
              <a:rPr lang="vi-VN" dirty="0"/>
              <a:t>Giá trị thể hiện trên ba mặt. Về chuyên môn: đạt mục tiêu giảm ít nhất 50% thời gian giải đáp thủ tục cơ bản, để cán bộ tập trung cho nhiệm vụ nghiệp vụ chính. Về kinh tế: tiết kiệm rõ rệt chi phí in ấn tờ rơi, biểu mẫu giấy. Và về phục vụ Nhân dân: thông tin chính thống đến với dân 24/7, góp phần xây dựng hình ảnh Công an phường điển hình, kiểu mẫu về an ninh trật tự và văn minh đô thị.</a:t>
            </a:r>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Notes Placeholder 1"/>
          <p:cNvSpPr>
            <a:spLocks noGrp="1"/>
          </p:cNvSpPr>
          <p:nvPr>
            <p:ph type="body" idx="1"/>
          </p:nvPr>
        </p:nvSpPr>
        <p:spPr/>
        <p:txBody>
          <a:bodyPr/>
          <a:lstStyle/>
          <a:p>
            <a:r>
              <a:rPr lang="vi-VN" dirty="0"/>
              <a:t>Về lộ trình: ngày 10 tháng 3 chúng tôi triển khai thí điểm, dán mã QR tại trụ sở Công an phường và các nhà văn hóa khu dân cư. Chỉ sau một tháng đã cho kết quả tích cực. Đến ngày 4 tháng 4 hoàn thiện bản mô tả để đề nghị công nhận. Về nhân rộng, khả năng ứng dụng là cực kỳ lớn: mã nguồn thiết kế dạng module độc lập, chỉ cần đổi logo và tên đơn vị là có thể nhân rộng ngay cho 100% Công an các xã, phường toàn tỉnh Phú Thọ trong năm 2026 — không mất thêm chi phí lập trình.</a:t>
            </a:r>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Notes Placeholder 1"/>
          <p:cNvSpPr>
            <a:spLocks noGrp="1"/>
          </p:cNvSpPr>
          <p:nvPr>
            <p:ph type="body" idx="1"/>
          </p:nvPr>
        </p:nvSpPr>
        <p:spPr/>
        <p:txBody>
          <a:bodyPr/>
          <a:lstStyle/>
          <a:p>
            <a:r>
              <a:rPr lang="vi-VN" dirty="0"/>
              <a:t>Kính thưa Hội đồng. Sáng kiến này là một giải pháp công nghệ mang tính thực tiễn cao, xuất phát trực tiếp từ yêu cầu công tác; đã giải quyết triệt để tình trạng quá tải trong khâu hướng dẫn thủ tục, đem lại sự thuận tiện tối đa cho người dân, đáp ứng xuất sắc định hướng ứng dụng AI và chuyển đổi số theo Nghị quyết 57 và Kế hoạch 342. Vì vậy, tôi kính đề nghị: một là Hội đồng Sáng kiến Công an tỉnh thẩm định, công nhận đây là Sáng kiến cấp cơ sở năm 2026; hai là Ban Giám đốc Công an tỉnh cho phép chuyển giao mã nguồn, nhân rộng mô hình tới Công an các xã, phường toàn tỉnh. Trân trọng cảm ơn Hội đồng! ── PHỤ LỤC (khi được hỏi sâu): Hạ tầng đưa lên nền tảng web miễn phí hoặc máy chủ Công an tỉnh, tạo link rút gọn và mã QR; triển khai bằng standee, bảng mica gắn QR tại bàn tiếp dân; truyền thông qua Zalo OA và Cảnh sát khu vực; kỹ thuật là web tĩnh HTML/CSS/JS, không backend, không CSDL; Trợ lý ảo là Chatbot FAQ quét từ khóa; chi phí gần 0, module độc lập dễ chuyển giao.</a:t>
            </a: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a:t>Click to edit Master title style</a:t>
            </a:r>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fld id="{1D8BD707-D9CF-40AE-B4C6-C98DA3205C09}" type="datetimeFigureOut">
              <a:rPr lang="en-US" smtClean="0"/>
              <a:pPr/>
              <a:t>6/20/2026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pPr/>
              <a:t>6/20/2026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1D8BD707-D9CF-40AE-B4C6-C98DA3205C09}" type="datetimeFigureOut">
              <a:rPr lang="en-US" smtClean="0"/>
              <a:pPr/>
              <a:t>6/20/2026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1D8BD707-D9CF-40AE-B4C6-C98DA3205C09}" type="datetimeFigureOut">
              <a:rPr lang="en-US" smtClean="0"/>
              <a:pPr/>
              <a:t>6/20/2026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1D8BD707-D9CF-40AE-B4C6-C98DA3205C09}" type="datetimeFigureOut">
              <a:rPr lang="en-US" smtClean="0"/>
              <a:pPr/>
              <a:t>6/20/2026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1D8BD707-D9CF-40AE-B4C6-C98DA3205C09}" type="datetimeFigureOut">
              <a:rPr lang="en-US" smtClean="0"/>
              <a:pPr/>
              <a:t>6/20/2026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D8BD707-D9CF-40AE-B4C6-C98DA3205C09}" type="datetimeFigureOut">
              <a:rPr lang="en-US" smtClean="0"/>
              <a:pPr/>
              <a:t>6/20/2026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6/20/2026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6/20/2026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pPr/>
              <a:t>6/20/2026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pPr/>
              <a:t>6/20/2026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1D8BD707-D9CF-40AE-B4C6-C98DA3205C09}" type="datetimeFigureOut">
              <a:rPr lang="en-US" smtClean="0"/>
              <a:pPr/>
              <a:t>6/20/2026</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6F15528-21DE-4FAA-801E-634DDDAF4B2B}" type="slidenum">
              <a:rPr lang="en-US" smtClean="0"/>
              <a:pPr/>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7.xml"/><Relationship Id="rId5" Type="http://schemas.openxmlformats.org/officeDocument/2006/relationships/image" Target="../media/image3.svg"/><Relationship Id="rId4" Type="http://schemas.openxmlformats.org/officeDocument/2006/relationships/image" Target="../media/image2.jpeg"/></Relationships>
</file>

<file path=ppt/slides/_rels/slide2.xml.rels><?xml version="1.0" encoding="UTF-8" standalone="yes"?>
<Relationships xmlns="http://schemas.openxmlformats.org/package/2006/relationships"><Relationship Id="rId3" Type="http://schemas.openxmlformats.org/officeDocument/2006/relationships/image" Target="../media/image2.jpeg"/><Relationship Id="rId7" Type="http://schemas.openxmlformats.org/officeDocument/2006/relationships/image" Target="../media/image7.svg"/><Relationship Id="rId2" Type="http://schemas.openxmlformats.org/officeDocument/2006/relationships/notesSlide" Target="../notesSlides/notesSlide2.xml"/><Relationship Id="rId1" Type="http://schemas.openxmlformats.org/officeDocument/2006/relationships/slideLayout" Target="../slideLayouts/slideLayout7.xml"/><Relationship Id="rId6" Type="http://schemas.openxmlformats.org/officeDocument/2006/relationships/image" Target="../media/image6.png"/><Relationship Id="rId5" Type="http://schemas.openxmlformats.org/officeDocument/2006/relationships/image" Target="../media/image5.png"/><Relationship Id="rId4" Type="http://schemas.openxmlformats.org/officeDocument/2006/relationships/image" Target="../media/image4.png"/></Relationships>
</file>

<file path=ppt/slides/_rels/slide3.xml.rels><?xml version="1.0" encoding="UTF-8" standalone="yes"?>
<Relationships xmlns="http://schemas.openxmlformats.org/package/2006/relationships"><Relationship Id="rId3" Type="http://schemas.openxmlformats.org/officeDocument/2006/relationships/image" Target="../media/image2.jpeg"/><Relationship Id="rId2" Type="http://schemas.openxmlformats.org/officeDocument/2006/relationships/notesSlide" Target="../notesSlides/notesSlide3.xml"/><Relationship Id="rId1" Type="http://schemas.openxmlformats.org/officeDocument/2006/relationships/slideLayout" Target="../slideLayouts/slideLayout7.xml"/><Relationship Id="rId5" Type="http://schemas.openxmlformats.org/officeDocument/2006/relationships/image" Target="../media/image3.svg"/><Relationship Id="rId4" Type="http://schemas.openxmlformats.org/officeDocument/2006/relationships/image" Target="../media/image8.png"/></Relationships>
</file>

<file path=ppt/slides/_rels/slide4.xml.rels><?xml version="1.0" encoding="UTF-8" standalone="yes"?>
<Relationships xmlns="http://schemas.openxmlformats.org/package/2006/relationships"><Relationship Id="rId8" Type="http://schemas.openxmlformats.org/officeDocument/2006/relationships/image" Target="../media/image12.png"/><Relationship Id="rId3" Type="http://schemas.openxmlformats.org/officeDocument/2006/relationships/image" Target="../media/image2.jpeg"/><Relationship Id="rId7" Type="http://schemas.openxmlformats.org/officeDocument/2006/relationships/image" Target="../media/image11.png"/><Relationship Id="rId2" Type="http://schemas.openxmlformats.org/officeDocument/2006/relationships/notesSlide" Target="../notesSlides/notesSlide4.xml"/><Relationship Id="rId1" Type="http://schemas.openxmlformats.org/officeDocument/2006/relationships/slideLayout" Target="../slideLayouts/slideLayout7.xml"/><Relationship Id="rId6" Type="http://schemas.openxmlformats.org/officeDocument/2006/relationships/image" Target="../media/image10.png"/><Relationship Id="rId5" Type="http://schemas.openxmlformats.org/officeDocument/2006/relationships/image" Target="../media/image9.png"/><Relationship Id="rId4" Type="http://schemas.openxmlformats.org/officeDocument/2006/relationships/image" Target="../media/image4.png"/><Relationship Id="rId9" Type="http://schemas.openxmlformats.org/officeDocument/2006/relationships/image" Target="../media/image7.svg"/></Relationships>
</file>

<file path=ppt/slides/_rels/slide5.xml.rels><?xml version="1.0" encoding="UTF-8" standalone="yes"?>
<Relationships xmlns="http://schemas.openxmlformats.org/package/2006/relationships"><Relationship Id="rId8" Type="http://schemas.openxmlformats.org/officeDocument/2006/relationships/image" Target="../media/image7.svg"/><Relationship Id="rId3" Type="http://schemas.openxmlformats.org/officeDocument/2006/relationships/image" Target="../media/image2.jpeg"/><Relationship Id="rId7" Type="http://schemas.openxmlformats.org/officeDocument/2006/relationships/image" Target="../media/image15.png"/><Relationship Id="rId2" Type="http://schemas.openxmlformats.org/officeDocument/2006/relationships/notesSlide" Target="../notesSlides/notesSlide5.xml"/><Relationship Id="rId1" Type="http://schemas.openxmlformats.org/officeDocument/2006/relationships/slideLayout" Target="../slideLayouts/slideLayout7.xml"/><Relationship Id="rId6" Type="http://schemas.openxmlformats.org/officeDocument/2006/relationships/image" Target="../media/image14.png"/><Relationship Id="rId5" Type="http://schemas.openxmlformats.org/officeDocument/2006/relationships/image" Target="../media/image10.png"/><Relationship Id="rId4" Type="http://schemas.openxmlformats.org/officeDocument/2006/relationships/image" Target="../media/image13.png"/></Relationships>
</file>

<file path=ppt/slides/_rels/slide6.xml.rels><?xml version="1.0" encoding="UTF-8" standalone="yes"?>
<Relationships xmlns="http://schemas.openxmlformats.org/package/2006/relationships"><Relationship Id="rId8" Type="http://schemas.openxmlformats.org/officeDocument/2006/relationships/image" Target="../media/image20.png"/><Relationship Id="rId3" Type="http://schemas.openxmlformats.org/officeDocument/2006/relationships/image" Target="../media/image2.jpeg"/><Relationship Id="rId7" Type="http://schemas.openxmlformats.org/officeDocument/2006/relationships/image" Target="../media/image19.png"/><Relationship Id="rId2" Type="http://schemas.openxmlformats.org/officeDocument/2006/relationships/notesSlide" Target="../notesSlides/notesSlide6.xml"/><Relationship Id="rId1" Type="http://schemas.openxmlformats.org/officeDocument/2006/relationships/slideLayout" Target="../slideLayouts/slideLayout7.xml"/><Relationship Id="rId6" Type="http://schemas.openxmlformats.org/officeDocument/2006/relationships/image" Target="../media/image18.png"/><Relationship Id="rId5" Type="http://schemas.openxmlformats.org/officeDocument/2006/relationships/image" Target="../media/image17.png"/><Relationship Id="rId10" Type="http://schemas.openxmlformats.org/officeDocument/2006/relationships/image" Target="../media/image7.svg"/><Relationship Id="rId4" Type="http://schemas.openxmlformats.org/officeDocument/2006/relationships/image" Target="../media/image16.png"/><Relationship Id="rId9" Type="http://schemas.openxmlformats.org/officeDocument/2006/relationships/image" Target="../media/image21.png"/></Relationships>
</file>

<file path=ppt/slides/_rels/slide7.xml.rels><?xml version="1.0" encoding="UTF-8" standalone="yes"?>
<Relationships xmlns="http://schemas.openxmlformats.org/package/2006/relationships"><Relationship Id="rId8" Type="http://schemas.openxmlformats.org/officeDocument/2006/relationships/image" Target="../media/image7.svg"/><Relationship Id="rId3" Type="http://schemas.openxmlformats.org/officeDocument/2006/relationships/image" Target="../media/image2.jpeg"/><Relationship Id="rId7" Type="http://schemas.openxmlformats.org/officeDocument/2006/relationships/image" Target="../media/image25.png"/><Relationship Id="rId2" Type="http://schemas.openxmlformats.org/officeDocument/2006/relationships/notesSlide" Target="../notesSlides/notesSlide7.xml"/><Relationship Id="rId1" Type="http://schemas.openxmlformats.org/officeDocument/2006/relationships/slideLayout" Target="../slideLayouts/slideLayout7.xml"/><Relationship Id="rId6" Type="http://schemas.openxmlformats.org/officeDocument/2006/relationships/image" Target="../media/image24.png"/><Relationship Id="rId5" Type="http://schemas.openxmlformats.org/officeDocument/2006/relationships/image" Target="../media/image23.png"/><Relationship Id="rId4" Type="http://schemas.openxmlformats.org/officeDocument/2006/relationships/image" Target="../media/image22.png"/></Relationships>
</file>

<file path=ppt/slides/_rels/slide8.xml.rels><?xml version="1.0" encoding="UTF-8" standalone="yes"?>
<Relationships xmlns="http://schemas.openxmlformats.org/package/2006/relationships"><Relationship Id="rId8" Type="http://schemas.openxmlformats.org/officeDocument/2006/relationships/image" Target="../media/image7.svg"/><Relationship Id="rId3" Type="http://schemas.openxmlformats.org/officeDocument/2006/relationships/image" Target="../media/image2.jpeg"/><Relationship Id="rId7" Type="http://schemas.openxmlformats.org/officeDocument/2006/relationships/image" Target="../media/image27.png"/><Relationship Id="rId2" Type="http://schemas.openxmlformats.org/officeDocument/2006/relationships/notesSlide" Target="../notesSlides/notesSlide8.xml"/><Relationship Id="rId1" Type="http://schemas.openxmlformats.org/officeDocument/2006/relationships/slideLayout" Target="../slideLayouts/slideLayout7.xml"/><Relationship Id="rId6" Type="http://schemas.openxmlformats.org/officeDocument/2006/relationships/image" Target="../media/image26.png"/><Relationship Id="rId5" Type="http://schemas.openxmlformats.org/officeDocument/2006/relationships/image" Target="../media/image14.png"/><Relationship Id="rId4" Type="http://schemas.openxmlformats.org/officeDocument/2006/relationships/image" Target="../media/image21.png"/></Relationships>
</file>

<file path=ppt/slides/_rels/slide9.xml.rels><?xml version="1.0" encoding="UTF-8" standalone="yes"?>
<Relationships xmlns="http://schemas.openxmlformats.org/package/2006/relationships"><Relationship Id="rId3" Type="http://schemas.openxmlformats.org/officeDocument/2006/relationships/image" Target="../media/image2.jpeg"/><Relationship Id="rId2" Type="http://schemas.openxmlformats.org/officeDocument/2006/relationships/notesSlide" Target="../notesSlides/notesSlide9.xml"/><Relationship Id="rId1" Type="http://schemas.openxmlformats.org/officeDocument/2006/relationships/slideLayout" Target="../slideLayouts/slideLayout7.xml"/><Relationship Id="rId4" Type="http://schemas.openxmlformats.org/officeDocument/2006/relationships/image" Target="../media/image3.svg"/></Relationships>
</file>

<file path=ppt/slides/_rels/slide10.xml.rels><?xml version="1.0" encoding="UTF-8" standalone="yes"?>
<Relationships xmlns="http://schemas.openxmlformats.org/package/2006/relationships"><Relationship Id="rId3" Type="http://schemas.openxmlformats.org/officeDocument/2006/relationships/image" Target="../media/image2.jpeg"/><Relationship Id="rId7" Type="http://schemas.openxmlformats.org/officeDocument/2006/relationships/image" Target="../media/image3.svg"/><Relationship Id="rId2" Type="http://schemas.openxmlformats.org/officeDocument/2006/relationships/notesSlide" Target="../notesSlides/notesSlide10.xml"/><Relationship Id="rId1" Type="http://schemas.openxmlformats.org/officeDocument/2006/relationships/slideLayout" Target="../slideLayouts/slideLayout7.xml"/><Relationship Id="rId6" Type="http://schemas.openxmlformats.org/officeDocument/2006/relationships/image" Target="../media/image30.png"/><Relationship Id="rId5" Type="http://schemas.openxmlformats.org/officeDocument/2006/relationships/image" Target="../media/image29.png"/><Relationship Id="rId4" Type="http://schemas.openxmlformats.org/officeDocument/2006/relationships/image" Target="../media/image28.png"/></Relationships>
</file>

<file path=ppt/slides/_rels/slide11.xml.rels><?xml version="1.0" encoding="UTF-8" standalone="yes"?>
<Relationships xmlns="http://schemas.openxmlformats.org/package/2006/relationships"><Relationship Id="rId3" Type="http://schemas.openxmlformats.org/officeDocument/2006/relationships/image" Target="../media/image2.jpeg"/><Relationship Id="rId2" Type="http://schemas.openxmlformats.org/officeDocument/2006/relationships/notesSlide" Target="../notesSlides/notesSlide11.xml"/><Relationship Id="rId1" Type="http://schemas.openxmlformats.org/officeDocument/2006/relationships/slideLayout" Target="../slideLayouts/slideLayout7.xml"/><Relationship Id="rId4" Type="http://schemas.openxmlformats.org/officeDocument/2006/relationships/image" Target="../media/image7.svg"/></Relationships>
</file>

<file path=ppt/slides/_rels/slide12.xml.rels><?xml version="1.0" encoding="UTF-8" standalone="yes"?>
<Relationships xmlns="http://schemas.openxmlformats.org/package/2006/relationships"><Relationship Id="rId3" Type="http://schemas.openxmlformats.org/officeDocument/2006/relationships/image" Target="../media/image2.jpeg"/><Relationship Id="rId2" Type="http://schemas.openxmlformats.org/officeDocument/2006/relationships/notesSlide" Target="../notesSlides/notesSlide12.xml"/><Relationship Id="rId1" Type="http://schemas.openxmlformats.org/officeDocument/2006/relationships/slideLayout" Target="../slideLayouts/slideLayout7.xml"/><Relationship Id="rId5" Type="http://schemas.openxmlformats.org/officeDocument/2006/relationships/image" Target="../media/image3.svg"/><Relationship Id="rId4" Type="http://schemas.openxmlformats.org/officeDocument/2006/relationships/image" Target="../media/image12.png"/></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rgbClr val="7A0010"/>
        </a:solidFill>
        <a:effectLst/>
      </p:bgPr>
    </p:bg>
    <p:spTree>
      <p:nvGrpSpPr>
        <p:cNvPr id="1" name=""/>
        <p:cNvGrpSpPr/>
        <p:nvPr/>
      </p:nvGrpSpPr>
      <p:grpSpPr>
        <a:xfrm>
          <a:off x="0" y="0"/>
          <a:ext cx="0" cy="0"/>
          <a:chOff x="0" y="0"/>
          <a:chExt cx="0" cy="0"/>
        </a:xfrm>
      </p:grpSpPr>
      <p:grpSp>
        <p:nvGrpSpPr>
          <p:cNvPr id="2" name="Group 2"/>
          <p:cNvGrpSpPr/>
          <p:nvPr/>
        </p:nvGrpSpPr>
        <p:grpSpPr>
          <a:xfrm>
            <a:off x="0" y="0"/>
            <a:ext cx="275177" cy="10319252"/>
            <a:chOff x="0" y="0"/>
            <a:chExt cx="366903" cy="13759002"/>
          </a:xfrm>
        </p:grpSpPr>
        <p:sp>
          <p:nvSpPr>
            <p:cNvPr id="3" name="Freeform 3"/>
            <p:cNvSpPr/>
            <p:nvPr/>
          </p:nvSpPr>
          <p:spPr>
            <a:xfrm>
              <a:off x="0" y="0"/>
              <a:ext cx="366903" cy="13759053"/>
            </a:xfrm>
            <a:custGeom>
              <a:avLst/>
              <a:gdLst/>
              <a:ahLst/>
              <a:cxnLst/>
              <a:rect l="l" t="t" r="r" b="b"/>
              <a:pathLst>
                <a:path w="366903" h="13759053">
                  <a:moveTo>
                    <a:pt x="0" y="0"/>
                  </a:moveTo>
                  <a:lnTo>
                    <a:pt x="366903" y="0"/>
                  </a:lnTo>
                  <a:lnTo>
                    <a:pt x="366903" y="13759053"/>
                  </a:lnTo>
                  <a:lnTo>
                    <a:pt x="0" y="13759053"/>
                  </a:lnTo>
                  <a:close/>
                </a:path>
              </a:pathLst>
            </a:custGeom>
            <a:solidFill>
              <a:srgbClr val="FFD700"/>
            </a:solidFill>
          </p:spPr>
          <p:txBody>
            <a:bodyPr/>
            <a:lstStyle/>
            <a:p>
              <a:endParaRPr lang="en-US"/>
            </a:p>
          </p:txBody>
        </p:sp>
      </p:grpSp>
      <p:grpSp>
        <p:nvGrpSpPr>
          <p:cNvPr id="4" name="Group 4"/>
          <p:cNvGrpSpPr/>
          <p:nvPr/>
        </p:nvGrpSpPr>
        <p:grpSpPr>
          <a:xfrm>
            <a:off x="963130" y="825541"/>
            <a:ext cx="1169518" cy="1169518"/>
            <a:chOff x="0" y="0"/>
            <a:chExt cx="1559357" cy="1559357"/>
          </a:xfrm>
        </p:grpSpPr>
        <p:sp>
          <p:nvSpPr>
            <p:cNvPr id="5" name="Freeform 5" descr="D:\04. Github\capphutho\logo.png"/>
            <p:cNvSpPr/>
            <p:nvPr/>
          </p:nvSpPr>
          <p:spPr>
            <a:xfrm>
              <a:off x="0" y="0"/>
              <a:ext cx="1559306" cy="1559306"/>
            </a:xfrm>
            <a:custGeom>
              <a:avLst/>
              <a:gdLst/>
              <a:ahLst/>
              <a:cxnLst/>
              <a:rect l="l" t="t" r="r" b="b"/>
              <a:pathLst>
                <a:path w="1559306" h="1559306">
                  <a:moveTo>
                    <a:pt x="0" y="0"/>
                  </a:moveTo>
                  <a:lnTo>
                    <a:pt x="1559306" y="0"/>
                  </a:lnTo>
                  <a:lnTo>
                    <a:pt x="1559306" y="1559306"/>
                  </a:lnTo>
                  <a:lnTo>
                    <a:pt x="0" y="1559306"/>
                  </a:lnTo>
                  <a:lnTo>
                    <a:pt x="0" y="0"/>
                  </a:lnTo>
                  <a:close/>
                </a:path>
              </a:pathLst>
            </a:custGeom>
            <a:blipFill>
              <a:blip r:embed="rId3"/>
              <a:stretch>
                <a:fillRect r="-3" b="-3"/>
              </a:stretch>
            </a:blipFill>
          </p:spPr>
          <p:txBody>
            <a:bodyPr/>
            <a:lstStyle/>
            <a:p>
              <a:endParaRPr lang="en-US"/>
            </a:p>
          </p:txBody>
        </p:sp>
      </p:grpSp>
      <p:grpSp>
        <p:nvGrpSpPr>
          <p:cNvPr id="6" name="Group 6"/>
          <p:cNvGrpSpPr/>
          <p:nvPr/>
        </p:nvGrpSpPr>
        <p:grpSpPr>
          <a:xfrm>
            <a:off x="2407825" y="990648"/>
            <a:ext cx="4479167" cy="825540"/>
            <a:chOff x="0" y="0"/>
            <a:chExt cx="5972222" cy="1100720"/>
          </a:xfrm>
        </p:grpSpPr>
        <p:sp>
          <p:nvSpPr>
            <p:cNvPr id="7" name="Freeform 7"/>
            <p:cNvSpPr/>
            <p:nvPr/>
          </p:nvSpPr>
          <p:spPr>
            <a:xfrm>
              <a:off x="0" y="0"/>
              <a:ext cx="5972228" cy="1100718"/>
            </a:xfrm>
            <a:custGeom>
              <a:avLst/>
              <a:gdLst/>
              <a:ahLst/>
              <a:cxnLst/>
              <a:rect l="l" t="t" r="r" b="b"/>
              <a:pathLst>
                <a:path w="5972228" h="1100718">
                  <a:moveTo>
                    <a:pt x="0" y="0"/>
                  </a:moveTo>
                  <a:lnTo>
                    <a:pt x="5972228" y="0"/>
                  </a:lnTo>
                  <a:lnTo>
                    <a:pt x="5972228" y="1100718"/>
                  </a:lnTo>
                  <a:lnTo>
                    <a:pt x="0" y="1100718"/>
                  </a:lnTo>
                  <a:close/>
                </a:path>
              </a:pathLst>
            </a:custGeom>
            <a:blipFill>
              <a:blip r:embed="rId4">
                <a:alphaModFix amt="0"/>
              </a:blip>
              <a:stretch>
                <a:fillRect t="-258513" r="-191818" b="-258513"/>
              </a:stretch>
            </a:blipFill>
          </p:spPr>
          <p:txBody>
            <a:bodyPr/>
            <a:lstStyle/>
            <a:p>
              <a:endParaRPr lang="en-US"/>
            </a:p>
          </p:txBody>
        </p:sp>
        <p:sp>
          <p:nvSpPr>
            <p:cNvPr id="8" name="TextBox 8"/>
            <p:cNvSpPr txBox="1"/>
            <p:nvPr/>
          </p:nvSpPr>
          <p:spPr>
            <a:xfrm>
              <a:off x="0" y="-9525"/>
              <a:ext cx="5972222" cy="1110245"/>
            </a:xfrm>
            <a:prstGeom prst="rect">
              <a:avLst/>
            </a:prstGeom>
          </p:spPr>
          <p:txBody>
            <a:bodyPr lIns="0" tIns="0" rIns="0" bIns="0" rtlCol="0" anchor="ctr"/>
            <a:lstStyle/>
            <a:p>
              <a:pPr algn="ctr">
                <a:lnSpc>
                  <a:spcPts val="2347"/>
                </a:lnSpc>
              </a:pPr>
              <a:r>
                <a:rPr lang="en-US" sz="1956" b="1" spc="148">
                  <a:solidFill>
                    <a:srgbClr val="FFD700"/>
                  </a:solidFill>
                  <a:latin typeface="Montserrat Bold"/>
                  <a:ea typeface="Montserrat Bold"/>
                  <a:cs typeface="Montserrat Bold"/>
                  <a:sym typeface="Montserrat Bold"/>
                </a:rPr>
                <a:t>CÔNG AN TỈNH PHÚ THỌ</a:t>
              </a:r>
            </a:p>
            <a:p>
              <a:pPr algn="ctr">
                <a:lnSpc>
                  <a:spcPts val="2347"/>
                </a:lnSpc>
              </a:pPr>
              <a:r>
                <a:rPr lang="en-US" sz="1956" b="1" spc="150">
                  <a:solidFill>
                    <a:srgbClr val="FFD700"/>
                  </a:solidFill>
                  <a:latin typeface="Montserrat Bold"/>
                  <a:ea typeface="Montserrat Bold"/>
                  <a:cs typeface="Montserrat Bold"/>
                  <a:sym typeface="Montserrat Bold"/>
                </a:rPr>
                <a:t>CÔNG AN PHƯỜNG PHÚ THỌ</a:t>
              </a:r>
            </a:p>
          </p:txBody>
        </p:sp>
      </p:grpSp>
      <p:grpSp>
        <p:nvGrpSpPr>
          <p:cNvPr id="9" name="Group 9"/>
          <p:cNvGrpSpPr/>
          <p:nvPr/>
        </p:nvGrpSpPr>
        <p:grpSpPr>
          <a:xfrm>
            <a:off x="963130" y="2751801"/>
            <a:ext cx="15134901" cy="2960064"/>
            <a:chOff x="0" y="0"/>
            <a:chExt cx="20179868" cy="3946752"/>
          </a:xfrm>
        </p:grpSpPr>
        <p:sp>
          <p:nvSpPr>
            <p:cNvPr id="10" name="Freeform 10"/>
            <p:cNvSpPr/>
            <p:nvPr/>
          </p:nvSpPr>
          <p:spPr>
            <a:xfrm>
              <a:off x="0" y="0"/>
              <a:ext cx="20179863" cy="3946747"/>
            </a:xfrm>
            <a:custGeom>
              <a:avLst/>
              <a:gdLst/>
              <a:ahLst/>
              <a:cxnLst/>
              <a:rect l="l" t="t" r="r" b="b"/>
              <a:pathLst>
                <a:path w="20179863" h="3946747">
                  <a:moveTo>
                    <a:pt x="0" y="0"/>
                  </a:moveTo>
                  <a:lnTo>
                    <a:pt x="20179863" y="0"/>
                  </a:lnTo>
                  <a:lnTo>
                    <a:pt x="20179863" y="3946747"/>
                  </a:lnTo>
                  <a:lnTo>
                    <a:pt x="0" y="3946747"/>
                  </a:lnTo>
                  <a:close/>
                </a:path>
              </a:pathLst>
            </a:custGeom>
            <a:blipFill>
              <a:blip r:embed="rId4">
                <a:alphaModFix amt="0"/>
              </a:blip>
              <a:stretch>
                <a:fillRect t="-55469" b="-43785"/>
              </a:stretch>
            </a:blipFill>
          </p:spPr>
          <p:txBody>
            <a:bodyPr/>
            <a:lstStyle/>
            <a:p>
              <a:endParaRPr lang="en-US"/>
            </a:p>
          </p:txBody>
        </p:sp>
        <p:sp>
          <p:nvSpPr>
            <p:cNvPr id="11" name="TextBox 11"/>
            <p:cNvSpPr txBox="1"/>
            <p:nvPr/>
          </p:nvSpPr>
          <p:spPr>
            <a:xfrm>
              <a:off x="0" y="47625"/>
              <a:ext cx="20179868" cy="3899127"/>
            </a:xfrm>
            <a:prstGeom prst="rect">
              <a:avLst/>
            </a:prstGeom>
          </p:spPr>
          <p:txBody>
            <a:bodyPr lIns="0" tIns="0" rIns="0" bIns="0" rtlCol="0" anchor="ctr"/>
            <a:lstStyle/>
            <a:p>
              <a:pPr algn="l">
                <a:lnSpc>
                  <a:spcPts val="8576"/>
                </a:lnSpc>
              </a:pPr>
              <a:r>
                <a:rPr lang="en-US" sz="7523">
                  <a:solidFill>
                    <a:srgbClr val="FFFFFF"/>
                  </a:solidFill>
                  <a:latin typeface="Bevan"/>
                  <a:ea typeface="Bevan"/>
                  <a:cs typeface="Bevan"/>
                  <a:sym typeface="Bevan"/>
                </a:rPr>
                <a:t>CỔNG THÔNG TIN SỐ</a:t>
              </a:r>
            </a:p>
            <a:p>
              <a:pPr algn="l">
                <a:lnSpc>
                  <a:spcPts val="8576"/>
                </a:lnSpc>
              </a:pPr>
              <a:r>
                <a:rPr lang="en-US" sz="7523">
                  <a:solidFill>
                    <a:srgbClr val="FFFFFF"/>
                  </a:solidFill>
                  <a:latin typeface="Bevan"/>
                  <a:ea typeface="Bevan"/>
                  <a:cs typeface="Bevan"/>
                  <a:sym typeface="Bevan"/>
                </a:rPr>
                <a:t>&amp; TRỢ LÝ ẢO</a:t>
              </a:r>
            </a:p>
          </p:txBody>
        </p:sp>
      </p:grpSp>
      <p:grpSp>
        <p:nvGrpSpPr>
          <p:cNvPr id="12" name="Group 12"/>
          <p:cNvGrpSpPr/>
          <p:nvPr/>
        </p:nvGrpSpPr>
        <p:grpSpPr>
          <a:xfrm>
            <a:off x="963130" y="5434803"/>
            <a:ext cx="13208641" cy="963130"/>
            <a:chOff x="0" y="0"/>
            <a:chExt cx="17611522" cy="1284173"/>
          </a:xfrm>
        </p:grpSpPr>
        <p:sp>
          <p:nvSpPr>
            <p:cNvPr id="13" name="Freeform 13"/>
            <p:cNvSpPr/>
            <p:nvPr/>
          </p:nvSpPr>
          <p:spPr>
            <a:xfrm>
              <a:off x="0" y="0"/>
              <a:ext cx="17611516" cy="1284173"/>
            </a:xfrm>
            <a:custGeom>
              <a:avLst/>
              <a:gdLst/>
              <a:ahLst/>
              <a:cxnLst/>
              <a:rect l="l" t="t" r="r" b="b"/>
              <a:pathLst>
                <a:path w="17611516" h="1284173">
                  <a:moveTo>
                    <a:pt x="0" y="0"/>
                  </a:moveTo>
                  <a:lnTo>
                    <a:pt x="17611516" y="0"/>
                  </a:lnTo>
                  <a:lnTo>
                    <a:pt x="17611516" y="1284173"/>
                  </a:lnTo>
                  <a:lnTo>
                    <a:pt x="0" y="1284173"/>
                  </a:lnTo>
                  <a:close/>
                </a:path>
              </a:pathLst>
            </a:custGeom>
            <a:blipFill>
              <a:blip r:embed="rId4">
                <a:alphaModFix amt="0"/>
              </a:blip>
              <a:stretch>
                <a:fillRect t="-217223" b="-217223"/>
              </a:stretch>
            </a:blipFill>
          </p:spPr>
          <p:txBody>
            <a:bodyPr/>
            <a:lstStyle/>
            <a:p>
              <a:endParaRPr lang="en-US"/>
            </a:p>
          </p:txBody>
        </p:sp>
        <p:sp>
          <p:nvSpPr>
            <p:cNvPr id="14" name="TextBox 14"/>
            <p:cNvSpPr txBox="1"/>
            <p:nvPr/>
          </p:nvSpPr>
          <p:spPr>
            <a:xfrm>
              <a:off x="0" y="0"/>
              <a:ext cx="17611522" cy="1284173"/>
            </a:xfrm>
            <a:prstGeom prst="rect">
              <a:avLst/>
            </a:prstGeom>
          </p:spPr>
          <p:txBody>
            <a:bodyPr lIns="0" tIns="0" rIns="0" bIns="0" rtlCol="0" anchor="ctr"/>
            <a:lstStyle/>
            <a:p>
              <a:pPr algn="l">
                <a:lnSpc>
                  <a:spcPts val="3430"/>
                </a:lnSpc>
              </a:pPr>
              <a:r>
                <a:rPr lang="en-US" sz="2858" b="1">
                  <a:solidFill>
                    <a:srgbClr val="FFE9A8"/>
                  </a:solidFill>
                  <a:latin typeface="Montserrat Bold"/>
                  <a:ea typeface="Montserrat Bold"/>
                  <a:cs typeface="Montserrat Bold"/>
                  <a:sym typeface="Montserrat Bold"/>
                </a:rPr>
                <a:t>Hỗ trợ tra cứu thủ tục hành chính - đẩy mạnh cải cách hành chính</a:t>
              </a:r>
            </a:p>
          </p:txBody>
        </p:sp>
      </p:grpSp>
      <p:grpSp>
        <p:nvGrpSpPr>
          <p:cNvPr id="15" name="Group 15"/>
          <p:cNvGrpSpPr/>
          <p:nvPr/>
        </p:nvGrpSpPr>
        <p:grpSpPr>
          <a:xfrm>
            <a:off x="953576" y="6663557"/>
            <a:ext cx="1704584" cy="707060"/>
            <a:chOff x="0" y="0"/>
            <a:chExt cx="2272779" cy="942746"/>
          </a:xfrm>
        </p:grpSpPr>
        <p:sp>
          <p:nvSpPr>
            <p:cNvPr id="16" name="Freeform 16"/>
            <p:cNvSpPr/>
            <p:nvPr/>
          </p:nvSpPr>
          <p:spPr>
            <a:xfrm>
              <a:off x="0" y="0"/>
              <a:ext cx="2272792" cy="942848"/>
            </a:xfrm>
            <a:custGeom>
              <a:avLst/>
              <a:gdLst/>
              <a:ahLst/>
              <a:cxnLst/>
              <a:rect l="l" t="t" r="r" b="b"/>
              <a:pathLst>
                <a:path w="2272792" h="942848">
                  <a:moveTo>
                    <a:pt x="0" y="471424"/>
                  </a:moveTo>
                  <a:cubicBezTo>
                    <a:pt x="0" y="211074"/>
                    <a:pt x="211074" y="0"/>
                    <a:pt x="471424" y="0"/>
                  </a:cubicBezTo>
                  <a:lnTo>
                    <a:pt x="1801368" y="0"/>
                  </a:lnTo>
                  <a:cubicBezTo>
                    <a:pt x="2061718" y="0"/>
                    <a:pt x="2272792" y="211074"/>
                    <a:pt x="2272792" y="471424"/>
                  </a:cubicBezTo>
                  <a:cubicBezTo>
                    <a:pt x="2272792" y="731774"/>
                    <a:pt x="2061718" y="942848"/>
                    <a:pt x="1801368" y="942848"/>
                  </a:cubicBezTo>
                  <a:lnTo>
                    <a:pt x="471424" y="942848"/>
                  </a:lnTo>
                  <a:cubicBezTo>
                    <a:pt x="211074" y="942721"/>
                    <a:pt x="0" y="731647"/>
                    <a:pt x="0" y="471424"/>
                  </a:cubicBezTo>
                  <a:close/>
                </a:path>
              </a:pathLst>
            </a:custGeom>
            <a:solidFill>
              <a:srgbClr val="C41E3A"/>
            </a:solidFill>
            <a:ln w="19110" cap="sq">
              <a:solidFill>
                <a:srgbClr val="FFD700"/>
              </a:solidFill>
              <a:prstDash val="solid"/>
              <a:miter/>
            </a:ln>
          </p:spPr>
          <p:txBody>
            <a:bodyPr/>
            <a:lstStyle/>
            <a:p>
              <a:endParaRPr lang="en-US"/>
            </a:p>
          </p:txBody>
        </p:sp>
      </p:grpSp>
      <p:grpSp>
        <p:nvGrpSpPr>
          <p:cNvPr id="17" name="Group 17"/>
          <p:cNvGrpSpPr/>
          <p:nvPr/>
        </p:nvGrpSpPr>
        <p:grpSpPr>
          <a:xfrm>
            <a:off x="963130" y="6673110"/>
            <a:ext cx="1685477" cy="687950"/>
            <a:chOff x="0" y="0"/>
            <a:chExt cx="2247303" cy="917266"/>
          </a:xfrm>
        </p:grpSpPr>
        <p:sp>
          <p:nvSpPr>
            <p:cNvPr id="18" name="Freeform 18"/>
            <p:cNvSpPr/>
            <p:nvPr/>
          </p:nvSpPr>
          <p:spPr>
            <a:xfrm>
              <a:off x="0" y="0"/>
              <a:ext cx="2247303" cy="917263"/>
            </a:xfrm>
            <a:custGeom>
              <a:avLst/>
              <a:gdLst/>
              <a:ahLst/>
              <a:cxnLst/>
              <a:rect l="l" t="t" r="r" b="b"/>
              <a:pathLst>
                <a:path w="2247303" h="917263">
                  <a:moveTo>
                    <a:pt x="0" y="0"/>
                  </a:moveTo>
                  <a:lnTo>
                    <a:pt x="2247303" y="0"/>
                  </a:lnTo>
                  <a:lnTo>
                    <a:pt x="2247303" y="917263"/>
                  </a:lnTo>
                  <a:lnTo>
                    <a:pt x="0" y="917263"/>
                  </a:lnTo>
                  <a:close/>
                </a:path>
              </a:pathLst>
            </a:custGeom>
            <a:blipFill>
              <a:blip r:embed="rId4">
                <a:alphaModFix amt="0"/>
              </a:blip>
              <a:stretch>
                <a:fillRect l="-2369" r="-2369"/>
              </a:stretch>
            </a:blipFill>
          </p:spPr>
          <p:txBody>
            <a:bodyPr/>
            <a:lstStyle/>
            <a:p>
              <a:endParaRPr lang="en-US"/>
            </a:p>
          </p:txBody>
        </p:sp>
        <p:sp>
          <p:nvSpPr>
            <p:cNvPr id="19" name="TextBox 19"/>
            <p:cNvSpPr txBox="1"/>
            <p:nvPr/>
          </p:nvSpPr>
          <p:spPr>
            <a:xfrm>
              <a:off x="0" y="0"/>
              <a:ext cx="2247303" cy="917266"/>
            </a:xfrm>
            <a:prstGeom prst="rect">
              <a:avLst/>
            </a:prstGeom>
          </p:spPr>
          <p:txBody>
            <a:bodyPr lIns="0" tIns="0" rIns="0" bIns="0" rtlCol="0" anchor="ctr"/>
            <a:lstStyle/>
            <a:p>
              <a:pPr algn="ctr">
                <a:lnSpc>
                  <a:spcPts val="2437"/>
                </a:lnSpc>
              </a:pPr>
              <a:r>
                <a:rPr lang="en-US" sz="2031" b="1">
                  <a:solidFill>
                    <a:srgbClr val="FFFFFF"/>
                  </a:solidFill>
                  <a:latin typeface="Montserrat Bold"/>
                  <a:ea typeface="Montserrat Bold"/>
                  <a:cs typeface="Montserrat Bold"/>
                  <a:sym typeface="Montserrat Bold"/>
                </a:rPr>
                <a:t>Quét QR</a:t>
              </a:r>
            </a:p>
          </p:txBody>
        </p:sp>
      </p:grpSp>
      <p:grpSp>
        <p:nvGrpSpPr>
          <p:cNvPr id="20" name="Group 20"/>
          <p:cNvGrpSpPr/>
          <p:nvPr/>
        </p:nvGrpSpPr>
        <p:grpSpPr>
          <a:xfrm>
            <a:off x="2941749" y="6663557"/>
            <a:ext cx="2653960" cy="707060"/>
            <a:chOff x="0" y="0"/>
            <a:chExt cx="3538614" cy="942746"/>
          </a:xfrm>
        </p:grpSpPr>
        <p:sp>
          <p:nvSpPr>
            <p:cNvPr id="21" name="Freeform 21"/>
            <p:cNvSpPr/>
            <p:nvPr/>
          </p:nvSpPr>
          <p:spPr>
            <a:xfrm>
              <a:off x="0" y="0"/>
              <a:ext cx="3538728" cy="942848"/>
            </a:xfrm>
            <a:custGeom>
              <a:avLst/>
              <a:gdLst/>
              <a:ahLst/>
              <a:cxnLst/>
              <a:rect l="l" t="t" r="r" b="b"/>
              <a:pathLst>
                <a:path w="3538728" h="942848">
                  <a:moveTo>
                    <a:pt x="0" y="471424"/>
                  </a:moveTo>
                  <a:cubicBezTo>
                    <a:pt x="0" y="211074"/>
                    <a:pt x="211074" y="0"/>
                    <a:pt x="471424" y="0"/>
                  </a:cubicBezTo>
                  <a:lnTo>
                    <a:pt x="3067304" y="0"/>
                  </a:lnTo>
                  <a:cubicBezTo>
                    <a:pt x="3327654" y="0"/>
                    <a:pt x="3538728" y="211074"/>
                    <a:pt x="3538728" y="471424"/>
                  </a:cubicBezTo>
                  <a:cubicBezTo>
                    <a:pt x="3538728" y="731774"/>
                    <a:pt x="3327654" y="942848"/>
                    <a:pt x="3067304" y="942848"/>
                  </a:cubicBezTo>
                  <a:lnTo>
                    <a:pt x="471424" y="942848"/>
                  </a:lnTo>
                  <a:cubicBezTo>
                    <a:pt x="211074" y="942721"/>
                    <a:pt x="0" y="731647"/>
                    <a:pt x="0" y="471424"/>
                  </a:cubicBezTo>
                  <a:close/>
                </a:path>
              </a:pathLst>
            </a:custGeom>
            <a:solidFill>
              <a:srgbClr val="C41E3A"/>
            </a:solidFill>
            <a:ln w="19110" cap="sq">
              <a:solidFill>
                <a:srgbClr val="FFD700"/>
              </a:solidFill>
              <a:prstDash val="solid"/>
              <a:miter/>
            </a:ln>
          </p:spPr>
          <p:txBody>
            <a:bodyPr/>
            <a:lstStyle/>
            <a:p>
              <a:endParaRPr lang="en-US"/>
            </a:p>
          </p:txBody>
        </p:sp>
      </p:grpSp>
      <p:grpSp>
        <p:nvGrpSpPr>
          <p:cNvPr id="22" name="Group 22"/>
          <p:cNvGrpSpPr/>
          <p:nvPr/>
        </p:nvGrpSpPr>
        <p:grpSpPr>
          <a:xfrm>
            <a:off x="2951302" y="6673110"/>
            <a:ext cx="2634844" cy="687950"/>
            <a:chOff x="0" y="0"/>
            <a:chExt cx="3513125" cy="917266"/>
          </a:xfrm>
        </p:grpSpPr>
        <p:sp>
          <p:nvSpPr>
            <p:cNvPr id="23" name="Freeform 23"/>
            <p:cNvSpPr/>
            <p:nvPr/>
          </p:nvSpPr>
          <p:spPr>
            <a:xfrm>
              <a:off x="0" y="0"/>
              <a:ext cx="3513131" cy="917263"/>
            </a:xfrm>
            <a:custGeom>
              <a:avLst/>
              <a:gdLst/>
              <a:ahLst/>
              <a:cxnLst/>
              <a:rect l="l" t="t" r="r" b="b"/>
              <a:pathLst>
                <a:path w="3513131" h="917263">
                  <a:moveTo>
                    <a:pt x="0" y="0"/>
                  </a:moveTo>
                  <a:lnTo>
                    <a:pt x="3513131" y="0"/>
                  </a:lnTo>
                  <a:lnTo>
                    <a:pt x="3513131" y="917263"/>
                  </a:lnTo>
                  <a:lnTo>
                    <a:pt x="0" y="917263"/>
                  </a:lnTo>
                  <a:close/>
                </a:path>
              </a:pathLst>
            </a:custGeom>
            <a:blipFill>
              <a:blip r:embed="rId4">
                <a:alphaModFix amt="0"/>
              </a:blip>
              <a:stretch>
                <a:fillRect t="-24627" b="-24628"/>
              </a:stretch>
            </a:blipFill>
          </p:spPr>
          <p:txBody>
            <a:bodyPr/>
            <a:lstStyle/>
            <a:p>
              <a:endParaRPr lang="en-US"/>
            </a:p>
          </p:txBody>
        </p:sp>
        <p:sp>
          <p:nvSpPr>
            <p:cNvPr id="24" name="TextBox 24"/>
            <p:cNvSpPr txBox="1"/>
            <p:nvPr/>
          </p:nvSpPr>
          <p:spPr>
            <a:xfrm>
              <a:off x="0" y="0"/>
              <a:ext cx="3513125" cy="917266"/>
            </a:xfrm>
            <a:prstGeom prst="rect">
              <a:avLst/>
            </a:prstGeom>
          </p:spPr>
          <p:txBody>
            <a:bodyPr lIns="0" tIns="0" rIns="0" bIns="0" rtlCol="0" anchor="ctr"/>
            <a:lstStyle/>
            <a:p>
              <a:pPr algn="ctr">
                <a:lnSpc>
                  <a:spcPts val="2437"/>
                </a:lnSpc>
              </a:pPr>
              <a:r>
                <a:rPr lang="en-US" sz="2031" b="1">
                  <a:solidFill>
                    <a:srgbClr val="FFFFFF"/>
                  </a:solidFill>
                  <a:latin typeface="Montserrat Bold"/>
                  <a:ea typeface="Montserrat Bold"/>
                  <a:cs typeface="Montserrat Bold"/>
                  <a:sym typeface="Montserrat Bold"/>
                </a:rPr>
                <a:t>Không cài đặt</a:t>
              </a:r>
            </a:p>
          </p:txBody>
        </p:sp>
      </p:grpSp>
      <p:grpSp>
        <p:nvGrpSpPr>
          <p:cNvPr id="25" name="Group 25"/>
          <p:cNvGrpSpPr/>
          <p:nvPr/>
        </p:nvGrpSpPr>
        <p:grpSpPr>
          <a:xfrm>
            <a:off x="5879297" y="6663557"/>
            <a:ext cx="2970419" cy="707060"/>
            <a:chOff x="0" y="0"/>
            <a:chExt cx="3960558" cy="942746"/>
          </a:xfrm>
        </p:grpSpPr>
        <p:sp>
          <p:nvSpPr>
            <p:cNvPr id="26" name="Freeform 26"/>
            <p:cNvSpPr/>
            <p:nvPr/>
          </p:nvSpPr>
          <p:spPr>
            <a:xfrm>
              <a:off x="0" y="0"/>
              <a:ext cx="3960622" cy="942848"/>
            </a:xfrm>
            <a:custGeom>
              <a:avLst/>
              <a:gdLst/>
              <a:ahLst/>
              <a:cxnLst/>
              <a:rect l="l" t="t" r="r" b="b"/>
              <a:pathLst>
                <a:path w="3960622" h="942848">
                  <a:moveTo>
                    <a:pt x="0" y="471424"/>
                  </a:moveTo>
                  <a:cubicBezTo>
                    <a:pt x="0" y="211074"/>
                    <a:pt x="211074" y="0"/>
                    <a:pt x="471424" y="0"/>
                  </a:cubicBezTo>
                  <a:lnTo>
                    <a:pt x="3489198" y="0"/>
                  </a:lnTo>
                  <a:cubicBezTo>
                    <a:pt x="3749548" y="0"/>
                    <a:pt x="3960622" y="211074"/>
                    <a:pt x="3960622" y="471424"/>
                  </a:cubicBezTo>
                  <a:cubicBezTo>
                    <a:pt x="3960622" y="731774"/>
                    <a:pt x="3749548" y="942848"/>
                    <a:pt x="3489198" y="942848"/>
                  </a:cubicBezTo>
                  <a:lnTo>
                    <a:pt x="471424" y="942848"/>
                  </a:lnTo>
                  <a:cubicBezTo>
                    <a:pt x="211074" y="942721"/>
                    <a:pt x="0" y="731647"/>
                    <a:pt x="0" y="471424"/>
                  </a:cubicBezTo>
                  <a:close/>
                </a:path>
              </a:pathLst>
            </a:custGeom>
            <a:solidFill>
              <a:srgbClr val="C41E3A"/>
            </a:solidFill>
            <a:ln w="19110" cap="sq">
              <a:solidFill>
                <a:srgbClr val="FFD700"/>
              </a:solidFill>
              <a:prstDash val="solid"/>
              <a:miter/>
            </a:ln>
          </p:spPr>
          <p:txBody>
            <a:bodyPr/>
            <a:lstStyle/>
            <a:p>
              <a:endParaRPr lang="en-US"/>
            </a:p>
          </p:txBody>
        </p:sp>
      </p:grpSp>
      <p:grpSp>
        <p:nvGrpSpPr>
          <p:cNvPr id="27" name="Group 27"/>
          <p:cNvGrpSpPr/>
          <p:nvPr/>
        </p:nvGrpSpPr>
        <p:grpSpPr>
          <a:xfrm>
            <a:off x="5888850" y="6673110"/>
            <a:ext cx="2951302" cy="687950"/>
            <a:chOff x="0" y="0"/>
            <a:chExt cx="3935070" cy="917266"/>
          </a:xfrm>
        </p:grpSpPr>
        <p:sp>
          <p:nvSpPr>
            <p:cNvPr id="28" name="Freeform 28"/>
            <p:cNvSpPr/>
            <p:nvPr/>
          </p:nvSpPr>
          <p:spPr>
            <a:xfrm>
              <a:off x="0" y="0"/>
              <a:ext cx="3935073" cy="917263"/>
            </a:xfrm>
            <a:custGeom>
              <a:avLst/>
              <a:gdLst/>
              <a:ahLst/>
              <a:cxnLst/>
              <a:rect l="l" t="t" r="r" b="b"/>
              <a:pathLst>
                <a:path w="3935073" h="917263">
                  <a:moveTo>
                    <a:pt x="0" y="0"/>
                  </a:moveTo>
                  <a:lnTo>
                    <a:pt x="3935073" y="0"/>
                  </a:lnTo>
                  <a:lnTo>
                    <a:pt x="3935073" y="917263"/>
                  </a:lnTo>
                  <a:lnTo>
                    <a:pt x="0" y="917263"/>
                  </a:lnTo>
                  <a:close/>
                </a:path>
              </a:pathLst>
            </a:custGeom>
            <a:blipFill>
              <a:blip r:embed="rId4">
                <a:alphaModFix amt="0"/>
              </a:blip>
              <a:stretch>
                <a:fillRect t="-33590" b="-33591"/>
              </a:stretch>
            </a:blipFill>
          </p:spPr>
          <p:txBody>
            <a:bodyPr/>
            <a:lstStyle/>
            <a:p>
              <a:endParaRPr lang="en-US"/>
            </a:p>
          </p:txBody>
        </p:sp>
        <p:sp>
          <p:nvSpPr>
            <p:cNvPr id="29" name="TextBox 29"/>
            <p:cNvSpPr txBox="1"/>
            <p:nvPr/>
          </p:nvSpPr>
          <p:spPr>
            <a:xfrm>
              <a:off x="0" y="0"/>
              <a:ext cx="3935070" cy="917266"/>
            </a:xfrm>
            <a:prstGeom prst="rect">
              <a:avLst/>
            </a:prstGeom>
          </p:spPr>
          <p:txBody>
            <a:bodyPr lIns="0" tIns="0" rIns="0" bIns="0" rtlCol="0" anchor="ctr"/>
            <a:lstStyle/>
            <a:p>
              <a:pPr algn="ctr">
                <a:lnSpc>
                  <a:spcPts val="2437"/>
                </a:lnSpc>
              </a:pPr>
              <a:r>
                <a:rPr lang="en-US" sz="2031" b="1">
                  <a:solidFill>
                    <a:srgbClr val="FFFFFF"/>
                  </a:solidFill>
                  <a:latin typeface="Montserrat Bold"/>
                  <a:ea typeface="Montserrat Bold"/>
                  <a:cs typeface="Montserrat Bold"/>
                  <a:sym typeface="Montserrat Bold"/>
                </a:rPr>
                <a:t>Chi phí ~0 đồng</a:t>
              </a:r>
            </a:p>
          </p:txBody>
        </p:sp>
      </p:grpSp>
      <p:grpSp>
        <p:nvGrpSpPr>
          <p:cNvPr id="30" name="Group 30"/>
          <p:cNvGrpSpPr/>
          <p:nvPr/>
        </p:nvGrpSpPr>
        <p:grpSpPr>
          <a:xfrm>
            <a:off x="9133294" y="6663557"/>
            <a:ext cx="2495731" cy="707060"/>
            <a:chOff x="0" y="0"/>
            <a:chExt cx="3327641" cy="942746"/>
          </a:xfrm>
        </p:grpSpPr>
        <p:sp>
          <p:nvSpPr>
            <p:cNvPr id="31" name="Freeform 31"/>
            <p:cNvSpPr/>
            <p:nvPr/>
          </p:nvSpPr>
          <p:spPr>
            <a:xfrm>
              <a:off x="0" y="0"/>
              <a:ext cx="3327654" cy="942721"/>
            </a:xfrm>
            <a:custGeom>
              <a:avLst/>
              <a:gdLst/>
              <a:ahLst/>
              <a:cxnLst/>
              <a:rect l="l" t="t" r="r" b="b"/>
              <a:pathLst>
                <a:path w="3327654" h="942721">
                  <a:moveTo>
                    <a:pt x="0" y="471424"/>
                  </a:moveTo>
                  <a:cubicBezTo>
                    <a:pt x="0" y="211074"/>
                    <a:pt x="211074" y="0"/>
                    <a:pt x="471424" y="0"/>
                  </a:cubicBezTo>
                  <a:lnTo>
                    <a:pt x="2856230" y="0"/>
                  </a:lnTo>
                  <a:cubicBezTo>
                    <a:pt x="3116580" y="0"/>
                    <a:pt x="3327654" y="211074"/>
                    <a:pt x="3327654" y="471424"/>
                  </a:cubicBezTo>
                  <a:cubicBezTo>
                    <a:pt x="3327654" y="731774"/>
                    <a:pt x="3116580" y="942721"/>
                    <a:pt x="2856230" y="942721"/>
                  </a:cubicBezTo>
                  <a:lnTo>
                    <a:pt x="471424" y="942721"/>
                  </a:lnTo>
                  <a:cubicBezTo>
                    <a:pt x="211074" y="942721"/>
                    <a:pt x="0" y="731647"/>
                    <a:pt x="0" y="471424"/>
                  </a:cubicBezTo>
                  <a:close/>
                </a:path>
              </a:pathLst>
            </a:custGeom>
            <a:solidFill>
              <a:srgbClr val="C41E3A"/>
            </a:solidFill>
            <a:ln w="19110" cap="sq">
              <a:solidFill>
                <a:srgbClr val="FFD700"/>
              </a:solidFill>
              <a:prstDash val="solid"/>
              <a:miter/>
            </a:ln>
          </p:spPr>
          <p:txBody>
            <a:bodyPr/>
            <a:lstStyle/>
            <a:p>
              <a:endParaRPr lang="en-US"/>
            </a:p>
          </p:txBody>
        </p:sp>
      </p:grpSp>
      <p:grpSp>
        <p:nvGrpSpPr>
          <p:cNvPr id="32" name="Group 32"/>
          <p:cNvGrpSpPr/>
          <p:nvPr/>
        </p:nvGrpSpPr>
        <p:grpSpPr>
          <a:xfrm>
            <a:off x="9142857" y="6673110"/>
            <a:ext cx="2476624" cy="687950"/>
            <a:chOff x="0" y="0"/>
            <a:chExt cx="3302165" cy="917266"/>
          </a:xfrm>
        </p:grpSpPr>
        <p:sp>
          <p:nvSpPr>
            <p:cNvPr id="33" name="Freeform 33"/>
            <p:cNvSpPr/>
            <p:nvPr/>
          </p:nvSpPr>
          <p:spPr>
            <a:xfrm>
              <a:off x="0" y="0"/>
              <a:ext cx="3302159" cy="917263"/>
            </a:xfrm>
            <a:custGeom>
              <a:avLst/>
              <a:gdLst/>
              <a:ahLst/>
              <a:cxnLst/>
              <a:rect l="l" t="t" r="r" b="b"/>
              <a:pathLst>
                <a:path w="3302159" h="917263">
                  <a:moveTo>
                    <a:pt x="0" y="0"/>
                  </a:moveTo>
                  <a:lnTo>
                    <a:pt x="3302159" y="0"/>
                  </a:lnTo>
                  <a:lnTo>
                    <a:pt x="3302159" y="917263"/>
                  </a:lnTo>
                  <a:lnTo>
                    <a:pt x="0" y="917263"/>
                  </a:lnTo>
                  <a:close/>
                </a:path>
              </a:pathLst>
            </a:custGeom>
            <a:blipFill>
              <a:blip r:embed="rId4">
                <a:alphaModFix amt="0"/>
              </a:blip>
              <a:stretch>
                <a:fillRect t="-20146" b="-20146"/>
              </a:stretch>
            </a:blipFill>
          </p:spPr>
          <p:txBody>
            <a:bodyPr/>
            <a:lstStyle/>
            <a:p>
              <a:endParaRPr lang="en-US"/>
            </a:p>
          </p:txBody>
        </p:sp>
        <p:sp>
          <p:nvSpPr>
            <p:cNvPr id="34" name="TextBox 34"/>
            <p:cNvSpPr txBox="1"/>
            <p:nvPr/>
          </p:nvSpPr>
          <p:spPr>
            <a:xfrm>
              <a:off x="0" y="0"/>
              <a:ext cx="3302165" cy="917266"/>
            </a:xfrm>
            <a:prstGeom prst="rect">
              <a:avLst/>
            </a:prstGeom>
          </p:spPr>
          <p:txBody>
            <a:bodyPr lIns="0" tIns="0" rIns="0" bIns="0" rtlCol="0" anchor="ctr"/>
            <a:lstStyle/>
            <a:p>
              <a:pPr algn="ctr">
                <a:lnSpc>
                  <a:spcPts val="2437"/>
                </a:lnSpc>
              </a:pPr>
              <a:r>
                <a:rPr lang="en-US" sz="2031" b="1">
                  <a:solidFill>
                    <a:srgbClr val="FFFFFF"/>
                  </a:solidFill>
                  <a:latin typeface="Montserrat Bold"/>
                  <a:ea typeface="Montserrat Bold"/>
                  <a:cs typeface="Montserrat Bold"/>
                  <a:sym typeface="Montserrat Bold"/>
                </a:rPr>
                <a:t>Phục vụ 24/7</a:t>
              </a:r>
            </a:p>
          </p:txBody>
        </p:sp>
      </p:grpSp>
      <p:grpSp>
        <p:nvGrpSpPr>
          <p:cNvPr id="35" name="Group 35"/>
          <p:cNvGrpSpPr/>
          <p:nvPr/>
        </p:nvGrpSpPr>
        <p:grpSpPr>
          <a:xfrm>
            <a:off x="963130" y="8668169"/>
            <a:ext cx="15822844" cy="550360"/>
            <a:chOff x="0" y="0"/>
            <a:chExt cx="21097126" cy="733813"/>
          </a:xfrm>
        </p:grpSpPr>
        <p:sp>
          <p:nvSpPr>
            <p:cNvPr id="36" name="Freeform 36"/>
            <p:cNvSpPr/>
            <p:nvPr/>
          </p:nvSpPr>
          <p:spPr>
            <a:xfrm>
              <a:off x="0" y="0"/>
              <a:ext cx="21097129" cy="733808"/>
            </a:xfrm>
            <a:custGeom>
              <a:avLst/>
              <a:gdLst/>
              <a:ahLst/>
              <a:cxnLst/>
              <a:rect l="l" t="t" r="r" b="b"/>
              <a:pathLst>
                <a:path w="21097129" h="733808">
                  <a:moveTo>
                    <a:pt x="0" y="0"/>
                  </a:moveTo>
                  <a:lnTo>
                    <a:pt x="21097129" y="0"/>
                  </a:lnTo>
                  <a:lnTo>
                    <a:pt x="21097129" y="733808"/>
                  </a:lnTo>
                  <a:lnTo>
                    <a:pt x="0" y="733808"/>
                  </a:lnTo>
                  <a:close/>
                </a:path>
              </a:pathLst>
            </a:custGeom>
            <a:blipFill>
              <a:blip r:embed="rId4">
                <a:alphaModFix amt="0"/>
              </a:blip>
              <a:stretch>
                <a:fillRect t="-510198" b="-510199"/>
              </a:stretch>
            </a:blipFill>
          </p:spPr>
          <p:txBody>
            <a:bodyPr/>
            <a:lstStyle/>
            <a:p>
              <a:endParaRPr lang="en-US"/>
            </a:p>
          </p:txBody>
        </p:sp>
        <p:sp>
          <p:nvSpPr>
            <p:cNvPr id="37" name="TextBox 37"/>
            <p:cNvSpPr txBox="1"/>
            <p:nvPr/>
          </p:nvSpPr>
          <p:spPr>
            <a:xfrm>
              <a:off x="0" y="-9525"/>
              <a:ext cx="21097126" cy="743338"/>
            </a:xfrm>
            <a:prstGeom prst="rect">
              <a:avLst/>
            </a:prstGeom>
          </p:spPr>
          <p:txBody>
            <a:bodyPr lIns="0" tIns="0" rIns="0" bIns="0" rtlCol="0" anchor="ctr"/>
            <a:lstStyle/>
            <a:p>
              <a:pPr algn="l">
                <a:lnSpc>
                  <a:spcPts val="2708"/>
                </a:lnSpc>
              </a:pPr>
              <a:r>
                <a:rPr lang="en-US" sz="2257">
                  <a:solidFill>
                    <a:srgbClr val="FFD700"/>
                  </a:solidFill>
                  <a:latin typeface="Montserrat"/>
                  <a:ea typeface="Montserrat"/>
                  <a:cs typeface="Montserrat"/>
                  <a:sym typeface="Montserrat"/>
                </a:rPr>
                <a:t>Tác giả: </a:t>
              </a:r>
              <a:r>
                <a:rPr lang="en-US" sz="2257" b="1">
                  <a:solidFill>
                    <a:srgbClr val="FFFFFF"/>
                  </a:solidFill>
                  <a:latin typeface="Montserrat Bold"/>
                  <a:ea typeface="Montserrat Bold"/>
                  <a:cs typeface="Montserrat Bold"/>
                  <a:sym typeface="Montserrat Bold"/>
                </a:rPr>
                <a:t>Nguyễn Minh Hiếu — Công an phường Phú Thọ</a:t>
              </a:r>
            </a:p>
          </p:txBody>
        </p:sp>
      </p:grpSp>
      <p:grpSp>
        <p:nvGrpSpPr>
          <p:cNvPr id="38" name="Group 38"/>
          <p:cNvGrpSpPr/>
          <p:nvPr/>
        </p:nvGrpSpPr>
        <p:grpSpPr>
          <a:xfrm>
            <a:off x="963130" y="9686334"/>
            <a:ext cx="16373208" cy="19260"/>
            <a:chOff x="0" y="0"/>
            <a:chExt cx="21830944" cy="25679"/>
          </a:xfrm>
        </p:grpSpPr>
        <p:sp>
          <p:nvSpPr>
            <p:cNvPr id="39" name="Freeform 39"/>
            <p:cNvSpPr/>
            <p:nvPr/>
          </p:nvSpPr>
          <p:spPr>
            <a:xfrm>
              <a:off x="0" y="0"/>
              <a:ext cx="21830919" cy="25654"/>
            </a:xfrm>
            <a:custGeom>
              <a:avLst/>
              <a:gdLst/>
              <a:ahLst/>
              <a:cxnLst/>
              <a:rect l="l" t="t" r="r" b="b"/>
              <a:pathLst>
                <a:path w="21830919" h="25654">
                  <a:moveTo>
                    <a:pt x="0" y="0"/>
                  </a:moveTo>
                  <a:lnTo>
                    <a:pt x="21830919" y="0"/>
                  </a:lnTo>
                  <a:lnTo>
                    <a:pt x="21830919" y="25654"/>
                  </a:lnTo>
                  <a:lnTo>
                    <a:pt x="0" y="25654"/>
                  </a:lnTo>
                  <a:close/>
                </a:path>
              </a:pathLst>
            </a:custGeom>
            <a:solidFill>
              <a:srgbClr val="FFD700"/>
            </a:solidFill>
          </p:spPr>
          <p:txBody>
            <a:bodyPr/>
            <a:lstStyle/>
            <a:p>
              <a:endParaRPr lang="en-US"/>
            </a:p>
          </p:txBody>
        </p:sp>
      </p:grpSp>
      <p:grpSp>
        <p:nvGrpSpPr>
          <p:cNvPr id="40" name="Group 40"/>
          <p:cNvGrpSpPr/>
          <p:nvPr/>
        </p:nvGrpSpPr>
        <p:grpSpPr>
          <a:xfrm>
            <a:off x="963130" y="9741370"/>
            <a:ext cx="12383100" cy="412770"/>
            <a:chOff x="0" y="0"/>
            <a:chExt cx="16510800" cy="550360"/>
          </a:xfrm>
        </p:grpSpPr>
        <p:sp>
          <p:nvSpPr>
            <p:cNvPr id="41" name="Freeform 41"/>
            <p:cNvSpPr/>
            <p:nvPr/>
          </p:nvSpPr>
          <p:spPr>
            <a:xfrm>
              <a:off x="0" y="0"/>
              <a:ext cx="16510797" cy="550365"/>
            </a:xfrm>
            <a:custGeom>
              <a:avLst/>
              <a:gdLst/>
              <a:ahLst/>
              <a:cxnLst/>
              <a:rect l="l" t="t" r="r" b="b"/>
              <a:pathLst>
                <a:path w="16510797" h="550365">
                  <a:moveTo>
                    <a:pt x="0" y="0"/>
                  </a:moveTo>
                  <a:lnTo>
                    <a:pt x="16510797" y="0"/>
                  </a:lnTo>
                  <a:lnTo>
                    <a:pt x="16510797" y="550365"/>
                  </a:lnTo>
                  <a:lnTo>
                    <a:pt x="0" y="550365"/>
                  </a:lnTo>
                  <a:close/>
                </a:path>
              </a:pathLst>
            </a:custGeom>
            <a:blipFill>
              <a:blip r:embed="rId4">
                <a:alphaModFix amt="0"/>
              </a:blip>
              <a:stretch>
                <a:fillRect t="-534546" b="-534544"/>
              </a:stretch>
            </a:blipFill>
          </p:spPr>
          <p:txBody>
            <a:bodyPr/>
            <a:lstStyle/>
            <a:p>
              <a:endParaRPr lang="en-US"/>
            </a:p>
          </p:txBody>
        </p:sp>
        <p:sp>
          <p:nvSpPr>
            <p:cNvPr id="42" name="TextBox 42"/>
            <p:cNvSpPr txBox="1"/>
            <p:nvPr/>
          </p:nvSpPr>
          <p:spPr>
            <a:xfrm>
              <a:off x="0" y="0"/>
              <a:ext cx="16510800" cy="550360"/>
            </a:xfrm>
            <a:prstGeom prst="rect">
              <a:avLst/>
            </a:prstGeom>
          </p:spPr>
          <p:txBody>
            <a:bodyPr lIns="0" tIns="0" rIns="0" bIns="0" rtlCol="0" anchor="ctr"/>
            <a:lstStyle/>
            <a:p>
              <a:pPr algn="l">
                <a:lnSpc>
                  <a:spcPts val="1625"/>
                </a:lnSpc>
              </a:pPr>
              <a:r>
                <a:rPr lang="en-US" sz="1354" b="1" spc="150">
                  <a:solidFill>
                    <a:srgbClr val="FFE9A8"/>
                  </a:solidFill>
                  <a:latin typeface="Montserrat Bold"/>
                  <a:ea typeface="Montserrat Bold"/>
                  <a:cs typeface="Montserrat Bold"/>
                  <a:sym typeface="Montserrat Bold"/>
                </a:rPr>
                <a:t>CÔNG AN PHƯỜNG PHÚ THỌ   ·   SÁNG KIẾN CẢI CÁCH HÀNH CHÍNH · 2026</a:t>
              </a:r>
            </a:p>
          </p:txBody>
        </p:sp>
      </p:grpSp>
      <p:grpSp>
        <p:nvGrpSpPr>
          <p:cNvPr id="43" name="Group 43"/>
          <p:cNvGrpSpPr/>
          <p:nvPr/>
        </p:nvGrpSpPr>
        <p:grpSpPr>
          <a:xfrm>
            <a:off x="15960433" y="9741370"/>
            <a:ext cx="1375896" cy="412770"/>
            <a:chOff x="0" y="0"/>
            <a:chExt cx="1834528" cy="550360"/>
          </a:xfrm>
        </p:grpSpPr>
        <p:sp>
          <p:nvSpPr>
            <p:cNvPr id="44" name="Freeform 44"/>
            <p:cNvSpPr/>
            <p:nvPr/>
          </p:nvSpPr>
          <p:spPr>
            <a:xfrm>
              <a:off x="0" y="0"/>
              <a:ext cx="1834533" cy="550365"/>
            </a:xfrm>
            <a:custGeom>
              <a:avLst/>
              <a:gdLst/>
              <a:ahLst/>
              <a:cxnLst/>
              <a:rect l="l" t="t" r="r" b="b"/>
              <a:pathLst>
                <a:path w="1834533" h="550365">
                  <a:moveTo>
                    <a:pt x="0" y="0"/>
                  </a:moveTo>
                  <a:lnTo>
                    <a:pt x="1834533" y="0"/>
                  </a:lnTo>
                  <a:lnTo>
                    <a:pt x="1834533" y="550365"/>
                  </a:lnTo>
                  <a:lnTo>
                    <a:pt x="0" y="550365"/>
                  </a:lnTo>
                  <a:close/>
                </a:path>
              </a:pathLst>
            </a:custGeom>
            <a:blipFill>
              <a:blip r:embed="rId4">
                <a:alphaModFix amt="0"/>
              </a:blip>
              <a:stretch>
                <a:fillRect t="-14950" b="-14948"/>
              </a:stretch>
            </a:blipFill>
          </p:spPr>
          <p:txBody>
            <a:bodyPr/>
            <a:lstStyle/>
            <a:p>
              <a:endParaRPr lang="en-US"/>
            </a:p>
          </p:txBody>
        </p:sp>
        <p:sp>
          <p:nvSpPr>
            <p:cNvPr id="45" name="TextBox 45"/>
            <p:cNvSpPr txBox="1"/>
            <p:nvPr/>
          </p:nvSpPr>
          <p:spPr>
            <a:xfrm>
              <a:off x="0" y="-9525"/>
              <a:ext cx="1834528" cy="559885"/>
            </a:xfrm>
            <a:prstGeom prst="rect">
              <a:avLst/>
            </a:prstGeom>
          </p:spPr>
          <p:txBody>
            <a:bodyPr lIns="0" tIns="0" rIns="0" bIns="0" rtlCol="0" anchor="ctr"/>
            <a:lstStyle/>
            <a:p>
              <a:pPr algn="r">
                <a:lnSpc>
                  <a:spcPts val="1805"/>
                </a:lnSpc>
              </a:pPr>
              <a:r>
                <a:rPr lang="en-US" sz="1504" b="1">
                  <a:solidFill>
                    <a:srgbClr val="FFD700"/>
                  </a:solidFill>
                  <a:latin typeface="Montserrat Bold"/>
                  <a:ea typeface="Montserrat Bold"/>
                  <a:cs typeface="Montserrat Bold"/>
                  <a:sym typeface="Montserrat Bold"/>
                </a:rPr>
                <a:t>01</a:t>
              </a:r>
            </a:p>
          </p:txBody>
        </p:sp>
      </p:grpSp>
      <p:sp>
        <p:nvSpPr>
          <p:cNvPr id="46" name="Freeform 46"/>
          <p:cNvSpPr/>
          <p:nvPr/>
        </p:nvSpPr>
        <p:spPr>
          <a:xfrm>
            <a:off x="10240640" y="1217283"/>
            <a:ext cx="7862263" cy="7852435"/>
          </a:xfrm>
          <a:custGeom>
            <a:avLst/>
            <a:gdLst/>
            <a:ahLst/>
            <a:cxnLst/>
            <a:rect l="l" t="t" r="r" b="b"/>
            <a:pathLst>
              <a:path w="7862263" h="7852435">
                <a:moveTo>
                  <a:pt x="0" y="0"/>
                </a:moveTo>
                <a:lnTo>
                  <a:pt x="7862263" y="0"/>
                </a:lnTo>
                <a:lnTo>
                  <a:pt x="7862263" y="7852434"/>
                </a:lnTo>
                <a:lnTo>
                  <a:pt x="0" y="7852434"/>
                </a:lnTo>
                <a:lnTo>
                  <a:pt x="0" y="0"/>
                </a:lnTo>
                <a:close/>
              </a:path>
            </a:pathLst>
          </a:custGeom>
          <a:blipFill>
            <a:blip>
              <a:alphaModFix amt="10999"/>
              <a:extLst>
                <a:ext uri="{96DAC541-7B7A-43D3-8B79-37D633B846F1}">
                  <asvg:svgBlip xmlns:asvg="http://schemas.microsoft.com/office/drawing/2016/SVG/main" r:embed="rId5"/>
                </a:ext>
              </a:extLst>
            </a:blip>
            <a:stretch>
              <a:fillRect/>
            </a:stretch>
          </a:blipFill>
        </p:spPr>
        <p:txBody>
          <a:bodyPr/>
          <a:lstStyle/>
          <a:p>
            <a:endParaRPr lang="en-US"/>
          </a:p>
        </p:txBody>
      </p:sp>
    </p:spTree>
    <p:extLst>
      <p:ext uri="{BB962C8B-B14F-4D97-AF65-F5344CB8AC3E}">
        <p14:creationId xmlns:p14="http://schemas.microsoft.com/office/powerpoint/2010/main" val="2716687344"/>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0"/>
                      </p:stCondLst>
                      <p:childTnLst>
                        <p:par>
                          <p:cTn id="4" presetID="10" presetClass="entr" presetSubtype="0" fill="hold" nodeType="afterEffect">
                            <p:stCondLst>
                              <p:cond delay="0"/>
                            </p:stCondLst>
                            <p:childTnLst>
                              <p:set>
                                <p:cBhvr>
                                  <p:cTn id="5" dur="1" fill="hold">
                                    <p:stCondLst>
                                      <p:cond delay="0"/>
                                    </p:stCondLst>
                                  </p:cTn>
                                  <p:tgtEl>
                                    <p:spTgt spid="9"/>
                                  </p:tgtEl>
                                  <p:attrNameLst>
                                    <p:attrName>style.visibility</p:attrName>
                                  </p:attrNameLst>
                                </p:cBhvr>
                                <p:to>
                                  <p:strVal val="visible"/>
                                </p:to>
                              </p:set>
                              <p:animEffect transition="in" filter="fade">
                                <p:cBhvr>
                                  <p:cTn id="6" dur="650"/>
                                  <p:tgtEl>
                                    <p:spTgt spid="9"/>
                                  </p:tgtEl>
                                </p:cBhvr>
                              </p:animEffect>
                            </p:childTnLst>
                          </p:cTn>
                        </p:par>
                        <p:par>
                          <p:cTn id="7" presetID="10" presetClass="entr" presetSubtype="0" fill="hold" nodeType="afterEffect">
                            <p:stCondLst>
                              <p:cond delay="0"/>
                            </p:stCondLst>
                            <p:childTnLst>
                              <p:set>
                                <p:cBhvr>
                                  <p:cTn id="8" dur="1" fill="hold">
                                    <p:stCondLst>
                                      <p:cond delay="0"/>
                                    </p:stCondLst>
                                  </p:cTn>
                                  <p:tgtEl>
                                    <p:spTgt spid="12"/>
                                  </p:tgtEl>
                                  <p:attrNameLst>
                                    <p:attrName>style.visibility</p:attrName>
                                  </p:attrNameLst>
                                </p:cBhvr>
                                <p:to>
                                  <p:strVal val="visible"/>
                                </p:to>
                              </p:set>
                              <p:animEffect transition="in" filter="fade">
                                <p:cBhvr>
                                  <p:cTn id="9" dur="650"/>
                                  <p:tgtEl>
                                    <p:spTgt spid="12"/>
                                  </p:tgtEl>
                                </p:cBhvr>
                              </p:animEffect>
                            </p:childTnLst>
                          </p:cTn>
                        </p:par>
                        <p:par>
                          <p:cTn id="10" presetID="10" presetClass="entr" presetSubtype="0" fill="hold" nodeType="afterEffect">
                            <p:stCondLst>
                              <p:cond delay="0"/>
                            </p:stCondLst>
                            <p:childTnLst>
                              <p:set>
                                <p:cBhvr>
                                  <p:cTn id="11" dur="1" fill="hold">
                                    <p:stCondLst>
                                      <p:cond delay="0"/>
                                    </p:stCondLst>
                                  </p:cTn>
                                  <p:tgtEl>
                                    <p:spTgt spid="15"/>
                                  </p:tgtEl>
                                  <p:attrNameLst>
                                    <p:attrName>style.visibility</p:attrName>
                                  </p:attrNameLst>
                                </p:cBhvr>
                                <p:to>
                                  <p:strVal val="visible"/>
                                </p:to>
                              </p:set>
                              <p:animEffect transition="in" filter="fade">
                                <p:cBhvr>
                                  <p:cTn id="12" dur="650"/>
                                  <p:tgtEl>
                                    <p:spTgt spid="15"/>
                                  </p:tgtEl>
                                </p:cBhvr>
                              </p:animEffect>
                            </p:childTnLst>
                          </p:cTn>
                        </p:par>
                        <p:par>
                          <p:cTn id="13" presetID="10" presetClass="entr" presetSubtype="0" fill="hold" nodeType="afterEffect">
                            <p:stCondLst>
                              <p:cond delay="0"/>
                            </p:stCondLst>
                            <p:childTnLst>
                              <p:set>
                                <p:cBhvr>
                                  <p:cTn id="14" dur="1" fill="hold">
                                    <p:stCondLst>
                                      <p:cond delay="0"/>
                                    </p:stCondLst>
                                  </p:cTn>
                                  <p:tgtEl>
                                    <p:spTgt spid="17"/>
                                  </p:tgtEl>
                                  <p:attrNameLst>
                                    <p:attrName>style.visibility</p:attrName>
                                  </p:attrNameLst>
                                </p:cBhvr>
                                <p:to>
                                  <p:strVal val="visible"/>
                                </p:to>
                              </p:set>
                              <p:animEffect transition="in" filter="fade">
                                <p:cBhvr>
                                  <p:cTn id="15" dur="650"/>
                                  <p:tgtEl>
                                    <p:spTgt spid="17"/>
                                  </p:tgtEl>
                                </p:cBhvr>
                              </p:animEffect>
                            </p:childTnLst>
                          </p:cTn>
                        </p:par>
                        <p:par>
                          <p:cTn id="16" presetID="10" presetClass="entr" presetSubtype="0" fill="hold" nodeType="afterEffect">
                            <p:stCondLst>
                              <p:cond delay="0"/>
                            </p:stCondLst>
                            <p:childTnLst>
                              <p:set>
                                <p:cBhvr>
                                  <p:cTn id="17" dur="1" fill="hold">
                                    <p:stCondLst>
                                      <p:cond delay="0"/>
                                    </p:stCondLst>
                                  </p:cTn>
                                  <p:tgtEl>
                                    <p:spTgt spid="20"/>
                                  </p:tgtEl>
                                  <p:attrNameLst>
                                    <p:attrName>style.visibility</p:attrName>
                                  </p:attrNameLst>
                                </p:cBhvr>
                                <p:to>
                                  <p:strVal val="visible"/>
                                </p:to>
                              </p:set>
                              <p:animEffect transition="in" filter="fade">
                                <p:cBhvr>
                                  <p:cTn id="18" dur="650"/>
                                  <p:tgtEl>
                                    <p:spTgt spid="20"/>
                                  </p:tgtEl>
                                </p:cBhvr>
                              </p:animEffect>
                            </p:childTnLst>
                          </p:cTn>
                        </p:par>
                        <p:par>
                          <p:cTn id="19" presetID="10" presetClass="entr" presetSubtype="0" fill="hold" nodeType="afterEffect">
                            <p:stCondLst>
                              <p:cond delay="0"/>
                            </p:stCondLst>
                            <p:childTnLst>
                              <p:set>
                                <p:cBhvr>
                                  <p:cTn id="20" dur="1" fill="hold">
                                    <p:stCondLst>
                                      <p:cond delay="0"/>
                                    </p:stCondLst>
                                  </p:cTn>
                                  <p:tgtEl>
                                    <p:spTgt spid="22"/>
                                  </p:tgtEl>
                                  <p:attrNameLst>
                                    <p:attrName>style.visibility</p:attrName>
                                  </p:attrNameLst>
                                </p:cBhvr>
                                <p:to>
                                  <p:strVal val="visible"/>
                                </p:to>
                              </p:set>
                              <p:animEffect transition="in" filter="fade">
                                <p:cBhvr>
                                  <p:cTn id="21" dur="650"/>
                                  <p:tgtEl>
                                    <p:spTgt spid="22"/>
                                  </p:tgtEl>
                                </p:cBhvr>
                              </p:animEffect>
                            </p:childTnLst>
                          </p:cTn>
                        </p:par>
                        <p:par>
                          <p:cTn id="22" presetID="10" presetClass="entr" presetSubtype="0" fill="hold" nodeType="afterEffect">
                            <p:stCondLst>
                              <p:cond delay="0"/>
                            </p:stCondLst>
                            <p:childTnLst>
                              <p:set>
                                <p:cBhvr>
                                  <p:cTn id="23" dur="1" fill="hold">
                                    <p:stCondLst>
                                      <p:cond delay="0"/>
                                    </p:stCondLst>
                                  </p:cTn>
                                  <p:tgtEl>
                                    <p:spTgt spid="25"/>
                                  </p:tgtEl>
                                  <p:attrNameLst>
                                    <p:attrName>style.visibility</p:attrName>
                                  </p:attrNameLst>
                                </p:cBhvr>
                                <p:to>
                                  <p:strVal val="visible"/>
                                </p:to>
                              </p:set>
                              <p:animEffect transition="in" filter="fade">
                                <p:cBhvr>
                                  <p:cTn id="24" dur="650"/>
                                  <p:tgtEl>
                                    <p:spTgt spid="25"/>
                                  </p:tgtEl>
                                </p:cBhvr>
                              </p:animEffect>
                            </p:childTnLst>
                          </p:cTn>
                        </p:par>
                        <p:par>
                          <p:cTn id="25" presetID="10" presetClass="entr" presetSubtype="0" fill="hold" nodeType="afterEffect">
                            <p:stCondLst>
                              <p:cond delay="0"/>
                            </p:stCondLst>
                            <p:childTnLst>
                              <p:set>
                                <p:cBhvr>
                                  <p:cTn id="26" dur="1" fill="hold">
                                    <p:stCondLst>
                                      <p:cond delay="0"/>
                                    </p:stCondLst>
                                  </p:cTn>
                                  <p:tgtEl>
                                    <p:spTgt spid="27"/>
                                  </p:tgtEl>
                                  <p:attrNameLst>
                                    <p:attrName>style.visibility</p:attrName>
                                  </p:attrNameLst>
                                </p:cBhvr>
                                <p:to>
                                  <p:strVal val="visible"/>
                                </p:to>
                              </p:set>
                              <p:animEffect transition="in" filter="fade">
                                <p:cBhvr>
                                  <p:cTn id="27" dur="650"/>
                                  <p:tgtEl>
                                    <p:spTgt spid="27"/>
                                  </p:tgtEl>
                                </p:cBhvr>
                              </p:animEffect>
                            </p:childTnLst>
                          </p:cTn>
                        </p:par>
                        <p:par>
                          <p:cTn id="28" presetID="10" presetClass="entr" presetSubtype="0" fill="hold" nodeType="afterEffect">
                            <p:stCondLst>
                              <p:cond delay="0"/>
                            </p:stCondLst>
                            <p:childTnLst>
                              <p:set>
                                <p:cBhvr>
                                  <p:cTn id="29" dur="1" fill="hold">
                                    <p:stCondLst>
                                      <p:cond delay="0"/>
                                    </p:stCondLst>
                                  </p:cTn>
                                  <p:tgtEl>
                                    <p:spTgt spid="30"/>
                                  </p:tgtEl>
                                  <p:attrNameLst>
                                    <p:attrName>style.visibility</p:attrName>
                                  </p:attrNameLst>
                                </p:cBhvr>
                                <p:to>
                                  <p:strVal val="visible"/>
                                </p:to>
                              </p:set>
                              <p:animEffect transition="in" filter="fade">
                                <p:cBhvr>
                                  <p:cTn id="30" dur="650"/>
                                  <p:tgtEl>
                                    <p:spTgt spid="30"/>
                                  </p:tgtEl>
                                </p:cBhvr>
                              </p:animEffect>
                            </p:childTnLst>
                          </p:cTn>
                        </p:par>
                        <p:par>
                          <p:cTn id="31" presetID="10" presetClass="entr" presetSubtype="0" fill="hold" nodeType="afterEffect">
                            <p:stCondLst>
                              <p:cond delay="0"/>
                            </p:stCondLst>
                            <p:childTnLst>
                              <p:set>
                                <p:cBhvr>
                                  <p:cTn id="32" dur="1" fill="hold">
                                    <p:stCondLst>
                                      <p:cond delay="0"/>
                                    </p:stCondLst>
                                  </p:cTn>
                                  <p:tgtEl>
                                    <p:spTgt spid="32"/>
                                  </p:tgtEl>
                                  <p:attrNameLst>
                                    <p:attrName>style.visibility</p:attrName>
                                  </p:attrNameLst>
                                </p:cBhvr>
                                <p:to>
                                  <p:strVal val="visible"/>
                                </p:to>
                              </p:set>
                              <p:animEffect transition="in" filter="fade">
                                <p:cBhvr>
                                  <p:cTn id="33" dur="650"/>
                                  <p:tgtEl>
                                    <p:spTgt spid="32"/>
                                  </p:tgtEl>
                                </p:cBhvr>
                              </p:animEffect>
                            </p:childTnLst>
                          </p:cTn>
                        </p:par>
                        <p:par>
                          <p:cTn id="34" presetID="10" presetClass="entr" presetSubtype="0" fill="hold" nodeType="afterEffect">
                            <p:stCondLst>
                              <p:cond delay="600"/>
                            </p:stCondLst>
                            <p:childTnLst>
                              <p:set>
                                <p:cBhvr>
                                  <p:cTn id="35" dur="1" fill="hold">
                                    <p:stCondLst>
                                      <p:cond delay="0"/>
                                    </p:stCondLst>
                                  </p:cTn>
                                  <p:tgtEl>
                                    <p:spTgt spid="35"/>
                                  </p:tgtEl>
                                  <p:attrNameLst>
                                    <p:attrName>style.visibility</p:attrName>
                                  </p:attrNameLst>
                                </p:cBhvr>
                                <p:to>
                                  <p:strVal val="visible"/>
                                </p:to>
                              </p:set>
                              <p:animEffect transition="in" filter="fade">
                                <p:cBhvr>
                                  <p:cTn id="36" dur="650"/>
                                  <p:tgtEl>
                                    <p:spTgt spid="35"/>
                                  </p:tgtEl>
                                </p:cBhvr>
                              </p:animEffect>
                            </p:childTnLst>
                          </p:cTn>
                        </p:par>
                        <p:par>
                          <p:cTn id="37" fill="hold">
                            <p:stCondLst>
                              <p:cond delay="0"/>
                            </p:stCondLst>
                            <p:childTnLst>
                              <p:animRot by="21600000">
                                <p:cBhvr>
                                  <p:cTn id="38" dur="60000" repeatCount="indefinite" fill="hold"/>
                                  <p:tgtEl>
                                    <p:spTgt spid="46"/>
                                  </p:tgtEl>
                                  <p:attrNameLst>
                                    <p:attrName>r</p:attrName>
                                  </p:attrNameLst>
                                </p:cBhvr>
                              </p:animRot>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2"/>
          <p:cNvGrpSpPr/>
          <p:nvPr/>
        </p:nvGrpSpPr>
        <p:grpSpPr>
          <a:xfrm>
            <a:off x="963130" y="687953"/>
            <a:ext cx="14997303" cy="481565"/>
            <a:chOff x="0" y="0"/>
            <a:chExt cx="19996404" cy="642087"/>
          </a:xfrm>
        </p:grpSpPr>
        <p:sp>
          <p:nvSpPr>
            <p:cNvPr id="3" name="Freeform 3"/>
            <p:cNvSpPr/>
            <p:nvPr/>
          </p:nvSpPr>
          <p:spPr>
            <a:xfrm>
              <a:off x="0" y="0"/>
              <a:ext cx="19996409" cy="642086"/>
            </a:xfrm>
            <a:custGeom>
              <a:avLst/>
              <a:gdLst/>
              <a:ahLst/>
              <a:cxnLst/>
              <a:rect l="l" t="t" r="r" b="b"/>
              <a:pathLst>
                <a:path w="19996409" h="642086">
                  <a:moveTo>
                    <a:pt x="0" y="0"/>
                  </a:moveTo>
                  <a:lnTo>
                    <a:pt x="19996409" y="0"/>
                  </a:lnTo>
                  <a:lnTo>
                    <a:pt x="19996409" y="642086"/>
                  </a:lnTo>
                  <a:lnTo>
                    <a:pt x="0" y="642086"/>
                  </a:lnTo>
                  <a:close/>
                </a:path>
              </a:pathLst>
            </a:custGeom>
            <a:blipFill>
              <a:blip r:embed="rId3">
                <a:alphaModFix amt="0"/>
              </a:blip>
              <a:stretch>
                <a:fillRect t="-556819" b="-556819"/>
              </a:stretch>
            </a:blipFill>
          </p:spPr>
          <p:txBody>
            <a:bodyPr/>
            <a:lstStyle/>
            <a:p>
              <a:endParaRPr lang="en-US"/>
            </a:p>
          </p:txBody>
        </p:sp>
        <p:sp>
          <p:nvSpPr>
            <p:cNvPr id="4" name="TextBox 4"/>
            <p:cNvSpPr txBox="1"/>
            <p:nvPr/>
          </p:nvSpPr>
          <p:spPr>
            <a:xfrm>
              <a:off x="0" y="-9525"/>
              <a:ext cx="19996404" cy="651612"/>
            </a:xfrm>
            <a:prstGeom prst="rect">
              <a:avLst/>
            </a:prstGeom>
          </p:spPr>
          <p:txBody>
            <a:bodyPr lIns="0" tIns="0" rIns="0" bIns="0" rtlCol="0" anchor="ctr"/>
            <a:lstStyle/>
            <a:p>
              <a:pPr algn="l">
                <a:lnSpc>
                  <a:spcPts val="2347"/>
                </a:lnSpc>
              </a:pPr>
              <a:r>
                <a:rPr lang="en-US" sz="1956" b="1" spc="300">
                  <a:solidFill>
                    <a:srgbClr val="C41E3A"/>
                  </a:solidFill>
                  <a:latin typeface="Montserrat Bold"/>
                  <a:ea typeface="Montserrat Bold"/>
                  <a:cs typeface="Montserrat Bold"/>
                  <a:sym typeface="Montserrat Bold"/>
                </a:rPr>
                <a:t>CƠ SỞ PHÁP LÝ &amp; ĐỊNH HƯỚNG</a:t>
              </a:r>
            </a:p>
          </p:txBody>
        </p:sp>
      </p:grpSp>
      <p:sp>
        <p:nvSpPr>
          <p:cNvPr id="5" name="TextBox 5"/>
          <p:cNvSpPr txBox="1"/>
          <p:nvPr/>
        </p:nvSpPr>
        <p:spPr>
          <a:xfrm>
            <a:off x="963130" y="1155754"/>
            <a:ext cx="14997303" cy="638197"/>
          </a:xfrm>
          <a:prstGeom prst="rect">
            <a:avLst/>
          </a:prstGeom>
        </p:spPr>
        <p:txBody>
          <a:bodyPr lIns="0" tIns="0" rIns="0" bIns="0" rtlCol="0" anchor="t">
            <a:spAutoFit/>
          </a:bodyPr>
          <a:lstStyle/>
          <a:p>
            <a:pPr algn="l">
              <a:lnSpc>
                <a:spcPts val="5055"/>
              </a:lnSpc>
            </a:pPr>
            <a:r>
              <a:rPr lang="en-US" sz="4213" b="1">
                <a:solidFill>
                  <a:srgbClr val="1F2937"/>
                </a:solidFill>
                <a:latin typeface="Montserrat Bold"/>
                <a:ea typeface="Montserrat Bold"/>
                <a:cs typeface="Montserrat Bold"/>
                <a:sym typeface="Montserrat Bold"/>
              </a:rPr>
              <a:t>Bám sát chủ trương chuyển đổi số</a:t>
            </a:r>
          </a:p>
        </p:txBody>
      </p:sp>
      <p:grpSp>
        <p:nvGrpSpPr>
          <p:cNvPr id="6" name="Group 6"/>
          <p:cNvGrpSpPr/>
          <p:nvPr/>
        </p:nvGrpSpPr>
        <p:grpSpPr>
          <a:xfrm>
            <a:off x="963130" y="2228955"/>
            <a:ext cx="1513494" cy="96317"/>
            <a:chOff x="0" y="0"/>
            <a:chExt cx="2017992" cy="128422"/>
          </a:xfrm>
        </p:grpSpPr>
        <p:sp>
          <p:nvSpPr>
            <p:cNvPr id="7" name="Freeform 7"/>
            <p:cNvSpPr/>
            <p:nvPr/>
          </p:nvSpPr>
          <p:spPr>
            <a:xfrm>
              <a:off x="0" y="0"/>
              <a:ext cx="2018030" cy="128397"/>
            </a:xfrm>
            <a:custGeom>
              <a:avLst/>
              <a:gdLst/>
              <a:ahLst/>
              <a:cxnLst/>
              <a:rect l="l" t="t" r="r" b="b"/>
              <a:pathLst>
                <a:path w="2018030" h="128397">
                  <a:moveTo>
                    <a:pt x="0" y="0"/>
                  </a:moveTo>
                  <a:lnTo>
                    <a:pt x="2018030" y="0"/>
                  </a:lnTo>
                  <a:lnTo>
                    <a:pt x="2018030" y="128397"/>
                  </a:lnTo>
                  <a:lnTo>
                    <a:pt x="0" y="128397"/>
                  </a:lnTo>
                  <a:close/>
                </a:path>
              </a:pathLst>
            </a:custGeom>
            <a:solidFill>
              <a:srgbClr val="FFD700"/>
            </a:solidFill>
          </p:spPr>
          <p:txBody>
            <a:bodyPr/>
            <a:lstStyle/>
            <a:p>
              <a:endParaRPr lang="en-US"/>
            </a:p>
          </p:txBody>
        </p:sp>
      </p:grpSp>
      <p:grpSp>
        <p:nvGrpSpPr>
          <p:cNvPr id="8" name="Group 8"/>
          <p:cNvGrpSpPr/>
          <p:nvPr/>
        </p:nvGrpSpPr>
        <p:grpSpPr>
          <a:xfrm>
            <a:off x="953576" y="2811037"/>
            <a:ext cx="7792945" cy="4215603"/>
            <a:chOff x="0" y="0"/>
            <a:chExt cx="10390594" cy="5620804"/>
          </a:xfrm>
        </p:grpSpPr>
        <p:sp>
          <p:nvSpPr>
            <p:cNvPr id="9" name="Freeform 9"/>
            <p:cNvSpPr/>
            <p:nvPr/>
          </p:nvSpPr>
          <p:spPr>
            <a:xfrm>
              <a:off x="0" y="0"/>
              <a:ext cx="10390505" cy="5620766"/>
            </a:xfrm>
            <a:custGeom>
              <a:avLst/>
              <a:gdLst/>
              <a:ahLst/>
              <a:cxnLst/>
              <a:rect l="l" t="t" r="r" b="b"/>
              <a:pathLst>
                <a:path w="10390505" h="5620766">
                  <a:moveTo>
                    <a:pt x="0" y="184277"/>
                  </a:moveTo>
                  <a:cubicBezTo>
                    <a:pt x="0" y="82550"/>
                    <a:pt x="82550" y="0"/>
                    <a:pt x="184277" y="0"/>
                  </a:cubicBezTo>
                  <a:lnTo>
                    <a:pt x="10206228" y="0"/>
                  </a:lnTo>
                  <a:cubicBezTo>
                    <a:pt x="10307955" y="0"/>
                    <a:pt x="10390505" y="82550"/>
                    <a:pt x="10390505" y="184277"/>
                  </a:cubicBezTo>
                  <a:lnTo>
                    <a:pt x="10390505" y="5436489"/>
                  </a:lnTo>
                  <a:cubicBezTo>
                    <a:pt x="10390505" y="5538216"/>
                    <a:pt x="10307955" y="5620766"/>
                    <a:pt x="10206228" y="5620766"/>
                  </a:cubicBezTo>
                  <a:lnTo>
                    <a:pt x="184277" y="5620766"/>
                  </a:lnTo>
                  <a:cubicBezTo>
                    <a:pt x="82550" y="5620766"/>
                    <a:pt x="0" y="5538343"/>
                    <a:pt x="0" y="5436489"/>
                  </a:cubicBezTo>
                  <a:close/>
                </a:path>
              </a:pathLst>
            </a:custGeom>
            <a:solidFill>
              <a:srgbClr val="FFF4F2"/>
            </a:solidFill>
            <a:ln w="19110" cap="sq">
              <a:solidFill>
                <a:srgbClr val="F3D2D7"/>
              </a:solidFill>
              <a:prstDash val="solid"/>
              <a:miter/>
            </a:ln>
          </p:spPr>
          <p:txBody>
            <a:bodyPr/>
            <a:lstStyle/>
            <a:p>
              <a:endParaRPr lang="en-US"/>
            </a:p>
          </p:txBody>
        </p:sp>
      </p:grpSp>
      <p:grpSp>
        <p:nvGrpSpPr>
          <p:cNvPr id="10" name="Group 10"/>
          <p:cNvGrpSpPr/>
          <p:nvPr/>
        </p:nvGrpSpPr>
        <p:grpSpPr>
          <a:xfrm>
            <a:off x="963130" y="2820591"/>
            <a:ext cx="7773829" cy="165106"/>
            <a:chOff x="0" y="0"/>
            <a:chExt cx="10365105" cy="220142"/>
          </a:xfrm>
        </p:grpSpPr>
        <p:sp>
          <p:nvSpPr>
            <p:cNvPr id="11" name="Freeform 11"/>
            <p:cNvSpPr/>
            <p:nvPr/>
          </p:nvSpPr>
          <p:spPr>
            <a:xfrm>
              <a:off x="0" y="0"/>
              <a:ext cx="10365105" cy="220091"/>
            </a:xfrm>
            <a:custGeom>
              <a:avLst/>
              <a:gdLst/>
              <a:ahLst/>
              <a:cxnLst/>
              <a:rect l="l" t="t" r="r" b="b"/>
              <a:pathLst>
                <a:path w="10365105" h="220091">
                  <a:moveTo>
                    <a:pt x="0" y="0"/>
                  </a:moveTo>
                  <a:lnTo>
                    <a:pt x="10365105" y="0"/>
                  </a:lnTo>
                  <a:lnTo>
                    <a:pt x="10365105" y="220091"/>
                  </a:lnTo>
                  <a:lnTo>
                    <a:pt x="0" y="220091"/>
                  </a:lnTo>
                  <a:close/>
                </a:path>
              </a:pathLst>
            </a:custGeom>
            <a:solidFill>
              <a:srgbClr val="C41E3A"/>
            </a:solidFill>
          </p:spPr>
          <p:txBody>
            <a:bodyPr/>
            <a:lstStyle/>
            <a:p>
              <a:endParaRPr lang="en-US"/>
            </a:p>
          </p:txBody>
        </p:sp>
      </p:grpSp>
      <p:grpSp>
        <p:nvGrpSpPr>
          <p:cNvPr id="12" name="Group 12"/>
          <p:cNvGrpSpPr/>
          <p:nvPr/>
        </p:nvGrpSpPr>
        <p:grpSpPr>
          <a:xfrm>
            <a:off x="1444695" y="3398472"/>
            <a:ext cx="1307106" cy="1307106"/>
            <a:chOff x="0" y="0"/>
            <a:chExt cx="1742808" cy="1742808"/>
          </a:xfrm>
        </p:grpSpPr>
        <p:sp>
          <p:nvSpPr>
            <p:cNvPr id="13" name="Freeform 13"/>
            <p:cNvSpPr/>
            <p:nvPr/>
          </p:nvSpPr>
          <p:spPr>
            <a:xfrm>
              <a:off x="0" y="0"/>
              <a:ext cx="1742694" cy="1742694"/>
            </a:xfrm>
            <a:custGeom>
              <a:avLst/>
              <a:gdLst/>
              <a:ahLst/>
              <a:cxnLst/>
              <a:rect l="l" t="t" r="r" b="b"/>
              <a:pathLst>
                <a:path w="1742694" h="1742694">
                  <a:moveTo>
                    <a:pt x="0" y="871347"/>
                  </a:moveTo>
                  <a:cubicBezTo>
                    <a:pt x="0" y="390144"/>
                    <a:pt x="390144" y="0"/>
                    <a:pt x="871347" y="0"/>
                  </a:cubicBezTo>
                  <a:cubicBezTo>
                    <a:pt x="1352550" y="0"/>
                    <a:pt x="1742694" y="390144"/>
                    <a:pt x="1742694" y="871347"/>
                  </a:cubicBezTo>
                  <a:cubicBezTo>
                    <a:pt x="1742694" y="1352550"/>
                    <a:pt x="1352550" y="1742694"/>
                    <a:pt x="871347" y="1742694"/>
                  </a:cubicBezTo>
                  <a:cubicBezTo>
                    <a:pt x="390144" y="1742694"/>
                    <a:pt x="0" y="1352677"/>
                    <a:pt x="0" y="871347"/>
                  </a:cubicBezTo>
                  <a:close/>
                </a:path>
              </a:pathLst>
            </a:custGeom>
            <a:solidFill>
              <a:srgbClr val="C41E3A"/>
            </a:solidFill>
          </p:spPr>
          <p:txBody>
            <a:bodyPr/>
            <a:lstStyle/>
            <a:p>
              <a:endParaRPr lang="en-US"/>
            </a:p>
          </p:txBody>
        </p:sp>
      </p:grpSp>
      <p:grpSp>
        <p:nvGrpSpPr>
          <p:cNvPr id="14" name="Group 14"/>
          <p:cNvGrpSpPr/>
          <p:nvPr/>
        </p:nvGrpSpPr>
        <p:grpSpPr>
          <a:xfrm>
            <a:off x="1797615" y="3751393"/>
            <a:ext cx="601266" cy="601266"/>
            <a:chOff x="0" y="0"/>
            <a:chExt cx="801688" cy="801688"/>
          </a:xfrm>
        </p:grpSpPr>
        <p:sp>
          <p:nvSpPr>
            <p:cNvPr id="15" name="Freeform 15" descr="preencoded.png"/>
            <p:cNvSpPr/>
            <p:nvPr/>
          </p:nvSpPr>
          <p:spPr>
            <a:xfrm>
              <a:off x="0" y="0"/>
              <a:ext cx="801751" cy="801751"/>
            </a:xfrm>
            <a:custGeom>
              <a:avLst/>
              <a:gdLst/>
              <a:ahLst/>
              <a:cxnLst/>
              <a:rect l="l" t="t" r="r" b="b"/>
              <a:pathLst>
                <a:path w="801751" h="801751">
                  <a:moveTo>
                    <a:pt x="0" y="0"/>
                  </a:moveTo>
                  <a:lnTo>
                    <a:pt x="801751" y="0"/>
                  </a:lnTo>
                  <a:lnTo>
                    <a:pt x="801751" y="801751"/>
                  </a:lnTo>
                  <a:lnTo>
                    <a:pt x="0" y="801751"/>
                  </a:lnTo>
                  <a:lnTo>
                    <a:pt x="0" y="0"/>
                  </a:lnTo>
                  <a:close/>
                </a:path>
              </a:pathLst>
            </a:custGeom>
            <a:blipFill>
              <a:blip r:embed="rId4"/>
              <a:stretch>
                <a:fillRect r="7" b="7"/>
              </a:stretch>
            </a:blipFill>
          </p:spPr>
          <p:txBody>
            <a:bodyPr/>
            <a:lstStyle/>
            <a:p>
              <a:endParaRPr lang="en-US"/>
            </a:p>
          </p:txBody>
        </p:sp>
      </p:grpSp>
      <p:grpSp>
        <p:nvGrpSpPr>
          <p:cNvPr id="16" name="Group 16"/>
          <p:cNvGrpSpPr/>
          <p:nvPr/>
        </p:nvGrpSpPr>
        <p:grpSpPr>
          <a:xfrm>
            <a:off x="3026978" y="3398472"/>
            <a:ext cx="5434803" cy="687950"/>
            <a:chOff x="0" y="0"/>
            <a:chExt cx="7246404" cy="917266"/>
          </a:xfrm>
        </p:grpSpPr>
        <p:sp>
          <p:nvSpPr>
            <p:cNvPr id="17" name="Freeform 17"/>
            <p:cNvSpPr/>
            <p:nvPr/>
          </p:nvSpPr>
          <p:spPr>
            <a:xfrm>
              <a:off x="0" y="0"/>
              <a:ext cx="7246405" cy="917263"/>
            </a:xfrm>
            <a:custGeom>
              <a:avLst/>
              <a:gdLst/>
              <a:ahLst/>
              <a:cxnLst/>
              <a:rect l="l" t="t" r="r" b="b"/>
              <a:pathLst>
                <a:path w="7246405" h="917263">
                  <a:moveTo>
                    <a:pt x="0" y="0"/>
                  </a:moveTo>
                  <a:lnTo>
                    <a:pt x="7246405" y="0"/>
                  </a:lnTo>
                  <a:lnTo>
                    <a:pt x="7246405" y="917263"/>
                  </a:lnTo>
                  <a:lnTo>
                    <a:pt x="0" y="917263"/>
                  </a:lnTo>
                  <a:close/>
                </a:path>
              </a:pathLst>
            </a:custGeom>
            <a:blipFill>
              <a:blip r:embed="rId3">
                <a:alphaModFix amt="0"/>
              </a:blip>
              <a:stretch>
                <a:fillRect t="-103932" b="-103932"/>
              </a:stretch>
            </a:blipFill>
          </p:spPr>
          <p:txBody>
            <a:bodyPr/>
            <a:lstStyle/>
            <a:p>
              <a:endParaRPr lang="en-US"/>
            </a:p>
          </p:txBody>
        </p:sp>
        <p:sp>
          <p:nvSpPr>
            <p:cNvPr id="18" name="TextBox 18"/>
            <p:cNvSpPr txBox="1"/>
            <p:nvPr/>
          </p:nvSpPr>
          <p:spPr>
            <a:xfrm>
              <a:off x="0" y="0"/>
              <a:ext cx="7246404" cy="917266"/>
            </a:xfrm>
            <a:prstGeom prst="rect">
              <a:avLst/>
            </a:prstGeom>
          </p:spPr>
          <p:txBody>
            <a:bodyPr lIns="0" tIns="0" rIns="0" bIns="0" rtlCol="0" anchor="ctr"/>
            <a:lstStyle/>
            <a:p>
              <a:pPr algn="l">
                <a:lnSpc>
                  <a:spcPts val="3430"/>
                </a:lnSpc>
              </a:pPr>
              <a:r>
                <a:rPr lang="en-US" sz="2858" b="1">
                  <a:solidFill>
                    <a:srgbClr val="8B0000"/>
                  </a:solidFill>
                  <a:latin typeface="Montserrat Bold"/>
                  <a:ea typeface="Montserrat Bold"/>
                  <a:cs typeface="Montserrat Bold"/>
                  <a:sym typeface="Montserrat Bold"/>
                </a:rPr>
                <a:t>Nghị quyết 57-NQ/TW</a:t>
              </a:r>
            </a:p>
          </p:txBody>
        </p:sp>
      </p:grpSp>
      <p:grpSp>
        <p:nvGrpSpPr>
          <p:cNvPr id="19" name="Group 19"/>
          <p:cNvGrpSpPr/>
          <p:nvPr/>
        </p:nvGrpSpPr>
        <p:grpSpPr>
          <a:xfrm>
            <a:off x="3026978" y="4086425"/>
            <a:ext cx="5434803" cy="550360"/>
            <a:chOff x="0" y="0"/>
            <a:chExt cx="7246404" cy="733813"/>
          </a:xfrm>
        </p:grpSpPr>
        <p:sp>
          <p:nvSpPr>
            <p:cNvPr id="20" name="Freeform 20"/>
            <p:cNvSpPr/>
            <p:nvPr/>
          </p:nvSpPr>
          <p:spPr>
            <a:xfrm>
              <a:off x="0" y="0"/>
              <a:ext cx="7246405" cy="733808"/>
            </a:xfrm>
            <a:custGeom>
              <a:avLst/>
              <a:gdLst/>
              <a:ahLst/>
              <a:cxnLst/>
              <a:rect l="l" t="t" r="r" b="b"/>
              <a:pathLst>
                <a:path w="7246405" h="733808">
                  <a:moveTo>
                    <a:pt x="0" y="0"/>
                  </a:moveTo>
                  <a:lnTo>
                    <a:pt x="7246405" y="0"/>
                  </a:lnTo>
                  <a:lnTo>
                    <a:pt x="7246405" y="733808"/>
                  </a:lnTo>
                  <a:lnTo>
                    <a:pt x="0" y="733808"/>
                  </a:lnTo>
                  <a:close/>
                </a:path>
              </a:pathLst>
            </a:custGeom>
            <a:blipFill>
              <a:blip r:embed="rId3">
                <a:alphaModFix amt="0"/>
              </a:blip>
              <a:stretch>
                <a:fillRect t="-142415" b="-142416"/>
              </a:stretch>
            </a:blipFill>
          </p:spPr>
          <p:txBody>
            <a:bodyPr/>
            <a:lstStyle/>
            <a:p>
              <a:endParaRPr lang="en-US"/>
            </a:p>
          </p:txBody>
        </p:sp>
        <p:sp>
          <p:nvSpPr>
            <p:cNvPr id="21" name="TextBox 21"/>
            <p:cNvSpPr txBox="1"/>
            <p:nvPr/>
          </p:nvSpPr>
          <p:spPr>
            <a:xfrm>
              <a:off x="0" y="-9525"/>
              <a:ext cx="7246404" cy="743338"/>
            </a:xfrm>
            <a:prstGeom prst="rect">
              <a:avLst/>
            </a:prstGeom>
          </p:spPr>
          <p:txBody>
            <a:bodyPr lIns="0" tIns="0" rIns="0" bIns="0" rtlCol="0" anchor="ctr"/>
            <a:lstStyle/>
            <a:p>
              <a:pPr algn="l">
                <a:lnSpc>
                  <a:spcPts val="2347"/>
                </a:lnSpc>
              </a:pPr>
              <a:r>
                <a:rPr lang="en-US" sz="1956" i="1">
                  <a:solidFill>
                    <a:srgbClr val="6B7280"/>
                  </a:solidFill>
                  <a:latin typeface="Montserrat Italics"/>
                  <a:ea typeface="Montserrat Italics"/>
                  <a:cs typeface="Montserrat Italics"/>
                  <a:sym typeface="Montserrat Italics"/>
                </a:rPr>
                <a:t>22/12/2024 — Bộ Chính trị</a:t>
              </a:r>
            </a:p>
          </p:txBody>
        </p:sp>
      </p:grpSp>
      <p:grpSp>
        <p:nvGrpSpPr>
          <p:cNvPr id="22" name="Group 22"/>
          <p:cNvGrpSpPr/>
          <p:nvPr/>
        </p:nvGrpSpPr>
        <p:grpSpPr>
          <a:xfrm>
            <a:off x="1513494" y="5090827"/>
            <a:ext cx="6673110" cy="1651080"/>
            <a:chOff x="0" y="0"/>
            <a:chExt cx="8897480" cy="2201439"/>
          </a:xfrm>
        </p:grpSpPr>
        <p:sp>
          <p:nvSpPr>
            <p:cNvPr id="23" name="Freeform 23"/>
            <p:cNvSpPr/>
            <p:nvPr/>
          </p:nvSpPr>
          <p:spPr>
            <a:xfrm>
              <a:off x="0" y="0"/>
              <a:ext cx="8897485" cy="2201436"/>
            </a:xfrm>
            <a:custGeom>
              <a:avLst/>
              <a:gdLst/>
              <a:ahLst/>
              <a:cxnLst/>
              <a:rect l="l" t="t" r="r" b="b"/>
              <a:pathLst>
                <a:path w="8897485" h="2201436">
                  <a:moveTo>
                    <a:pt x="0" y="0"/>
                  </a:moveTo>
                  <a:lnTo>
                    <a:pt x="8897485" y="0"/>
                  </a:lnTo>
                  <a:lnTo>
                    <a:pt x="8897485" y="2201436"/>
                  </a:lnTo>
                  <a:lnTo>
                    <a:pt x="0" y="2201436"/>
                  </a:lnTo>
                  <a:close/>
                </a:path>
              </a:pathLst>
            </a:custGeom>
            <a:blipFill>
              <a:blip r:embed="rId3">
                <a:alphaModFix amt="0"/>
              </a:blip>
              <a:stretch>
                <a:fillRect t="-28751" b="-28752"/>
              </a:stretch>
            </a:blipFill>
          </p:spPr>
          <p:txBody>
            <a:bodyPr/>
            <a:lstStyle/>
            <a:p>
              <a:endParaRPr lang="en-US"/>
            </a:p>
          </p:txBody>
        </p:sp>
        <p:sp>
          <p:nvSpPr>
            <p:cNvPr id="24" name="TextBox 24"/>
            <p:cNvSpPr txBox="1"/>
            <p:nvPr/>
          </p:nvSpPr>
          <p:spPr>
            <a:xfrm>
              <a:off x="0" y="0"/>
              <a:ext cx="8897480" cy="2201439"/>
            </a:xfrm>
            <a:prstGeom prst="rect">
              <a:avLst/>
            </a:prstGeom>
          </p:spPr>
          <p:txBody>
            <a:bodyPr lIns="0" tIns="0" rIns="0" bIns="0" rtlCol="0" anchor="ctr"/>
            <a:lstStyle/>
            <a:p>
              <a:pPr algn="l">
                <a:lnSpc>
                  <a:spcPts val="2618"/>
                </a:lnSpc>
              </a:pPr>
              <a:r>
                <a:rPr lang="en-US" sz="2181">
                  <a:solidFill>
                    <a:srgbClr val="374151"/>
                  </a:solidFill>
                  <a:latin typeface="Montserrat"/>
                  <a:ea typeface="Montserrat"/>
                  <a:cs typeface="Montserrat"/>
                  <a:sym typeface="Montserrat"/>
                </a:rPr>
                <a:t>Đột phá phát triển khoa học công nghệ, đổi mới sáng tạo và chuyển đổi số quốc gia.</a:t>
              </a:r>
            </a:p>
          </p:txBody>
        </p:sp>
      </p:grpSp>
      <p:grpSp>
        <p:nvGrpSpPr>
          <p:cNvPr id="25" name="Group 25"/>
          <p:cNvGrpSpPr/>
          <p:nvPr/>
        </p:nvGrpSpPr>
        <p:grpSpPr>
          <a:xfrm>
            <a:off x="9552946" y="2811037"/>
            <a:ext cx="7792945" cy="4215603"/>
            <a:chOff x="0" y="0"/>
            <a:chExt cx="10390594" cy="5620804"/>
          </a:xfrm>
        </p:grpSpPr>
        <p:sp>
          <p:nvSpPr>
            <p:cNvPr id="26" name="Freeform 26"/>
            <p:cNvSpPr/>
            <p:nvPr/>
          </p:nvSpPr>
          <p:spPr>
            <a:xfrm>
              <a:off x="0" y="0"/>
              <a:ext cx="10390505" cy="5620766"/>
            </a:xfrm>
            <a:custGeom>
              <a:avLst/>
              <a:gdLst/>
              <a:ahLst/>
              <a:cxnLst/>
              <a:rect l="l" t="t" r="r" b="b"/>
              <a:pathLst>
                <a:path w="10390505" h="5620766">
                  <a:moveTo>
                    <a:pt x="0" y="184277"/>
                  </a:moveTo>
                  <a:cubicBezTo>
                    <a:pt x="0" y="82550"/>
                    <a:pt x="82550" y="0"/>
                    <a:pt x="184277" y="0"/>
                  </a:cubicBezTo>
                  <a:lnTo>
                    <a:pt x="10206228" y="0"/>
                  </a:lnTo>
                  <a:cubicBezTo>
                    <a:pt x="10307955" y="0"/>
                    <a:pt x="10390505" y="82550"/>
                    <a:pt x="10390505" y="184277"/>
                  </a:cubicBezTo>
                  <a:lnTo>
                    <a:pt x="10390505" y="5436489"/>
                  </a:lnTo>
                  <a:cubicBezTo>
                    <a:pt x="10390505" y="5538216"/>
                    <a:pt x="10307955" y="5620766"/>
                    <a:pt x="10206228" y="5620766"/>
                  </a:cubicBezTo>
                  <a:lnTo>
                    <a:pt x="184277" y="5620766"/>
                  </a:lnTo>
                  <a:cubicBezTo>
                    <a:pt x="82550" y="5620766"/>
                    <a:pt x="0" y="5538343"/>
                    <a:pt x="0" y="5436489"/>
                  </a:cubicBezTo>
                  <a:close/>
                </a:path>
              </a:pathLst>
            </a:custGeom>
            <a:solidFill>
              <a:srgbClr val="FFF4F2"/>
            </a:solidFill>
            <a:ln w="19110" cap="sq">
              <a:solidFill>
                <a:srgbClr val="F3D2D7"/>
              </a:solidFill>
              <a:prstDash val="solid"/>
              <a:miter/>
            </a:ln>
          </p:spPr>
          <p:txBody>
            <a:bodyPr/>
            <a:lstStyle/>
            <a:p>
              <a:endParaRPr lang="en-US"/>
            </a:p>
          </p:txBody>
        </p:sp>
      </p:grpSp>
      <p:grpSp>
        <p:nvGrpSpPr>
          <p:cNvPr id="27" name="Group 27"/>
          <p:cNvGrpSpPr/>
          <p:nvPr/>
        </p:nvGrpSpPr>
        <p:grpSpPr>
          <a:xfrm>
            <a:off x="9562500" y="2820591"/>
            <a:ext cx="7773829" cy="165106"/>
            <a:chOff x="0" y="0"/>
            <a:chExt cx="10365105" cy="220142"/>
          </a:xfrm>
        </p:grpSpPr>
        <p:sp>
          <p:nvSpPr>
            <p:cNvPr id="28" name="Freeform 28"/>
            <p:cNvSpPr/>
            <p:nvPr/>
          </p:nvSpPr>
          <p:spPr>
            <a:xfrm>
              <a:off x="0" y="0"/>
              <a:ext cx="10365105" cy="220091"/>
            </a:xfrm>
            <a:custGeom>
              <a:avLst/>
              <a:gdLst/>
              <a:ahLst/>
              <a:cxnLst/>
              <a:rect l="l" t="t" r="r" b="b"/>
              <a:pathLst>
                <a:path w="10365105" h="220091">
                  <a:moveTo>
                    <a:pt x="0" y="0"/>
                  </a:moveTo>
                  <a:lnTo>
                    <a:pt x="10365105" y="0"/>
                  </a:lnTo>
                  <a:lnTo>
                    <a:pt x="10365105" y="220091"/>
                  </a:lnTo>
                  <a:lnTo>
                    <a:pt x="0" y="220091"/>
                  </a:lnTo>
                  <a:close/>
                </a:path>
              </a:pathLst>
            </a:custGeom>
            <a:solidFill>
              <a:srgbClr val="C41E3A"/>
            </a:solidFill>
          </p:spPr>
          <p:txBody>
            <a:bodyPr/>
            <a:lstStyle/>
            <a:p>
              <a:endParaRPr lang="en-US"/>
            </a:p>
          </p:txBody>
        </p:sp>
      </p:grpSp>
      <p:grpSp>
        <p:nvGrpSpPr>
          <p:cNvPr id="29" name="Group 29"/>
          <p:cNvGrpSpPr/>
          <p:nvPr/>
        </p:nvGrpSpPr>
        <p:grpSpPr>
          <a:xfrm>
            <a:off x="10044065" y="3398472"/>
            <a:ext cx="1307106" cy="1307106"/>
            <a:chOff x="0" y="0"/>
            <a:chExt cx="1742808" cy="1742808"/>
          </a:xfrm>
        </p:grpSpPr>
        <p:sp>
          <p:nvSpPr>
            <p:cNvPr id="30" name="Freeform 30"/>
            <p:cNvSpPr/>
            <p:nvPr/>
          </p:nvSpPr>
          <p:spPr>
            <a:xfrm>
              <a:off x="0" y="0"/>
              <a:ext cx="1742694" cy="1742694"/>
            </a:xfrm>
            <a:custGeom>
              <a:avLst/>
              <a:gdLst/>
              <a:ahLst/>
              <a:cxnLst/>
              <a:rect l="l" t="t" r="r" b="b"/>
              <a:pathLst>
                <a:path w="1742694" h="1742694">
                  <a:moveTo>
                    <a:pt x="0" y="871347"/>
                  </a:moveTo>
                  <a:cubicBezTo>
                    <a:pt x="0" y="390144"/>
                    <a:pt x="390144" y="0"/>
                    <a:pt x="871347" y="0"/>
                  </a:cubicBezTo>
                  <a:cubicBezTo>
                    <a:pt x="1352550" y="0"/>
                    <a:pt x="1742694" y="390144"/>
                    <a:pt x="1742694" y="871347"/>
                  </a:cubicBezTo>
                  <a:cubicBezTo>
                    <a:pt x="1742694" y="1352550"/>
                    <a:pt x="1352550" y="1742694"/>
                    <a:pt x="871347" y="1742694"/>
                  </a:cubicBezTo>
                  <a:cubicBezTo>
                    <a:pt x="390144" y="1742694"/>
                    <a:pt x="0" y="1352677"/>
                    <a:pt x="0" y="871347"/>
                  </a:cubicBezTo>
                  <a:close/>
                </a:path>
              </a:pathLst>
            </a:custGeom>
            <a:solidFill>
              <a:srgbClr val="C41E3A"/>
            </a:solidFill>
          </p:spPr>
          <p:txBody>
            <a:bodyPr/>
            <a:lstStyle/>
            <a:p>
              <a:endParaRPr lang="en-US"/>
            </a:p>
          </p:txBody>
        </p:sp>
      </p:grpSp>
      <p:grpSp>
        <p:nvGrpSpPr>
          <p:cNvPr id="31" name="Group 31"/>
          <p:cNvGrpSpPr/>
          <p:nvPr/>
        </p:nvGrpSpPr>
        <p:grpSpPr>
          <a:xfrm>
            <a:off x="10396985" y="3751393"/>
            <a:ext cx="601266" cy="601266"/>
            <a:chOff x="0" y="0"/>
            <a:chExt cx="801688" cy="801688"/>
          </a:xfrm>
        </p:grpSpPr>
        <p:sp>
          <p:nvSpPr>
            <p:cNvPr id="32" name="Freeform 32" descr="preencoded.png"/>
            <p:cNvSpPr/>
            <p:nvPr/>
          </p:nvSpPr>
          <p:spPr>
            <a:xfrm>
              <a:off x="0" y="0"/>
              <a:ext cx="801751" cy="801751"/>
            </a:xfrm>
            <a:custGeom>
              <a:avLst/>
              <a:gdLst/>
              <a:ahLst/>
              <a:cxnLst/>
              <a:rect l="l" t="t" r="r" b="b"/>
              <a:pathLst>
                <a:path w="801751" h="801751">
                  <a:moveTo>
                    <a:pt x="0" y="0"/>
                  </a:moveTo>
                  <a:lnTo>
                    <a:pt x="801751" y="0"/>
                  </a:lnTo>
                  <a:lnTo>
                    <a:pt x="801751" y="801751"/>
                  </a:lnTo>
                  <a:lnTo>
                    <a:pt x="0" y="801751"/>
                  </a:lnTo>
                  <a:lnTo>
                    <a:pt x="0" y="0"/>
                  </a:lnTo>
                  <a:close/>
                </a:path>
              </a:pathLst>
            </a:custGeom>
            <a:blipFill>
              <a:blip r:embed="rId5"/>
              <a:stretch>
                <a:fillRect r="7" b="7"/>
              </a:stretch>
            </a:blipFill>
          </p:spPr>
          <p:txBody>
            <a:bodyPr/>
            <a:lstStyle/>
            <a:p>
              <a:endParaRPr lang="en-US"/>
            </a:p>
          </p:txBody>
        </p:sp>
      </p:grpSp>
      <p:grpSp>
        <p:nvGrpSpPr>
          <p:cNvPr id="33" name="Group 33"/>
          <p:cNvGrpSpPr/>
          <p:nvPr/>
        </p:nvGrpSpPr>
        <p:grpSpPr>
          <a:xfrm>
            <a:off x="11626348" y="3398472"/>
            <a:ext cx="5434803" cy="687950"/>
            <a:chOff x="0" y="0"/>
            <a:chExt cx="7246404" cy="917266"/>
          </a:xfrm>
        </p:grpSpPr>
        <p:sp>
          <p:nvSpPr>
            <p:cNvPr id="34" name="Freeform 34"/>
            <p:cNvSpPr/>
            <p:nvPr/>
          </p:nvSpPr>
          <p:spPr>
            <a:xfrm>
              <a:off x="0" y="0"/>
              <a:ext cx="7246405" cy="917263"/>
            </a:xfrm>
            <a:custGeom>
              <a:avLst/>
              <a:gdLst/>
              <a:ahLst/>
              <a:cxnLst/>
              <a:rect l="l" t="t" r="r" b="b"/>
              <a:pathLst>
                <a:path w="7246405" h="917263">
                  <a:moveTo>
                    <a:pt x="0" y="0"/>
                  </a:moveTo>
                  <a:lnTo>
                    <a:pt x="7246405" y="0"/>
                  </a:lnTo>
                  <a:lnTo>
                    <a:pt x="7246405" y="917263"/>
                  </a:lnTo>
                  <a:lnTo>
                    <a:pt x="0" y="917263"/>
                  </a:lnTo>
                  <a:close/>
                </a:path>
              </a:pathLst>
            </a:custGeom>
            <a:blipFill>
              <a:blip r:embed="rId3">
                <a:alphaModFix amt="0"/>
              </a:blip>
              <a:stretch>
                <a:fillRect t="-103932" b="-103932"/>
              </a:stretch>
            </a:blipFill>
          </p:spPr>
          <p:txBody>
            <a:bodyPr/>
            <a:lstStyle/>
            <a:p>
              <a:endParaRPr lang="en-US"/>
            </a:p>
          </p:txBody>
        </p:sp>
        <p:sp>
          <p:nvSpPr>
            <p:cNvPr id="35" name="TextBox 35"/>
            <p:cNvSpPr txBox="1"/>
            <p:nvPr/>
          </p:nvSpPr>
          <p:spPr>
            <a:xfrm>
              <a:off x="0" y="0"/>
              <a:ext cx="7246404" cy="917266"/>
            </a:xfrm>
            <a:prstGeom prst="rect">
              <a:avLst/>
            </a:prstGeom>
          </p:spPr>
          <p:txBody>
            <a:bodyPr lIns="0" tIns="0" rIns="0" bIns="0" rtlCol="0" anchor="ctr"/>
            <a:lstStyle/>
            <a:p>
              <a:pPr algn="l">
                <a:lnSpc>
                  <a:spcPts val="3430"/>
                </a:lnSpc>
              </a:pPr>
              <a:r>
                <a:rPr lang="en-US" sz="2858" b="1">
                  <a:solidFill>
                    <a:srgbClr val="8B0000"/>
                  </a:solidFill>
                  <a:latin typeface="Montserrat Bold"/>
                  <a:ea typeface="Montserrat Bold"/>
                  <a:cs typeface="Montserrat Bold"/>
                  <a:sym typeface="Montserrat Bold"/>
                </a:rPr>
                <a:t>Kế hoạch 342/KH-CAT-PV01</a:t>
              </a:r>
            </a:p>
          </p:txBody>
        </p:sp>
      </p:grpSp>
      <p:grpSp>
        <p:nvGrpSpPr>
          <p:cNvPr id="36" name="Group 36"/>
          <p:cNvGrpSpPr/>
          <p:nvPr/>
        </p:nvGrpSpPr>
        <p:grpSpPr>
          <a:xfrm>
            <a:off x="11626348" y="4086425"/>
            <a:ext cx="5434803" cy="550360"/>
            <a:chOff x="0" y="0"/>
            <a:chExt cx="7246404" cy="733813"/>
          </a:xfrm>
        </p:grpSpPr>
        <p:sp>
          <p:nvSpPr>
            <p:cNvPr id="37" name="Freeform 37"/>
            <p:cNvSpPr/>
            <p:nvPr/>
          </p:nvSpPr>
          <p:spPr>
            <a:xfrm>
              <a:off x="0" y="0"/>
              <a:ext cx="7246405" cy="733808"/>
            </a:xfrm>
            <a:custGeom>
              <a:avLst/>
              <a:gdLst/>
              <a:ahLst/>
              <a:cxnLst/>
              <a:rect l="l" t="t" r="r" b="b"/>
              <a:pathLst>
                <a:path w="7246405" h="733808">
                  <a:moveTo>
                    <a:pt x="0" y="0"/>
                  </a:moveTo>
                  <a:lnTo>
                    <a:pt x="7246405" y="0"/>
                  </a:lnTo>
                  <a:lnTo>
                    <a:pt x="7246405" y="733808"/>
                  </a:lnTo>
                  <a:lnTo>
                    <a:pt x="0" y="733808"/>
                  </a:lnTo>
                  <a:close/>
                </a:path>
              </a:pathLst>
            </a:custGeom>
            <a:blipFill>
              <a:blip r:embed="rId3">
                <a:alphaModFix amt="0"/>
              </a:blip>
              <a:stretch>
                <a:fillRect t="-142415" b="-142416"/>
              </a:stretch>
            </a:blipFill>
          </p:spPr>
          <p:txBody>
            <a:bodyPr/>
            <a:lstStyle/>
            <a:p>
              <a:endParaRPr lang="en-US"/>
            </a:p>
          </p:txBody>
        </p:sp>
        <p:sp>
          <p:nvSpPr>
            <p:cNvPr id="38" name="TextBox 38"/>
            <p:cNvSpPr txBox="1"/>
            <p:nvPr/>
          </p:nvSpPr>
          <p:spPr>
            <a:xfrm>
              <a:off x="0" y="-9525"/>
              <a:ext cx="7246404" cy="743338"/>
            </a:xfrm>
            <a:prstGeom prst="rect">
              <a:avLst/>
            </a:prstGeom>
          </p:spPr>
          <p:txBody>
            <a:bodyPr lIns="0" tIns="0" rIns="0" bIns="0" rtlCol="0" anchor="ctr"/>
            <a:lstStyle/>
            <a:p>
              <a:pPr algn="l">
                <a:lnSpc>
                  <a:spcPts val="2347"/>
                </a:lnSpc>
              </a:pPr>
              <a:r>
                <a:rPr lang="en-US" sz="1956" i="1">
                  <a:solidFill>
                    <a:srgbClr val="6B7280"/>
                  </a:solidFill>
                  <a:latin typeface="Montserrat Italics"/>
                  <a:ea typeface="Montserrat Italics"/>
                  <a:cs typeface="Montserrat Italics"/>
                  <a:sym typeface="Montserrat Italics"/>
                </a:rPr>
                <a:t>19/01/2026 — Công an tỉnh Phú Thọ</a:t>
              </a:r>
            </a:p>
          </p:txBody>
        </p:sp>
      </p:grpSp>
      <p:grpSp>
        <p:nvGrpSpPr>
          <p:cNvPr id="39" name="Group 39"/>
          <p:cNvGrpSpPr/>
          <p:nvPr/>
        </p:nvGrpSpPr>
        <p:grpSpPr>
          <a:xfrm>
            <a:off x="10112864" y="5090827"/>
            <a:ext cx="6673110" cy="1651080"/>
            <a:chOff x="0" y="0"/>
            <a:chExt cx="8897480" cy="2201439"/>
          </a:xfrm>
        </p:grpSpPr>
        <p:sp>
          <p:nvSpPr>
            <p:cNvPr id="40" name="Freeform 40"/>
            <p:cNvSpPr/>
            <p:nvPr/>
          </p:nvSpPr>
          <p:spPr>
            <a:xfrm>
              <a:off x="0" y="0"/>
              <a:ext cx="8897485" cy="2201436"/>
            </a:xfrm>
            <a:custGeom>
              <a:avLst/>
              <a:gdLst/>
              <a:ahLst/>
              <a:cxnLst/>
              <a:rect l="l" t="t" r="r" b="b"/>
              <a:pathLst>
                <a:path w="8897485" h="2201436">
                  <a:moveTo>
                    <a:pt x="0" y="0"/>
                  </a:moveTo>
                  <a:lnTo>
                    <a:pt x="8897485" y="0"/>
                  </a:lnTo>
                  <a:lnTo>
                    <a:pt x="8897485" y="2201436"/>
                  </a:lnTo>
                  <a:lnTo>
                    <a:pt x="0" y="2201436"/>
                  </a:lnTo>
                  <a:close/>
                </a:path>
              </a:pathLst>
            </a:custGeom>
            <a:blipFill>
              <a:blip r:embed="rId3">
                <a:alphaModFix amt="0"/>
              </a:blip>
              <a:stretch>
                <a:fillRect t="-28751" b="-28752"/>
              </a:stretch>
            </a:blipFill>
          </p:spPr>
          <p:txBody>
            <a:bodyPr/>
            <a:lstStyle/>
            <a:p>
              <a:endParaRPr lang="en-US"/>
            </a:p>
          </p:txBody>
        </p:sp>
        <p:sp>
          <p:nvSpPr>
            <p:cNvPr id="41" name="TextBox 41"/>
            <p:cNvSpPr txBox="1"/>
            <p:nvPr/>
          </p:nvSpPr>
          <p:spPr>
            <a:xfrm>
              <a:off x="0" y="0"/>
              <a:ext cx="8897480" cy="2201439"/>
            </a:xfrm>
            <a:prstGeom prst="rect">
              <a:avLst/>
            </a:prstGeom>
          </p:spPr>
          <p:txBody>
            <a:bodyPr lIns="0" tIns="0" rIns="0" bIns="0" rtlCol="0" anchor="ctr"/>
            <a:lstStyle/>
            <a:p>
              <a:pPr algn="l">
                <a:lnSpc>
                  <a:spcPts val="2618"/>
                </a:lnSpc>
              </a:pPr>
              <a:r>
                <a:rPr lang="en-US" sz="2181">
                  <a:solidFill>
                    <a:srgbClr val="374151"/>
                  </a:solidFill>
                  <a:latin typeface="Montserrat"/>
                  <a:ea typeface="Montserrat"/>
                  <a:cs typeface="Montserrat"/>
                  <a:sym typeface="Montserrat"/>
                </a:rPr>
                <a:t>Triển khai nghiên cứu sáng kiến nâng cao chất lượng chuyên môn, đẩy mạnh cải cách hành chính 2026.</a:t>
              </a:r>
            </a:p>
          </p:txBody>
        </p:sp>
      </p:grpSp>
      <p:grpSp>
        <p:nvGrpSpPr>
          <p:cNvPr id="42" name="Group 42"/>
          <p:cNvGrpSpPr/>
          <p:nvPr/>
        </p:nvGrpSpPr>
        <p:grpSpPr>
          <a:xfrm>
            <a:off x="963130" y="7498651"/>
            <a:ext cx="16373208" cy="1307106"/>
            <a:chOff x="0" y="0"/>
            <a:chExt cx="21830944" cy="1742808"/>
          </a:xfrm>
        </p:grpSpPr>
        <p:sp>
          <p:nvSpPr>
            <p:cNvPr id="43" name="Freeform 43"/>
            <p:cNvSpPr/>
            <p:nvPr/>
          </p:nvSpPr>
          <p:spPr>
            <a:xfrm>
              <a:off x="0" y="0"/>
              <a:ext cx="21830919" cy="1742694"/>
            </a:xfrm>
            <a:custGeom>
              <a:avLst/>
              <a:gdLst/>
              <a:ahLst/>
              <a:cxnLst/>
              <a:rect l="l" t="t" r="r" b="b"/>
              <a:pathLst>
                <a:path w="21830919" h="1742694">
                  <a:moveTo>
                    <a:pt x="0" y="183388"/>
                  </a:moveTo>
                  <a:cubicBezTo>
                    <a:pt x="0" y="82169"/>
                    <a:pt x="82169" y="0"/>
                    <a:pt x="183388" y="0"/>
                  </a:cubicBezTo>
                  <a:lnTo>
                    <a:pt x="21647531" y="0"/>
                  </a:lnTo>
                  <a:cubicBezTo>
                    <a:pt x="21748877" y="0"/>
                    <a:pt x="21830919" y="82169"/>
                    <a:pt x="21830919" y="183388"/>
                  </a:cubicBezTo>
                  <a:lnTo>
                    <a:pt x="21830919" y="1559306"/>
                  </a:lnTo>
                  <a:cubicBezTo>
                    <a:pt x="21830919" y="1660652"/>
                    <a:pt x="21748750" y="1742694"/>
                    <a:pt x="21647531" y="1742694"/>
                  </a:cubicBezTo>
                  <a:lnTo>
                    <a:pt x="183388" y="1742694"/>
                  </a:lnTo>
                  <a:cubicBezTo>
                    <a:pt x="82169" y="1742821"/>
                    <a:pt x="0" y="1660652"/>
                    <a:pt x="0" y="1559306"/>
                  </a:cubicBezTo>
                  <a:close/>
                </a:path>
              </a:pathLst>
            </a:custGeom>
            <a:solidFill>
              <a:srgbClr val="8B0000"/>
            </a:solidFill>
          </p:spPr>
          <p:txBody>
            <a:bodyPr/>
            <a:lstStyle/>
            <a:p>
              <a:endParaRPr lang="en-US"/>
            </a:p>
          </p:txBody>
        </p:sp>
      </p:grpSp>
      <p:grpSp>
        <p:nvGrpSpPr>
          <p:cNvPr id="44" name="Group 44"/>
          <p:cNvGrpSpPr/>
          <p:nvPr/>
        </p:nvGrpSpPr>
        <p:grpSpPr>
          <a:xfrm>
            <a:off x="1444695" y="7870146"/>
            <a:ext cx="577882" cy="577882"/>
            <a:chOff x="0" y="0"/>
            <a:chExt cx="770509" cy="770509"/>
          </a:xfrm>
        </p:grpSpPr>
        <p:sp>
          <p:nvSpPr>
            <p:cNvPr id="45" name="Freeform 45" descr="preencoded.png"/>
            <p:cNvSpPr/>
            <p:nvPr/>
          </p:nvSpPr>
          <p:spPr>
            <a:xfrm>
              <a:off x="0" y="0"/>
              <a:ext cx="770509" cy="770509"/>
            </a:xfrm>
            <a:custGeom>
              <a:avLst/>
              <a:gdLst/>
              <a:ahLst/>
              <a:cxnLst/>
              <a:rect l="l" t="t" r="r" b="b"/>
              <a:pathLst>
                <a:path w="770509" h="770509">
                  <a:moveTo>
                    <a:pt x="0" y="0"/>
                  </a:moveTo>
                  <a:lnTo>
                    <a:pt x="770509" y="0"/>
                  </a:lnTo>
                  <a:lnTo>
                    <a:pt x="770509" y="770509"/>
                  </a:lnTo>
                  <a:lnTo>
                    <a:pt x="0" y="770509"/>
                  </a:lnTo>
                  <a:lnTo>
                    <a:pt x="0" y="0"/>
                  </a:lnTo>
                  <a:close/>
                </a:path>
              </a:pathLst>
            </a:custGeom>
            <a:blipFill>
              <a:blip r:embed="rId6"/>
              <a:stretch>
                <a:fillRect/>
              </a:stretch>
            </a:blipFill>
          </p:spPr>
          <p:txBody>
            <a:bodyPr/>
            <a:lstStyle/>
            <a:p>
              <a:endParaRPr lang="en-US"/>
            </a:p>
          </p:txBody>
        </p:sp>
      </p:grpSp>
      <p:grpSp>
        <p:nvGrpSpPr>
          <p:cNvPr id="46" name="Group 46"/>
          <p:cNvGrpSpPr/>
          <p:nvPr/>
        </p:nvGrpSpPr>
        <p:grpSpPr>
          <a:xfrm>
            <a:off x="2339026" y="7498651"/>
            <a:ext cx="14584537" cy="1307105"/>
            <a:chOff x="0" y="0"/>
            <a:chExt cx="19446050" cy="1742806"/>
          </a:xfrm>
        </p:grpSpPr>
        <p:sp>
          <p:nvSpPr>
            <p:cNvPr id="47" name="Freeform 47"/>
            <p:cNvSpPr/>
            <p:nvPr/>
          </p:nvSpPr>
          <p:spPr>
            <a:xfrm>
              <a:off x="0" y="0"/>
              <a:ext cx="19446049" cy="1742804"/>
            </a:xfrm>
            <a:custGeom>
              <a:avLst/>
              <a:gdLst/>
              <a:ahLst/>
              <a:cxnLst/>
              <a:rect l="l" t="t" r="r" b="b"/>
              <a:pathLst>
                <a:path w="19446049" h="1742804">
                  <a:moveTo>
                    <a:pt x="0" y="0"/>
                  </a:moveTo>
                  <a:lnTo>
                    <a:pt x="19446049" y="0"/>
                  </a:lnTo>
                  <a:lnTo>
                    <a:pt x="19446049" y="1742804"/>
                  </a:lnTo>
                  <a:lnTo>
                    <a:pt x="0" y="1742804"/>
                  </a:lnTo>
                  <a:close/>
                </a:path>
              </a:pathLst>
            </a:custGeom>
            <a:blipFill>
              <a:blip r:embed="rId3">
                <a:alphaModFix amt="0"/>
              </a:blip>
              <a:stretch>
                <a:fillRect t="-167412" b="-167412"/>
              </a:stretch>
            </a:blipFill>
          </p:spPr>
          <p:txBody>
            <a:bodyPr/>
            <a:lstStyle/>
            <a:p>
              <a:endParaRPr lang="en-US"/>
            </a:p>
          </p:txBody>
        </p:sp>
        <p:sp>
          <p:nvSpPr>
            <p:cNvPr id="48" name="TextBox 48"/>
            <p:cNvSpPr txBox="1"/>
            <p:nvPr/>
          </p:nvSpPr>
          <p:spPr>
            <a:xfrm>
              <a:off x="0" y="0"/>
              <a:ext cx="19446050" cy="1742806"/>
            </a:xfrm>
            <a:prstGeom prst="rect">
              <a:avLst/>
            </a:prstGeom>
          </p:spPr>
          <p:txBody>
            <a:bodyPr lIns="0" tIns="0" rIns="0" bIns="0" rtlCol="0" anchor="ctr"/>
            <a:lstStyle/>
            <a:p>
              <a:pPr algn="l">
                <a:lnSpc>
                  <a:spcPts val="2798"/>
                </a:lnSpc>
              </a:pPr>
              <a:r>
                <a:rPr lang="en-US" sz="2332" b="1">
                  <a:solidFill>
                    <a:srgbClr val="FFFFFF"/>
                  </a:solidFill>
                  <a:latin typeface="Montserrat Bold"/>
                  <a:ea typeface="Montserrat Bold"/>
                  <a:cs typeface="Montserrat Bold"/>
                  <a:sym typeface="Montserrat Bold"/>
                </a:rPr>
                <a:t>Chỉ số PAR INDEX 2026: ứng dụng AI hỗ trợ cá nhân thực hiện thủ tục là TIÊU CHÍ BẮT BUỘC.</a:t>
              </a:r>
            </a:p>
          </p:txBody>
        </p:sp>
      </p:grpSp>
      <p:grpSp>
        <p:nvGrpSpPr>
          <p:cNvPr id="49" name="Group 49"/>
          <p:cNvGrpSpPr/>
          <p:nvPr/>
        </p:nvGrpSpPr>
        <p:grpSpPr>
          <a:xfrm>
            <a:off x="963130" y="9686334"/>
            <a:ext cx="16373208" cy="19260"/>
            <a:chOff x="0" y="0"/>
            <a:chExt cx="21830944" cy="25679"/>
          </a:xfrm>
        </p:grpSpPr>
        <p:sp>
          <p:nvSpPr>
            <p:cNvPr id="50" name="Freeform 50"/>
            <p:cNvSpPr/>
            <p:nvPr/>
          </p:nvSpPr>
          <p:spPr>
            <a:xfrm>
              <a:off x="0" y="0"/>
              <a:ext cx="21830919" cy="25654"/>
            </a:xfrm>
            <a:custGeom>
              <a:avLst/>
              <a:gdLst/>
              <a:ahLst/>
              <a:cxnLst/>
              <a:rect l="l" t="t" r="r" b="b"/>
              <a:pathLst>
                <a:path w="21830919" h="25654">
                  <a:moveTo>
                    <a:pt x="0" y="0"/>
                  </a:moveTo>
                  <a:lnTo>
                    <a:pt x="21830919" y="0"/>
                  </a:lnTo>
                  <a:lnTo>
                    <a:pt x="21830919" y="25654"/>
                  </a:lnTo>
                  <a:lnTo>
                    <a:pt x="0" y="25654"/>
                  </a:lnTo>
                  <a:close/>
                </a:path>
              </a:pathLst>
            </a:custGeom>
            <a:solidFill>
              <a:srgbClr val="F3D2D7"/>
            </a:solidFill>
          </p:spPr>
          <p:txBody>
            <a:bodyPr/>
            <a:lstStyle/>
            <a:p>
              <a:endParaRPr lang="en-US"/>
            </a:p>
          </p:txBody>
        </p:sp>
      </p:grpSp>
      <p:grpSp>
        <p:nvGrpSpPr>
          <p:cNvPr id="51" name="Group 51"/>
          <p:cNvGrpSpPr/>
          <p:nvPr/>
        </p:nvGrpSpPr>
        <p:grpSpPr>
          <a:xfrm>
            <a:off x="963130" y="9741370"/>
            <a:ext cx="12383100" cy="412770"/>
            <a:chOff x="0" y="0"/>
            <a:chExt cx="16510800" cy="550360"/>
          </a:xfrm>
        </p:grpSpPr>
        <p:sp>
          <p:nvSpPr>
            <p:cNvPr id="52" name="Freeform 52"/>
            <p:cNvSpPr/>
            <p:nvPr/>
          </p:nvSpPr>
          <p:spPr>
            <a:xfrm>
              <a:off x="0" y="0"/>
              <a:ext cx="16510797" cy="550365"/>
            </a:xfrm>
            <a:custGeom>
              <a:avLst/>
              <a:gdLst/>
              <a:ahLst/>
              <a:cxnLst/>
              <a:rect l="l" t="t" r="r" b="b"/>
              <a:pathLst>
                <a:path w="16510797" h="550365">
                  <a:moveTo>
                    <a:pt x="0" y="0"/>
                  </a:moveTo>
                  <a:lnTo>
                    <a:pt x="16510797" y="0"/>
                  </a:lnTo>
                  <a:lnTo>
                    <a:pt x="16510797" y="550365"/>
                  </a:lnTo>
                  <a:lnTo>
                    <a:pt x="0" y="550365"/>
                  </a:lnTo>
                  <a:close/>
                </a:path>
              </a:pathLst>
            </a:custGeom>
            <a:blipFill>
              <a:blip r:embed="rId3">
                <a:alphaModFix amt="0"/>
              </a:blip>
              <a:stretch>
                <a:fillRect t="-534546" b="-534544"/>
              </a:stretch>
            </a:blipFill>
          </p:spPr>
          <p:txBody>
            <a:bodyPr/>
            <a:lstStyle/>
            <a:p>
              <a:endParaRPr lang="en-US"/>
            </a:p>
          </p:txBody>
        </p:sp>
        <p:sp>
          <p:nvSpPr>
            <p:cNvPr id="53" name="TextBox 53"/>
            <p:cNvSpPr txBox="1"/>
            <p:nvPr/>
          </p:nvSpPr>
          <p:spPr>
            <a:xfrm>
              <a:off x="0" y="0"/>
              <a:ext cx="16510800" cy="550360"/>
            </a:xfrm>
            <a:prstGeom prst="rect">
              <a:avLst/>
            </a:prstGeom>
          </p:spPr>
          <p:txBody>
            <a:bodyPr lIns="0" tIns="0" rIns="0" bIns="0" rtlCol="0" anchor="ctr"/>
            <a:lstStyle/>
            <a:p>
              <a:pPr algn="l">
                <a:lnSpc>
                  <a:spcPts val="1625"/>
                </a:lnSpc>
              </a:pPr>
              <a:r>
                <a:rPr lang="en-US" sz="1354" b="1" spc="150">
                  <a:solidFill>
                    <a:srgbClr val="6B7280"/>
                  </a:solidFill>
                  <a:latin typeface="Montserrat Bold"/>
                  <a:ea typeface="Montserrat Bold"/>
                  <a:cs typeface="Montserrat Bold"/>
                  <a:sym typeface="Montserrat Bold"/>
                </a:rPr>
                <a:t>CÔNG AN PHƯỜNG PHÚ THỌ   ·   SÁNG KIẾN CẢI CÁCH HÀNH CHÍNH · 2026</a:t>
              </a:r>
            </a:p>
          </p:txBody>
        </p:sp>
      </p:grpSp>
      <p:grpSp>
        <p:nvGrpSpPr>
          <p:cNvPr id="54" name="Group 54"/>
          <p:cNvGrpSpPr/>
          <p:nvPr/>
        </p:nvGrpSpPr>
        <p:grpSpPr>
          <a:xfrm>
            <a:off x="15960433" y="9741370"/>
            <a:ext cx="1375896" cy="412770"/>
            <a:chOff x="0" y="0"/>
            <a:chExt cx="1834528" cy="550360"/>
          </a:xfrm>
        </p:grpSpPr>
        <p:sp>
          <p:nvSpPr>
            <p:cNvPr id="55" name="Freeform 55"/>
            <p:cNvSpPr/>
            <p:nvPr/>
          </p:nvSpPr>
          <p:spPr>
            <a:xfrm>
              <a:off x="0" y="0"/>
              <a:ext cx="1834533" cy="550365"/>
            </a:xfrm>
            <a:custGeom>
              <a:avLst/>
              <a:gdLst/>
              <a:ahLst/>
              <a:cxnLst/>
              <a:rect l="l" t="t" r="r" b="b"/>
              <a:pathLst>
                <a:path w="1834533" h="550365">
                  <a:moveTo>
                    <a:pt x="0" y="0"/>
                  </a:moveTo>
                  <a:lnTo>
                    <a:pt x="1834533" y="0"/>
                  </a:lnTo>
                  <a:lnTo>
                    <a:pt x="1834533" y="550365"/>
                  </a:lnTo>
                  <a:lnTo>
                    <a:pt x="0" y="550365"/>
                  </a:lnTo>
                  <a:close/>
                </a:path>
              </a:pathLst>
            </a:custGeom>
            <a:blipFill>
              <a:blip r:embed="rId3">
                <a:alphaModFix amt="0"/>
              </a:blip>
              <a:stretch>
                <a:fillRect t="-14950" b="-14948"/>
              </a:stretch>
            </a:blipFill>
          </p:spPr>
          <p:txBody>
            <a:bodyPr/>
            <a:lstStyle/>
            <a:p>
              <a:endParaRPr lang="en-US"/>
            </a:p>
          </p:txBody>
        </p:sp>
        <p:sp>
          <p:nvSpPr>
            <p:cNvPr id="56" name="TextBox 56"/>
            <p:cNvSpPr txBox="1"/>
            <p:nvPr/>
          </p:nvSpPr>
          <p:spPr>
            <a:xfrm>
              <a:off x="0" y="-9525"/>
              <a:ext cx="1834528" cy="559885"/>
            </a:xfrm>
            <a:prstGeom prst="rect">
              <a:avLst/>
            </a:prstGeom>
          </p:spPr>
          <p:txBody>
            <a:bodyPr lIns="0" tIns="0" rIns="0" bIns="0" rtlCol="0" anchor="ctr"/>
            <a:lstStyle/>
            <a:p>
              <a:pPr algn="r">
                <a:lnSpc>
                  <a:spcPts val="1805"/>
                </a:lnSpc>
              </a:pPr>
              <a:r>
                <a:rPr lang="en-US" sz="1504" b="1">
                  <a:solidFill>
                    <a:srgbClr val="C41E3A"/>
                  </a:solidFill>
                  <a:latin typeface="Montserrat Bold"/>
                  <a:ea typeface="Montserrat Bold"/>
                  <a:cs typeface="Montserrat Bold"/>
                  <a:sym typeface="Montserrat Bold"/>
                </a:rPr>
                <a:t>02</a:t>
              </a:r>
            </a:p>
          </p:txBody>
        </p:sp>
      </p:grpSp>
      <p:sp>
        <p:nvSpPr>
          <p:cNvPr id="57" name="Freeform 57"/>
          <p:cNvSpPr/>
          <p:nvPr/>
        </p:nvSpPr>
        <p:spPr>
          <a:xfrm>
            <a:off x="15763067" y="633048"/>
            <a:ext cx="1770628" cy="1768414"/>
          </a:xfrm>
          <a:custGeom>
            <a:avLst/>
            <a:gdLst/>
            <a:ahLst/>
            <a:cxnLst/>
            <a:rect l="l" t="t" r="r" b="b"/>
            <a:pathLst>
              <a:path w="1770628" h="1768414">
                <a:moveTo>
                  <a:pt x="0" y="0"/>
                </a:moveTo>
                <a:lnTo>
                  <a:pt x="1770628" y="0"/>
                </a:lnTo>
                <a:lnTo>
                  <a:pt x="1770628" y="1768414"/>
                </a:lnTo>
                <a:lnTo>
                  <a:pt x="0" y="1768414"/>
                </a:lnTo>
                <a:lnTo>
                  <a:pt x="0" y="0"/>
                </a:lnTo>
                <a:close/>
              </a:path>
            </a:pathLst>
          </a:custGeom>
          <a:blipFill>
            <a:blip>
              <a:alphaModFix amt="10999"/>
              <a:extLst>
                <a:ext uri="{96DAC541-7B7A-43D3-8B79-37D633B846F1}">
                  <asvg:svgBlip xmlns:asvg="http://schemas.microsoft.com/office/drawing/2016/SVG/main" r:embed="rId7"/>
                </a:ext>
              </a:extLst>
            </a:blip>
            <a:stretch>
              <a:fillRect/>
            </a:stretch>
          </a:blipFill>
        </p:spPr>
        <p:txBody>
          <a:bodyPr/>
          <a:lstStyle/>
          <a:p>
            <a:endParaRPr lang="en-US"/>
          </a:p>
        </p:txBody>
      </p:sp>
    </p:spTree>
    <p:extLst>
      <p:ext uri="{BB962C8B-B14F-4D97-AF65-F5344CB8AC3E}">
        <p14:creationId xmlns:p14="http://schemas.microsoft.com/office/powerpoint/2010/main" val="3099621592"/>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0"/>
                      </p:stCondLst>
                      <p:childTnLst>
                        <p:par>
                          <p:cTn id="4" presetID="10" presetClass="entr" presetSubtype="0" fill="hold" nodeType="afterEffect">
                            <p:stCondLst>
                              <p:cond delay="0"/>
                            </p:stCondLst>
                            <p:childTnLst>
                              <p:set>
                                <p:cBhvr>
                                  <p:cTn id="5" dur="1" fill="hold">
                                    <p:stCondLst>
                                      <p:cond delay="0"/>
                                    </p:stCondLst>
                                  </p:cTn>
                                  <p:tgtEl>
                                    <p:spTgt spid="8"/>
                                  </p:tgtEl>
                                  <p:attrNameLst>
                                    <p:attrName>style.visibility</p:attrName>
                                  </p:attrNameLst>
                                </p:cBhvr>
                                <p:to>
                                  <p:strVal val="visible"/>
                                </p:to>
                              </p:set>
                              <p:animEffect transition="in" filter="fade">
                                <p:cBhvr>
                                  <p:cTn id="6" dur="650"/>
                                  <p:tgtEl>
                                    <p:spTgt spid="8"/>
                                  </p:tgtEl>
                                </p:cBhvr>
                              </p:animEffect>
                            </p:childTnLst>
                          </p:cTn>
                        </p:par>
                        <p:par>
                          <p:cTn id="7" presetID="10" presetClass="entr" presetSubtype="0" fill="hold" nodeType="afterEffect">
                            <p:stCondLst>
                              <p:cond delay="0"/>
                            </p:stCondLst>
                            <p:childTnLst>
                              <p:set>
                                <p:cBhvr>
                                  <p:cTn id="8" dur="1" fill="hold">
                                    <p:stCondLst>
                                      <p:cond delay="0"/>
                                    </p:stCondLst>
                                  </p:cTn>
                                  <p:tgtEl>
                                    <p:spTgt spid="10"/>
                                  </p:tgtEl>
                                  <p:attrNameLst>
                                    <p:attrName>style.visibility</p:attrName>
                                  </p:attrNameLst>
                                </p:cBhvr>
                                <p:to>
                                  <p:strVal val="visible"/>
                                </p:to>
                              </p:set>
                              <p:animEffect transition="in" filter="fade">
                                <p:cBhvr>
                                  <p:cTn id="9" dur="650"/>
                                  <p:tgtEl>
                                    <p:spTgt spid="10"/>
                                  </p:tgtEl>
                                </p:cBhvr>
                              </p:animEffect>
                            </p:childTnLst>
                          </p:cTn>
                        </p:par>
                        <p:par>
                          <p:cTn id="10" presetID="10" presetClass="entr" presetSubtype="0" fill="hold" nodeType="afterEffect">
                            <p:stCondLst>
                              <p:cond delay="0"/>
                            </p:stCondLst>
                            <p:childTnLst>
                              <p:set>
                                <p:cBhvr>
                                  <p:cTn id="11" dur="1" fill="hold">
                                    <p:stCondLst>
                                      <p:cond delay="0"/>
                                    </p:stCondLst>
                                  </p:cTn>
                                  <p:tgtEl>
                                    <p:spTgt spid="12"/>
                                  </p:tgtEl>
                                  <p:attrNameLst>
                                    <p:attrName>style.visibility</p:attrName>
                                  </p:attrNameLst>
                                </p:cBhvr>
                                <p:to>
                                  <p:strVal val="visible"/>
                                </p:to>
                              </p:set>
                              <p:animEffect transition="in" filter="fade">
                                <p:cBhvr>
                                  <p:cTn id="12" dur="650"/>
                                  <p:tgtEl>
                                    <p:spTgt spid="12"/>
                                  </p:tgtEl>
                                </p:cBhvr>
                              </p:animEffect>
                            </p:childTnLst>
                          </p:cTn>
                        </p:par>
                        <p:par>
                          <p:cTn id="13" presetID="10" presetClass="entr" presetSubtype="0" fill="hold" nodeType="afterEffect">
                            <p:stCondLst>
                              <p:cond delay="0"/>
                            </p:stCondLst>
                            <p:childTnLst>
                              <p:set>
                                <p:cBhvr>
                                  <p:cTn id="14" dur="1" fill="hold">
                                    <p:stCondLst>
                                      <p:cond delay="0"/>
                                    </p:stCondLst>
                                  </p:cTn>
                                  <p:tgtEl>
                                    <p:spTgt spid="14"/>
                                  </p:tgtEl>
                                  <p:attrNameLst>
                                    <p:attrName>style.visibility</p:attrName>
                                  </p:attrNameLst>
                                </p:cBhvr>
                                <p:to>
                                  <p:strVal val="visible"/>
                                </p:to>
                              </p:set>
                              <p:animEffect transition="in" filter="fade">
                                <p:cBhvr>
                                  <p:cTn id="15" dur="650"/>
                                  <p:tgtEl>
                                    <p:spTgt spid="14"/>
                                  </p:tgtEl>
                                </p:cBhvr>
                              </p:animEffect>
                            </p:childTnLst>
                          </p:cTn>
                        </p:par>
                        <p:par>
                          <p:cTn id="16" presetID="10" presetClass="entr" presetSubtype="0" fill="hold" nodeType="afterEffect">
                            <p:stCondLst>
                              <p:cond delay="0"/>
                            </p:stCondLst>
                            <p:childTnLst>
                              <p:set>
                                <p:cBhvr>
                                  <p:cTn id="17" dur="1" fill="hold">
                                    <p:stCondLst>
                                      <p:cond delay="0"/>
                                    </p:stCondLst>
                                  </p:cTn>
                                  <p:tgtEl>
                                    <p:spTgt spid="16"/>
                                  </p:tgtEl>
                                  <p:attrNameLst>
                                    <p:attrName>style.visibility</p:attrName>
                                  </p:attrNameLst>
                                </p:cBhvr>
                                <p:to>
                                  <p:strVal val="visible"/>
                                </p:to>
                              </p:set>
                              <p:animEffect transition="in" filter="fade">
                                <p:cBhvr>
                                  <p:cTn id="18" dur="650"/>
                                  <p:tgtEl>
                                    <p:spTgt spid="16"/>
                                  </p:tgtEl>
                                </p:cBhvr>
                              </p:animEffect>
                            </p:childTnLst>
                          </p:cTn>
                        </p:par>
                        <p:par>
                          <p:cTn id="19" presetID="10" presetClass="entr" presetSubtype="0" fill="hold" nodeType="afterEffect">
                            <p:stCondLst>
                              <p:cond delay="0"/>
                            </p:stCondLst>
                            <p:childTnLst>
                              <p:set>
                                <p:cBhvr>
                                  <p:cTn id="20" dur="1" fill="hold">
                                    <p:stCondLst>
                                      <p:cond delay="0"/>
                                    </p:stCondLst>
                                  </p:cTn>
                                  <p:tgtEl>
                                    <p:spTgt spid="19"/>
                                  </p:tgtEl>
                                  <p:attrNameLst>
                                    <p:attrName>style.visibility</p:attrName>
                                  </p:attrNameLst>
                                </p:cBhvr>
                                <p:to>
                                  <p:strVal val="visible"/>
                                </p:to>
                              </p:set>
                              <p:animEffect transition="in" filter="fade">
                                <p:cBhvr>
                                  <p:cTn id="21" dur="650"/>
                                  <p:tgtEl>
                                    <p:spTgt spid="19"/>
                                  </p:tgtEl>
                                </p:cBhvr>
                              </p:animEffect>
                            </p:childTnLst>
                          </p:cTn>
                        </p:par>
                        <p:par>
                          <p:cTn id="22" presetID="10" presetClass="entr" presetSubtype="0" fill="hold" nodeType="afterEffect">
                            <p:stCondLst>
                              <p:cond delay="0"/>
                            </p:stCondLst>
                            <p:childTnLst>
                              <p:set>
                                <p:cBhvr>
                                  <p:cTn id="23" dur="1" fill="hold">
                                    <p:stCondLst>
                                      <p:cond delay="0"/>
                                    </p:stCondLst>
                                  </p:cTn>
                                  <p:tgtEl>
                                    <p:spTgt spid="22"/>
                                  </p:tgtEl>
                                  <p:attrNameLst>
                                    <p:attrName>style.visibility</p:attrName>
                                  </p:attrNameLst>
                                </p:cBhvr>
                                <p:to>
                                  <p:strVal val="visible"/>
                                </p:to>
                              </p:set>
                              <p:animEffect transition="in" filter="fade">
                                <p:cBhvr>
                                  <p:cTn id="24" dur="650"/>
                                  <p:tgtEl>
                                    <p:spTgt spid="22"/>
                                  </p:tgtEl>
                                </p:cBhvr>
                              </p:animEffect>
                            </p:childTnLst>
                          </p:cTn>
                        </p:par>
                        <p:par>
                          <p:cTn id="25" presetID="10" presetClass="entr" presetSubtype="0" fill="hold" nodeType="afterEffect">
                            <p:stCondLst>
                              <p:cond delay="600"/>
                            </p:stCondLst>
                            <p:childTnLst>
                              <p:set>
                                <p:cBhvr>
                                  <p:cTn id="26" dur="1" fill="hold">
                                    <p:stCondLst>
                                      <p:cond delay="0"/>
                                    </p:stCondLst>
                                  </p:cTn>
                                  <p:tgtEl>
                                    <p:spTgt spid="25"/>
                                  </p:tgtEl>
                                  <p:attrNameLst>
                                    <p:attrName>style.visibility</p:attrName>
                                  </p:attrNameLst>
                                </p:cBhvr>
                                <p:to>
                                  <p:strVal val="visible"/>
                                </p:to>
                              </p:set>
                              <p:animEffect transition="in" filter="fade">
                                <p:cBhvr>
                                  <p:cTn id="27" dur="650"/>
                                  <p:tgtEl>
                                    <p:spTgt spid="25"/>
                                  </p:tgtEl>
                                </p:cBhvr>
                              </p:animEffect>
                            </p:childTnLst>
                          </p:cTn>
                        </p:par>
                        <p:par>
                          <p:cTn id="28" presetID="10" presetClass="entr" presetSubtype="0" fill="hold" nodeType="afterEffect">
                            <p:stCondLst>
                              <p:cond delay="600"/>
                            </p:stCondLst>
                            <p:childTnLst>
                              <p:set>
                                <p:cBhvr>
                                  <p:cTn id="29" dur="1" fill="hold">
                                    <p:stCondLst>
                                      <p:cond delay="0"/>
                                    </p:stCondLst>
                                  </p:cTn>
                                  <p:tgtEl>
                                    <p:spTgt spid="27"/>
                                  </p:tgtEl>
                                  <p:attrNameLst>
                                    <p:attrName>style.visibility</p:attrName>
                                  </p:attrNameLst>
                                </p:cBhvr>
                                <p:to>
                                  <p:strVal val="visible"/>
                                </p:to>
                              </p:set>
                              <p:animEffect transition="in" filter="fade">
                                <p:cBhvr>
                                  <p:cTn id="30" dur="650"/>
                                  <p:tgtEl>
                                    <p:spTgt spid="27"/>
                                  </p:tgtEl>
                                </p:cBhvr>
                              </p:animEffect>
                            </p:childTnLst>
                          </p:cTn>
                        </p:par>
                        <p:par>
                          <p:cTn id="31" presetID="10" presetClass="entr" presetSubtype="0" fill="hold" nodeType="afterEffect">
                            <p:stCondLst>
                              <p:cond delay="600"/>
                            </p:stCondLst>
                            <p:childTnLst>
                              <p:set>
                                <p:cBhvr>
                                  <p:cTn id="32" dur="1" fill="hold">
                                    <p:stCondLst>
                                      <p:cond delay="0"/>
                                    </p:stCondLst>
                                  </p:cTn>
                                  <p:tgtEl>
                                    <p:spTgt spid="29"/>
                                  </p:tgtEl>
                                  <p:attrNameLst>
                                    <p:attrName>style.visibility</p:attrName>
                                  </p:attrNameLst>
                                </p:cBhvr>
                                <p:to>
                                  <p:strVal val="visible"/>
                                </p:to>
                              </p:set>
                              <p:animEffect transition="in" filter="fade">
                                <p:cBhvr>
                                  <p:cTn id="33" dur="650"/>
                                  <p:tgtEl>
                                    <p:spTgt spid="29"/>
                                  </p:tgtEl>
                                </p:cBhvr>
                              </p:animEffect>
                            </p:childTnLst>
                          </p:cTn>
                        </p:par>
                        <p:par>
                          <p:cTn id="34" presetID="10" presetClass="entr" presetSubtype="0" fill="hold" nodeType="afterEffect">
                            <p:stCondLst>
                              <p:cond delay="600"/>
                            </p:stCondLst>
                            <p:childTnLst>
                              <p:set>
                                <p:cBhvr>
                                  <p:cTn id="35" dur="1" fill="hold">
                                    <p:stCondLst>
                                      <p:cond delay="0"/>
                                    </p:stCondLst>
                                  </p:cTn>
                                  <p:tgtEl>
                                    <p:spTgt spid="31"/>
                                  </p:tgtEl>
                                  <p:attrNameLst>
                                    <p:attrName>style.visibility</p:attrName>
                                  </p:attrNameLst>
                                </p:cBhvr>
                                <p:to>
                                  <p:strVal val="visible"/>
                                </p:to>
                              </p:set>
                              <p:animEffect transition="in" filter="fade">
                                <p:cBhvr>
                                  <p:cTn id="36" dur="650"/>
                                  <p:tgtEl>
                                    <p:spTgt spid="31"/>
                                  </p:tgtEl>
                                </p:cBhvr>
                              </p:animEffect>
                            </p:childTnLst>
                          </p:cTn>
                        </p:par>
                        <p:par>
                          <p:cTn id="37" presetID="10" presetClass="entr" presetSubtype="0" fill="hold" nodeType="afterEffect">
                            <p:stCondLst>
                              <p:cond delay="600"/>
                            </p:stCondLst>
                            <p:childTnLst>
                              <p:set>
                                <p:cBhvr>
                                  <p:cTn id="38" dur="1" fill="hold">
                                    <p:stCondLst>
                                      <p:cond delay="0"/>
                                    </p:stCondLst>
                                  </p:cTn>
                                  <p:tgtEl>
                                    <p:spTgt spid="33"/>
                                  </p:tgtEl>
                                  <p:attrNameLst>
                                    <p:attrName>style.visibility</p:attrName>
                                  </p:attrNameLst>
                                </p:cBhvr>
                                <p:to>
                                  <p:strVal val="visible"/>
                                </p:to>
                              </p:set>
                              <p:animEffect transition="in" filter="fade">
                                <p:cBhvr>
                                  <p:cTn id="39" dur="650"/>
                                  <p:tgtEl>
                                    <p:spTgt spid="33"/>
                                  </p:tgtEl>
                                </p:cBhvr>
                              </p:animEffect>
                            </p:childTnLst>
                          </p:cTn>
                        </p:par>
                        <p:par>
                          <p:cTn id="40" presetID="10" presetClass="entr" presetSubtype="0" fill="hold" nodeType="afterEffect">
                            <p:stCondLst>
                              <p:cond delay="600"/>
                            </p:stCondLst>
                            <p:childTnLst>
                              <p:set>
                                <p:cBhvr>
                                  <p:cTn id="41" dur="1" fill="hold">
                                    <p:stCondLst>
                                      <p:cond delay="0"/>
                                    </p:stCondLst>
                                  </p:cTn>
                                  <p:tgtEl>
                                    <p:spTgt spid="36"/>
                                  </p:tgtEl>
                                  <p:attrNameLst>
                                    <p:attrName>style.visibility</p:attrName>
                                  </p:attrNameLst>
                                </p:cBhvr>
                                <p:to>
                                  <p:strVal val="visible"/>
                                </p:to>
                              </p:set>
                              <p:animEffect transition="in" filter="fade">
                                <p:cBhvr>
                                  <p:cTn id="42" dur="650"/>
                                  <p:tgtEl>
                                    <p:spTgt spid="36"/>
                                  </p:tgtEl>
                                </p:cBhvr>
                              </p:animEffect>
                            </p:childTnLst>
                          </p:cTn>
                        </p:par>
                        <p:par>
                          <p:cTn id="43" presetID="10" presetClass="entr" presetSubtype="0" fill="hold" nodeType="afterEffect">
                            <p:stCondLst>
                              <p:cond delay="600"/>
                            </p:stCondLst>
                            <p:childTnLst>
                              <p:set>
                                <p:cBhvr>
                                  <p:cTn id="44" dur="1" fill="hold">
                                    <p:stCondLst>
                                      <p:cond delay="0"/>
                                    </p:stCondLst>
                                  </p:cTn>
                                  <p:tgtEl>
                                    <p:spTgt spid="39"/>
                                  </p:tgtEl>
                                  <p:attrNameLst>
                                    <p:attrName>style.visibility</p:attrName>
                                  </p:attrNameLst>
                                </p:cBhvr>
                                <p:to>
                                  <p:strVal val="visible"/>
                                </p:to>
                              </p:set>
                              <p:animEffect transition="in" filter="fade">
                                <p:cBhvr>
                                  <p:cTn id="45" dur="650"/>
                                  <p:tgtEl>
                                    <p:spTgt spid="39"/>
                                  </p:tgtEl>
                                </p:cBhvr>
                              </p:animEffect>
                            </p:childTnLst>
                          </p:cTn>
                        </p:par>
                        <p:par>
                          <p:cTn id="46" presetID="10" presetClass="entr" presetSubtype="0" fill="hold" nodeType="afterEffect">
                            <p:stCondLst>
                              <p:cond delay="1200"/>
                            </p:stCondLst>
                            <p:childTnLst>
                              <p:set>
                                <p:cBhvr>
                                  <p:cTn id="47" dur="1" fill="hold">
                                    <p:stCondLst>
                                      <p:cond delay="0"/>
                                    </p:stCondLst>
                                  </p:cTn>
                                  <p:tgtEl>
                                    <p:spTgt spid="42"/>
                                  </p:tgtEl>
                                  <p:attrNameLst>
                                    <p:attrName>style.visibility</p:attrName>
                                  </p:attrNameLst>
                                </p:cBhvr>
                                <p:to>
                                  <p:strVal val="visible"/>
                                </p:to>
                              </p:set>
                              <p:animEffect transition="in" filter="fade">
                                <p:cBhvr>
                                  <p:cTn id="48" dur="650"/>
                                  <p:tgtEl>
                                    <p:spTgt spid="42"/>
                                  </p:tgtEl>
                                </p:cBhvr>
                              </p:animEffect>
                            </p:childTnLst>
                          </p:cTn>
                        </p:par>
                        <p:par>
                          <p:cTn id="49" presetID="10" presetClass="entr" presetSubtype="0" fill="hold" nodeType="afterEffect">
                            <p:stCondLst>
                              <p:cond delay="1200"/>
                            </p:stCondLst>
                            <p:childTnLst>
                              <p:set>
                                <p:cBhvr>
                                  <p:cTn id="50" dur="1" fill="hold">
                                    <p:stCondLst>
                                      <p:cond delay="0"/>
                                    </p:stCondLst>
                                  </p:cTn>
                                  <p:tgtEl>
                                    <p:spTgt spid="44"/>
                                  </p:tgtEl>
                                  <p:attrNameLst>
                                    <p:attrName>style.visibility</p:attrName>
                                  </p:attrNameLst>
                                </p:cBhvr>
                                <p:to>
                                  <p:strVal val="visible"/>
                                </p:to>
                              </p:set>
                              <p:animEffect transition="in" filter="fade">
                                <p:cBhvr>
                                  <p:cTn id="51" dur="650"/>
                                  <p:tgtEl>
                                    <p:spTgt spid="44"/>
                                  </p:tgtEl>
                                </p:cBhvr>
                              </p:animEffect>
                            </p:childTnLst>
                          </p:cTn>
                        </p:par>
                        <p:par>
                          <p:cTn id="52" presetID="10" presetClass="entr" presetSubtype="0" fill="hold" nodeType="afterEffect">
                            <p:stCondLst>
                              <p:cond delay="1200"/>
                            </p:stCondLst>
                            <p:childTnLst>
                              <p:set>
                                <p:cBhvr>
                                  <p:cTn id="53" dur="1" fill="hold">
                                    <p:stCondLst>
                                      <p:cond delay="0"/>
                                    </p:stCondLst>
                                  </p:cTn>
                                  <p:tgtEl>
                                    <p:spTgt spid="46"/>
                                  </p:tgtEl>
                                  <p:attrNameLst>
                                    <p:attrName>style.visibility</p:attrName>
                                  </p:attrNameLst>
                                </p:cBhvr>
                                <p:to>
                                  <p:strVal val="visible"/>
                                </p:to>
                              </p:set>
                              <p:animEffect transition="in" filter="fade">
                                <p:cBhvr>
                                  <p:cTn id="54" dur="650"/>
                                  <p:tgtEl>
                                    <p:spTgt spid="46"/>
                                  </p:tgtEl>
                                </p:cBhvr>
                              </p:animEffect>
                            </p:childTnLst>
                          </p:cTn>
                        </p:par>
                        <p:par>
                          <p:cTn id="55" fill="hold">
                            <p:stCondLst>
                              <p:cond delay="0"/>
                            </p:stCondLst>
                            <p:childTnLst>
                              <p:animRot by="21600000">
                                <p:cBhvr>
                                  <p:cTn id="56" dur="60000" repeatCount="indefinite" fill="hold"/>
                                  <p:tgtEl>
                                    <p:spTgt spid="57"/>
                                  </p:tgtEl>
                                  <p:attrNameLst>
                                    <p:attrName>r</p:attrName>
                                  </p:attrNameLst>
                                </p:cBhvr>
                              </p:animRot>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xml><?xml version="1.0" encoding="utf-8"?>
<p:sld xmlns:a="http://schemas.openxmlformats.org/drawingml/2006/main" xmlns:r="http://schemas.openxmlformats.org/officeDocument/2006/relationships" xmlns:p="http://schemas.openxmlformats.org/presentationml/2006/main">
  <p:cSld>
    <p:bg>
      <p:bgPr>
        <a:solidFill>
          <a:srgbClr val="7A0010"/>
        </a:solidFill>
        <a:effectLst/>
      </p:bgPr>
    </p:bg>
    <p:spTree>
      <p:nvGrpSpPr>
        <p:cNvPr id="1" name=""/>
        <p:cNvGrpSpPr/>
        <p:nvPr/>
      </p:nvGrpSpPr>
      <p:grpSpPr>
        <a:xfrm>
          <a:off x="0" y="0"/>
          <a:ext cx="0" cy="0"/>
          <a:chOff x="0" y="0"/>
          <a:chExt cx="0" cy="0"/>
        </a:xfrm>
      </p:grpSpPr>
      <p:grpSp>
        <p:nvGrpSpPr>
          <p:cNvPr id="2" name="Group 2"/>
          <p:cNvGrpSpPr/>
          <p:nvPr/>
        </p:nvGrpSpPr>
        <p:grpSpPr>
          <a:xfrm>
            <a:off x="963130" y="687953"/>
            <a:ext cx="14997303" cy="481565"/>
            <a:chOff x="0" y="0"/>
            <a:chExt cx="19996404" cy="642087"/>
          </a:xfrm>
        </p:grpSpPr>
        <p:sp>
          <p:nvSpPr>
            <p:cNvPr id="3" name="Freeform 3"/>
            <p:cNvSpPr/>
            <p:nvPr/>
          </p:nvSpPr>
          <p:spPr>
            <a:xfrm>
              <a:off x="0" y="0"/>
              <a:ext cx="19996409" cy="642086"/>
            </a:xfrm>
            <a:custGeom>
              <a:avLst/>
              <a:gdLst/>
              <a:ahLst/>
              <a:cxnLst/>
              <a:rect l="l" t="t" r="r" b="b"/>
              <a:pathLst>
                <a:path w="19996409" h="642086">
                  <a:moveTo>
                    <a:pt x="0" y="0"/>
                  </a:moveTo>
                  <a:lnTo>
                    <a:pt x="19996409" y="0"/>
                  </a:lnTo>
                  <a:lnTo>
                    <a:pt x="19996409" y="642086"/>
                  </a:lnTo>
                  <a:lnTo>
                    <a:pt x="0" y="642086"/>
                  </a:lnTo>
                  <a:close/>
                </a:path>
              </a:pathLst>
            </a:custGeom>
            <a:blipFill>
              <a:blip r:embed="rId3">
                <a:alphaModFix amt="0"/>
              </a:blip>
              <a:stretch>
                <a:fillRect t="-556819" b="-556819"/>
              </a:stretch>
            </a:blipFill>
          </p:spPr>
          <p:txBody>
            <a:bodyPr/>
            <a:lstStyle/>
            <a:p>
              <a:endParaRPr lang="en-US"/>
            </a:p>
          </p:txBody>
        </p:sp>
        <p:sp>
          <p:nvSpPr>
            <p:cNvPr id="4" name="TextBox 4"/>
            <p:cNvSpPr txBox="1"/>
            <p:nvPr/>
          </p:nvSpPr>
          <p:spPr>
            <a:xfrm>
              <a:off x="0" y="-9525"/>
              <a:ext cx="19996404" cy="651612"/>
            </a:xfrm>
            <a:prstGeom prst="rect">
              <a:avLst/>
            </a:prstGeom>
          </p:spPr>
          <p:txBody>
            <a:bodyPr lIns="0" tIns="0" rIns="0" bIns="0" rtlCol="0" anchor="ctr"/>
            <a:lstStyle/>
            <a:p>
              <a:pPr algn="l">
                <a:lnSpc>
                  <a:spcPts val="2347"/>
                </a:lnSpc>
              </a:pPr>
              <a:r>
                <a:rPr lang="en-US" sz="1956" b="1" spc="300">
                  <a:solidFill>
                    <a:srgbClr val="FFD700"/>
                  </a:solidFill>
                  <a:latin typeface="Montserrat Bold"/>
                  <a:ea typeface="Montserrat Bold"/>
                  <a:cs typeface="Montserrat Bold"/>
                  <a:sym typeface="Montserrat Bold"/>
                </a:rPr>
                <a:t>THỰC TRẠNG TRƯỚC KHI CÓ SÁNG KIẾN</a:t>
              </a:r>
            </a:p>
          </p:txBody>
        </p:sp>
      </p:grpSp>
      <p:grpSp>
        <p:nvGrpSpPr>
          <p:cNvPr id="5" name="Group 5"/>
          <p:cNvGrpSpPr/>
          <p:nvPr/>
        </p:nvGrpSpPr>
        <p:grpSpPr>
          <a:xfrm>
            <a:off x="963130" y="2228955"/>
            <a:ext cx="1513494" cy="96317"/>
            <a:chOff x="0" y="0"/>
            <a:chExt cx="2017992" cy="128422"/>
          </a:xfrm>
        </p:grpSpPr>
        <p:sp>
          <p:nvSpPr>
            <p:cNvPr id="6" name="Freeform 6"/>
            <p:cNvSpPr/>
            <p:nvPr/>
          </p:nvSpPr>
          <p:spPr>
            <a:xfrm>
              <a:off x="0" y="0"/>
              <a:ext cx="2018030" cy="128397"/>
            </a:xfrm>
            <a:custGeom>
              <a:avLst/>
              <a:gdLst/>
              <a:ahLst/>
              <a:cxnLst/>
              <a:rect l="l" t="t" r="r" b="b"/>
              <a:pathLst>
                <a:path w="2018030" h="128397">
                  <a:moveTo>
                    <a:pt x="0" y="0"/>
                  </a:moveTo>
                  <a:lnTo>
                    <a:pt x="2018030" y="0"/>
                  </a:lnTo>
                  <a:lnTo>
                    <a:pt x="2018030" y="128397"/>
                  </a:lnTo>
                  <a:lnTo>
                    <a:pt x="0" y="128397"/>
                  </a:lnTo>
                  <a:close/>
                </a:path>
              </a:pathLst>
            </a:custGeom>
            <a:solidFill>
              <a:srgbClr val="FFD700"/>
            </a:solidFill>
          </p:spPr>
          <p:txBody>
            <a:bodyPr/>
            <a:lstStyle/>
            <a:p>
              <a:endParaRPr lang="en-US"/>
            </a:p>
          </p:txBody>
        </p:sp>
      </p:grpSp>
      <p:grpSp>
        <p:nvGrpSpPr>
          <p:cNvPr id="7" name="Group 7"/>
          <p:cNvGrpSpPr/>
          <p:nvPr/>
        </p:nvGrpSpPr>
        <p:grpSpPr>
          <a:xfrm>
            <a:off x="825541" y="2958189"/>
            <a:ext cx="8805758" cy="2063850"/>
            <a:chOff x="0" y="0"/>
            <a:chExt cx="11741010" cy="2751799"/>
          </a:xfrm>
        </p:grpSpPr>
        <p:sp>
          <p:nvSpPr>
            <p:cNvPr id="8" name="Freeform 8"/>
            <p:cNvSpPr/>
            <p:nvPr/>
          </p:nvSpPr>
          <p:spPr>
            <a:xfrm>
              <a:off x="0" y="0"/>
              <a:ext cx="11741010" cy="2751801"/>
            </a:xfrm>
            <a:custGeom>
              <a:avLst/>
              <a:gdLst/>
              <a:ahLst/>
              <a:cxnLst/>
              <a:rect l="l" t="t" r="r" b="b"/>
              <a:pathLst>
                <a:path w="11741010" h="2751801">
                  <a:moveTo>
                    <a:pt x="0" y="0"/>
                  </a:moveTo>
                  <a:lnTo>
                    <a:pt x="11741010" y="0"/>
                  </a:lnTo>
                  <a:lnTo>
                    <a:pt x="11741010" y="2751801"/>
                  </a:lnTo>
                  <a:lnTo>
                    <a:pt x="0" y="2751801"/>
                  </a:lnTo>
                  <a:close/>
                </a:path>
              </a:pathLst>
            </a:custGeom>
            <a:blipFill>
              <a:blip r:embed="rId3">
                <a:alphaModFix amt="0"/>
              </a:blip>
              <a:stretch>
                <a:fillRect t="-33136" b="-33136"/>
              </a:stretch>
            </a:blipFill>
          </p:spPr>
          <p:txBody>
            <a:bodyPr/>
            <a:lstStyle/>
            <a:p>
              <a:endParaRPr lang="en-US"/>
            </a:p>
          </p:txBody>
        </p:sp>
        <p:sp>
          <p:nvSpPr>
            <p:cNvPr id="9" name="TextBox 9"/>
            <p:cNvSpPr txBox="1"/>
            <p:nvPr/>
          </p:nvSpPr>
          <p:spPr>
            <a:xfrm>
              <a:off x="0" y="9525"/>
              <a:ext cx="11741010" cy="2742274"/>
            </a:xfrm>
            <a:prstGeom prst="rect">
              <a:avLst/>
            </a:prstGeom>
          </p:spPr>
          <p:txBody>
            <a:bodyPr lIns="0" tIns="0" rIns="0" bIns="0" rtlCol="0" anchor="ctr"/>
            <a:lstStyle/>
            <a:p>
              <a:pPr algn="ctr">
                <a:lnSpc>
                  <a:spcPts val="11556"/>
                </a:lnSpc>
              </a:pPr>
              <a:r>
                <a:rPr lang="en-US" sz="9630" b="1">
                  <a:solidFill>
                    <a:srgbClr val="FFD700"/>
                  </a:solidFill>
                  <a:latin typeface="Montserrat Bold"/>
                  <a:ea typeface="Montserrat Bold"/>
                  <a:cs typeface="Montserrat Bold"/>
                  <a:sym typeface="Montserrat Bold"/>
                </a:rPr>
                <a:t>Hàng chục</a:t>
              </a:r>
            </a:p>
          </p:txBody>
        </p:sp>
      </p:grpSp>
      <p:grpSp>
        <p:nvGrpSpPr>
          <p:cNvPr id="10" name="Group 10"/>
          <p:cNvGrpSpPr/>
          <p:nvPr/>
        </p:nvGrpSpPr>
        <p:grpSpPr>
          <a:xfrm>
            <a:off x="963130" y="5022037"/>
            <a:ext cx="8530580" cy="1375900"/>
            <a:chOff x="0" y="0"/>
            <a:chExt cx="11374107" cy="1834533"/>
          </a:xfrm>
        </p:grpSpPr>
        <p:sp>
          <p:nvSpPr>
            <p:cNvPr id="11" name="Freeform 11"/>
            <p:cNvSpPr/>
            <p:nvPr/>
          </p:nvSpPr>
          <p:spPr>
            <a:xfrm>
              <a:off x="0" y="0"/>
              <a:ext cx="11374104" cy="1834538"/>
            </a:xfrm>
            <a:custGeom>
              <a:avLst/>
              <a:gdLst/>
              <a:ahLst/>
              <a:cxnLst/>
              <a:rect l="l" t="t" r="r" b="b"/>
              <a:pathLst>
                <a:path w="11374104" h="1834538">
                  <a:moveTo>
                    <a:pt x="0" y="0"/>
                  </a:moveTo>
                  <a:lnTo>
                    <a:pt x="11374104" y="0"/>
                  </a:lnTo>
                  <a:lnTo>
                    <a:pt x="11374104" y="1834538"/>
                  </a:lnTo>
                  <a:lnTo>
                    <a:pt x="0" y="1834538"/>
                  </a:lnTo>
                  <a:close/>
                </a:path>
              </a:pathLst>
            </a:custGeom>
            <a:blipFill>
              <a:blip r:embed="rId3">
                <a:alphaModFix amt="0"/>
              </a:blip>
              <a:stretch>
                <a:fillRect t="-70807" b="-70806"/>
              </a:stretch>
            </a:blipFill>
          </p:spPr>
          <p:txBody>
            <a:bodyPr/>
            <a:lstStyle/>
            <a:p>
              <a:endParaRPr lang="en-US"/>
            </a:p>
          </p:txBody>
        </p:sp>
        <p:sp>
          <p:nvSpPr>
            <p:cNvPr id="12" name="TextBox 12"/>
            <p:cNvSpPr txBox="1"/>
            <p:nvPr/>
          </p:nvSpPr>
          <p:spPr>
            <a:xfrm>
              <a:off x="0" y="0"/>
              <a:ext cx="11374107" cy="1834533"/>
            </a:xfrm>
            <a:prstGeom prst="rect">
              <a:avLst/>
            </a:prstGeom>
          </p:spPr>
          <p:txBody>
            <a:bodyPr lIns="0" tIns="0" rIns="0" bIns="0" rtlCol="0" anchor="ctr"/>
            <a:lstStyle/>
            <a:p>
              <a:pPr algn="ctr">
                <a:lnSpc>
                  <a:spcPts val="3909"/>
                </a:lnSpc>
              </a:pPr>
              <a:r>
                <a:rPr lang="en-US" sz="3257">
                  <a:solidFill>
                    <a:srgbClr val="FFE9A8"/>
                  </a:solidFill>
                  <a:latin typeface="Montserrat"/>
                  <a:ea typeface="Montserrat"/>
                  <a:cs typeface="Montserrat"/>
                  <a:sym typeface="Montserrat"/>
                </a:rPr>
                <a:t>lượt/ngày người dân đến hoặc </a:t>
              </a:r>
            </a:p>
            <a:p>
              <a:pPr algn="ctr">
                <a:lnSpc>
                  <a:spcPts val="3909"/>
                </a:lnSpc>
              </a:pPr>
              <a:r>
                <a:rPr lang="en-US" sz="3257">
                  <a:solidFill>
                    <a:srgbClr val="FFE9A8"/>
                  </a:solidFill>
                  <a:latin typeface="Montserrat"/>
                  <a:ea typeface="Montserrat"/>
                  <a:cs typeface="Montserrat"/>
                  <a:sym typeface="Montserrat"/>
                </a:rPr>
                <a:t>gọi điện chỉ để hỏi thủ tục</a:t>
              </a:r>
            </a:p>
          </p:txBody>
        </p:sp>
      </p:grpSp>
      <p:grpSp>
        <p:nvGrpSpPr>
          <p:cNvPr id="13" name="Group 13"/>
          <p:cNvGrpSpPr/>
          <p:nvPr/>
        </p:nvGrpSpPr>
        <p:grpSpPr>
          <a:xfrm>
            <a:off x="9759334" y="2948626"/>
            <a:ext cx="7586558" cy="1284942"/>
            <a:chOff x="0" y="0"/>
            <a:chExt cx="10115410" cy="1713255"/>
          </a:xfrm>
        </p:grpSpPr>
        <p:sp>
          <p:nvSpPr>
            <p:cNvPr id="14" name="Freeform 14"/>
            <p:cNvSpPr/>
            <p:nvPr/>
          </p:nvSpPr>
          <p:spPr>
            <a:xfrm>
              <a:off x="0" y="0"/>
              <a:ext cx="10115423" cy="1713230"/>
            </a:xfrm>
            <a:custGeom>
              <a:avLst/>
              <a:gdLst/>
              <a:ahLst/>
              <a:cxnLst/>
              <a:rect l="l" t="t" r="r" b="b"/>
              <a:pathLst>
                <a:path w="10115423" h="1713230">
                  <a:moveTo>
                    <a:pt x="0" y="186182"/>
                  </a:moveTo>
                  <a:cubicBezTo>
                    <a:pt x="0" y="83439"/>
                    <a:pt x="83439" y="0"/>
                    <a:pt x="186182" y="0"/>
                  </a:cubicBezTo>
                  <a:lnTo>
                    <a:pt x="9929241" y="0"/>
                  </a:lnTo>
                  <a:cubicBezTo>
                    <a:pt x="10032111" y="0"/>
                    <a:pt x="10115423" y="83439"/>
                    <a:pt x="10115423" y="186182"/>
                  </a:cubicBezTo>
                  <a:lnTo>
                    <a:pt x="10115423" y="1527048"/>
                  </a:lnTo>
                  <a:cubicBezTo>
                    <a:pt x="10115423" y="1629918"/>
                    <a:pt x="10031985" y="1713230"/>
                    <a:pt x="9929241" y="1713230"/>
                  </a:cubicBezTo>
                  <a:lnTo>
                    <a:pt x="186182" y="1713230"/>
                  </a:lnTo>
                  <a:cubicBezTo>
                    <a:pt x="83439" y="1713230"/>
                    <a:pt x="0" y="1629918"/>
                    <a:pt x="0" y="1527048"/>
                  </a:cubicBezTo>
                  <a:close/>
                </a:path>
              </a:pathLst>
            </a:custGeom>
            <a:solidFill>
              <a:srgbClr val="5F0D14"/>
            </a:solidFill>
            <a:ln w="19110" cap="sq">
              <a:solidFill>
                <a:srgbClr val="FFD700"/>
              </a:solidFill>
              <a:prstDash val="solid"/>
              <a:miter/>
            </a:ln>
          </p:spPr>
          <p:txBody>
            <a:bodyPr/>
            <a:lstStyle/>
            <a:p>
              <a:endParaRPr lang="en-US"/>
            </a:p>
          </p:txBody>
        </p:sp>
      </p:grpSp>
      <p:grpSp>
        <p:nvGrpSpPr>
          <p:cNvPr id="15" name="Group 15"/>
          <p:cNvGrpSpPr/>
          <p:nvPr/>
        </p:nvGrpSpPr>
        <p:grpSpPr>
          <a:xfrm>
            <a:off x="10181654" y="3178331"/>
            <a:ext cx="825541" cy="825541"/>
            <a:chOff x="0" y="0"/>
            <a:chExt cx="1100722" cy="1100722"/>
          </a:xfrm>
        </p:grpSpPr>
        <p:sp>
          <p:nvSpPr>
            <p:cNvPr id="16" name="Freeform 16"/>
            <p:cNvSpPr/>
            <p:nvPr/>
          </p:nvSpPr>
          <p:spPr>
            <a:xfrm>
              <a:off x="0" y="0"/>
              <a:ext cx="1100709" cy="1100709"/>
            </a:xfrm>
            <a:custGeom>
              <a:avLst/>
              <a:gdLst/>
              <a:ahLst/>
              <a:cxnLst/>
              <a:rect l="l" t="t" r="r" b="b"/>
              <a:pathLst>
                <a:path w="1100709" h="1100709">
                  <a:moveTo>
                    <a:pt x="0" y="550418"/>
                  </a:moveTo>
                  <a:cubicBezTo>
                    <a:pt x="0" y="246380"/>
                    <a:pt x="246380" y="0"/>
                    <a:pt x="550418" y="0"/>
                  </a:cubicBezTo>
                  <a:cubicBezTo>
                    <a:pt x="854456" y="0"/>
                    <a:pt x="1100709" y="246380"/>
                    <a:pt x="1100709" y="550418"/>
                  </a:cubicBezTo>
                  <a:cubicBezTo>
                    <a:pt x="1100709" y="854456"/>
                    <a:pt x="854329" y="1100709"/>
                    <a:pt x="550418" y="1100709"/>
                  </a:cubicBezTo>
                  <a:cubicBezTo>
                    <a:pt x="246507" y="1100709"/>
                    <a:pt x="0" y="854329"/>
                    <a:pt x="0" y="550418"/>
                  </a:cubicBezTo>
                  <a:close/>
                </a:path>
              </a:pathLst>
            </a:custGeom>
            <a:solidFill>
              <a:srgbClr val="C41E3A"/>
            </a:solidFill>
          </p:spPr>
          <p:txBody>
            <a:bodyPr/>
            <a:lstStyle/>
            <a:p>
              <a:endParaRPr lang="en-US"/>
            </a:p>
          </p:txBody>
        </p:sp>
      </p:grpSp>
      <p:grpSp>
        <p:nvGrpSpPr>
          <p:cNvPr id="17" name="Group 17"/>
          <p:cNvGrpSpPr/>
          <p:nvPr/>
        </p:nvGrpSpPr>
        <p:grpSpPr>
          <a:xfrm>
            <a:off x="10404558" y="3401225"/>
            <a:ext cx="379752" cy="379752"/>
            <a:chOff x="0" y="0"/>
            <a:chExt cx="506336" cy="506336"/>
          </a:xfrm>
        </p:grpSpPr>
        <p:sp>
          <p:nvSpPr>
            <p:cNvPr id="18" name="Freeform 18" descr="preencoded.png"/>
            <p:cNvSpPr/>
            <p:nvPr/>
          </p:nvSpPr>
          <p:spPr>
            <a:xfrm>
              <a:off x="0" y="0"/>
              <a:ext cx="506349" cy="506349"/>
            </a:xfrm>
            <a:custGeom>
              <a:avLst/>
              <a:gdLst/>
              <a:ahLst/>
              <a:cxnLst/>
              <a:rect l="l" t="t" r="r" b="b"/>
              <a:pathLst>
                <a:path w="506349" h="506349">
                  <a:moveTo>
                    <a:pt x="0" y="0"/>
                  </a:moveTo>
                  <a:lnTo>
                    <a:pt x="506349" y="0"/>
                  </a:lnTo>
                  <a:lnTo>
                    <a:pt x="506349" y="506349"/>
                  </a:lnTo>
                  <a:lnTo>
                    <a:pt x="0" y="506349"/>
                  </a:lnTo>
                  <a:lnTo>
                    <a:pt x="0" y="0"/>
                  </a:lnTo>
                  <a:close/>
                </a:path>
              </a:pathLst>
            </a:custGeom>
            <a:blipFill>
              <a:blip r:embed="rId4"/>
              <a:stretch>
                <a:fillRect r="2" b="2"/>
              </a:stretch>
            </a:blipFill>
          </p:spPr>
          <p:txBody>
            <a:bodyPr/>
            <a:lstStyle/>
            <a:p>
              <a:endParaRPr lang="en-US"/>
            </a:p>
          </p:txBody>
        </p:sp>
      </p:grpSp>
      <p:grpSp>
        <p:nvGrpSpPr>
          <p:cNvPr id="19" name="Group 19"/>
          <p:cNvGrpSpPr/>
          <p:nvPr/>
        </p:nvGrpSpPr>
        <p:grpSpPr>
          <a:xfrm>
            <a:off x="11282382" y="2958189"/>
            <a:ext cx="5847569" cy="1265828"/>
            <a:chOff x="0" y="0"/>
            <a:chExt cx="7796759" cy="1687770"/>
          </a:xfrm>
        </p:grpSpPr>
        <p:sp>
          <p:nvSpPr>
            <p:cNvPr id="20" name="Freeform 20"/>
            <p:cNvSpPr/>
            <p:nvPr/>
          </p:nvSpPr>
          <p:spPr>
            <a:xfrm>
              <a:off x="0" y="0"/>
              <a:ext cx="7796765" cy="1687774"/>
            </a:xfrm>
            <a:custGeom>
              <a:avLst/>
              <a:gdLst/>
              <a:ahLst/>
              <a:cxnLst/>
              <a:rect l="l" t="t" r="r" b="b"/>
              <a:pathLst>
                <a:path w="7796765" h="1687774">
                  <a:moveTo>
                    <a:pt x="0" y="0"/>
                  </a:moveTo>
                  <a:lnTo>
                    <a:pt x="7796765" y="0"/>
                  </a:lnTo>
                  <a:lnTo>
                    <a:pt x="7796765" y="1687774"/>
                  </a:lnTo>
                  <a:lnTo>
                    <a:pt x="0" y="1687774"/>
                  </a:lnTo>
                  <a:close/>
                </a:path>
              </a:pathLst>
            </a:custGeom>
            <a:blipFill>
              <a:blip r:embed="rId3">
                <a:alphaModFix amt="0"/>
              </a:blip>
              <a:stretch>
                <a:fillRect t="-40012" b="-40011"/>
              </a:stretch>
            </a:blipFill>
          </p:spPr>
          <p:txBody>
            <a:bodyPr/>
            <a:lstStyle/>
            <a:p>
              <a:endParaRPr lang="en-US"/>
            </a:p>
          </p:txBody>
        </p:sp>
        <p:sp>
          <p:nvSpPr>
            <p:cNvPr id="21" name="TextBox 21"/>
            <p:cNvSpPr txBox="1"/>
            <p:nvPr/>
          </p:nvSpPr>
          <p:spPr>
            <a:xfrm>
              <a:off x="0" y="0"/>
              <a:ext cx="7796759" cy="1687770"/>
            </a:xfrm>
            <a:prstGeom prst="rect">
              <a:avLst/>
            </a:prstGeom>
          </p:spPr>
          <p:txBody>
            <a:bodyPr lIns="0" tIns="0" rIns="0" bIns="0" rtlCol="0" anchor="ctr"/>
            <a:lstStyle/>
            <a:p>
              <a:pPr algn="l">
                <a:lnSpc>
                  <a:spcPts val="2618"/>
                </a:lnSpc>
              </a:pPr>
              <a:r>
                <a:rPr lang="en-US" sz="2181" b="1">
                  <a:solidFill>
                    <a:srgbClr val="FFFFFF"/>
                  </a:solidFill>
                  <a:latin typeface="Montserrat Bold"/>
                  <a:ea typeface="Montserrat Bold"/>
                  <a:cs typeface="Montserrat Bold"/>
                  <a:sym typeface="Montserrat Bold"/>
                </a:rPr>
                <a:t>Hướng dẫn thủ công: trực tiếp, điện thoại, tờ rơi tốn thời gian trực ban</a:t>
              </a:r>
            </a:p>
          </p:txBody>
        </p:sp>
      </p:grpSp>
      <p:grpSp>
        <p:nvGrpSpPr>
          <p:cNvPr id="22" name="Group 22"/>
          <p:cNvGrpSpPr/>
          <p:nvPr/>
        </p:nvGrpSpPr>
        <p:grpSpPr>
          <a:xfrm>
            <a:off x="9759334" y="4489637"/>
            <a:ext cx="7586558" cy="1284942"/>
            <a:chOff x="0" y="0"/>
            <a:chExt cx="10115410" cy="1713255"/>
          </a:xfrm>
        </p:grpSpPr>
        <p:sp>
          <p:nvSpPr>
            <p:cNvPr id="23" name="Freeform 23"/>
            <p:cNvSpPr/>
            <p:nvPr/>
          </p:nvSpPr>
          <p:spPr>
            <a:xfrm>
              <a:off x="0" y="0"/>
              <a:ext cx="10115423" cy="1713230"/>
            </a:xfrm>
            <a:custGeom>
              <a:avLst/>
              <a:gdLst/>
              <a:ahLst/>
              <a:cxnLst/>
              <a:rect l="l" t="t" r="r" b="b"/>
              <a:pathLst>
                <a:path w="10115423" h="1713230">
                  <a:moveTo>
                    <a:pt x="0" y="186182"/>
                  </a:moveTo>
                  <a:cubicBezTo>
                    <a:pt x="0" y="83439"/>
                    <a:pt x="83439" y="0"/>
                    <a:pt x="186182" y="0"/>
                  </a:cubicBezTo>
                  <a:lnTo>
                    <a:pt x="9929241" y="0"/>
                  </a:lnTo>
                  <a:cubicBezTo>
                    <a:pt x="10032111" y="0"/>
                    <a:pt x="10115423" y="83439"/>
                    <a:pt x="10115423" y="186182"/>
                  </a:cubicBezTo>
                  <a:lnTo>
                    <a:pt x="10115423" y="1527048"/>
                  </a:lnTo>
                  <a:cubicBezTo>
                    <a:pt x="10115423" y="1629918"/>
                    <a:pt x="10031985" y="1713230"/>
                    <a:pt x="9929241" y="1713230"/>
                  </a:cubicBezTo>
                  <a:lnTo>
                    <a:pt x="186182" y="1713230"/>
                  </a:lnTo>
                  <a:cubicBezTo>
                    <a:pt x="83439" y="1713230"/>
                    <a:pt x="0" y="1629918"/>
                    <a:pt x="0" y="1527048"/>
                  </a:cubicBezTo>
                  <a:close/>
                </a:path>
              </a:pathLst>
            </a:custGeom>
            <a:solidFill>
              <a:srgbClr val="5F0D14"/>
            </a:solidFill>
            <a:ln w="19110" cap="sq">
              <a:solidFill>
                <a:srgbClr val="FFD700"/>
              </a:solidFill>
              <a:prstDash val="solid"/>
              <a:miter/>
            </a:ln>
          </p:spPr>
          <p:txBody>
            <a:bodyPr/>
            <a:lstStyle/>
            <a:p>
              <a:endParaRPr lang="en-US"/>
            </a:p>
          </p:txBody>
        </p:sp>
      </p:grpSp>
      <p:grpSp>
        <p:nvGrpSpPr>
          <p:cNvPr id="24" name="Group 24"/>
          <p:cNvGrpSpPr/>
          <p:nvPr/>
        </p:nvGrpSpPr>
        <p:grpSpPr>
          <a:xfrm>
            <a:off x="10181654" y="4719333"/>
            <a:ext cx="825541" cy="825541"/>
            <a:chOff x="0" y="0"/>
            <a:chExt cx="1100722" cy="1100722"/>
          </a:xfrm>
        </p:grpSpPr>
        <p:sp>
          <p:nvSpPr>
            <p:cNvPr id="25" name="Freeform 25"/>
            <p:cNvSpPr/>
            <p:nvPr/>
          </p:nvSpPr>
          <p:spPr>
            <a:xfrm>
              <a:off x="0" y="0"/>
              <a:ext cx="1100709" cy="1100709"/>
            </a:xfrm>
            <a:custGeom>
              <a:avLst/>
              <a:gdLst/>
              <a:ahLst/>
              <a:cxnLst/>
              <a:rect l="l" t="t" r="r" b="b"/>
              <a:pathLst>
                <a:path w="1100709" h="1100709">
                  <a:moveTo>
                    <a:pt x="0" y="550418"/>
                  </a:moveTo>
                  <a:cubicBezTo>
                    <a:pt x="0" y="246380"/>
                    <a:pt x="246380" y="0"/>
                    <a:pt x="550418" y="0"/>
                  </a:cubicBezTo>
                  <a:cubicBezTo>
                    <a:pt x="854456" y="0"/>
                    <a:pt x="1100709" y="246380"/>
                    <a:pt x="1100709" y="550418"/>
                  </a:cubicBezTo>
                  <a:cubicBezTo>
                    <a:pt x="1100709" y="854456"/>
                    <a:pt x="854329" y="1100709"/>
                    <a:pt x="550418" y="1100709"/>
                  </a:cubicBezTo>
                  <a:cubicBezTo>
                    <a:pt x="246507" y="1100709"/>
                    <a:pt x="0" y="854329"/>
                    <a:pt x="0" y="550418"/>
                  </a:cubicBezTo>
                  <a:close/>
                </a:path>
              </a:pathLst>
            </a:custGeom>
            <a:solidFill>
              <a:srgbClr val="C41E3A"/>
            </a:solidFill>
          </p:spPr>
          <p:txBody>
            <a:bodyPr/>
            <a:lstStyle/>
            <a:p>
              <a:endParaRPr lang="en-US"/>
            </a:p>
          </p:txBody>
        </p:sp>
      </p:grpSp>
      <p:grpSp>
        <p:nvGrpSpPr>
          <p:cNvPr id="26" name="Group 26"/>
          <p:cNvGrpSpPr/>
          <p:nvPr/>
        </p:nvGrpSpPr>
        <p:grpSpPr>
          <a:xfrm>
            <a:off x="10404558" y="4942227"/>
            <a:ext cx="379752" cy="379752"/>
            <a:chOff x="0" y="0"/>
            <a:chExt cx="506336" cy="506336"/>
          </a:xfrm>
        </p:grpSpPr>
        <p:sp>
          <p:nvSpPr>
            <p:cNvPr id="27" name="Freeform 27" descr="preencoded.png"/>
            <p:cNvSpPr/>
            <p:nvPr/>
          </p:nvSpPr>
          <p:spPr>
            <a:xfrm>
              <a:off x="0" y="0"/>
              <a:ext cx="506349" cy="506349"/>
            </a:xfrm>
            <a:custGeom>
              <a:avLst/>
              <a:gdLst/>
              <a:ahLst/>
              <a:cxnLst/>
              <a:rect l="l" t="t" r="r" b="b"/>
              <a:pathLst>
                <a:path w="506349" h="506349">
                  <a:moveTo>
                    <a:pt x="0" y="0"/>
                  </a:moveTo>
                  <a:lnTo>
                    <a:pt x="506349" y="0"/>
                  </a:lnTo>
                  <a:lnTo>
                    <a:pt x="506349" y="506349"/>
                  </a:lnTo>
                  <a:lnTo>
                    <a:pt x="0" y="506349"/>
                  </a:lnTo>
                  <a:lnTo>
                    <a:pt x="0" y="0"/>
                  </a:lnTo>
                  <a:close/>
                </a:path>
              </a:pathLst>
            </a:custGeom>
            <a:blipFill>
              <a:blip r:embed="rId4"/>
              <a:stretch>
                <a:fillRect r="2" b="2"/>
              </a:stretch>
            </a:blipFill>
          </p:spPr>
          <p:txBody>
            <a:bodyPr/>
            <a:lstStyle/>
            <a:p>
              <a:endParaRPr lang="en-US"/>
            </a:p>
          </p:txBody>
        </p:sp>
      </p:grpSp>
      <p:grpSp>
        <p:nvGrpSpPr>
          <p:cNvPr id="28" name="Group 28"/>
          <p:cNvGrpSpPr/>
          <p:nvPr/>
        </p:nvGrpSpPr>
        <p:grpSpPr>
          <a:xfrm>
            <a:off x="11282382" y="4499191"/>
            <a:ext cx="5847569" cy="1265828"/>
            <a:chOff x="0" y="0"/>
            <a:chExt cx="7796759" cy="1687770"/>
          </a:xfrm>
        </p:grpSpPr>
        <p:sp>
          <p:nvSpPr>
            <p:cNvPr id="29" name="Freeform 29"/>
            <p:cNvSpPr/>
            <p:nvPr/>
          </p:nvSpPr>
          <p:spPr>
            <a:xfrm>
              <a:off x="0" y="0"/>
              <a:ext cx="7796765" cy="1687774"/>
            </a:xfrm>
            <a:custGeom>
              <a:avLst/>
              <a:gdLst/>
              <a:ahLst/>
              <a:cxnLst/>
              <a:rect l="l" t="t" r="r" b="b"/>
              <a:pathLst>
                <a:path w="7796765" h="1687774">
                  <a:moveTo>
                    <a:pt x="0" y="0"/>
                  </a:moveTo>
                  <a:lnTo>
                    <a:pt x="7796765" y="0"/>
                  </a:lnTo>
                  <a:lnTo>
                    <a:pt x="7796765" y="1687774"/>
                  </a:lnTo>
                  <a:lnTo>
                    <a:pt x="0" y="1687774"/>
                  </a:lnTo>
                  <a:close/>
                </a:path>
              </a:pathLst>
            </a:custGeom>
            <a:blipFill>
              <a:blip r:embed="rId3">
                <a:alphaModFix amt="0"/>
              </a:blip>
              <a:stretch>
                <a:fillRect t="-40012" b="-40011"/>
              </a:stretch>
            </a:blipFill>
          </p:spPr>
          <p:txBody>
            <a:bodyPr/>
            <a:lstStyle/>
            <a:p>
              <a:endParaRPr lang="en-US"/>
            </a:p>
          </p:txBody>
        </p:sp>
        <p:sp>
          <p:nvSpPr>
            <p:cNvPr id="30" name="TextBox 30"/>
            <p:cNvSpPr txBox="1"/>
            <p:nvPr/>
          </p:nvSpPr>
          <p:spPr>
            <a:xfrm>
              <a:off x="0" y="0"/>
              <a:ext cx="7796759" cy="1687770"/>
            </a:xfrm>
            <a:prstGeom prst="rect">
              <a:avLst/>
            </a:prstGeom>
          </p:spPr>
          <p:txBody>
            <a:bodyPr lIns="0" tIns="0" rIns="0" bIns="0" rtlCol="0" anchor="ctr"/>
            <a:lstStyle/>
            <a:p>
              <a:pPr algn="l">
                <a:lnSpc>
                  <a:spcPts val="2618"/>
                </a:lnSpc>
              </a:pPr>
              <a:r>
                <a:rPr lang="en-US" sz="2181" b="1">
                  <a:solidFill>
                    <a:srgbClr val="FFFFFF"/>
                  </a:solidFill>
                  <a:latin typeface="Montserrat Bold"/>
                  <a:ea typeface="Montserrat Bold"/>
                  <a:cs typeface="Montserrat Bold"/>
                  <a:sym typeface="Montserrat Bold"/>
                </a:rPr>
                <a:t>Câu hỏi lặp lại: cần giấy tờ gì · bao lâu · phí bao nhiêu</a:t>
              </a:r>
            </a:p>
          </p:txBody>
        </p:sp>
      </p:grpSp>
      <p:grpSp>
        <p:nvGrpSpPr>
          <p:cNvPr id="31" name="Group 31"/>
          <p:cNvGrpSpPr/>
          <p:nvPr/>
        </p:nvGrpSpPr>
        <p:grpSpPr>
          <a:xfrm>
            <a:off x="9759334" y="6030649"/>
            <a:ext cx="7586558" cy="1284942"/>
            <a:chOff x="0" y="0"/>
            <a:chExt cx="10115410" cy="1713255"/>
          </a:xfrm>
        </p:grpSpPr>
        <p:sp>
          <p:nvSpPr>
            <p:cNvPr id="32" name="Freeform 32"/>
            <p:cNvSpPr/>
            <p:nvPr/>
          </p:nvSpPr>
          <p:spPr>
            <a:xfrm>
              <a:off x="0" y="0"/>
              <a:ext cx="10115423" cy="1713230"/>
            </a:xfrm>
            <a:custGeom>
              <a:avLst/>
              <a:gdLst/>
              <a:ahLst/>
              <a:cxnLst/>
              <a:rect l="l" t="t" r="r" b="b"/>
              <a:pathLst>
                <a:path w="10115423" h="1713230">
                  <a:moveTo>
                    <a:pt x="0" y="186182"/>
                  </a:moveTo>
                  <a:cubicBezTo>
                    <a:pt x="0" y="83439"/>
                    <a:pt x="83439" y="0"/>
                    <a:pt x="186182" y="0"/>
                  </a:cubicBezTo>
                  <a:lnTo>
                    <a:pt x="9929241" y="0"/>
                  </a:lnTo>
                  <a:cubicBezTo>
                    <a:pt x="10032111" y="0"/>
                    <a:pt x="10115423" y="83439"/>
                    <a:pt x="10115423" y="186182"/>
                  </a:cubicBezTo>
                  <a:lnTo>
                    <a:pt x="10115423" y="1527048"/>
                  </a:lnTo>
                  <a:cubicBezTo>
                    <a:pt x="10115423" y="1629918"/>
                    <a:pt x="10031985" y="1713230"/>
                    <a:pt x="9929241" y="1713230"/>
                  </a:cubicBezTo>
                  <a:lnTo>
                    <a:pt x="186182" y="1713230"/>
                  </a:lnTo>
                  <a:cubicBezTo>
                    <a:pt x="83439" y="1713230"/>
                    <a:pt x="0" y="1629918"/>
                    <a:pt x="0" y="1527048"/>
                  </a:cubicBezTo>
                  <a:close/>
                </a:path>
              </a:pathLst>
            </a:custGeom>
            <a:solidFill>
              <a:srgbClr val="5F0D14"/>
            </a:solidFill>
            <a:ln w="19110" cap="sq">
              <a:solidFill>
                <a:srgbClr val="FFD700"/>
              </a:solidFill>
              <a:prstDash val="solid"/>
              <a:miter/>
            </a:ln>
          </p:spPr>
          <p:txBody>
            <a:bodyPr/>
            <a:lstStyle/>
            <a:p>
              <a:endParaRPr lang="en-US"/>
            </a:p>
          </p:txBody>
        </p:sp>
      </p:grpSp>
      <p:grpSp>
        <p:nvGrpSpPr>
          <p:cNvPr id="33" name="Group 33"/>
          <p:cNvGrpSpPr/>
          <p:nvPr/>
        </p:nvGrpSpPr>
        <p:grpSpPr>
          <a:xfrm>
            <a:off x="10181654" y="6260344"/>
            <a:ext cx="825541" cy="825541"/>
            <a:chOff x="0" y="0"/>
            <a:chExt cx="1100722" cy="1100722"/>
          </a:xfrm>
        </p:grpSpPr>
        <p:sp>
          <p:nvSpPr>
            <p:cNvPr id="34" name="Freeform 34"/>
            <p:cNvSpPr/>
            <p:nvPr/>
          </p:nvSpPr>
          <p:spPr>
            <a:xfrm>
              <a:off x="0" y="0"/>
              <a:ext cx="1100709" cy="1100709"/>
            </a:xfrm>
            <a:custGeom>
              <a:avLst/>
              <a:gdLst/>
              <a:ahLst/>
              <a:cxnLst/>
              <a:rect l="l" t="t" r="r" b="b"/>
              <a:pathLst>
                <a:path w="1100709" h="1100709">
                  <a:moveTo>
                    <a:pt x="0" y="550418"/>
                  </a:moveTo>
                  <a:cubicBezTo>
                    <a:pt x="0" y="246380"/>
                    <a:pt x="246380" y="0"/>
                    <a:pt x="550418" y="0"/>
                  </a:cubicBezTo>
                  <a:cubicBezTo>
                    <a:pt x="854456" y="0"/>
                    <a:pt x="1100709" y="246380"/>
                    <a:pt x="1100709" y="550418"/>
                  </a:cubicBezTo>
                  <a:cubicBezTo>
                    <a:pt x="1100709" y="854456"/>
                    <a:pt x="854329" y="1100709"/>
                    <a:pt x="550418" y="1100709"/>
                  </a:cubicBezTo>
                  <a:cubicBezTo>
                    <a:pt x="246507" y="1100709"/>
                    <a:pt x="0" y="854329"/>
                    <a:pt x="0" y="550418"/>
                  </a:cubicBezTo>
                  <a:close/>
                </a:path>
              </a:pathLst>
            </a:custGeom>
            <a:solidFill>
              <a:srgbClr val="C41E3A"/>
            </a:solidFill>
          </p:spPr>
          <p:txBody>
            <a:bodyPr/>
            <a:lstStyle/>
            <a:p>
              <a:endParaRPr lang="en-US"/>
            </a:p>
          </p:txBody>
        </p:sp>
      </p:grpSp>
      <p:grpSp>
        <p:nvGrpSpPr>
          <p:cNvPr id="35" name="Group 35"/>
          <p:cNvGrpSpPr/>
          <p:nvPr/>
        </p:nvGrpSpPr>
        <p:grpSpPr>
          <a:xfrm>
            <a:off x="10404558" y="6483239"/>
            <a:ext cx="379752" cy="379752"/>
            <a:chOff x="0" y="0"/>
            <a:chExt cx="506336" cy="506336"/>
          </a:xfrm>
        </p:grpSpPr>
        <p:sp>
          <p:nvSpPr>
            <p:cNvPr id="36" name="Freeform 36" descr="preencoded.png"/>
            <p:cNvSpPr/>
            <p:nvPr/>
          </p:nvSpPr>
          <p:spPr>
            <a:xfrm>
              <a:off x="0" y="0"/>
              <a:ext cx="506349" cy="506349"/>
            </a:xfrm>
            <a:custGeom>
              <a:avLst/>
              <a:gdLst/>
              <a:ahLst/>
              <a:cxnLst/>
              <a:rect l="l" t="t" r="r" b="b"/>
              <a:pathLst>
                <a:path w="506349" h="506349">
                  <a:moveTo>
                    <a:pt x="0" y="0"/>
                  </a:moveTo>
                  <a:lnTo>
                    <a:pt x="506349" y="0"/>
                  </a:lnTo>
                  <a:lnTo>
                    <a:pt x="506349" y="506349"/>
                  </a:lnTo>
                  <a:lnTo>
                    <a:pt x="0" y="506349"/>
                  </a:lnTo>
                  <a:lnTo>
                    <a:pt x="0" y="0"/>
                  </a:lnTo>
                  <a:close/>
                </a:path>
              </a:pathLst>
            </a:custGeom>
            <a:blipFill>
              <a:blip r:embed="rId4"/>
              <a:stretch>
                <a:fillRect r="2" b="2"/>
              </a:stretch>
            </a:blipFill>
          </p:spPr>
          <p:txBody>
            <a:bodyPr/>
            <a:lstStyle/>
            <a:p>
              <a:endParaRPr lang="en-US"/>
            </a:p>
          </p:txBody>
        </p:sp>
      </p:grpSp>
      <p:grpSp>
        <p:nvGrpSpPr>
          <p:cNvPr id="37" name="Group 37"/>
          <p:cNvGrpSpPr/>
          <p:nvPr/>
        </p:nvGrpSpPr>
        <p:grpSpPr>
          <a:xfrm>
            <a:off x="11282382" y="6040203"/>
            <a:ext cx="5847569" cy="1265828"/>
            <a:chOff x="0" y="0"/>
            <a:chExt cx="7796759" cy="1687770"/>
          </a:xfrm>
        </p:grpSpPr>
        <p:sp>
          <p:nvSpPr>
            <p:cNvPr id="38" name="Freeform 38"/>
            <p:cNvSpPr/>
            <p:nvPr/>
          </p:nvSpPr>
          <p:spPr>
            <a:xfrm>
              <a:off x="0" y="0"/>
              <a:ext cx="7796765" cy="1687774"/>
            </a:xfrm>
            <a:custGeom>
              <a:avLst/>
              <a:gdLst/>
              <a:ahLst/>
              <a:cxnLst/>
              <a:rect l="l" t="t" r="r" b="b"/>
              <a:pathLst>
                <a:path w="7796765" h="1687774">
                  <a:moveTo>
                    <a:pt x="0" y="0"/>
                  </a:moveTo>
                  <a:lnTo>
                    <a:pt x="7796765" y="0"/>
                  </a:lnTo>
                  <a:lnTo>
                    <a:pt x="7796765" y="1687774"/>
                  </a:lnTo>
                  <a:lnTo>
                    <a:pt x="0" y="1687774"/>
                  </a:lnTo>
                  <a:close/>
                </a:path>
              </a:pathLst>
            </a:custGeom>
            <a:blipFill>
              <a:blip r:embed="rId3">
                <a:alphaModFix amt="0"/>
              </a:blip>
              <a:stretch>
                <a:fillRect t="-40012" b="-40011"/>
              </a:stretch>
            </a:blipFill>
          </p:spPr>
          <p:txBody>
            <a:bodyPr/>
            <a:lstStyle/>
            <a:p>
              <a:endParaRPr lang="en-US"/>
            </a:p>
          </p:txBody>
        </p:sp>
        <p:sp>
          <p:nvSpPr>
            <p:cNvPr id="39" name="TextBox 39"/>
            <p:cNvSpPr txBox="1"/>
            <p:nvPr/>
          </p:nvSpPr>
          <p:spPr>
            <a:xfrm>
              <a:off x="0" y="0"/>
              <a:ext cx="7796759" cy="1687770"/>
            </a:xfrm>
            <a:prstGeom prst="rect">
              <a:avLst/>
            </a:prstGeom>
          </p:spPr>
          <p:txBody>
            <a:bodyPr lIns="0" tIns="0" rIns="0" bIns="0" rtlCol="0" anchor="ctr"/>
            <a:lstStyle/>
            <a:p>
              <a:pPr algn="l">
                <a:lnSpc>
                  <a:spcPts val="2618"/>
                </a:lnSpc>
              </a:pPr>
              <a:r>
                <a:rPr lang="en-US" sz="2181" b="1">
                  <a:solidFill>
                    <a:srgbClr val="FFFFFF"/>
                  </a:solidFill>
                  <a:latin typeface="Montserrat Bold"/>
                  <a:ea typeface="Montserrat Bold"/>
                  <a:cs typeface="Montserrat Bold"/>
                  <a:sym typeface="Montserrat Bold"/>
                </a:rPr>
                <a:t>Người dân đi lại nhiều lần do chuẩn bị thiếu hồ sơ</a:t>
              </a:r>
            </a:p>
          </p:txBody>
        </p:sp>
      </p:grpSp>
      <p:grpSp>
        <p:nvGrpSpPr>
          <p:cNvPr id="40" name="Group 40"/>
          <p:cNvGrpSpPr/>
          <p:nvPr/>
        </p:nvGrpSpPr>
        <p:grpSpPr>
          <a:xfrm>
            <a:off x="963130" y="8324193"/>
            <a:ext cx="16373208" cy="963130"/>
            <a:chOff x="0" y="0"/>
            <a:chExt cx="21830944" cy="1284173"/>
          </a:xfrm>
        </p:grpSpPr>
        <p:sp>
          <p:nvSpPr>
            <p:cNvPr id="41" name="Freeform 41"/>
            <p:cNvSpPr/>
            <p:nvPr/>
          </p:nvSpPr>
          <p:spPr>
            <a:xfrm>
              <a:off x="0" y="0"/>
              <a:ext cx="21830942" cy="1284173"/>
            </a:xfrm>
            <a:custGeom>
              <a:avLst/>
              <a:gdLst/>
              <a:ahLst/>
              <a:cxnLst/>
              <a:rect l="l" t="t" r="r" b="b"/>
              <a:pathLst>
                <a:path w="21830942" h="1284173">
                  <a:moveTo>
                    <a:pt x="0" y="0"/>
                  </a:moveTo>
                  <a:lnTo>
                    <a:pt x="21830942" y="0"/>
                  </a:lnTo>
                  <a:lnTo>
                    <a:pt x="21830942" y="1284173"/>
                  </a:lnTo>
                  <a:lnTo>
                    <a:pt x="0" y="1284173"/>
                  </a:lnTo>
                  <a:close/>
                </a:path>
              </a:pathLst>
            </a:custGeom>
            <a:blipFill>
              <a:blip r:embed="rId3">
                <a:alphaModFix amt="0"/>
              </a:blip>
              <a:stretch>
                <a:fillRect t="-281245" b="-281245"/>
              </a:stretch>
            </a:blipFill>
          </p:spPr>
          <p:txBody>
            <a:bodyPr/>
            <a:lstStyle/>
            <a:p>
              <a:endParaRPr lang="en-US"/>
            </a:p>
          </p:txBody>
        </p:sp>
        <p:sp>
          <p:nvSpPr>
            <p:cNvPr id="42" name="TextBox 42"/>
            <p:cNvSpPr txBox="1"/>
            <p:nvPr/>
          </p:nvSpPr>
          <p:spPr>
            <a:xfrm>
              <a:off x="0" y="0"/>
              <a:ext cx="21830944" cy="1284173"/>
            </a:xfrm>
            <a:prstGeom prst="rect">
              <a:avLst/>
            </a:prstGeom>
          </p:spPr>
          <p:txBody>
            <a:bodyPr lIns="0" tIns="0" rIns="0" bIns="0" rtlCol="0" anchor="ctr"/>
            <a:lstStyle/>
            <a:p>
              <a:pPr algn="l">
                <a:lnSpc>
                  <a:spcPts val="2618"/>
                </a:lnSpc>
              </a:pPr>
              <a:r>
                <a:rPr lang="en-US" sz="2181" i="1">
                  <a:solidFill>
                    <a:srgbClr val="FFD700"/>
                  </a:solidFill>
                  <a:latin typeface="Montserrat Italics"/>
                  <a:ea typeface="Montserrat Italics"/>
                  <a:cs typeface="Montserrat Italics"/>
                  <a:sym typeface="Montserrat Italics"/>
                </a:rPr>
                <a:t>Quy định liên tục cập nhật (Luật Căn cước 2023, Thông tư 24/2023…) càng làm tăng nhu cầu tra cứu chính thống.</a:t>
              </a:r>
            </a:p>
          </p:txBody>
        </p:sp>
      </p:grpSp>
      <p:grpSp>
        <p:nvGrpSpPr>
          <p:cNvPr id="43" name="Group 43"/>
          <p:cNvGrpSpPr/>
          <p:nvPr/>
        </p:nvGrpSpPr>
        <p:grpSpPr>
          <a:xfrm>
            <a:off x="963130" y="9686334"/>
            <a:ext cx="16373208" cy="19260"/>
            <a:chOff x="0" y="0"/>
            <a:chExt cx="21830944" cy="25679"/>
          </a:xfrm>
        </p:grpSpPr>
        <p:sp>
          <p:nvSpPr>
            <p:cNvPr id="44" name="Freeform 44"/>
            <p:cNvSpPr/>
            <p:nvPr/>
          </p:nvSpPr>
          <p:spPr>
            <a:xfrm>
              <a:off x="0" y="0"/>
              <a:ext cx="21830919" cy="25654"/>
            </a:xfrm>
            <a:custGeom>
              <a:avLst/>
              <a:gdLst/>
              <a:ahLst/>
              <a:cxnLst/>
              <a:rect l="l" t="t" r="r" b="b"/>
              <a:pathLst>
                <a:path w="21830919" h="25654">
                  <a:moveTo>
                    <a:pt x="0" y="0"/>
                  </a:moveTo>
                  <a:lnTo>
                    <a:pt x="21830919" y="0"/>
                  </a:lnTo>
                  <a:lnTo>
                    <a:pt x="21830919" y="25654"/>
                  </a:lnTo>
                  <a:lnTo>
                    <a:pt x="0" y="25654"/>
                  </a:lnTo>
                  <a:close/>
                </a:path>
              </a:pathLst>
            </a:custGeom>
            <a:solidFill>
              <a:srgbClr val="FFD700"/>
            </a:solidFill>
          </p:spPr>
          <p:txBody>
            <a:bodyPr/>
            <a:lstStyle/>
            <a:p>
              <a:endParaRPr lang="en-US"/>
            </a:p>
          </p:txBody>
        </p:sp>
      </p:grpSp>
      <p:grpSp>
        <p:nvGrpSpPr>
          <p:cNvPr id="45" name="Group 45"/>
          <p:cNvGrpSpPr/>
          <p:nvPr/>
        </p:nvGrpSpPr>
        <p:grpSpPr>
          <a:xfrm>
            <a:off x="963130" y="9741370"/>
            <a:ext cx="12383100" cy="412770"/>
            <a:chOff x="0" y="0"/>
            <a:chExt cx="16510800" cy="550360"/>
          </a:xfrm>
        </p:grpSpPr>
        <p:sp>
          <p:nvSpPr>
            <p:cNvPr id="46" name="Freeform 46"/>
            <p:cNvSpPr/>
            <p:nvPr/>
          </p:nvSpPr>
          <p:spPr>
            <a:xfrm>
              <a:off x="0" y="0"/>
              <a:ext cx="16510797" cy="550365"/>
            </a:xfrm>
            <a:custGeom>
              <a:avLst/>
              <a:gdLst/>
              <a:ahLst/>
              <a:cxnLst/>
              <a:rect l="l" t="t" r="r" b="b"/>
              <a:pathLst>
                <a:path w="16510797" h="550365">
                  <a:moveTo>
                    <a:pt x="0" y="0"/>
                  </a:moveTo>
                  <a:lnTo>
                    <a:pt x="16510797" y="0"/>
                  </a:lnTo>
                  <a:lnTo>
                    <a:pt x="16510797" y="550365"/>
                  </a:lnTo>
                  <a:lnTo>
                    <a:pt x="0" y="550365"/>
                  </a:lnTo>
                  <a:close/>
                </a:path>
              </a:pathLst>
            </a:custGeom>
            <a:blipFill>
              <a:blip r:embed="rId3">
                <a:alphaModFix amt="0"/>
              </a:blip>
              <a:stretch>
                <a:fillRect t="-534546" b="-534544"/>
              </a:stretch>
            </a:blipFill>
          </p:spPr>
          <p:txBody>
            <a:bodyPr/>
            <a:lstStyle/>
            <a:p>
              <a:endParaRPr lang="en-US"/>
            </a:p>
          </p:txBody>
        </p:sp>
        <p:sp>
          <p:nvSpPr>
            <p:cNvPr id="47" name="TextBox 47"/>
            <p:cNvSpPr txBox="1"/>
            <p:nvPr/>
          </p:nvSpPr>
          <p:spPr>
            <a:xfrm>
              <a:off x="0" y="0"/>
              <a:ext cx="16510800" cy="550360"/>
            </a:xfrm>
            <a:prstGeom prst="rect">
              <a:avLst/>
            </a:prstGeom>
          </p:spPr>
          <p:txBody>
            <a:bodyPr lIns="0" tIns="0" rIns="0" bIns="0" rtlCol="0" anchor="ctr"/>
            <a:lstStyle/>
            <a:p>
              <a:pPr algn="l">
                <a:lnSpc>
                  <a:spcPts val="1625"/>
                </a:lnSpc>
              </a:pPr>
              <a:r>
                <a:rPr lang="en-US" sz="1354" b="1" spc="150">
                  <a:solidFill>
                    <a:srgbClr val="FFE9A8"/>
                  </a:solidFill>
                  <a:latin typeface="Montserrat Bold"/>
                  <a:ea typeface="Montserrat Bold"/>
                  <a:cs typeface="Montserrat Bold"/>
                  <a:sym typeface="Montserrat Bold"/>
                </a:rPr>
                <a:t>CÔNG AN PHƯỜNG PHÚ THỌ   ·   SÁNG KIẾN CẢI CÁCH HÀNH CHÍNH · 2026</a:t>
              </a:r>
            </a:p>
          </p:txBody>
        </p:sp>
      </p:grpSp>
      <p:grpSp>
        <p:nvGrpSpPr>
          <p:cNvPr id="48" name="Group 48"/>
          <p:cNvGrpSpPr/>
          <p:nvPr/>
        </p:nvGrpSpPr>
        <p:grpSpPr>
          <a:xfrm>
            <a:off x="15960433" y="9741370"/>
            <a:ext cx="1375896" cy="412770"/>
            <a:chOff x="0" y="0"/>
            <a:chExt cx="1834528" cy="550360"/>
          </a:xfrm>
        </p:grpSpPr>
        <p:sp>
          <p:nvSpPr>
            <p:cNvPr id="49" name="Freeform 49"/>
            <p:cNvSpPr/>
            <p:nvPr/>
          </p:nvSpPr>
          <p:spPr>
            <a:xfrm>
              <a:off x="0" y="0"/>
              <a:ext cx="1834533" cy="550365"/>
            </a:xfrm>
            <a:custGeom>
              <a:avLst/>
              <a:gdLst/>
              <a:ahLst/>
              <a:cxnLst/>
              <a:rect l="l" t="t" r="r" b="b"/>
              <a:pathLst>
                <a:path w="1834533" h="550365">
                  <a:moveTo>
                    <a:pt x="0" y="0"/>
                  </a:moveTo>
                  <a:lnTo>
                    <a:pt x="1834533" y="0"/>
                  </a:lnTo>
                  <a:lnTo>
                    <a:pt x="1834533" y="550365"/>
                  </a:lnTo>
                  <a:lnTo>
                    <a:pt x="0" y="550365"/>
                  </a:lnTo>
                  <a:close/>
                </a:path>
              </a:pathLst>
            </a:custGeom>
            <a:blipFill>
              <a:blip r:embed="rId3">
                <a:alphaModFix amt="0"/>
              </a:blip>
              <a:stretch>
                <a:fillRect t="-14950" b="-14948"/>
              </a:stretch>
            </a:blipFill>
          </p:spPr>
          <p:txBody>
            <a:bodyPr/>
            <a:lstStyle/>
            <a:p>
              <a:endParaRPr lang="en-US"/>
            </a:p>
          </p:txBody>
        </p:sp>
        <p:sp>
          <p:nvSpPr>
            <p:cNvPr id="50" name="TextBox 50"/>
            <p:cNvSpPr txBox="1"/>
            <p:nvPr/>
          </p:nvSpPr>
          <p:spPr>
            <a:xfrm>
              <a:off x="0" y="-9525"/>
              <a:ext cx="1834528" cy="559885"/>
            </a:xfrm>
            <a:prstGeom prst="rect">
              <a:avLst/>
            </a:prstGeom>
          </p:spPr>
          <p:txBody>
            <a:bodyPr lIns="0" tIns="0" rIns="0" bIns="0" rtlCol="0" anchor="ctr"/>
            <a:lstStyle/>
            <a:p>
              <a:pPr algn="r">
                <a:lnSpc>
                  <a:spcPts val="1805"/>
                </a:lnSpc>
              </a:pPr>
              <a:r>
                <a:rPr lang="en-US" sz="1504" b="1">
                  <a:solidFill>
                    <a:srgbClr val="FFD700"/>
                  </a:solidFill>
                  <a:latin typeface="Montserrat Bold"/>
                  <a:ea typeface="Montserrat Bold"/>
                  <a:cs typeface="Montserrat Bold"/>
                  <a:sym typeface="Montserrat Bold"/>
                </a:rPr>
                <a:t>03</a:t>
              </a:r>
            </a:p>
          </p:txBody>
        </p:sp>
      </p:grpSp>
      <p:sp>
        <p:nvSpPr>
          <p:cNvPr id="51" name="Freeform 51"/>
          <p:cNvSpPr/>
          <p:nvPr/>
        </p:nvSpPr>
        <p:spPr>
          <a:xfrm>
            <a:off x="15763067" y="633048"/>
            <a:ext cx="1770628" cy="1768414"/>
          </a:xfrm>
          <a:custGeom>
            <a:avLst/>
            <a:gdLst/>
            <a:ahLst/>
            <a:cxnLst/>
            <a:rect l="l" t="t" r="r" b="b"/>
            <a:pathLst>
              <a:path w="1770628" h="1768414">
                <a:moveTo>
                  <a:pt x="0" y="0"/>
                </a:moveTo>
                <a:lnTo>
                  <a:pt x="1770628" y="0"/>
                </a:lnTo>
                <a:lnTo>
                  <a:pt x="1770628" y="1768414"/>
                </a:lnTo>
                <a:lnTo>
                  <a:pt x="0" y="1768414"/>
                </a:lnTo>
                <a:lnTo>
                  <a:pt x="0" y="0"/>
                </a:lnTo>
                <a:close/>
              </a:path>
            </a:pathLst>
          </a:custGeom>
          <a:blipFill>
            <a:blip>
              <a:alphaModFix amt="10999"/>
              <a:extLst>
                <a:ext uri="{96DAC541-7B7A-43D3-8B79-37D633B846F1}">
                  <asvg:svgBlip xmlns:asvg="http://schemas.microsoft.com/office/drawing/2016/SVG/main" r:embed="rId5"/>
                </a:ext>
              </a:extLst>
            </a:blip>
            <a:stretch>
              <a:fillRect/>
            </a:stretch>
          </a:blipFill>
        </p:spPr>
        <p:txBody>
          <a:bodyPr/>
          <a:lstStyle/>
          <a:p>
            <a:endParaRPr lang="en-US"/>
          </a:p>
        </p:txBody>
      </p:sp>
    </p:spTree>
    <p:extLst>
      <p:ext uri="{BB962C8B-B14F-4D97-AF65-F5344CB8AC3E}">
        <p14:creationId xmlns:p14="http://schemas.microsoft.com/office/powerpoint/2010/main" val="2163371588"/>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0"/>
                      </p:stCondLst>
                      <p:childTnLst>
                        <p:par>
                          <p:cTn id="4" presetID="10" presetClass="entr" presetSubtype="0" fill="hold" nodeType="afterEffect">
                            <p:stCondLst>
                              <p:cond delay="0"/>
                            </p:stCondLst>
                            <p:childTnLst>
                              <p:set>
                                <p:cBhvr>
                                  <p:cTn id="5" dur="1" fill="hold">
                                    <p:stCondLst>
                                      <p:cond delay="0"/>
                                    </p:stCondLst>
                                  </p:cTn>
                                  <p:tgtEl>
                                    <p:spTgt spid="7"/>
                                  </p:tgtEl>
                                  <p:attrNameLst>
                                    <p:attrName>style.visibility</p:attrName>
                                  </p:attrNameLst>
                                </p:cBhvr>
                                <p:to>
                                  <p:strVal val="visible"/>
                                </p:to>
                              </p:set>
                              <p:animEffect transition="in" filter="fade">
                                <p:cBhvr>
                                  <p:cTn id="6" dur="650"/>
                                  <p:tgtEl>
                                    <p:spTgt spid="7"/>
                                  </p:tgtEl>
                                </p:cBhvr>
                              </p:animEffect>
                            </p:childTnLst>
                          </p:cTn>
                        </p:par>
                        <p:par>
                          <p:cTn id="7" presetID="10" presetClass="entr" presetSubtype="0" fill="hold" nodeType="afterEffect">
                            <p:stCondLst>
                              <p:cond delay="0"/>
                            </p:stCondLst>
                            <p:childTnLst>
                              <p:set>
                                <p:cBhvr>
                                  <p:cTn id="8" dur="1" fill="hold">
                                    <p:stCondLst>
                                      <p:cond delay="0"/>
                                    </p:stCondLst>
                                  </p:cTn>
                                  <p:tgtEl>
                                    <p:spTgt spid="10"/>
                                  </p:tgtEl>
                                  <p:attrNameLst>
                                    <p:attrName>style.visibility</p:attrName>
                                  </p:attrNameLst>
                                </p:cBhvr>
                                <p:to>
                                  <p:strVal val="visible"/>
                                </p:to>
                              </p:set>
                              <p:animEffect transition="in" filter="fade">
                                <p:cBhvr>
                                  <p:cTn id="9" dur="650"/>
                                  <p:tgtEl>
                                    <p:spTgt spid="10"/>
                                  </p:tgtEl>
                                </p:cBhvr>
                              </p:animEffect>
                            </p:childTnLst>
                          </p:cTn>
                        </p:par>
                        <p:par>
                          <p:cTn id="10" presetID="10" presetClass="entr" presetSubtype="0" fill="hold" nodeType="afterEffect">
                            <p:stCondLst>
                              <p:cond delay="0"/>
                            </p:stCondLst>
                            <p:childTnLst>
                              <p:set>
                                <p:cBhvr>
                                  <p:cTn id="11" dur="1" fill="hold">
                                    <p:stCondLst>
                                      <p:cond delay="0"/>
                                    </p:stCondLst>
                                  </p:cTn>
                                  <p:tgtEl>
                                    <p:spTgt spid="13"/>
                                  </p:tgtEl>
                                  <p:attrNameLst>
                                    <p:attrName>style.visibility</p:attrName>
                                  </p:attrNameLst>
                                </p:cBhvr>
                                <p:to>
                                  <p:strVal val="visible"/>
                                </p:to>
                              </p:set>
                              <p:animEffect transition="in" filter="fade">
                                <p:cBhvr>
                                  <p:cTn id="12" dur="650"/>
                                  <p:tgtEl>
                                    <p:spTgt spid="13"/>
                                  </p:tgtEl>
                                </p:cBhvr>
                              </p:animEffect>
                            </p:childTnLst>
                          </p:cTn>
                        </p:par>
                        <p:par>
                          <p:cTn id="13" presetID="10" presetClass="entr" presetSubtype="0" fill="hold" nodeType="afterEffect">
                            <p:stCondLst>
                              <p:cond delay="0"/>
                            </p:stCondLst>
                            <p:childTnLst>
                              <p:set>
                                <p:cBhvr>
                                  <p:cTn id="14" dur="1" fill="hold">
                                    <p:stCondLst>
                                      <p:cond delay="0"/>
                                    </p:stCondLst>
                                  </p:cTn>
                                  <p:tgtEl>
                                    <p:spTgt spid="15"/>
                                  </p:tgtEl>
                                  <p:attrNameLst>
                                    <p:attrName>style.visibility</p:attrName>
                                  </p:attrNameLst>
                                </p:cBhvr>
                                <p:to>
                                  <p:strVal val="visible"/>
                                </p:to>
                              </p:set>
                              <p:animEffect transition="in" filter="fade">
                                <p:cBhvr>
                                  <p:cTn id="15" dur="650"/>
                                  <p:tgtEl>
                                    <p:spTgt spid="15"/>
                                  </p:tgtEl>
                                </p:cBhvr>
                              </p:animEffect>
                            </p:childTnLst>
                          </p:cTn>
                        </p:par>
                        <p:par>
                          <p:cTn id="16" presetID="10" presetClass="entr" presetSubtype="0" fill="hold" nodeType="afterEffect">
                            <p:stCondLst>
                              <p:cond delay="0"/>
                            </p:stCondLst>
                            <p:childTnLst>
                              <p:set>
                                <p:cBhvr>
                                  <p:cTn id="17" dur="1" fill="hold">
                                    <p:stCondLst>
                                      <p:cond delay="0"/>
                                    </p:stCondLst>
                                  </p:cTn>
                                  <p:tgtEl>
                                    <p:spTgt spid="17"/>
                                  </p:tgtEl>
                                  <p:attrNameLst>
                                    <p:attrName>style.visibility</p:attrName>
                                  </p:attrNameLst>
                                </p:cBhvr>
                                <p:to>
                                  <p:strVal val="visible"/>
                                </p:to>
                              </p:set>
                              <p:animEffect transition="in" filter="fade">
                                <p:cBhvr>
                                  <p:cTn id="18" dur="650"/>
                                  <p:tgtEl>
                                    <p:spTgt spid="17"/>
                                  </p:tgtEl>
                                </p:cBhvr>
                              </p:animEffect>
                            </p:childTnLst>
                          </p:cTn>
                        </p:par>
                        <p:par>
                          <p:cTn id="19" presetID="10" presetClass="entr" presetSubtype="0" fill="hold" nodeType="afterEffect">
                            <p:stCondLst>
                              <p:cond delay="0"/>
                            </p:stCondLst>
                            <p:childTnLst>
                              <p:set>
                                <p:cBhvr>
                                  <p:cTn id="20" dur="1" fill="hold">
                                    <p:stCondLst>
                                      <p:cond delay="0"/>
                                    </p:stCondLst>
                                  </p:cTn>
                                  <p:tgtEl>
                                    <p:spTgt spid="19"/>
                                  </p:tgtEl>
                                  <p:attrNameLst>
                                    <p:attrName>style.visibility</p:attrName>
                                  </p:attrNameLst>
                                </p:cBhvr>
                                <p:to>
                                  <p:strVal val="visible"/>
                                </p:to>
                              </p:set>
                              <p:animEffect transition="in" filter="fade">
                                <p:cBhvr>
                                  <p:cTn id="21" dur="650"/>
                                  <p:tgtEl>
                                    <p:spTgt spid="19"/>
                                  </p:tgtEl>
                                </p:cBhvr>
                              </p:animEffect>
                            </p:childTnLst>
                          </p:cTn>
                        </p:par>
                        <p:par>
                          <p:cTn id="22" presetID="10" presetClass="entr" presetSubtype="0" fill="hold" nodeType="afterEffect">
                            <p:stCondLst>
                              <p:cond delay="0"/>
                            </p:stCondLst>
                            <p:childTnLst>
                              <p:set>
                                <p:cBhvr>
                                  <p:cTn id="23" dur="1" fill="hold">
                                    <p:stCondLst>
                                      <p:cond delay="0"/>
                                    </p:stCondLst>
                                  </p:cTn>
                                  <p:tgtEl>
                                    <p:spTgt spid="22"/>
                                  </p:tgtEl>
                                  <p:attrNameLst>
                                    <p:attrName>style.visibility</p:attrName>
                                  </p:attrNameLst>
                                </p:cBhvr>
                                <p:to>
                                  <p:strVal val="visible"/>
                                </p:to>
                              </p:set>
                              <p:animEffect transition="in" filter="fade">
                                <p:cBhvr>
                                  <p:cTn id="24" dur="650"/>
                                  <p:tgtEl>
                                    <p:spTgt spid="22"/>
                                  </p:tgtEl>
                                </p:cBhvr>
                              </p:animEffect>
                            </p:childTnLst>
                          </p:cTn>
                        </p:par>
                        <p:par>
                          <p:cTn id="25" presetID="10" presetClass="entr" presetSubtype="0" fill="hold" nodeType="afterEffect">
                            <p:stCondLst>
                              <p:cond delay="0"/>
                            </p:stCondLst>
                            <p:childTnLst>
                              <p:set>
                                <p:cBhvr>
                                  <p:cTn id="26" dur="1" fill="hold">
                                    <p:stCondLst>
                                      <p:cond delay="0"/>
                                    </p:stCondLst>
                                  </p:cTn>
                                  <p:tgtEl>
                                    <p:spTgt spid="24"/>
                                  </p:tgtEl>
                                  <p:attrNameLst>
                                    <p:attrName>style.visibility</p:attrName>
                                  </p:attrNameLst>
                                </p:cBhvr>
                                <p:to>
                                  <p:strVal val="visible"/>
                                </p:to>
                              </p:set>
                              <p:animEffect transition="in" filter="fade">
                                <p:cBhvr>
                                  <p:cTn id="27" dur="650"/>
                                  <p:tgtEl>
                                    <p:spTgt spid="24"/>
                                  </p:tgtEl>
                                </p:cBhvr>
                              </p:animEffect>
                            </p:childTnLst>
                          </p:cTn>
                        </p:par>
                        <p:par>
                          <p:cTn id="28" presetID="10" presetClass="entr" presetSubtype="0" fill="hold" nodeType="afterEffect">
                            <p:stCondLst>
                              <p:cond delay="0"/>
                            </p:stCondLst>
                            <p:childTnLst>
                              <p:set>
                                <p:cBhvr>
                                  <p:cTn id="29" dur="1" fill="hold">
                                    <p:stCondLst>
                                      <p:cond delay="0"/>
                                    </p:stCondLst>
                                  </p:cTn>
                                  <p:tgtEl>
                                    <p:spTgt spid="26"/>
                                  </p:tgtEl>
                                  <p:attrNameLst>
                                    <p:attrName>style.visibility</p:attrName>
                                  </p:attrNameLst>
                                </p:cBhvr>
                                <p:to>
                                  <p:strVal val="visible"/>
                                </p:to>
                              </p:set>
                              <p:animEffect transition="in" filter="fade">
                                <p:cBhvr>
                                  <p:cTn id="30" dur="650"/>
                                  <p:tgtEl>
                                    <p:spTgt spid="26"/>
                                  </p:tgtEl>
                                </p:cBhvr>
                              </p:animEffect>
                            </p:childTnLst>
                          </p:cTn>
                        </p:par>
                        <p:par>
                          <p:cTn id="31" presetID="10" presetClass="entr" presetSubtype="0" fill="hold" nodeType="afterEffect">
                            <p:stCondLst>
                              <p:cond delay="0"/>
                            </p:stCondLst>
                            <p:childTnLst>
                              <p:set>
                                <p:cBhvr>
                                  <p:cTn id="32" dur="1" fill="hold">
                                    <p:stCondLst>
                                      <p:cond delay="0"/>
                                    </p:stCondLst>
                                  </p:cTn>
                                  <p:tgtEl>
                                    <p:spTgt spid="28"/>
                                  </p:tgtEl>
                                  <p:attrNameLst>
                                    <p:attrName>style.visibility</p:attrName>
                                  </p:attrNameLst>
                                </p:cBhvr>
                                <p:to>
                                  <p:strVal val="visible"/>
                                </p:to>
                              </p:set>
                              <p:animEffect transition="in" filter="fade">
                                <p:cBhvr>
                                  <p:cTn id="33" dur="650"/>
                                  <p:tgtEl>
                                    <p:spTgt spid="28"/>
                                  </p:tgtEl>
                                </p:cBhvr>
                              </p:animEffect>
                            </p:childTnLst>
                          </p:cTn>
                        </p:par>
                        <p:par>
                          <p:cTn id="34" presetID="10" presetClass="entr" presetSubtype="0" fill="hold" nodeType="afterEffect">
                            <p:stCondLst>
                              <p:cond delay="0"/>
                            </p:stCondLst>
                            <p:childTnLst>
                              <p:set>
                                <p:cBhvr>
                                  <p:cTn id="35" dur="1" fill="hold">
                                    <p:stCondLst>
                                      <p:cond delay="0"/>
                                    </p:stCondLst>
                                  </p:cTn>
                                  <p:tgtEl>
                                    <p:spTgt spid="31"/>
                                  </p:tgtEl>
                                  <p:attrNameLst>
                                    <p:attrName>style.visibility</p:attrName>
                                  </p:attrNameLst>
                                </p:cBhvr>
                                <p:to>
                                  <p:strVal val="visible"/>
                                </p:to>
                              </p:set>
                              <p:animEffect transition="in" filter="fade">
                                <p:cBhvr>
                                  <p:cTn id="36" dur="650"/>
                                  <p:tgtEl>
                                    <p:spTgt spid="31"/>
                                  </p:tgtEl>
                                </p:cBhvr>
                              </p:animEffect>
                            </p:childTnLst>
                          </p:cTn>
                        </p:par>
                        <p:par>
                          <p:cTn id="37" presetID="10" presetClass="entr" presetSubtype="0" fill="hold" nodeType="afterEffect">
                            <p:stCondLst>
                              <p:cond delay="0"/>
                            </p:stCondLst>
                            <p:childTnLst>
                              <p:set>
                                <p:cBhvr>
                                  <p:cTn id="38" dur="1" fill="hold">
                                    <p:stCondLst>
                                      <p:cond delay="0"/>
                                    </p:stCondLst>
                                  </p:cTn>
                                  <p:tgtEl>
                                    <p:spTgt spid="33"/>
                                  </p:tgtEl>
                                  <p:attrNameLst>
                                    <p:attrName>style.visibility</p:attrName>
                                  </p:attrNameLst>
                                </p:cBhvr>
                                <p:to>
                                  <p:strVal val="visible"/>
                                </p:to>
                              </p:set>
                              <p:animEffect transition="in" filter="fade">
                                <p:cBhvr>
                                  <p:cTn id="39" dur="650"/>
                                  <p:tgtEl>
                                    <p:spTgt spid="33"/>
                                  </p:tgtEl>
                                </p:cBhvr>
                              </p:animEffect>
                            </p:childTnLst>
                          </p:cTn>
                        </p:par>
                        <p:par>
                          <p:cTn id="40" presetID="10" presetClass="entr" presetSubtype="0" fill="hold" nodeType="afterEffect">
                            <p:stCondLst>
                              <p:cond delay="0"/>
                            </p:stCondLst>
                            <p:childTnLst>
                              <p:set>
                                <p:cBhvr>
                                  <p:cTn id="41" dur="1" fill="hold">
                                    <p:stCondLst>
                                      <p:cond delay="0"/>
                                    </p:stCondLst>
                                  </p:cTn>
                                  <p:tgtEl>
                                    <p:spTgt spid="35"/>
                                  </p:tgtEl>
                                  <p:attrNameLst>
                                    <p:attrName>style.visibility</p:attrName>
                                  </p:attrNameLst>
                                </p:cBhvr>
                                <p:to>
                                  <p:strVal val="visible"/>
                                </p:to>
                              </p:set>
                              <p:animEffect transition="in" filter="fade">
                                <p:cBhvr>
                                  <p:cTn id="42" dur="650"/>
                                  <p:tgtEl>
                                    <p:spTgt spid="35"/>
                                  </p:tgtEl>
                                </p:cBhvr>
                              </p:animEffect>
                            </p:childTnLst>
                          </p:cTn>
                        </p:par>
                        <p:par>
                          <p:cTn id="43" presetID="10" presetClass="entr" presetSubtype="0" fill="hold" nodeType="afterEffect">
                            <p:stCondLst>
                              <p:cond delay="0"/>
                            </p:stCondLst>
                            <p:childTnLst>
                              <p:set>
                                <p:cBhvr>
                                  <p:cTn id="44" dur="1" fill="hold">
                                    <p:stCondLst>
                                      <p:cond delay="0"/>
                                    </p:stCondLst>
                                  </p:cTn>
                                  <p:tgtEl>
                                    <p:spTgt spid="37"/>
                                  </p:tgtEl>
                                  <p:attrNameLst>
                                    <p:attrName>style.visibility</p:attrName>
                                  </p:attrNameLst>
                                </p:cBhvr>
                                <p:to>
                                  <p:strVal val="visible"/>
                                </p:to>
                              </p:set>
                              <p:animEffect transition="in" filter="fade">
                                <p:cBhvr>
                                  <p:cTn id="45" dur="650"/>
                                  <p:tgtEl>
                                    <p:spTgt spid="37"/>
                                  </p:tgtEl>
                                </p:cBhvr>
                              </p:animEffect>
                            </p:childTnLst>
                          </p:cTn>
                        </p:par>
                        <p:par>
                          <p:cTn id="46" presetID="10" presetClass="entr" presetSubtype="0" fill="hold" nodeType="afterEffect">
                            <p:stCondLst>
                              <p:cond delay="600"/>
                            </p:stCondLst>
                            <p:childTnLst>
                              <p:set>
                                <p:cBhvr>
                                  <p:cTn id="47" dur="1" fill="hold">
                                    <p:stCondLst>
                                      <p:cond delay="0"/>
                                    </p:stCondLst>
                                  </p:cTn>
                                  <p:tgtEl>
                                    <p:spTgt spid="40"/>
                                  </p:tgtEl>
                                  <p:attrNameLst>
                                    <p:attrName>style.visibility</p:attrName>
                                  </p:attrNameLst>
                                </p:cBhvr>
                                <p:to>
                                  <p:strVal val="visible"/>
                                </p:to>
                              </p:set>
                              <p:animEffect transition="in" filter="fade">
                                <p:cBhvr>
                                  <p:cTn id="48" dur="650"/>
                                  <p:tgtEl>
                                    <p:spTgt spid="40"/>
                                  </p:tgtEl>
                                </p:cBhvr>
                              </p:animEffect>
                            </p:childTnLst>
                          </p:cTn>
                        </p:par>
                        <p:par>
                          <p:cTn id="49" fill="hold">
                            <p:stCondLst>
                              <p:cond delay="0"/>
                            </p:stCondLst>
                            <p:childTnLst>
                              <p:animRot by="21600000">
                                <p:cBhvr>
                                  <p:cTn id="50" dur="60000" repeatCount="indefinite" fill="hold"/>
                                  <p:tgtEl>
                                    <p:spTgt spid="51"/>
                                  </p:tgtEl>
                                  <p:attrNameLst>
                                    <p:attrName>r</p:attrName>
                                  </p:attrNameLst>
                                </p:cBhvr>
                              </p:animRot>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2"/>
          <p:cNvGrpSpPr/>
          <p:nvPr/>
        </p:nvGrpSpPr>
        <p:grpSpPr>
          <a:xfrm>
            <a:off x="963130" y="687953"/>
            <a:ext cx="14997303" cy="481565"/>
            <a:chOff x="0" y="0"/>
            <a:chExt cx="19996404" cy="642087"/>
          </a:xfrm>
        </p:grpSpPr>
        <p:sp>
          <p:nvSpPr>
            <p:cNvPr id="3" name="Freeform 3"/>
            <p:cNvSpPr/>
            <p:nvPr/>
          </p:nvSpPr>
          <p:spPr>
            <a:xfrm>
              <a:off x="0" y="0"/>
              <a:ext cx="19996409" cy="642086"/>
            </a:xfrm>
            <a:custGeom>
              <a:avLst/>
              <a:gdLst/>
              <a:ahLst/>
              <a:cxnLst/>
              <a:rect l="l" t="t" r="r" b="b"/>
              <a:pathLst>
                <a:path w="19996409" h="642086">
                  <a:moveTo>
                    <a:pt x="0" y="0"/>
                  </a:moveTo>
                  <a:lnTo>
                    <a:pt x="19996409" y="0"/>
                  </a:lnTo>
                  <a:lnTo>
                    <a:pt x="19996409" y="642086"/>
                  </a:lnTo>
                  <a:lnTo>
                    <a:pt x="0" y="642086"/>
                  </a:lnTo>
                  <a:close/>
                </a:path>
              </a:pathLst>
            </a:custGeom>
            <a:blipFill>
              <a:blip r:embed="rId3">
                <a:alphaModFix amt="0"/>
              </a:blip>
              <a:stretch>
                <a:fillRect t="-556819" b="-556819"/>
              </a:stretch>
            </a:blipFill>
          </p:spPr>
          <p:txBody>
            <a:bodyPr/>
            <a:lstStyle/>
            <a:p>
              <a:endParaRPr lang="en-US"/>
            </a:p>
          </p:txBody>
        </p:sp>
        <p:sp>
          <p:nvSpPr>
            <p:cNvPr id="4" name="TextBox 4"/>
            <p:cNvSpPr txBox="1"/>
            <p:nvPr/>
          </p:nvSpPr>
          <p:spPr>
            <a:xfrm>
              <a:off x="0" y="-9525"/>
              <a:ext cx="19996404" cy="651612"/>
            </a:xfrm>
            <a:prstGeom prst="rect">
              <a:avLst/>
            </a:prstGeom>
          </p:spPr>
          <p:txBody>
            <a:bodyPr lIns="0" tIns="0" rIns="0" bIns="0" rtlCol="0" anchor="ctr"/>
            <a:lstStyle/>
            <a:p>
              <a:pPr algn="l">
                <a:lnSpc>
                  <a:spcPts val="2347"/>
                </a:lnSpc>
              </a:pPr>
              <a:r>
                <a:rPr lang="en-US" sz="1956" b="1" spc="300">
                  <a:solidFill>
                    <a:srgbClr val="C41E3A"/>
                  </a:solidFill>
                  <a:latin typeface="Montserrat Bold"/>
                  <a:ea typeface="Montserrat Bold"/>
                  <a:cs typeface="Montserrat Bold"/>
                  <a:sym typeface="Montserrat Bold"/>
                </a:rPr>
                <a:t>SÁNG KIẾN ĐỐI CHỨNG</a:t>
              </a:r>
            </a:p>
          </p:txBody>
        </p:sp>
      </p:grpSp>
      <p:sp>
        <p:nvSpPr>
          <p:cNvPr id="5" name="TextBox 5"/>
          <p:cNvSpPr txBox="1"/>
          <p:nvPr/>
        </p:nvSpPr>
        <p:spPr>
          <a:xfrm>
            <a:off x="963130" y="1155754"/>
            <a:ext cx="14997303" cy="638197"/>
          </a:xfrm>
          <a:prstGeom prst="rect">
            <a:avLst/>
          </a:prstGeom>
        </p:spPr>
        <p:txBody>
          <a:bodyPr lIns="0" tIns="0" rIns="0" bIns="0" rtlCol="0" anchor="t">
            <a:spAutoFit/>
          </a:bodyPr>
          <a:lstStyle/>
          <a:p>
            <a:pPr algn="l">
              <a:lnSpc>
                <a:spcPts val="5055"/>
              </a:lnSpc>
            </a:pPr>
            <a:r>
              <a:rPr lang="en-US" sz="4213" b="1">
                <a:solidFill>
                  <a:srgbClr val="1F2937"/>
                </a:solidFill>
                <a:latin typeface="Montserrat Heavy"/>
                <a:ea typeface="Montserrat Heavy"/>
                <a:cs typeface="Montserrat Heavy"/>
                <a:sym typeface="Montserrat Heavy"/>
              </a:rPr>
              <a:t>TỪ TỜ GIẤY TĨNH → CỔNG SỐ TƯƠNG TÁC</a:t>
            </a:r>
          </a:p>
        </p:txBody>
      </p:sp>
      <p:grpSp>
        <p:nvGrpSpPr>
          <p:cNvPr id="6" name="Group 6"/>
          <p:cNvGrpSpPr/>
          <p:nvPr/>
        </p:nvGrpSpPr>
        <p:grpSpPr>
          <a:xfrm>
            <a:off x="963130" y="2228955"/>
            <a:ext cx="1513494" cy="96317"/>
            <a:chOff x="0" y="0"/>
            <a:chExt cx="2017992" cy="128422"/>
          </a:xfrm>
        </p:grpSpPr>
        <p:sp>
          <p:nvSpPr>
            <p:cNvPr id="7" name="Freeform 7"/>
            <p:cNvSpPr/>
            <p:nvPr/>
          </p:nvSpPr>
          <p:spPr>
            <a:xfrm>
              <a:off x="0" y="0"/>
              <a:ext cx="2018030" cy="128397"/>
            </a:xfrm>
            <a:custGeom>
              <a:avLst/>
              <a:gdLst/>
              <a:ahLst/>
              <a:cxnLst/>
              <a:rect l="l" t="t" r="r" b="b"/>
              <a:pathLst>
                <a:path w="2018030" h="128397">
                  <a:moveTo>
                    <a:pt x="0" y="0"/>
                  </a:moveTo>
                  <a:lnTo>
                    <a:pt x="2018030" y="0"/>
                  </a:lnTo>
                  <a:lnTo>
                    <a:pt x="2018030" y="128397"/>
                  </a:lnTo>
                  <a:lnTo>
                    <a:pt x="0" y="128397"/>
                  </a:lnTo>
                  <a:close/>
                </a:path>
              </a:pathLst>
            </a:custGeom>
            <a:solidFill>
              <a:srgbClr val="FFD700"/>
            </a:solidFill>
          </p:spPr>
          <p:txBody>
            <a:bodyPr/>
            <a:lstStyle/>
            <a:p>
              <a:endParaRPr lang="en-US"/>
            </a:p>
          </p:txBody>
        </p:sp>
      </p:grpSp>
      <p:grpSp>
        <p:nvGrpSpPr>
          <p:cNvPr id="8" name="Group 8"/>
          <p:cNvGrpSpPr/>
          <p:nvPr/>
        </p:nvGrpSpPr>
        <p:grpSpPr>
          <a:xfrm>
            <a:off x="953576" y="2742248"/>
            <a:ext cx="7517759" cy="5797887"/>
            <a:chOff x="0" y="0"/>
            <a:chExt cx="10023678" cy="7730515"/>
          </a:xfrm>
        </p:grpSpPr>
        <p:sp>
          <p:nvSpPr>
            <p:cNvPr id="9" name="Freeform 9"/>
            <p:cNvSpPr/>
            <p:nvPr/>
          </p:nvSpPr>
          <p:spPr>
            <a:xfrm>
              <a:off x="0" y="0"/>
              <a:ext cx="10023729" cy="7730490"/>
            </a:xfrm>
            <a:custGeom>
              <a:avLst/>
              <a:gdLst/>
              <a:ahLst/>
              <a:cxnLst/>
              <a:rect l="l" t="t" r="r" b="b"/>
              <a:pathLst>
                <a:path w="10023729" h="7730490">
                  <a:moveTo>
                    <a:pt x="0" y="220853"/>
                  </a:moveTo>
                  <a:cubicBezTo>
                    <a:pt x="0" y="98933"/>
                    <a:pt x="98933" y="0"/>
                    <a:pt x="220853" y="0"/>
                  </a:cubicBezTo>
                  <a:lnTo>
                    <a:pt x="9802876" y="0"/>
                  </a:lnTo>
                  <a:cubicBezTo>
                    <a:pt x="9924796" y="0"/>
                    <a:pt x="10023729" y="98933"/>
                    <a:pt x="10023729" y="220853"/>
                  </a:cubicBezTo>
                  <a:lnTo>
                    <a:pt x="10023729" y="7509637"/>
                  </a:lnTo>
                  <a:cubicBezTo>
                    <a:pt x="10023729" y="7631557"/>
                    <a:pt x="9924796" y="7730490"/>
                    <a:pt x="9802876" y="7730490"/>
                  </a:cubicBezTo>
                  <a:lnTo>
                    <a:pt x="220853" y="7730490"/>
                  </a:lnTo>
                  <a:cubicBezTo>
                    <a:pt x="98933" y="7730490"/>
                    <a:pt x="0" y="7631684"/>
                    <a:pt x="0" y="7509637"/>
                  </a:cubicBezTo>
                  <a:close/>
                </a:path>
              </a:pathLst>
            </a:custGeom>
            <a:solidFill>
              <a:srgbClr val="F1F1F1"/>
            </a:solidFill>
            <a:ln w="19110" cap="sq">
              <a:solidFill>
                <a:srgbClr val="D8D8D8"/>
              </a:solidFill>
              <a:prstDash val="solid"/>
              <a:miter/>
            </a:ln>
          </p:spPr>
          <p:txBody>
            <a:bodyPr/>
            <a:lstStyle/>
            <a:p>
              <a:endParaRPr lang="en-US"/>
            </a:p>
          </p:txBody>
        </p:sp>
      </p:grpSp>
      <p:grpSp>
        <p:nvGrpSpPr>
          <p:cNvPr id="10" name="Group 10"/>
          <p:cNvGrpSpPr/>
          <p:nvPr/>
        </p:nvGrpSpPr>
        <p:grpSpPr>
          <a:xfrm>
            <a:off x="963130" y="2751801"/>
            <a:ext cx="7498651" cy="963130"/>
            <a:chOff x="0" y="0"/>
            <a:chExt cx="9998202" cy="1284173"/>
          </a:xfrm>
        </p:grpSpPr>
        <p:sp>
          <p:nvSpPr>
            <p:cNvPr id="11" name="Freeform 11"/>
            <p:cNvSpPr/>
            <p:nvPr/>
          </p:nvSpPr>
          <p:spPr>
            <a:xfrm>
              <a:off x="0" y="0"/>
              <a:ext cx="9998202" cy="1284224"/>
            </a:xfrm>
            <a:custGeom>
              <a:avLst/>
              <a:gdLst/>
              <a:ahLst/>
              <a:cxnLst/>
              <a:rect l="l" t="t" r="r" b="b"/>
              <a:pathLst>
                <a:path w="9998202" h="1284224">
                  <a:moveTo>
                    <a:pt x="0" y="0"/>
                  </a:moveTo>
                  <a:lnTo>
                    <a:pt x="9998202" y="0"/>
                  </a:lnTo>
                  <a:lnTo>
                    <a:pt x="9998202" y="1284224"/>
                  </a:lnTo>
                  <a:lnTo>
                    <a:pt x="0" y="1284224"/>
                  </a:lnTo>
                  <a:close/>
                </a:path>
              </a:pathLst>
            </a:custGeom>
            <a:solidFill>
              <a:srgbClr val="9CA3AF"/>
            </a:solidFill>
          </p:spPr>
          <p:txBody>
            <a:bodyPr/>
            <a:lstStyle/>
            <a:p>
              <a:endParaRPr lang="en-US"/>
            </a:p>
          </p:txBody>
        </p:sp>
      </p:grpSp>
      <p:grpSp>
        <p:nvGrpSpPr>
          <p:cNvPr id="12" name="Group 12"/>
          <p:cNvGrpSpPr/>
          <p:nvPr/>
        </p:nvGrpSpPr>
        <p:grpSpPr>
          <a:xfrm>
            <a:off x="1375896" y="2971943"/>
            <a:ext cx="522846" cy="522846"/>
            <a:chOff x="0" y="0"/>
            <a:chExt cx="697128" cy="697128"/>
          </a:xfrm>
        </p:grpSpPr>
        <p:sp>
          <p:nvSpPr>
            <p:cNvPr id="13" name="Freeform 13" descr="preencoded.png"/>
            <p:cNvSpPr/>
            <p:nvPr/>
          </p:nvSpPr>
          <p:spPr>
            <a:xfrm>
              <a:off x="0" y="0"/>
              <a:ext cx="697103" cy="697103"/>
            </a:xfrm>
            <a:custGeom>
              <a:avLst/>
              <a:gdLst/>
              <a:ahLst/>
              <a:cxnLst/>
              <a:rect l="l" t="t" r="r" b="b"/>
              <a:pathLst>
                <a:path w="697103" h="697103">
                  <a:moveTo>
                    <a:pt x="0" y="0"/>
                  </a:moveTo>
                  <a:lnTo>
                    <a:pt x="697103" y="0"/>
                  </a:lnTo>
                  <a:lnTo>
                    <a:pt x="697103" y="697103"/>
                  </a:lnTo>
                  <a:lnTo>
                    <a:pt x="0" y="697103"/>
                  </a:lnTo>
                  <a:lnTo>
                    <a:pt x="0" y="0"/>
                  </a:lnTo>
                  <a:close/>
                </a:path>
              </a:pathLst>
            </a:custGeom>
            <a:blipFill>
              <a:blip r:embed="rId4"/>
              <a:stretch>
                <a:fillRect r="-3" b="-3"/>
              </a:stretch>
            </a:blipFill>
          </p:spPr>
          <p:txBody>
            <a:bodyPr/>
            <a:lstStyle/>
            <a:p>
              <a:endParaRPr lang="en-US"/>
            </a:p>
          </p:txBody>
        </p:sp>
      </p:grpSp>
      <p:grpSp>
        <p:nvGrpSpPr>
          <p:cNvPr id="14" name="Group 14"/>
          <p:cNvGrpSpPr/>
          <p:nvPr/>
        </p:nvGrpSpPr>
        <p:grpSpPr>
          <a:xfrm>
            <a:off x="2132648" y="2751801"/>
            <a:ext cx="6122756" cy="963130"/>
            <a:chOff x="0" y="0"/>
            <a:chExt cx="8163674" cy="1284173"/>
          </a:xfrm>
        </p:grpSpPr>
        <p:sp>
          <p:nvSpPr>
            <p:cNvPr id="15" name="Freeform 15"/>
            <p:cNvSpPr/>
            <p:nvPr/>
          </p:nvSpPr>
          <p:spPr>
            <a:xfrm>
              <a:off x="0" y="0"/>
              <a:ext cx="8163671" cy="1284173"/>
            </a:xfrm>
            <a:custGeom>
              <a:avLst/>
              <a:gdLst/>
              <a:ahLst/>
              <a:cxnLst/>
              <a:rect l="l" t="t" r="r" b="b"/>
              <a:pathLst>
                <a:path w="8163671" h="1284173">
                  <a:moveTo>
                    <a:pt x="0" y="0"/>
                  </a:moveTo>
                  <a:lnTo>
                    <a:pt x="8163671" y="0"/>
                  </a:lnTo>
                  <a:lnTo>
                    <a:pt x="8163671" y="1284173"/>
                  </a:lnTo>
                  <a:lnTo>
                    <a:pt x="0" y="1284173"/>
                  </a:lnTo>
                  <a:close/>
                </a:path>
              </a:pathLst>
            </a:custGeom>
            <a:blipFill>
              <a:blip r:embed="rId3">
                <a:alphaModFix amt="0"/>
              </a:blip>
              <a:stretch>
                <a:fillRect t="-73869" b="-73869"/>
              </a:stretch>
            </a:blipFill>
          </p:spPr>
          <p:txBody>
            <a:bodyPr/>
            <a:lstStyle/>
            <a:p>
              <a:endParaRPr lang="en-US"/>
            </a:p>
          </p:txBody>
        </p:sp>
        <p:sp>
          <p:nvSpPr>
            <p:cNvPr id="16" name="TextBox 16"/>
            <p:cNvSpPr txBox="1"/>
            <p:nvPr/>
          </p:nvSpPr>
          <p:spPr>
            <a:xfrm>
              <a:off x="0" y="0"/>
              <a:ext cx="8163674" cy="1284173"/>
            </a:xfrm>
            <a:prstGeom prst="rect">
              <a:avLst/>
            </a:prstGeom>
          </p:spPr>
          <p:txBody>
            <a:bodyPr lIns="0" tIns="0" rIns="0" bIns="0" rtlCol="0" anchor="ctr"/>
            <a:lstStyle/>
            <a:p>
              <a:pPr algn="l">
                <a:lnSpc>
                  <a:spcPts val="3250"/>
                </a:lnSpc>
              </a:pPr>
              <a:r>
                <a:rPr lang="en-US" sz="2708" b="1">
                  <a:solidFill>
                    <a:srgbClr val="FFFFFF"/>
                  </a:solidFill>
                  <a:latin typeface="Montserrat Bold"/>
                  <a:ea typeface="Montserrat Bold"/>
                  <a:cs typeface="Montserrat Bold"/>
                  <a:sym typeface="Montserrat Bold"/>
                </a:rPr>
                <a:t>TRƯỚC ĐÂY</a:t>
              </a:r>
            </a:p>
          </p:txBody>
        </p:sp>
      </p:grpSp>
      <p:grpSp>
        <p:nvGrpSpPr>
          <p:cNvPr id="17" name="Group 17"/>
          <p:cNvGrpSpPr/>
          <p:nvPr/>
        </p:nvGrpSpPr>
        <p:grpSpPr>
          <a:xfrm>
            <a:off x="1403414" y="4168978"/>
            <a:ext cx="440284" cy="440284"/>
            <a:chOff x="0" y="0"/>
            <a:chExt cx="587045" cy="587045"/>
          </a:xfrm>
        </p:grpSpPr>
        <p:sp>
          <p:nvSpPr>
            <p:cNvPr id="18" name="Freeform 18" descr="preencoded.png"/>
            <p:cNvSpPr/>
            <p:nvPr/>
          </p:nvSpPr>
          <p:spPr>
            <a:xfrm>
              <a:off x="0" y="0"/>
              <a:ext cx="586994" cy="586994"/>
            </a:xfrm>
            <a:custGeom>
              <a:avLst/>
              <a:gdLst/>
              <a:ahLst/>
              <a:cxnLst/>
              <a:rect l="l" t="t" r="r" b="b"/>
              <a:pathLst>
                <a:path w="586994" h="586994">
                  <a:moveTo>
                    <a:pt x="0" y="0"/>
                  </a:moveTo>
                  <a:lnTo>
                    <a:pt x="586994" y="0"/>
                  </a:lnTo>
                  <a:lnTo>
                    <a:pt x="586994" y="586994"/>
                  </a:lnTo>
                  <a:lnTo>
                    <a:pt x="0" y="586994"/>
                  </a:lnTo>
                  <a:lnTo>
                    <a:pt x="0" y="0"/>
                  </a:lnTo>
                  <a:close/>
                </a:path>
              </a:pathLst>
            </a:custGeom>
            <a:blipFill>
              <a:blip r:embed="rId5"/>
              <a:stretch>
                <a:fillRect r="-8" b="-8"/>
              </a:stretch>
            </a:blipFill>
          </p:spPr>
          <p:txBody>
            <a:bodyPr/>
            <a:lstStyle/>
            <a:p>
              <a:endParaRPr lang="en-US"/>
            </a:p>
          </p:txBody>
        </p:sp>
      </p:grpSp>
      <p:grpSp>
        <p:nvGrpSpPr>
          <p:cNvPr id="19" name="Group 19"/>
          <p:cNvGrpSpPr/>
          <p:nvPr/>
        </p:nvGrpSpPr>
        <p:grpSpPr>
          <a:xfrm>
            <a:off x="2063848" y="4127697"/>
            <a:ext cx="5985167" cy="825540"/>
            <a:chOff x="0" y="0"/>
            <a:chExt cx="7980223" cy="1100720"/>
          </a:xfrm>
        </p:grpSpPr>
        <p:sp>
          <p:nvSpPr>
            <p:cNvPr id="20" name="Freeform 20"/>
            <p:cNvSpPr/>
            <p:nvPr/>
          </p:nvSpPr>
          <p:spPr>
            <a:xfrm>
              <a:off x="0" y="0"/>
              <a:ext cx="7980218" cy="1100718"/>
            </a:xfrm>
            <a:custGeom>
              <a:avLst/>
              <a:gdLst/>
              <a:ahLst/>
              <a:cxnLst/>
              <a:rect l="l" t="t" r="r" b="b"/>
              <a:pathLst>
                <a:path w="7980218" h="1100718">
                  <a:moveTo>
                    <a:pt x="0" y="0"/>
                  </a:moveTo>
                  <a:lnTo>
                    <a:pt x="7980218" y="0"/>
                  </a:lnTo>
                  <a:lnTo>
                    <a:pt x="7980218" y="1100718"/>
                  </a:lnTo>
                  <a:lnTo>
                    <a:pt x="0" y="1100718"/>
                  </a:lnTo>
                  <a:close/>
                </a:path>
              </a:pathLst>
            </a:custGeom>
            <a:blipFill>
              <a:blip r:embed="rId3">
                <a:alphaModFix amt="0"/>
              </a:blip>
              <a:stretch>
                <a:fillRect t="-91266" b="-91267"/>
              </a:stretch>
            </a:blipFill>
          </p:spPr>
          <p:txBody>
            <a:bodyPr/>
            <a:lstStyle/>
            <a:p>
              <a:endParaRPr lang="en-US"/>
            </a:p>
          </p:txBody>
        </p:sp>
        <p:sp>
          <p:nvSpPr>
            <p:cNvPr id="21" name="TextBox 21"/>
            <p:cNvSpPr txBox="1"/>
            <p:nvPr/>
          </p:nvSpPr>
          <p:spPr>
            <a:xfrm>
              <a:off x="0" y="0"/>
              <a:ext cx="7980223" cy="1100720"/>
            </a:xfrm>
            <a:prstGeom prst="rect">
              <a:avLst/>
            </a:prstGeom>
          </p:spPr>
          <p:txBody>
            <a:bodyPr lIns="0" tIns="0" rIns="0" bIns="0" rtlCol="0" anchor="ctr"/>
            <a:lstStyle/>
            <a:p>
              <a:pPr algn="l">
                <a:lnSpc>
                  <a:spcPts val="2527"/>
                </a:lnSpc>
              </a:pPr>
              <a:r>
                <a:rPr lang="en-US" sz="2106">
                  <a:solidFill>
                    <a:srgbClr val="374151"/>
                  </a:solidFill>
                  <a:latin typeface="Montserrat"/>
                  <a:ea typeface="Montserrat"/>
                  <a:cs typeface="Montserrat"/>
                  <a:sym typeface="Montserrat"/>
                </a:rPr>
                <a:t>Bảng niêm yết bằng giấy tại trụ sở</a:t>
              </a:r>
            </a:p>
          </p:txBody>
        </p:sp>
      </p:grpSp>
      <p:grpSp>
        <p:nvGrpSpPr>
          <p:cNvPr id="22" name="Group 22"/>
          <p:cNvGrpSpPr/>
          <p:nvPr/>
        </p:nvGrpSpPr>
        <p:grpSpPr>
          <a:xfrm>
            <a:off x="1403414" y="5187144"/>
            <a:ext cx="440284" cy="440284"/>
            <a:chOff x="0" y="0"/>
            <a:chExt cx="587045" cy="587045"/>
          </a:xfrm>
        </p:grpSpPr>
        <p:sp>
          <p:nvSpPr>
            <p:cNvPr id="23" name="Freeform 23" descr="preencoded.png"/>
            <p:cNvSpPr/>
            <p:nvPr/>
          </p:nvSpPr>
          <p:spPr>
            <a:xfrm>
              <a:off x="0" y="0"/>
              <a:ext cx="586994" cy="586994"/>
            </a:xfrm>
            <a:custGeom>
              <a:avLst/>
              <a:gdLst/>
              <a:ahLst/>
              <a:cxnLst/>
              <a:rect l="l" t="t" r="r" b="b"/>
              <a:pathLst>
                <a:path w="586994" h="586994">
                  <a:moveTo>
                    <a:pt x="0" y="0"/>
                  </a:moveTo>
                  <a:lnTo>
                    <a:pt x="586994" y="0"/>
                  </a:lnTo>
                  <a:lnTo>
                    <a:pt x="586994" y="586994"/>
                  </a:lnTo>
                  <a:lnTo>
                    <a:pt x="0" y="586994"/>
                  </a:lnTo>
                  <a:lnTo>
                    <a:pt x="0" y="0"/>
                  </a:lnTo>
                  <a:close/>
                </a:path>
              </a:pathLst>
            </a:custGeom>
            <a:blipFill>
              <a:blip r:embed="rId5"/>
              <a:stretch>
                <a:fillRect r="-8" b="-8"/>
              </a:stretch>
            </a:blipFill>
          </p:spPr>
          <p:txBody>
            <a:bodyPr/>
            <a:lstStyle/>
            <a:p>
              <a:endParaRPr lang="en-US"/>
            </a:p>
          </p:txBody>
        </p:sp>
      </p:grpSp>
      <p:grpSp>
        <p:nvGrpSpPr>
          <p:cNvPr id="24" name="Group 24"/>
          <p:cNvGrpSpPr/>
          <p:nvPr/>
        </p:nvGrpSpPr>
        <p:grpSpPr>
          <a:xfrm>
            <a:off x="2063848" y="5145862"/>
            <a:ext cx="5985167" cy="825540"/>
            <a:chOff x="0" y="0"/>
            <a:chExt cx="7980223" cy="1100720"/>
          </a:xfrm>
        </p:grpSpPr>
        <p:sp>
          <p:nvSpPr>
            <p:cNvPr id="25" name="Freeform 25"/>
            <p:cNvSpPr/>
            <p:nvPr/>
          </p:nvSpPr>
          <p:spPr>
            <a:xfrm>
              <a:off x="0" y="0"/>
              <a:ext cx="7980218" cy="1100718"/>
            </a:xfrm>
            <a:custGeom>
              <a:avLst/>
              <a:gdLst/>
              <a:ahLst/>
              <a:cxnLst/>
              <a:rect l="l" t="t" r="r" b="b"/>
              <a:pathLst>
                <a:path w="7980218" h="1100718">
                  <a:moveTo>
                    <a:pt x="0" y="0"/>
                  </a:moveTo>
                  <a:lnTo>
                    <a:pt x="7980218" y="0"/>
                  </a:lnTo>
                  <a:lnTo>
                    <a:pt x="7980218" y="1100718"/>
                  </a:lnTo>
                  <a:lnTo>
                    <a:pt x="0" y="1100718"/>
                  </a:lnTo>
                  <a:close/>
                </a:path>
              </a:pathLst>
            </a:custGeom>
            <a:blipFill>
              <a:blip r:embed="rId3">
                <a:alphaModFix amt="0"/>
              </a:blip>
              <a:stretch>
                <a:fillRect t="-91266" b="-91267"/>
              </a:stretch>
            </a:blipFill>
          </p:spPr>
          <p:txBody>
            <a:bodyPr/>
            <a:lstStyle/>
            <a:p>
              <a:endParaRPr lang="en-US"/>
            </a:p>
          </p:txBody>
        </p:sp>
        <p:sp>
          <p:nvSpPr>
            <p:cNvPr id="26" name="TextBox 26"/>
            <p:cNvSpPr txBox="1"/>
            <p:nvPr/>
          </p:nvSpPr>
          <p:spPr>
            <a:xfrm>
              <a:off x="0" y="0"/>
              <a:ext cx="7980223" cy="1100720"/>
            </a:xfrm>
            <a:prstGeom prst="rect">
              <a:avLst/>
            </a:prstGeom>
          </p:spPr>
          <p:txBody>
            <a:bodyPr lIns="0" tIns="0" rIns="0" bIns="0" rtlCol="0" anchor="ctr"/>
            <a:lstStyle/>
            <a:p>
              <a:pPr algn="l">
                <a:lnSpc>
                  <a:spcPts val="2527"/>
                </a:lnSpc>
              </a:pPr>
              <a:r>
                <a:rPr lang="en-US" sz="2106">
                  <a:solidFill>
                    <a:srgbClr val="374151"/>
                  </a:solidFill>
                  <a:latin typeface="Montserrat"/>
                  <a:ea typeface="Montserrat"/>
                  <a:cs typeface="Montserrat"/>
                  <a:sym typeface="Montserrat"/>
                </a:rPr>
                <a:t>Gửi file PDF / Word vào nhóm Zalo</a:t>
              </a:r>
            </a:p>
          </p:txBody>
        </p:sp>
      </p:grpSp>
      <p:grpSp>
        <p:nvGrpSpPr>
          <p:cNvPr id="27" name="Group 27"/>
          <p:cNvGrpSpPr/>
          <p:nvPr/>
        </p:nvGrpSpPr>
        <p:grpSpPr>
          <a:xfrm>
            <a:off x="1403414" y="6205309"/>
            <a:ext cx="440284" cy="440284"/>
            <a:chOff x="0" y="0"/>
            <a:chExt cx="587045" cy="587045"/>
          </a:xfrm>
        </p:grpSpPr>
        <p:sp>
          <p:nvSpPr>
            <p:cNvPr id="28" name="Freeform 28" descr="preencoded.png"/>
            <p:cNvSpPr/>
            <p:nvPr/>
          </p:nvSpPr>
          <p:spPr>
            <a:xfrm>
              <a:off x="0" y="0"/>
              <a:ext cx="586994" cy="586994"/>
            </a:xfrm>
            <a:custGeom>
              <a:avLst/>
              <a:gdLst/>
              <a:ahLst/>
              <a:cxnLst/>
              <a:rect l="l" t="t" r="r" b="b"/>
              <a:pathLst>
                <a:path w="586994" h="586994">
                  <a:moveTo>
                    <a:pt x="0" y="0"/>
                  </a:moveTo>
                  <a:lnTo>
                    <a:pt x="586994" y="0"/>
                  </a:lnTo>
                  <a:lnTo>
                    <a:pt x="586994" y="586994"/>
                  </a:lnTo>
                  <a:lnTo>
                    <a:pt x="0" y="586994"/>
                  </a:lnTo>
                  <a:lnTo>
                    <a:pt x="0" y="0"/>
                  </a:lnTo>
                  <a:close/>
                </a:path>
              </a:pathLst>
            </a:custGeom>
            <a:blipFill>
              <a:blip r:embed="rId5"/>
              <a:stretch>
                <a:fillRect r="-8" b="-8"/>
              </a:stretch>
            </a:blipFill>
          </p:spPr>
          <p:txBody>
            <a:bodyPr/>
            <a:lstStyle/>
            <a:p>
              <a:endParaRPr lang="en-US"/>
            </a:p>
          </p:txBody>
        </p:sp>
      </p:grpSp>
      <p:grpSp>
        <p:nvGrpSpPr>
          <p:cNvPr id="29" name="Group 29"/>
          <p:cNvGrpSpPr/>
          <p:nvPr/>
        </p:nvGrpSpPr>
        <p:grpSpPr>
          <a:xfrm>
            <a:off x="2063848" y="6164028"/>
            <a:ext cx="5985167" cy="825540"/>
            <a:chOff x="0" y="0"/>
            <a:chExt cx="7980223" cy="1100720"/>
          </a:xfrm>
        </p:grpSpPr>
        <p:sp>
          <p:nvSpPr>
            <p:cNvPr id="30" name="Freeform 30"/>
            <p:cNvSpPr/>
            <p:nvPr/>
          </p:nvSpPr>
          <p:spPr>
            <a:xfrm>
              <a:off x="0" y="0"/>
              <a:ext cx="7980218" cy="1100718"/>
            </a:xfrm>
            <a:custGeom>
              <a:avLst/>
              <a:gdLst/>
              <a:ahLst/>
              <a:cxnLst/>
              <a:rect l="l" t="t" r="r" b="b"/>
              <a:pathLst>
                <a:path w="7980218" h="1100718">
                  <a:moveTo>
                    <a:pt x="0" y="0"/>
                  </a:moveTo>
                  <a:lnTo>
                    <a:pt x="7980218" y="0"/>
                  </a:lnTo>
                  <a:lnTo>
                    <a:pt x="7980218" y="1100718"/>
                  </a:lnTo>
                  <a:lnTo>
                    <a:pt x="0" y="1100718"/>
                  </a:lnTo>
                  <a:close/>
                </a:path>
              </a:pathLst>
            </a:custGeom>
            <a:blipFill>
              <a:blip r:embed="rId3">
                <a:alphaModFix amt="0"/>
              </a:blip>
              <a:stretch>
                <a:fillRect t="-91266" b="-91267"/>
              </a:stretch>
            </a:blipFill>
          </p:spPr>
          <p:txBody>
            <a:bodyPr/>
            <a:lstStyle/>
            <a:p>
              <a:endParaRPr lang="en-US"/>
            </a:p>
          </p:txBody>
        </p:sp>
        <p:sp>
          <p:nvSpPr>
            <p:cNvPr id="31" name="TextBox 31"/>
            <p:cNvSpPr txBox="1"/>
            <p:nvPr/>
          </p:nvSpPr>
          <p:spPr>
            <a:xfrm>
              <a:off x="0" y="0"/>
              <a:ext cx="7980223" cy="1100720"/>
            </a:xfrm>
            <a:prstGeom prst="rect">
              <a:avLst/>
            </a:prstGeom>
          </p:spPr>
          <p:txBody>
            <a:bodyPr lIns="0" tIns="0" rIns="0" bIns="0" rtlCol="0" anchor="ctr"/>
            <a:lstStyle/>
            <a:p>
              <a:pPr algn="l">
                <a:lnSpc>
                  <a:spcPts val="2527"/>
                </a:lnSpc>
              </a:pPr>
              <a:r>
                <a:rPr lang="en-US" sz="2106">
                  <a:solidFill>
                    <a:srgbClr val="374151"/>
                  </a:solidFill>
                  <a:latin typeface="Montserrat"/>
                  <a:ea typeface="Montserrat"/>
                  <a:cs typeface="Montserrat"/>
                  <a:sym typeface="Montserrat"/>
                </a:rPr>
                <a:t>Thiếu tương tác · chữ nhỏ khó đọc</a:t>
              </a:r>
            </a:p>
          </p:txBody>
        </p:sp>
      </p:grpSp>
      <p:grpSp>
        <p:nvGrpSpPr>
          <p:cNvPr id="32" name="Group 32"/>
          <p:cNvGrpSpPr/>
          <p:nvPr/>
        </p:nvGrpSpPr>
        <p:grpSpPr>
          <a:xfrm>
            <a:off x="1403414" y="7223474"/>
            <a:ext cx="440284" cy="440284"/>
            <a:chOff x="0" y="0"/>
            <a:chExt cx="587045" cy="587045"/>
          </a:xfrm>
        </p:grpSpPr>
        <p:sp>
          <p:nvSpPr>
            <p:cNvPr id="33" name="Freeform 33" descr="preencoded.png"/>
            <p:cNvSpPr/>
            <p:nvPr/>
          </p:nvSpPr>
          <p:spPr>
            <a:xfrm>
              <a:off x="0" y="0"/>
              <a:ext cx="586994" cy="586994"/>
            </a:xfrm>
            <a:custGeom>
              <a:avLst/>
              <a:gdLst/>
              <a:ahLst/>
              <a:cxnLst/>
              <a:rect l="l" t="t" r="r" b="b"/>
              <a:pathLst>
                <a:path w="586994" h="586994">
                  <a:moveTo>
                    <a:pt x="0" y="0"/>
                  </a:moveTo>
                  <a:lnTo>
                    <a:pt x="586994" y="0"/>
                  </a:lnTo>
                  <a:lnTo>
                    <a:pt x="586994" y="586994"/>
                  </a:lnTo>
                  <a:lnTo>
                    <a:pt x="0" y="586994"/>
                  </a:lnTo>
                  <a:lnTo>
                    <a:pt x="0" y="0"/>
                  </a:lnTo>
                  <a:close/>
                </a:path>
              </a:pathLst>
            </a:custGeom>
            <a:blipFill>
              <a:blip r:embed="rId5"/>
              <a:stretch>
                <a:fillRect r="-8" b="-8"/>
              </a:stretch>
            </a:blipFill>
          </p:spPr>
          <p:txBody>
            <a:bodyPr/>
            <a:lstStyle/>
            <a:p>
              <a:endParaRPr lang="en-US"/>
            </a:p>
          </p:txBody>
        </p:sp>
      </p:grpSp>
      <p:grpSp>
        <p:nvGrpSpPr>
          <p:cNvPr id="34" name="Group 34"/>
          <p:cNvGrpSpPr/>
          <p:nvPr/>
        </p:nvGrpSpPr>
        <p:grpSpPr>
          <a:xfrm>
            <a:off x="2063848" y="7182193"/>
            <a:ext cx="5985167" cy="825540"/>
            <a:chOff x="0" y="0"/>
            <a:chExt cx="7980223" cy="1100720"/>
          </a:xfrm>
        </p:grpSpPr>
        <p:sp>
          <p:nvSpPr>
            <p:cNvPr id="35" name="Freeform 35"/>
            <p:cNvSpPr/>
            <p:nvPr/>
          </p:nvSpPr>
          <p:spPr>
            <a:xfrm>
              <a:off x="0" y="0"/>
              <a:ext cx="7980218" cy="1100718"/>
            </a:xfrm>
            <a:custGeom>
              <a:avLst/>
              <a:gdLst/>
              <a:ahLst/>
              <a:cxnLst/>
              <a:rect l="l" t="t" r="r" b="b"/>
              <a:pathLst>
                <a:path w="7980218" h="1100718">
                  <a:moveTo>
                    <a:pt x="0" y="0"/>
                  </a:moveTo>
                  <a:lnTo>
                    <a:pt x="7980218" y="0"/>
                  </a:lnTo>
                  <a:lnTo>
                    <a:pt x="7980218" y="1100718"/>
                  </a:lnTo>
                  <a:lnTo>
                    <a:pt x="0" y="1100718"/>
                  </a:lnTo>
                  <a:close/>
                </a:path>
              </a:pathLst>
            </a:custGeom>
            <a:blipFill>
              <a:blip r:embed="rId3">
                <a:alphaModFix amt="0"/>
              </a:blip>
              <a:stretch>
                <a:fillRect t="-91266" b="-91267"/>
              </a:stretch>
            </a:blipFill>
          </p:spPr>
          <p:txBody>
            <a:bodyPr/>
            <a:lstStyle/>
            <a:p>
              <a:endParaRPr lang="en-US"/>
            </a:p>
          </p:txBody>
        </p:sp>
        <p:sp>
          <p:nvSpPr>
            <p:cNvPr id="36" name="TextBox 36"/>
            <p:cNvSpPr txBox="1"/>
            <p:nvPr/>
          </p:nvSpPr>
          <p:spPr>
            <a:xfrm>
              <a:off x="0" y="0"/>
              <a:ext cx="7980223" cy="1100720"/>
            </a:xfrm>
            <a:prstGeom prst="rect">
              <a:avLst/>
            </a:prstGeom>
          </p:spPr>
          <p:txBody>
            <a:bodyPr lIns="0" tIns="0" rIns="0" bIns="0" rtlCol="0" anchor="ctr"/>
            <a:lstStyle/>
            <a:p>
              <a:pPr algn="l">
                <a:lnSpc>
                  <a:spcPts val="2527"/>
                </a:lnSpc>
              </a:pPr>
              <a:r>
                <a:rPr lang="en-US" sz="2106">
                  <a:solidFill>
                    <a:srgbClr val="374151"/>
                  </a:solidFill>
                  <a:latin typeface="Montserrat"/>
                  <a:ea typeface="Montserrat"/>
                  <a:cs typeface="Montserrat"/>
                  <a:sym typeface="Montserrat"/>
                </a:rPr>
                <a:t>Khó tìm đúng trọng tâm thủ tục cần</a:t>
              </a:r>
            </a:p>
          </p:txBody>
        </p:sp>
      </p:grpSp>
      <p:grpSp>
        <p:nvGrpSpPr>
          <p:cNvPr id="37" name="Group 37"/>
          <p:cNvGrpSpPr/>
          <p:nvPr/>
        </p:nvGrpSpPr>
        <p:grpSpPr>
          <a:xfrm>
            <a:off x="8695687" y="5187144"/>
            <a:ext cx="908094" cy="908094"/>
            <a:chOff x="0" y="0"/>
            <a:chExt cx="1210793" cy="1210793"/>
          </a:xfrm>
        </p:grpSpPr>
        <p:sp>
          <p:nvSpPr>
            <p:cNvPr id="38" name="Freeform 38" descr="preencoded.png"/>
            <p:cNvSpPr/>
            <p:nvPr/>
          </p:nvSpPr>
          <p:spPr>
            <a:xfrm>
              <a:off x="0" y="0"/>
              <a:ext cx="1210818" cy="1210818"/>
            </a:xfrm>
            <a:custGeom>
              <a:avLst/>
              <a:gdLst/>
              <a:ahLst/>
              <a:cxnLst/>
              <a:rect l="l" t="t" r="r" b="b"/>
              <a:pathLst>
                <a:path w="1210818" h="1210818">
                  <a:moveTo>
                    <a:pt x="0" y="0"/>
                  </a:moveTo>
                  <a:lnTo>
                    <a:pt x="1210818" y="0"/>
                  </a:lnTo>
                  <a:lnTo>
                    <a:pt x="1210818" y="1210818"/>
                  </a:lnTo>
                  <a:lnTo>
                    <a:pt x="0" y="1210818"/>
                  </a:lnTo>
                  <a:lnTo>
                    <a:pt x="0" y="0"/>
                  </a:lnTo>
                  <a:close/>
                </a:path>
              </a:pathLst>
            </a:custGeom>
            <a:blipFill>
              <a:blip r:embed="rId6"/>
              <a:stretch>
                <a:fillRect r="2" b="2"/>
              </a:stretch>
            </a:blipFill>
          </p:spPr>
          <p:txBody>
            <a:bodyPr/>
            <a:lstStyle/>
            <a:p>
              <a:endParaRPr lang="en-US"/>
            </a:p>
          </p:txBody>
        </p:sp>
      </p:grpSp>
      <p:grpSp>
        <p:nvGrpSpPr>
          <p:cNvPr id="39" name="Group 39"/>
          <p:cNvGrpSpPr/>
          <p:nvPr/>
        </p:nvGrpSpPr>
        <p:grpSpPr>
          <a:xfrm>
            <a:off x="9824304" y="2738418"/>
            <a:ext cx="7525407" cy="5805535"/>
            <a:chOff x="0" y="0"/>
            <a:chExt cx="10033876" cy="7740714"/>
          </a:xfrm>
        </p:grpSpPr>
        <p:sp>
          <p:nvSpPr>
            <p:cNvPr id="40" name="Freeform 40"/>
            <p:cNvSpPr/>
            <p:nvPr/>
          </p:nvSpPr>
          <p:spPr>
            <a:xfrm>
              <a:off x="0" y="0"/>
              <a:ext cx="10033888" cy="7740650"/>
            </a:xfrm>
            <a:custGeom>
              <a:avLst/>
              <a:gdLst/>
              <a:ahLst/>
              <a:cxnLst/>
              <a:rect l="l" t="t" r="r" b="b"/>
              <a:pathLst>
                <a:path w="10033888" h="7740650">
                  <a:moveTo>
                    <a:pt x="0" y="221107"/>
                  </a:moveTo>
                  <a:cubicBezTo>
                    <a:pt x="0" y="99060"/>
                    <a:pt x="99060" y="0"/>
                    <a:pt x="221107" y="0"/>
                  </a:cubicBezTo>
                  <a:lnTo>
                    <a:pt x="9812782" y="0"/>
                  </a:lnTo>
                  <a:cubicBezTo>
                    <a:pt x="9934956" y="0"/>
                    <a:pt x="10033888" y="99060"/>
                    <a:pt x="10033888" y="221107"/>
                  </a:cubicBezTo>
                  <a:lnTo>
                    <a:pt x="10033888" y="7519543"/>
                  </a:lnTo>
                  <a:cubicBezTo>
                    <a:pt x="10033888" y="7641717"/>
                    <a:pt x="9934828" y="7740650"/>
                    <a:pt x="9812782" y="7740650"/>
                  </a:cubicBezTo>
                  <a:lnTo>
                    <a:pt x="221107" y="7740650"/>
                  </a:lnTo>
                  <a:cubicBezTo>
                    <a:pt x="99060" y="7740650"/>
                    <a:pt x="0" y="7641717"/>
                    <a:pt x="0" y="7519543"/>
                  </a:cubicBezTo>
                  <a:close/>
                </a:path>
              </a:pathLst>
            </a:custGeom>
            <a:solidFill>
              <a:srgbClr val="7A0010"/>
            </a:solidFill>
            <a:ln w="26754" cap="sq">
              <a:solidFill>
                <a:srgbClr val="FFD700"/>
              </a:solidFill>
              <a:prstDash val="solid"/>
              <a:miter/>
            </a:ln>
          </p:spPr>
          <p:txBody>
            <a:bodyPr/>
            <a:lstStyle/>
            <a:p>
              <a:endParaRPr lang="en-US"/>
            </a:p>
          </p:txBody>
        </p:sp>
      </p:grpSp>
      <p:grpSp>
        <p:nvGrpSpPr>
          <p:cNvPr id="41" name="Group 41"/>
          <p:cNvGrpSpPr/>
          <p:nvPr/>
        </p:nvGrpSpPr>
        <p:grpSpPr>
          <a:xfrm>
            <a:off x="9837687" y="2751801"/>
            <a:ext cx="7498651" cy="963130"/>
            <a:chOff x="0" y="0"/>
            <a:chExt cx="9998202" cy="1284173"/>
          </a:xfrm>
        </p:grpSpPr>
        <p:sp>
          <p:nvSpPr>
            <p:cNvPr id="42" name="Freeform 42"/>
            <p:cNvSpPr/>
            <p:nvPr/>
          </p:nvSpPr>
          <p:spPr>
            <a:xfrm>
              <a:off x="0" y="0"/>
              <a:ext cx="9998202" cy="1284224"/>
            </a:xfrm>
            <a:custGeom>
              <a:avLst/>
              <a:gdLst/>
              <a:ahLst/>
              <a:cxnLst/>
              <a:rect l="l" t="t" r="r" b="b"/>
              <a:pathLst>
                <a:path w="9998202" h="1284224">
                  <a:moveTo>
                    <a:pt x="0" y="0"/>
                  </a:moveTo>
                  <a:lnTo>
                    <a:pt x="9998202" y="0"/>
                  </a:lnTo>
                  <a:lnTo>
                    <a:pt x="9998202" y="1284224"/>
                  </a:lnTo>
                  <a:lnTo>
                    <a:pt x="0" y="1284224"/>
                  </a:lnTo>
                  <a:close/>
                </a:path>
              </a:pathLst>
            </a:custGeom>
            <a:solidFill>
              <a:srgbClr val="C41E3A"/>
            </a:solidFill>
          </p:spPr>
          <p:txBody>
            <a:bodyPr/>
            <a:lstStyle/>
            <a:p>
              <a:endParaRPr lang="en-US"/>
            </a:p>
          </p:txBody>
        </p:sp>
      </p:grpSp>
      <p:grpSp>
        <p:nvGrpSpPr>
          <p:cNvPr id="43" name="Group 43"/>
          <p:cNvGrpSpPr/>
          <p:nvPr/>
        </p:nvGrpSpPr>
        <p:grpSpPr>
          <a:xfrm>
            <a:off x="10250453" y="2971943"/>
            <a:ext cx="522846" cy="522846"/>
            <a:chOff x="0" y="0"/>
            <a:chExt cx="697128" cy="697128"/>
          </a:xfrm>
        </p:grpSpPr>
        <p:sp>
          <p:nvSpPr>
            <p:cNvPr id="44" name="Freeform 44" descr="preencoded.png"/>
            <p:cNvSpPr/>
            <p:nvPr/>
          </p:nvSpPr>
          <p:spPr>
            <a:xfrm>
              <a:off x="0" y="0"/>
              <a:ext cx="697103" cy="697103"/>
            </a:xfrm>
            <a:custGeom>
              <a:avLst/>
              <a:gdLst/>
              <a:ahLst/>
              <a:cxnLst/>
              <a:rect l="l" t="t" r="r" b="b"/>
              <a:pathLst>
                <a:path w="697103" h="697103">
                  <a:moveTo>
                    <a:pt x="0" y="0"/>
                  </a:moveTo>
                  <a:lnTo>
                    <a:pt x="697103" y="0"/>
                  </a:lnTo>
                  <a:lnTo>
                    <a:pt x="697103" y="697103"/>
                  </a:lnTo>
                  <a:lnTo>
                    <a:pt x="0" y="697103"/>
                  </a:lnTo>
                  <a:lnTo>
                    <a:pt x="0" y="0"/>
                  </a:lnTo>
                  <a:close/>
                </a:path>
              </a:pathLst>
            </a:custGeom>
            <a:blipFill>
              <a:blip r:embed="rId7"/>
              <a:stretch>
                <a:fillRect r="-3" b="-3"/>
              </a:stretch>
            </a:blipFill>
          </p:spPr>
          <p:txBody>
            <a:bodyPr/>
            <a:lstStyle/>
            <a:p>
              <a:endParaRPr lang="en-US"/>
            </a:p>
          </p:txBody>
        </p:sp>
      </p:grpSp>
      <p:grpSp>
        <p:nvGrpSpPr>
          <p:cNvPr id="45" name="Group 45"/>
          <p:cNvGrpSpPr/>
          <p:nvPr/>
        </p:nvGrpSpPr>
        <p:grpSpPr>
          <a:xfrm>
            <a:off x="11007195" y="2751801"/>
            <a:ext cx="6122756" cy="963130"/>
            <a:chOff x="0" y="0"/>
            <a:chExt cx="8163674" cy="1284173"/>
          </a:xfrm>
        </p:grpSpPr>
        <p:sp>
          <p:nvSpPr>
            <p:cNvPr id="46" name="Freeform 46"/>
            <p:cNvSpPr/>
            <p:nvPr/>
          </p:nvSpPr>
          <p:spPr>
            <a:xfrm>
              <a:off x="0" y="0"/>
              <a:ext cx="8163671" cy="1284173"/>
            </a:xfrm>
            <a:custGeom>
              <a:avLst/>
              <a:gdLst/>
              <a:ahLst/>
              <a:cxnLst/>
              <a:rect l="l" t="t" r="r" b="b"/>
              <a:pathLst>
                <a:path w="8163671" h="1284173">
                  <a:moveTo>
                    <a:pt x="0" y="0"/>
                  </a:moveTo>
                  <a:lnTo>
                    <a:pt x="8163671" y="0"/>
                  </a:lnTo>
                  <a:lnTo>
                    <a:pt x="8163671" y="1284173"/>
                  </a:lnTo>
                  <a:lnTo>
                    <a:pt x="0" y="1284173"/>
                  </a:lnTo>
                  <a:close/>
                </a:path>
              </a:pathLst>
            </a:custGeom>
            <a:blipFill>
              <a:blip r:embed="rId3">
                <a:alphaModFix amt="0"/>
              </a:blip>
              <a:stretch>
                <a:fillRect t="-73869" b="-73869"/>
              </a:stretch>
            </a:blipFill>
          </p:spPr>
          <p:txBody>
            <a:bodyPr/>
            <a:lstStyle/>
            <a:p>
              <a:endParaRPr lang="en-US"/>
            </a:p>
          </p:txBody>
        </p:sp>
        <p:sp>
          <p:nvSpPr>
            <p:cNvPr id="47" name="TextBox 47"/>
            <p:cNvSpPr txBox="1"/>
            <p:nvPr/>
          </p:nvSpPr>
          <p:spPr>
            <a:xfrm>
              <a:off x="0" y="0"/>
              <a:ext cx="8163674" cy="1284173"/>
            </a:xfrm>
            <a:prstGeom prst="rect">
              <a:avLst/>
            </a:prstGeom>
          </p:spPr>
          <p:txBody>
            <a:bodyPr lIns="0" tIns="0" rIns="0" bIns="0" rtlCol="0" anchor="ctr"/>
            <a:lstStyle/>
            <a:p>
              <a:pPr algn="l">
                <a:lnSpc>
                  <a:spcPts val="3250"/>
                </a:lnSpc>
              </a:pPr>
              <a:r>
                <a:rPr lang="en-US" sz="2708" b="1">
                  <a:solidFill>
                    <a:srgbClr val="FFFFFF"/>
                  </a:solidFill>
                  <a:latin typeface="Montserrat Bold"/>
                  <a:ea typeface="Montserrat Bold"/>
                  <a:cs typeface="Montserrat Bold"/>
                  <a:sym typeface="Montserrat Bold"/>
                </a:rPr>
                <a:t>SÁNG KIẾN MỚI</a:t>
              </a:r>
            </a:p>
          </p:txBody>
        </p:sp>
      </p:grpSp>
      <p:grpSp>
        <p:nvGrpSpPr>
          <p:cNvPr id="48" name="Group 48"/>
          <p:cNvGrpSpPr/>
          <p:nvPr/>
        </p:nvGrpSpPr>
        <p:grpSpPr>
          <a:xfrm>
            <a:off x="10277970" y="4168978"/>
            <a:ext cx="440284" cy="440284"/>
            <a:chOff x="0" y="0"/>
            <a:chExt cx="587045" cy="587045"/>
          </a:xfrm>
        </p:grpSpPr>
        <p:sp>
          <p:nvSpPr>
            <p:cNvPr id="49" name="Freeform 49" descr="preencoded.png"/>
            <p:cNvSpPr/>
            <p:nvPr/>
          </p:nvSpPr>
          <p:spPr>
            <a:xfrm>
              <a:off x="0" y="0"/>
              <a:ext cx="586994" cy="586994"/>
            </a:xfrm>
            <a:custGeom>
              <a:avLst/>
              <a:gdLst/>
              <a:ahLst/>
              <a:cxnLst/>
              <a:rect l="l" t="t" r="r" b="b"/>
              <a:pathLst>
                <a:path w="586994" h="586994">
                  <a:moveTo>
                    <a:pt x="0" y="0"/>
                  </a:moveTo>
                  <a:lnTo>
                    <a:pt x="586994" y="0"/>
                  </a:lnTo>
                  <a:lnTo>
                    <a:pt x="586994" y="586994"/>
                  </a:lnTo>
                  <a:lnTo>
                    <a:pt x="0" y="586994"/>
                  </a:lnTo>
                  <a:lnTo>
                    <a:pt x="0" y="0"/>
                  </a:lnTo>
                  <a:close/>
                </a:path>
              </a:pathLst>
            </a:custGeom>
            <a:blipFill>
              <a:blip r:embed="rId8"/>
              <a:stretch>
                <a:fillRect r="-8" b="-8"/>
              </a:stretch>
            </a:blipFill>
          </p:spPr>
          <p:txBody>
            <a:bodyPr/>
            <a:lstStyle/>
            <a:p>
              <a:endParaRPr lang="en-US"/>
            </a:p>
          </p:txBody>
        </p:sp>
      </p:grpSp>
      <p:grpSp>
        <p:nvGrpSpPr>
          <p:cNvPr id="50" name="Group 50"/>
          <p:cNvGrpSpPr/>
          <p:nvPr/>
        </p:nvGrpSpPr>
        <p:grpSpPr>
          <a:xfrm>
            <a:off x="10938405" y="4127697"/>
            <a:ext cx="5985167" cy="825540"/>
            <a:chOff x="0" y="0"/>
            <a:chExt cx="7980223" cy="1100720"/>
          </a:xfrm>
        </p:grpSpPr>
        <p:sp>
          <p:nvSpPr>
            <p:cNvPr id="51" name="Freeform 51"/>
            <p:cNvSpPr/>
            <p:nvPr/>
          </p:nvSpPr>
          <p:spPr>
            <a:xfrm>
              <a:off x="0" y="0"/>
              <a:ext cx="7980218" cy="1100718"/>
            </a:xfrm>
            <a:custGeom>
              <a:avLst/>
              <a:gdLst/>
              <a:ahLst/>
              <a:cxnLst/>
              <a:rect l="l" t="t" r="r" b="b"/>
              <a:pathLst>
                <a:path w="7980218" h="1100718">
                  <a:moveTo>
                    <a:pt x="0" y="0"/>
                  </a:moveTo>
                  <a:lnTo>
                    <a:pt x="7980218" y="0"/>
                  </a:lnTo>
                  <a:lnTo>
                    <a:pt x="7980218" y="1100718"/>
                  </a:lnTo>
                  <a:lnTo>
                    <a:pt x="0" y="1100718"/>
                  </a:lnTo>
                  <a:close/>
                </a:path>
              </a:pathLst>
            </a:custGeom>
            <a:blipFill>
              <a:blip r:embed="rId3">
                <a:alphaModFix amt="0"/>
              </a:blip>
              <a:stretch>
                <a:fillRect t="-91266" b="-91267"/>
              </a:stretch>
            </a:blipFill>
          </p:spPr>
          <p:txBody>
            <a:bodyPr/>
            <a:lstStyle/>
            <a:p>
              <a:endParaRPr lang="en-US"/>
            </a:p>
          </p:txBody>
        </p:sp>
        <p:sp>
          <p:nvSpPr>
            <p:cNvPr id="52" name="TextBox 52"/>
            <p:cNvSpPr txBox="1"/>
            <p:nvPr/>
          </p:nvSpPr>
          <p:spPr>
            <a:xfrm>
              <a:off x="0" y="0"/>
              <a:ext cx="7980223" cy="1100720"/>
            </a:xfrm>
            <a:prstGeom prst="rect">
              <a:avLst/>
            </a:prstGeom>
          </p:spPr>
          <p:txBody>
            <a:bodyPr lIns="0" tIns="0" rIns="0" bIns="0" rtlCol="0" anchor="ctr"/>
            <a:lstStyle/>
            <a:p>
              <a:pPr algn="l">
                <a:lnSpc>
                  <a:spcPts val="2527"/>
                </a:lnSpc>
              </a:pPr>
              <a:r>
                <a:rPr lang="en-US" sz="2106" b="1">
                  <a:solidFill>
                    <a:srgbClr val="FFFFFF"/>
                  </a:solidFill>
                  <a:latin typeface="Montserrat Bold"/>
                  <a:ea typeface="Montserrat Bold"/>
                  <a:cs typeface="Montserrat Bold"/>
                  <a:sym typeface="Montserrat Bold"/>
                </a:rPr>
                <a:t>Cổng số tương tác, tối ưu cho điện thoại</a:t>
              </a:r>
            </a:p>
          </p:txBody>
        </p:sp>
      </p:grpSp>
      <p:grpSp>
        <p:nvGrpSpPr>
          <p:cNvPr id="53" name="Group 53"/>
          <p:cNvGrpSpPr/>
          <p:nvPr/>
        </p:nvGrpSpPr>
        <p:grpSpPr>
          <a:xfrm>
            <a:off x="10277970" y="5187144"/>
            <a:ext cx="440284" cy="440284"/>
            <a:chOff x="0" y="0"/>
            <a:chExt cx="587045" cy="587045"/>
          </a:xfrm>
        </p:grpSpPr>
        <p:sp>
          <p:nvSpPr>
            <p:cNvPr id="54" name="Freeform 54" descr="preencoded.png"/>
            <p:cNvSpPr/>
            <p:nvPr/>
          </p:nvSpPr>
          <p:spPr>
            <a:xfrm>
              <a:off x="0" y="0"/>
              <a:ext cx="586994" cy="586994"/>
            </a:xfrm>
            <a:custGeom>
              <a:avLst/>
              <a:gdLst/>
              <a:ahLst/>
              <a:cxnLst/>
              <a:rect l="l" t="t" r="r" b="b"/>
              <a:pathLst>
                <a:path w="586994" h="586994">
                  <a:moveTo>
                    <a:pt x="0" y="0"/>
                  </a:moveTo>
                  <a:lnTo>
                    <a:pt x="586994" y="0"/>
                  </a:lnTo>
                  <a:lnTo>
                    <a:pt x="586994" y="586994"/>
                  </a:lnTo>
                  <a:lnTo>
                    <a:pt x="0" y="586994"/>
                  </a:lnTo>
                  <a:lnTo>
                    <a:pt x="0" y="0"/>
                  </a:lnTo>
                  <a:close/>
                </a:path>
              </a:pathLst>
            </a:custGeom>
            <a:blipFill>
              <a:blip r:embed="rId8"/>
              <a:stretch>
                <a:fillRect r="-8" b="-8"/>
              </a:stretch>
            </a:blipFill>
          </p:spPr>
          <p:txBody>
            <a:bodyPr/>
            <a:lstStyle/>
            <a:p>
              <a:endParaRPr lang="en-US"/>
            </a:p>
          </p:txBody>
        </p:sp>
      </p:grpSp>
      <p:grpSp>
        <p:nvGrpSpPr>
          <p:cNvPr id="55" name="Group 55"/>
          <p:cNvGrpSpPr/>
          <p:nvPr/>
        </p:nvGrpSpPr>
        <p:grpSpPr>
          <a:xfrm>
            <a:off x="10938405" y="5145862"/>
            <a:ext cx="5985167" cy="825540"/>
            <a:chOff x="0" y="0"/>
            <a:chExt cx="7980223" cy="1100720"/>
          </a:xfrm>
        </p:grpSpPr>
        <p:sp>
          <p:nvSpPr>
            <p:cNvPr id="56" name="Freeform 56"/>
            <p:cNvSpPr/>
            <p:nvPr/>
          </p:nvSpPr>
          <p:spPr>
            <a:xfrm>
              <a:off x="0" y="0"/>
              <a:ext cx="7980218" cy="1100718"/>
            </a:xfrm>
            <a:custGeom>
              <a:avLst/>
              <a:gdLst/>
              <a:ahLst/>
              <a:cxnLst/>
              <a:rect l="l" t="t" r="r" b="b"/>
              <a:pathLst>
                <a:path w="7980218" h="1100718">
                  <a:moveTo>
                    <a:pt x="0" y="0"/>
                  </a:moveTo>
                  <a:lnTo>
                    <a:pt x="7980218" y="0"/>
                  </a:lnTo>
                  <a:lnTo>
                    <a:pt x="7980218" y="1100718"/>
                  </a:lnTo>
                  <a:lnTo>
                    <a:pt x="0" y="1100718"/>
                  </a:lnTo>
                  <a:close/>
                </a:path>
              </a:pathLst>
            </a:custGeom>
            <a:blipFill>
              <a:blip r:embed="rId3">
                <a:alphaModFix amt="0"/>
              </a:blip>
              <a:stretch>
                <a:fillRect t="-91266" b="-91267"/>
              </a:stretch>
            </a:blipFill>
          </p:spPr>
          <p:txBody>
            <a:bodyPr/>
            <a:lstStyle/>
            <a:p>
              <a:endParaRPr lang="en-US"/>
            </a:p>
          </p:txBody>
        </p:sp>
        <p:sp>
          <p:nvSpPr>
            <p:cNvPr id="57" name="TextBox 57"/>
            <p:cNvSpPr txBox="1"/>
            <p:nvPr/>
          </p:nvSpPr>
          <p:spPr>
            <a:xfrm>
              <a:off x="0" y="0"/>
              <a:ext cx="7980223" cy="1100720"/>
            </a:xfrm>
            <a:prstGeom prst="rect">
              <a:avLst/>
            </a:prstGeom>
          </p:spPr>
          <p:txBody>
            <a:bodyPr lIns="0" tIns="0" rIns="0" bIns="0" rtlCol="0" anchor="ctr"/>
            <a:lstStyle/>
            <a:p>
              <a:pPr algn="l">
                <a:lnSpc>
                  <a:spcPts val="2527"/>
                </a:lnSpc>
              </a:pPr>
              <a:r>
                <a:rPr lang="en-US" sz="2106" b="1">
                  <a:solidFill>
                    <a:srgbClr val="FFFFFF"/>
                  </a:solidFill>
                  <a:latin typeface="Montserrat Bold"/>
                  <a:ea typeface="Montserrat Bold"/>
                  <a:cs typeface="Montserrat Bold"/>
                  <a:sym typeface="Montserrat Bold"/>
                </a:rPr>
                <a:t>Hỏi – đáp tức thì với Trợ lý ảo</a:t>
              </a:r>
            </a:p>
          </p:txBody>
        </p:sp>
      </p:grpSp>
      <p:grpSp>
        <p:nvGrpSpPr>
          <p:cNvPr id="58" name="Group 58"/>
          <p:cNvGrpSpPr/>
          <p:nvPr/>
        </p:nvGrpSpPr>
        <p:grpSpPr>
          <a:xfrm>
            <a:off x="10277970" y="6205309"/>
            <a:ext cx="440284" cy="440284"/>
            <a:chOff x="0" y="0"/>
            <a:chExt cx="587045" cy="587045"/>
          </a:xfrm>
        </p:grpSpPr>
        <p:sp>
          <p:nvSpPr>
            <p:cNvPr id="59" name="Freeform 59" descr="preencoded.png"/>
            <p:cNvSpPr/>
            <p:nvPr/>
          </p:nvSpPr>
          <p:spPr>
            <a:xfrm>
              <a:off x="0" y="0"/>
              <a:ext cx="586994" cy="586994"/>
            </a:xfrm>
            <a:custGeom>
              <a:avLst/>
              <a:gdLst/>
              <a:ahLst/>
              <a:cxnLst/>
              <a:rect l="l" t="t" r="r" b="b"/>
              <a:pathLst>
                <a:path w="586994" h="586994">
                  <a:moveTo>
                    <a:pt x="0" y="0"/>
                  </a:moveTo>
                  <a:lnTo>
                    <a:pt x="586994" y="0"/>
                  </a:lnTo>
                  <a:lnTo>
                    <a:pt x="586994" y="586994"/>
                  </a:lnTo>
                  <a:lnTo>
                    <a:pt x="0" y="586994"/>
                  </a:lnTo>
                  <a:lnTo>
                    <a:pt x="0" y="0"/>
                  </a:lnTo>
                  <a:close/>
                </a:path>
              </a:pathLst>
            </a:custGeom>
            <a:blipFill>
              <a:blip r:embed="rId8"/>
              <a:stretch>
                <a:fillRect r="-8" b="-8"/>
              </a:stretch>
            </a:blipFill>
          </p:spPr>
          <p:txBody>
            <a:bodyPr/>
            <a:lstStyle/>
            <a:p>
              <a:endParaRPr lang="en-US"/>
            </a:p>
          </p:txBody>
        </p:sp>
      </p:grpSp>
      <p:grpSp>
        <p:nvGrpSpPr>
          <p:cNvPr id="60" name="Group 60"/>
          <p:cNvGrpSpPr/>
          <p:nvPr/>
        </p:nvGrpSpPr>
        <p:grpSpPr>
          <a:xfrm>
            <a:off x="10938405" y="6164028"/>
            <a:ext cx="5985167" cy="825540"/>
            <a:chOff x="0" y="0"/>
            <a:chExt cx="7980223" cy="1100720"/>
          </a:xfrm>
        </p:grpSpPr>
        <p:sp>
          <p:nvSpPr>
            <p:cNvPr id="61" name="Freeform 61"/>
            <p:cNvSpPr/>
            <p:nvPr/>
          </p:nvSpPr>
          <p:spPr>
            <a:xfrm>
              <a:off x="0" y="0"/>
              <a:ext cx="7980218" cy="1100718"/>
            </a:xfrm>
            <a:custGeom>
              <a:avLst/>
              <a:gdLst/>
              <a:ahLst/>
              <a:cxnLst/>
              <a:rect l="l" t="t" r="r" b="b"/>
              <a:pathLst>
                <a:path w="7980218" h="1100718">
                  <a:moveTo>
                    <a:pt x="0" y="0"/>
                  </a:moveTo>
                  <a:lnTo>
                    <a:pt x="7980218" y="0"/>
                  </a:lnTo>
                  <a:lnTo>
                    <a:pt x="7980218" y="1100718"/>
                  </a:lnTo>
                  <a:lnTo>
                    <a:pt x="0" y="1100718"/>
                  </a:lnTo>
                  <a:close/>
                </a:path>
              </a:pathLst>
            </a:custGeom>
            <a:blipFill>
              <a:blip r:embed="rId3">
                <a:alphaModFix amt="0"/>
              </a:blip>
              <a:stretch>
                <a:fillRect t="-91266" b="-91267"/>
              </a:stretch>
            </a:blipFill>
          </p:spPr>
          <p:txBody>
            <a:bodyPr/>
            <a:lstStyle/>
            <a:p>
              <a:endParaRPr lang="en-US"/>
            </a:p>
          </p:txBody>
        </p:sp>
        <p:sp>
          <p:nvSpPr>
            <p:cNvPr id="62" name="TextBox 62"/>
            <p:cNvSpPr txBox="1"/>
            <p:nvPr/>
          </p:nvSpPr>
          <p:spPr>
            <a:xfrm>
              <a:off x="0" y="0"/>
              <a:ext cx="7980223" cy="1100720"/>
            </a:xfrm>
            <a:prstGeom prst="rect">
              <a:avLst/>
            </a:prstGeom>
          </p:spPr>
          <p:txBody>
            <a:bodyPr lIns="0" tIns="0" rIns="0" bIns="0" rtlCol="0" anchor="ctr"/>
            <a:lstStyle/>
            <a:p>
              <a:pPr algn="l">
                <a:lnSpc>
                  <a:spcPts val="2527"/>
                </a:lnSpc>
              </a:pPr>
              <a:r>
                <a:rPr lang="en-US" sz="2106" b="1">
                  <a:solidFill>
                    <a:srgbClr val="FFFFFF"/>
                  </a:solidFill>
                  <a:latin typeface="Montserrat Bold"/>
                  <a:ea typeface="Montserrat Bold"/>
                  <a:cs typeface="Montserrat Bold"/>
                  <a:sym typeface="Montserrat Bold"/>
                </a:rPr>
                <a:t>Tóm tắt ngắn gọn, dễ hiểu</a:t>
              </a:r>
            </a:p>
          </p:txBody>
        </p:sp>
      </p:grpSp>
      <p:grpSp>
        <p:nvGrpSpPr>
          <p:cNvPr id="63" name="Group 63"/>
          <p:cNvGrpSpPr/>
          <p:nvPr/>
        </p:nvGrpSpPr>
        <p:grpSpPr>
          <a:xfrm>
            <a:off x="10277970" y="7223474"/>
            <a:ext cx="440284" cy="440284"/>
            <a:chOff x="0" y="0"/>
            <a:chExt cx="587045" cy="587045"/>
          </a:xfrm>
        </p:grpSpPr>
        <p:sp>
          <p:nvSpPr>
            <p:cNvPr id="64" name="Freeform 64" descr="preencoded.png"/>
            <p:cNvSpPr/>
            <p:nvPr/>
          </p:nvSpPr>
          <p:spPr>
            <a:xfrm>
              <a:off x="0" y="0"/>
              <a:ext cx="586994" cy="586994"/>
            </a:xfrm>
            <a:custGeom>
              <a:avLst/>
              <a:gdLst/>
              <a:ahLst/>
              <a:cxnLst/>
              <a:rect l="l" t="t" r="r" b="b"/>
              <a:pathLst>
                <a:path w="586994" h="586994">
                  <a:moveTo>
                    <a:pt x="0" y="0"/>
                  </a:moveTo>
                  <a:lnTo>
                    <a:pt x="586994" y="0"/>
                  </a:lnTo>
                  <a:lnTo>
                    <a:pt x="586994" y="586994"/>
                  </a:lnTo>
                  <a:lnTo>
                    <a:pt x="0" y="586994"/>
                  </a:lnTo>
                  <a:lnTo>
                    <a:pt x="0" y="0"/>
                  </a:lnTo>
                  <a:close/>
                </a:path>
              </a:pathLst>
            </a:custGeom>
            <a:blipFill>
              <a:blip r:embed="rId8"/>
              <a:stretch>
                <a:fillRect r="-8" b="-8"/>
              </a:stretch>
            </a:blipFill>
          </p:spPr>
          <p:txBody>
            <a:bodyPr/>
            <a:lstStyle/>
            <a:p>
              <a:endParaRPr lang="en-US"/>
            </a:p>
          </p:txBody>
        </p:sp>
      </p:grpSp>
      <p:grpSp>
        <p:nvGrpSpPr>
          <p:cNvPr id="65" name="Group 65"/>
          <p:cNvGrpSpPr/>
          <p:nvPr/>
        </p:nvGrpSpPr>
        <p:grpSpPr>
          <a:xfrm>
            <a:off x="10938405" y="7182193"/>
            <a:ext cx="5985167" cy="825540"/>
            <a:chOff x="0" y="0"/>
            <a:chExt cx="7980223" cy="1100720"/>
          </a:xfrm>
        </p:grpSpPr>
        <p:sp>
          <p:nvSpPr>
            <p:cNvPr id="66" name="Freeform 66"/>
            <p:cNvSpPr/>
            <p:nvPr/>
          </p:nvSpPr>
          <p:spPr>
            <a:xfrm>
              <a:off x="0" y="0"/>
              <a:ext cx="7980218" cy="1100718"/>
            </a:xfrm>
            <a:custGeom>
              <a:avLst/>
              <a:gdLst/>
              <a:ahLst/>
              <a:cxnLst/>
              <a:rect l="l" t="t" r="r" b="b"/>
              <a:pathLst>
                <a:path w="7980218" h="1100718">
                  <a:moveTo>
                    <a:pt x="0" y="0"/>
                  </a:moveTo>
                  <a:lnTo>
                    <a:pt x="7980218" y="0"/>
                  </a:lnTo>
                  <a:lnTo>
                    <a:pt x="7980218" y="1100718"/>
                  </a:lnTo>
                  <a:lnTo>
                    <a:pt x="0" y="1100718"/>
                  </a:lnTo>
                  <a:close/>
                </a:path>
              </a:pathLst>
            </a:custGeom>
            <a:blipFill>
              <a:blip r:embed="rId3">
                <a:alphaModFix amt="0"/>
              </a:blip>
              <a:stretch>
                <a:fillRect t="-91266" b="-91267"/>
              </a:stretch>
            </a:blipFill>
          </p:spPr>
          <p:txBody>
            <a:bodyPr/>
            <a:lstStyle/>
            <a:p>
              <a:endParaRPr lang="en-US"/>
            </a:p>
          </p:txBody>
        </p:sp>
        <p:sp>
          <p:nvSpPr>
            <p:cNvPr id="67" name="TextBox 67"/>
            <p:cNvSpPr txBox="1"/>
            <p:nvPr/>
          </p:nvSpPr>
          <p:spPr>
            <a:xfrm>
              <a:off x="0" y="0"/>
              <a:ext cx="7980223" cy="1100720"/>
            </a:xfrm>
            <a:prstGeom prst="rect">
              <a:avLst/>
            </a:prstGeom>
          </p:spPr>
          <p:txBody>
            <a:bodyPr lIns="0" tIns="0" rIns="0" bIns="0" rtlCol="0" anchor="ctr"/>
            <a:lstStyle/>
            <a:p>
              <a:pPr algn="l">
                <a:lnSpc>
                  <a:spcPts val="2527"/>
                </a:lnSpc>
              </a:pPr>
              <a:r>
                <a:rPr lang="en-US" sz="2106" b="1">
                  <a:solidFill>
                    <a:srgbClr val="FFFFFF"/>
                  </a:solidFill>
                  <a:latin typeface="Montserrat Bold"/>
                  <a:ea typeface="Montserrat Bold"/>
                  <a:cs typeface="Montserrat Bold"/>
                  <a:sym typeface="Montserrat Bold"/>
                </a:rPr>
                <a:t>Nút nộp hồ sơ online ngay trên cổng</a:t>
              </a:r>
            </a:p>
          </p:txBody>
        </p:sp>
      </p:grpSp>
      <p:grpSp>
        <p:nvGrpSpPr>
          <p:cNvPr id="68" name="Group 68"/>
          <p:cNvGrpSpPr/>
          <p:nvPr/>
        </p:nvGrpSpPr>
        <p:grpSpPr>
          <a:xfrm>
            <a:off x="963130" y="9686334"/>
            <a:ext cx="16373208" cy="19260"/>
            <a:chOff x="0" y="0"/>
            <a:chExt cx="21830944" cy="25679"/>
          </a:xfrm>
        </p:grpSpPr>
        <p:sp>
          <p:nvSpPr>
            <p:cNvPr id="69" name="Freeform 69"/>
            <p:cNvSpPr/>
            <p:nvPr/>
          </p:nvSpPr>
          <p:spPr>
            <a:xfrm>
              <a:off x="0" y="0"/>
              <a:ext cx="21830919" cy="25654"/>
            </a:xfrm>
            <a:custGeom>
              <a:avLst/>
              <a:gdLst/>
              <a:ahLst/>
              <a:cxnLst/>
              <a:rect l="l" t="t" r="r" b="b"/>
              <a:pathLst>
                <a:path w="21830919" h="25654">
                  <a:moveTo>
                    <a:pt x="0" y="0"/>
                  </a:moveTo>
                  <a:lnTo>
                    <a:pt x="21830919" y="0"/>
                  </a:lnTo>
                  <a:lnTo>
                    <a:pt x="21830919" y="25654"/>
                  </a:lnTo>
                  <a:lnTo>
                    <a:pt x="0" y="25654"/>
                  </a:lnTo>
                  <a:close/>
                </a:path>
              </a:pathLst>
            </a:custGeom>
            <a:solidFill>
              <a:srgbClr val="F3D2D7"/>
            </a:solidFill>
          </p:spPr>
          <p:txBody>
            <a:bodyPr/>
            <a:lstStyle/>
            <a:p>
              <a:endParaRPr lang="en-US"/>
            </a:p>
          </p:txBody>
        </p:sp>
      </p:grpSp>
      <p:grpSp>
        <p:nvGrpSpPr>
          <p:cNvPr id="70" name="Group 70"/>
          <p:cNvGrpSpPr/>
          <p:nvPr/>
        </p:nvGrpSpPr>
        <p:grpSpPr>
          <a:xfrm>
            <a:off x="963130" y="9741370"/>
            <a:ext cx="12383100" cy="412770"/>
            <a:chOff x="0" y="0"/>
            <a:chExt cx="16510800" cy="550360"/>
          </a:xfrm>
        </p:grpSpPr>
        <p:sp>
          <p:nvSpPr>
            <p:cNvPr id="71" name="Freeform 71"/>
            <p:cNvSpPr/>
            <p:nvPr/>
          </p:nvSpPr>
          <p:spPr>
            <a:xfrm>
              <a:off x="0" y="0"/>
              <a:ext cx="16510797" cy="550365"/>
            </a:xfrm>
            <a:custGeom>
              <a:avLst/>
              <a:gdLst/>
              <a:ahLst/>
              <a:cxnLst/>
              <a:rect l="l" t="t" r="r" b="b"/>
              <a:pathLst>
                <a:path w="16510797" h="550365">
                  <a:moveTo>
                    <a:pt x="0" y="0"/>
                  </a:moveTo>
                  <a:lnTo>
                    <a:pt x="16510797" y="0"/>
                  </a:lnTo>
                  <a:lnTo>
                    <a:pt x="16510797" y="550365"/>
                  </a:lnTo>
                  <a:lnTo>
                    <a:pt x="0" y="550365"/>
                  </a:lnTo>
                  <a:close/>
                </a:path>
              </a:pathLst>
            </a:custGeom>
            <a:blipFill>
              <a:blip r:embed="rId3">
                <a:alphaModFix amt="0"/>
              </a:blip>
              <a:stretch>
                <a:fillRect t="-534546" b="-534544"/>
              </a:stretch>
            </a:blipFill>
          </p:spPr>
          <p:txBody>
            <a:bodyPr/>
            <a:lstStyle/>
            <a:p>
              <a:endParaRPr lang="en-US"/>
            </a:p>
          </p:txBody>
        </p:sp>
        <p:sp>
          <p:nvSpPr>
            <p:cNvPr id="72" name="TextBox 72"/>
            <p:cNvSpPr txBox="1"/>
            <p:nvPr/>
          </p:nvSpPr>
          <p:spPr>
            <a:xfrm>
              <a:off x="0" y="0"/>
              <a:ext cx="16510800" cy="550360"/>
            </a:xfrm>
            <a:prstGeom prst="rect">
              <a:avLst/>
            </a:prstGeom>
          </p:spPr>
          <p:txBody>
            <a:bodyPr lIns="0" tIns="0" rIns="0" bIns="0" rtlCol="0" anchor="ctr"/>
            <a:lstStyle/>
            <a:p>
              <a:pPr algn="l">
                <a:lnSpc>
                  <a:spcPts val="1625"/>
                </a:lnSpc>
              </a:pPr>
              <a:r>
                <a:rPr lang="en-US" sz="1354" b="1" spc="150">
                  <a:solidFill>
                    <a:srgbClr val="6B7280"/>
                  </a:solidFill>
                  <a:latin typeface="Montserrat Bold"/>
                  <a:ea typeface="Montserrat Bold"/>
                  <a:cs typeface="Montserrat Bold"/>
                  <a:sym typeface="Montserrat Bold"/>
                </a:rPr>
                <a:t>CÔNG AN PHƯỜNG PHÚ THỌ   ·   SÁNG KIẾN CẢI CÁCH HÀNH CHÍNH · 2026</a:t>
              </a:r>
            </a:p>
          </p:txBody>
        </p:sp>
      </p:grpSp>
      <p:grpSp>
        <p:nvGrpSpPr>
          <p:cNvPr id="73" name="Group 73"/>
          <p:cNvGrpSpPr/>
          <p:nvPr/>
        </p:nvGrpSpPr>
        <p:grpSpPr>
          <a:xfrm>
            <a:off x="15960433" y="9741370"/>
            <a:ext cx="1375896" cy="412770"/>
            <a:chOff x="0" y="0"/>
            <a:chExt cx="1834528" cy="550360"/>
          </a:xfrm>
        </p:grpSpPr>
        <p:sp>
          <p:nvSpPr>
            <p:cNvPr id="74" name="Freeform 74"/>
            <p:cNvSpPr/>
            <p:nvPr/>
          </p:nvSpPr>
          <p:spPr>
            <a:xfrm>
              <a:off x="0" y="0"/>
              <a:ext cx="1834533" cy="550365"/>
            </a:xfrm>
            <a:custGeom>
              <a:avLst/>
              <a:gdLst/>
              <a:ahLst/>
              <a:cxnLst/>
              <a:rect l="l" t="t" r="r" b="b"/>
              <a:pathLst>
                <a:path w="1834533" h="550365">
                  <a:moveTo>
                    <a:pt x="0" y="0"/>
                  </a:moveTo>
                  <a:lnTo>
                    <a:pt x="1834533" y="0"/>
                  </a:lnTo>
                  <a:lnTo>
                    <a:pt x="1834533" y="550365"/>
                  </a:lnTo>
                  <a:lnTo>
                    <a:pt x="0" y="550365"/>
                  </a:lnTo>
                  <a:close/>
                </a:path>
              </a:pathLst>
            </a:custGeom>
            <a:blipFill>
              <a:blip r:embed="rId3">
                <a:alphaModFix amt="0"/>
              </a:blip>
              <a:stretch>
                <a:fillRect t="-14950" b="-14948"/>
              </a:stretch>
            </a:blipFill>
          </p:spPr>
          <p:txBody>
            <a:bodyPr/>
            <a:lstStyle/>
            <a:p>
              <a:endParaRPr lang="en-US"/>
            </a:p>
          </p:txBody>
        </p:sp>
        <p:sp>
          <p:nvSpPr>
            <p:cNvPr id="75" name="TextBox 75"/>
            <p:cNvSpPr txBox="1"/>
            <p:nvPr/>
          </p:nvSpPr>
          <p:spPr>
            <a:xfrm>
              <a:off x="0" y="-9525"/>
              <a:ext cx="1834528" cy="559885"/>
            </a:xfrm>
            <a:prstGeom prst="rect">
              <a:avLst/>
            </a:prstGeom>
          </p:spPr>
          <p:txBody>
            <a:bodyPr lIns="0" tIns="0" rIns="0" bIns="0" rtlCol="0" anchor="ctr"/>
            <a:lstStyle/>
            <a:p>
              <a:pPr algn="r">
                <a:lnSpc>
                  <a:spcPts val="1805"/>
                </a:lnSpc>
              </a:pPr>
              <a:r>
                <a:rPr lang="en-US" sz="1504" b="1">
                  <a:solidFill>
                    <a:srgbClr val="C41E3A"/>
                  </a:solidFill>
                  <a:latin typeface="Montserrat Bold"/>
                  <a:ea typeface="Montserrat Bold"/>
                  <a:cs typeface="Montserrat Bold"/>
                  <a:sym typeface="Montserrat Bold"/>
                </a:rPr>
                <a:t>04</a:t>
              </a:r>
            </a:p>
          </p:txBody>
        </p:sp>
      </p:grpSp>
      <p:sp>
        <p:nvSpPr>
          <p:cNvPr id="76" name="Freeform 76"/>
          <p:cNvSpPr/>
          <p:nvPr/>
        </p:nvSpPr>
        <p:spPr>
          <a:xfrm>
            <a:off x="15763067" y="633048"/>
            <a:ext cx="1770628" cy="1768414"/>
          </a:xfrm>
          <a:custGeom>
            <a:avLst/>
            <a:gdLst/>
            <a:ahLst/>
            <a:cxnLst/>
            <a:rect l="l" t="t" r="r" b="b"/>
            <a:pathLst>
              <a:path w="1770628" h="1768414">
                <a:moveTo>
                  <a:pt x="0" y="0"/>
                </a:moveTo>
                <a:lnTo>
                  <a:pt x="1770628" y="0"/>
                </a:lnTo>
                <a:lnTo>
                  <a:pt x="1770628" y="1768414"/>
                </a:lnTo>
                <a:lnTo>
                  <a:pt x="0" y="1768414"/>
                </a:lnTo>
                <a:lnTo>
                  <a:pt x="0" y="0"/>
                </a:lnTo>
                <a:close/>
              </a:path>
            </a:pathLst>
          </a:custGeom>
          <a:blipFill>
            <a:blip>
              <a:alphaModFix amt="10999"/>
              <a:extLst>
                <a:ext uri="{96DAC541-7B7A-43D3-8B79-37D633B846F1}">
                  <asvg:svgBlip xmlns:asvg="http://schemas.microsoft.com/office/drawing/2016/SVG/main" r:embed="rId9"/>
                </a:ext>
              </a:extLst>
            </a:blip>
            <a:stretch>
              <a:fillRect/>
            </a:stretch>
          </a:blipFill>
        </p:spPr>
        <p:txBody>
          <a:bodyPr/>
          <a:lstStyle/>
          <a:p>
            <a:endParaRPr lang="en-US"/>
          </a:p>
        </p:txBody>
      </p:sp>
    </p:spTree>
    <p:extLst>
      <p:ext uri="{BB962C8B-B14F-4D97-AF65-F5344CB8AC3E}">
        <p14:creationId xmlns:p14="http://schemas.microsoft.com/office/powerpoint/2010/main" val="1067812121"/>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0"/>
                      </p:stCondLst>
                      <p:childTnLst>
                        <p:par>
                          <p:cTn id="4" presetID="10" presetClass="entr" presetSubtype="0" fill="hold" nodeType="afterEffect">
                            <p:stCondLst>
                              <p:cond delay="0"/>
                            </p:stCondLst>
                            <p:childTnLst>
                              <p:set>
                                <p:cBhvr>
                                  <p:cTn id="5" dur="1" fill="hold">
                                    <p:stCondLst>
                                      <p:cond delay="0"/>
                                    </p:stCondLst>
                                  </p:cTn>
                                  <p:tgtEl>
                                    <p:spTgt spid="8"/>
                                  </p:tgtEl>
                                  <p:attrNameLst>
                                    <p:attrName>style.visibility</p:attrName>
                                  </p:attrNameLst>
                                </p:cBhvr>
                                <p:to>
                                  <p:strVal val="visible"/>
                                </p:to>
                              </p:set>
                              <p:animEffect transition="in" filter="fade">
                                <p:cBhvr>
                                  <p:cTn id="6" dur="650"/>
                                  <p:tgtEl>
                                    <p:spTgt spid="8"/>
                                  </p:tgtEl>
                                </p:cBhvr>
                              </p:animEffect>
                            </p:childTnLst>
                          </p:cTn>
                        </p:par>
                        <p:par>
                          <p:cTn id="7" presetID="10" presetClass="entr" presetSubtype="0" fill="hold" nodeType="afterEffect">
                            <p:stCondLst>
                              <p:cond delay="0"/>
                            </p:stCondLst>
                            <p:childTnLst>
                              <p:set>
                                <p:cBhvr>
                                  <p:cTn id="8" dur="1" fill="hold">
                                    <p:stCondLst>
                                      <p:cond delay="0"/>
                                    </p:stCondLst>
                                  </p:cTn>
                                  <p:tgtEl>
                                    <p:spTgt spid="10"/>
                                  </p:tgtEl>
                                  <p:attrNameLst>
                                    <p:attrName>style.visibility</p:attrName>
                                  </p:attrNameLst>
                                </p:cBhvr>
                                <p:to>
                                  <p:strVal val="visible"/>
                                </p:to>
                              </p:set>
                              <p:animEffect transition="in" filter="fade">
                                <p:cBhvr>
                                  <p:cTn id="9" dur="650"/>
                                  <p:tgtEl>
                                    <p:spTgt spid="10"/>
                                  </p:tgtEl>
                                </p:cBhvr>
                              </p:animEffect>
                            </p:childTnLst>
                          </p:cTn>
                        </p:par>
                        <p:par>
                          <p:cTn id="10" presetID="10" presetClass="entr" presetSubtype="0" fill="hold" nodeType="afterEffect">
                            <p:stCondLst>
                              <p:cond delay="0"/>
                            </p:stCondLst>
                            <p:childTnLst>
                              <p:set>
                                <p:cBhvr>
                                  <p:cTn id="11" dur="1" fill="hold">
                                    <p:stCondLst>
                                      <p:cond delay="0"/>
                                    </p:stCondLst>
                                  </p:cTn>
                                  <p:tgtEl>
                                    <p:spTgt spid="12"/>
                                  </p:tgtEl>
                                  <p:attrNameLst>
                                    <p:attrName>style.visibility</p:attrName>
                                  </p:attrNameLst>
                                </p:cBhvr>
                                <p:to>
                                  <p:strVal val="visible"/>
                                </p:to>
                              </p:set>
                              <p:animEffect transition="in" filter="fade">
                                <p:cBhvr>
                                  <p:cTn id="12" dur="650"/>
                                  <p:tgtEl>
                                    <p:spTgt spid="12"/>
                                  </p:tgtEl>
                                </p:cBhvr>
                              </p:animEffect>
                            </p:childTnLst>
                          </p:cTn>
                        </p:par>
                        <p:par>
                          <p:cTn id="13" presetID="10" presetClass="entr" presetSubtype="0" fill="hold" nodeType="afterEffect">
                            <p:stCondLst>
                              <p:cond delay="0"/>
                            </p:stCondLst>
                            <p:childTnLst>
                              <p:set>
                                <p:cBhvr>
                                  <p:cTn id="14" dur="1" fill="hold">
                                    <p:stCondLst>
                                      <p:cond delay="0"/>
                                    </p:stCondLst>
                                  </p:cTn>
                                  <p:tgtEl>
                                    <p:spTgt spid="14"/>
                                  </p:tgtEl>
                                  <p:attrNameLst>
                                    <p:attrName>style.visibility</p:attrName>
                                  </p:attrNameLst>
                                </p:cBhvr>
                                <p:to>
                                  <p:strVal val="visible"/>
                                </p:to>
                              </p:set>
                              <p:animEffect transition="in" filter="fade">
                                <p:cBhvr>
                                  <p:cTn id="15" dur="650"/>
                                  <p:tgtEl>
                                    <p:spTgt spid="14"/>
                                  </p:tgtEl>
                                </p:cBhvr>
                              </p:animEffect>
                            </p:childTnLst>
                          </p:cTn>
                        </p:par>
                        <p:par>
                          <p:cTn id="16" presetID="10" presetClass="entr" presetSubtype="0" fill="hold" nodeType="afterEffect">
                            <p:stCondLst>
                              <p:cond delay="0"/>
                            </p:stCondLst>
                            <p:childTnLst>
                              <p:set>
                                <p:cBhvr>
                                  <p:cTn id="17" dur="1" fill="hold">
                                    <p:stCondLst>
                                      <p:cond delay="0"/>
                                    </p:stCondLst>
                                  </p:cTn>
                                  <p:tgtEl>
                                    <p:spTgt spid="17"/>
                                  </p:tgtEl>
                                  <p:attrNameLst>
                                    <p:attrName>style.visibility</p:attrName>
                                  </p:attrNameLst>
                                </p:cBhvr>
                                <p:to>
                                  <p:strVal val="visible"/>
                                </p:to>
                              </p:set>
                              <p:animEffect transition="in" filter="fade">
                                <p:cBhvr>
                                  <p:cTn id="18" dur="650"/>
                                  <p:tgtEl>
                                    <p:spTgt spid="17"/>
                                  </p:tgtEl>
                                </p:cBhvr>
                              </p:animEffect>
                            </p:childTnLst>
                          </p:cTn>
                        </p:par>
                        <p:par>
                          <p:cTn id="19" presetID="10" presetClass="entr" presetSubtype="0" fill="hold" nodeType="afterEffect">
                            <p:stCondLst>
                              <p:cond delay="0"/>
                            </p:stCondLst>
                            <p:childTnLst>
                              <p:set>
                                <p:cBhvr>
                                  <p:cTn id="20" dur="1" fill="hold">
                                    <p:stCondLst>
                                      <p:cond delay="0"/>
                                    </p:stCondLst>
                                  </p:cTn>
                                  <p:tgtEl>
                                    <p:spTgt spid="19"/>
                                  </p:tgtEl>
                                  <p:attrNameLst>
                                    <p:attrName>style.visibility</p:attrName>
                                  </p:attrNameLst>
                                </p:cBhvr>
                                <p:to>
                                  <p:strVal val="visible"/>
                                </p:to>
                              </p:set>
                              <p:animEffect transition="in" filter="fade">
                                <p:cBhvr>
                                  <p:cTn id="21" dur="650"/>
                                  <p:tgtEl>
                                    <p:spTgt spid="19"/>
                                  </p:tgtEl>
                                </p:cBhvr>
                              </p:animEffect>
                            </p:childTnLst>
                          </p:cTn>
                        </p:par>
                        <p:par>
                          <p:cTn id="22" presetID="10" presetClass="entr" presetSubtype="0" fill="hold" nodeType="afterEffect">
                            <p:stCondLst>
                              <p:cond delay="0"/>
                            </p:stCondLst>
                            <p:childTnLst>
                              <p:set>
                                <p:cBhvr>
                                  <p:cTn id="23" dur="1" fill="hold">
                                    <p:stCondLst>
                                      <p:cond delay="0"/>
                                    </p:stCondLst>
                                  </p:cTn>
                                  <p:tgtEl>
                                    <p:spTgt spid="22"/>
                                  </p:tgtEl>
                                  <p:attrNameLst>
                                    <p:attrName>style.visibility</p:attrName>
                                  </p:attrNameLst>
                                </p:cBhvr>
                                <p:to>
                                  <p:strVal val="visible"/>
                                </p:to>
                              </p:set>
                              <p:animEffect transition="in" filter="fade">
                                <p:cBhvr>
                                  <p:cTn id="24" dur="650"/>
                                  <p:tgtEl>
                                    <p:spTgt spid="22"/>
                                  </p:tgtEl>
                                </p:cBhvr>
                              </p:animEffect>
                            </p:childTnLst>
                          </p:cTn>
                        </p:par>
                        <p:par>
                          <p:cTn id="25" presetID="10" presetClass="entr" presetSubtype="0" fill="hold" nodeType="afterEffect">
                            <p:stCondLst>
                              <p:cond delay="0"/>
                            </p:stCondLst>
                            <p:childTnLst>
                              <p:set>
                                <p:cBhvr>
                                  <p:cTn id="26" dur="1" fill="hold">
                                    <p:stCondLst>
                                      <p:cond delay="0"/>
                                    </p:stCondLst>
                                  </p:cTn>
                                  <p:tgtEl>
                                    <p:spTgt spid="24"/>
                                  </p:tgtEl>
                                  <p:attrNameLst>
                                    <p:attrName>style.visibility</p:attrName>
                                  </p:attrNameLst>
                                </p:cBhvr>
                                <p:to>
                                  <p:strVal val="visible"/>
                                </p:to>
                              </p:set>
                              <p:animEffect transition="in" filter="fade">
                                <p:cBhvr>
                                  <p:cTn id="27" dur="650"/>
                                  <p:tgtEl>
                                    <p:spTgt spid="24"/>
                                  </p:tgtEl>
                                </p:cBhvr>
                              </p:animEffect>
                            </p:childTnLst>
                          </p:cTn>
                        </p:par>
                        <p:par>
                          <p:cTn id="28" presetID="10" presetClass="entr" presetSubtype="0" fill="hold" nodeType="afterEffect">
                            <p:stCondLst>
                              <p:cond delay="0"/>
                            </p:stCondLst>
                            <p:childTnLst>
                              <p:set>
                                <p:cBhvr>
                                  <p:cTn id="29" dur="1" fill="hold">
                                    <p:stCondLst>
                                      <p:cond delay="0"/>
                                    </p:stCondLst>
                                  </p:cTn>
                                  <p:tgtEl>
                                    <p:spTgt spid="27"/>
                                  </p:tgtEl>
                                  <p:attrNameLst>
                                    <p:attrName>style.visibility</p:attrName>
                                  </p:attrNameLst>
                                </p:cBhvr>
                                <p:to>
                                  <p:strVal val="visible"/>
                                </p:to>
                              </p:set>
                              <p:animEffect transition="in" filter="fade">
                                <p:cBhvr>
                                  <p:cTn id="30" dur="650"/>
                                  <p:tgtEl>
                                    <p:spTgt spid="27"/>
                                  </p:tgtEl>
                                </p:cBhvr>
                              </p:animEffect>
                            </p:childTnLst>
                          </p:cTn>
                        </p:par>
                        <p:par>
                          <p:cTn id="31" presetID="10" presetClass="entr" presetSubtype="0" fill="hold" nodeType="afterEffect">
                            <p:stCondLst>
                              <p:cond delay="0"/>
                            </p:stCondLst>
                            <p:childTnLst>
                              <p:set>
                                <p:cBhvr>
                                  <p:cTn id="32" dur="1" fill="hold">
                                    <p:stCondLst>
                                      <p:cond delay="0"/>
                                    </p:stCondLst>
                                  </p:cTn>
                                  <p:tgtEl>
                                    <p:spTgt spid="29"/>
                                  </p:tgtEl>
                                  <p:attrNameLst>
                                    <p:attrName>style.visibility</p:attrName>
                                  </p:attrNameLst>
                                </p:cBhvr>
                                <p:to>
                                  <p:strVal val="visible"/>
                                </p:to>
                              </p:set>
                              <p:animEffect transition="in" filter="fade">
                                <p:cBhvr>
                                  <p:cTn id="33" dur="650"/>
                                  <p:tgtEl>
                                    <p:spTgt spid="29"/>
                                  </p:tgtEl>
                                </p:cBhvr>
                              </p:animEffect>
                            </p:childTnLst>
                          </p:cTn>
                        </p:par>
                        <p:par>
                          <p:cTn id="34" presetID="10" presetClass="entr" presetSubtype="0" fill="hold" nodeType="afterEffect">
                            <p:stCondLst>
                              <p:cond delay="0"/>
                            </p:stCondLst>
                            <p:childTnLst>
                              <p:set>
                                <p:cBhvr>
                                  <p:cTn id="35" dur="1" fill="hold">
                                    <p:stCondLst>
                                      <p:cond delay="0"/>
                                    </p:stCondLst>
                                  </p:cTn>
                                  <p:tgtEl>
                                    <p:spTgt spid="32"/>
                                  </p:tgtEl>
                                  <p:attrNameLst>
                                    <p:attrName>style.visibility</p:attrName>
                                  </p:attrNameLst>
                                </p:cBhvr>
                                <p:to>
                                  <p:strVal val="visible"/>
                                </p:to>
                              </p:set>
                              <p:animEffect transition="in" filter="fade">
                                <p:cBhvr>
                                  <p:cTn id="36" dur="650"/>
                                  <p:tgtEl>
                                    <p:spTgt spid="32"/>
                                  </p:tgtEl>
                                </p:cBhvr>
                              </p:animEffect>
                            </p:childTnLst>
                          </p:cTn>
                        </p:par>
                        <p:par>
                          <p:cTn id="37" presetID="10" presetClass="entr" presetSubtype="0" fill="hold" nodeType="afterEffect">
                            <p:stCondLst>
                              <p:cond delay="0"/>
                            </p:stCondLst>
                            <p:childTnLst>
                              <p:set>
                                <p:cBhvr>
                                  <p:cTn id="38" dur="1" fill="hold">
                                    <p:stCondLst>
                                      <p:cond delay="0"/>
                                    </p:stCondLst>
                                  </p:cTn>
                                  <p:tgtEl>
                                    <p:spTgt spid="34"/>
                                  </p:tgtEl>
                                  <p:attrNameLst>
                                    <p:attrName>style.visibility</p:attrName>
                                  </p:attrNameLst>
                                </p:cBhvr>
                                <p:to>
                                  <p:strVal val="visible"/>
                                </p:to>
                              </p:set>
                              <p:animEffect transition="in" filter="fade">
                                <p:cBhvr>
                                  <p:cTn id="39" dur="650"/>
                                  <p:tgtEl>
                                    <p:spTgt spid="34"/>
                                  </p:tgtEl>
                                </p:cBhvr>
                              </p:animEffect>
                            </p:childTnLst>
                          </p:cTn>
                        </p:par>
                        <p:par>
                          <p:cTn id="40" presetID="10" presetClass="entr" presetSubtype="0" fill="hold" nodeType="afterEffect">
                            <p:stCondLst>
                              <p:cond delay="0"/>
                            </p:stCondLst>
                            <p:childTnLst>
                              <p:set>
                                <p:cBhvr>
                                  <p:cTn id="41" dur="1" fill="hold">
                                    <p:stCondLst>
                                      <p:cond delay="0"/>
                                    </p:stCondLst>
                                  </p:cTn>
                                  <p:tgtEl>
                                    <p:spTgt spid="37"/>
                                  </p:tgtEl>
                                  <p:attrNameLst>
                                    <p:attrName>style.visibility</p:attrName>
                                  </p:attrNameLst>
                                </p:cBhvr>
                                <p:to>
                                  <p:strVal val="visible"/>
                                </p:to>
                              </p:set>
                              <p:animEffect transition="in" filter="fade">
                                <p:cBhvr>
                                  <p:cTn id="42" dur="650"/>
                                  <p:tgtEl>
                                    <p:spTgt spid="37"/>
                                  </p:tgtEl>
                                </p:cBhvr>
                              </p:animEffect>
                            </p:childTnLst>
                          </p:cTn>
                        </p:par>
                        <p:par>
                          <p:cTn id="43" presetID="10" presetClass="entr" presetSubtype="0" fill="hold" nodeType="afterEffect">
                            <p:stCondLst>
                              <p:cond delay="0"/>
                            </p:stCondLst>
                            <p:childTnLst>
                              <p:set>
                                <p:cBhvr>
                                  <p:cTn id="44" dur="1" fill="hold">
                                    <p:stCondLst>
                                      <p:cond delay="0"/>
                                    </p:stCondLst>
                                  </p:cTn>
                                  <p:tgtEl>
                                    <p:spTgt spid="39"/>
                                  </p:tgtEl>
                                  <p:attrNameLst>
                                    <p:attrName>style.visibility</p:attrName>
                                  </p:attrNameLst>
                                </p:cBhvr>
                                <p:to>
                                  <p:strVal val="visible"/>
                                </p:to>
                              </p:set>
                              <p:animEffect transition="in" filter="fade">
                                <p:cBhvr>
                                  <p:cTn id="45" dur="650"/>
                                  <p:tgtEl>
                                    <p:spTgt spid="39"/>
                                  </p:tgtEl>
                                </p:cBhvr>
                              </p:animEffect>
                            </p:childTnLst>
                          </p:cTn>
                        </p:par>
                        <p:par>
                          <p:cTn id="46" presetID="10" presetClass="entr" presetSubtype="0" fill="hold" nodeType="afterEffect">
                            <p:stCondLst>
                              <p:cond delay="0"/>
                            </p:stCondLst>
                            <p:childTnLst>
                              <p:set>
                                <p:cBhvr>
                                  <p:cTn id="47" dur="1" fill="hold">
                                    <p:stCondLst>
                                      <p:cond delay="0"/>
                                    </p:stCondLst>
                                  </p:cTn>
                                  <p:tgtEl>
                                    <p:spTgt spid="41"/>
                                  </p:tgtEl>
                                  <p:attrNameLst>
                                    <p:attrName>style.visibility</p:attrName>
                                  </p:attrNameLst>
                                </p:cBhvr>
                                <p:to>
                                  <p:strVal val="visible"/>
                                </p:to>
                              </p:set>
                              <p:animEffect transition="in" filter="fade">
                                <p:cBhvr>
                                  <p:cTn id="48" dur="650"/>
                                  <p:tgtEl>
                                    <p:spTgt spid="41"/>
                                  </p:tgtEl>
                                </p:cBhvr>
                              </p:animEffect>
                            </p:childTnLst>
                          </p:cTn>
                        </p:par>
                        <p:par>
                          <p:cTn id="49" presetID="10" presetClass="entr" presetSubtype="0" fill="hold" nodeType="afterEffect">
                            <p:stCondLst>
                              <p:cond delay="0"/>
                            </p:stCondLst>
                            <p:childTnLst>
                              <p:set>
                                <p:cBhvr>
                                  <p:cTn id="50" dur="1" fill="hold">
                                    <p:stCondLst>
                                      <p:cond delay="0"/>
                                    </p:stCondLst>
                                  </p:cTn>
                                  <p:tgtEl>
                                    <p:spTgt spid="43"/>
                                  </p:tgtEl>
                                  <p:attrNameLst>
                                    <p:attrName>style.visibility</p:attrName>
                                  </p:attrNameLst>
                                </p:cBhvr>
                                <p:to>
                                  <p:strVal val="visible"/>
                                </p:to>
                              </p:set>
                              <p:animEffect transition="in" filter="fade">
                                <p:cBhvr>
                                  <p:cTn id="51" dur="650"/>
                                  <p:tgtEl>
                                    <p:spTgt spid="43"/>
                                  </p:tgtEl>
                                </p:cBhvr>
                              </p:animEffect>
                            </p:childTnLst>
                          </p:cTn>
                        </p:par>
                        <p:par>
                          <p:cTn id="52" presetID="10" presetClass="entr" presetSubtype="0" fill="hold" nodeType="afterEffect">
                            <p:stCondLst>
                              <p:cond delay="0"/>
                            </p:stCondLst>
                            <p:childTnLst>
                              <p:set>
                                <p:cBhvr>
                                  <p:cTn id="53" dur="1" fill="hold">
                                    <p:stCondLst>
                                      <p:cond delay="0"/>
                                    </p:stCondLst>
                                  </p:cTn>
                                  <p:tgtEl>
                                    <p:spTgt spid="45"/>
                                  </p:tgtEl>
                                  <p:attrNameLst>
                                    <p:attrName>style.visibility</p:attrName>
                                  </p:attrNameLst>
                                </p:cBhvr>
                                <p:to>
                                  <p:strVal val="visible"/>
                                </p:to>
                              </p:set>
                              <p:animEffect transition="in" filter="fade">
                                <p:cBhvr>
                                  <p:cTn id="54" dur="650"/>
                                  <p:tgtEl>
                                    <p:spTgt spid="45"/>
                                  </p:tgtEl>
                                </p:cBhvr>
                              </p:animEffect>
                            </p:childTnLst>
                          </p:cTn>
                        </p:par>
                        <p:par>
                          <p:cTn id="55" presetID="10" presetClass="entr" presetSubtype="0" fill="hold" nodeType="afterEffect">
                            <p:stCondLst>
                              <p:cond delay="0"/>
                            </p:stCondLst>
                            <p:childTnLst>
                              <p:set>
                                <p:cBhvr>
                                  <p:cTn id="56" dur="1" fill="hold">
                                    <p:stCondLst>
                                      <p:cond delay="0"/>
                                    </p:stCondLst>
                                  </p:cTn>
                                  <p:tgtEl>
                                    <p:spTgt spid="48"/>
                                  </p:tgtEl>
                                  <p:attrNameLst>
                                    <p:attrName>style.visibility</p:attrName>
                                  </p:attrNameLst>
                                </p:cBhvr>
                                <p:to>
                                  <p:strVal val="visible"/>
                                </p:to>
                              </p:set>
                              <p:animEffect transition="in" filter="fade">
                                <p:cBhvr>
                                  <p:cTn id="57" dur="650"/>
                                  <p:tgtEl>
                                    <p:spTgt spid="48"/>
                                  </p:tgtEl>
                                </p:cBhvr>
                              </p:animEffect>
                            </p:childTnLst>
                          </p:cTn>
                        </p:par>
                        <p:par>
                          <p:cTn id="58" presetID="10" presetClass="entr" presetSubtype="0" fill="hold" nodeType="afterEffect">
                            <p:stCondLst>
                              <p:cond delay="0"/>
                            </p:stCondLst>
                            <p:childTnLst>
                              <p:set>
                                <p:cBhvr>
                                  <p:cTn id="59" dur="1" fill="hold">
                                    <p:stCondLst>
                                      <p:cond delay="0"/>
                                    </p:stCondLst>
                                  </p:cTn>
                                  <p:tgtEl>
                                    <p:spTgt spid="50"/>
                                  </p:tgtEl>
                                  <p:attrNameLst>
                                    <p:attrName>style.visibility</p:attrName>
                                  </p:attrNameLst>
                                </p:cBhvr>
                                <p:to>
                                  <p:strVal val="visible"/>
                                </p:to>
                              </p:set>
                              <p:animEffect transition="in" filter="fade">
                                <p:cBhvr>
                                  <p:cTn id="60" dur="650"/>
                                  <p:tgtEl>
                                    <p:spTgt spid="50"/>
                                  </p:tgtEl>
                                </p:cBhvr>
                              </p:animEffect>
                            </p:childTnLst>
                          </p:cTn>
                        </p:par>
                        <p:par>
                          <p:cTn id="61" presetID="10" presetClass="entr" presetSubtype="0" fill="hold" nodeType="afterEffect">
                            <p:stCondLst>
                              <p:cond delay="0"/>
                            </p:stCondLst>
                            <p:childTnLst>
                              <p:set>
                                <p:cBhvr>
                                  <p:cTn id="62" dur="1" fill="hold">
                                    <p:stCondLst>
                                      <p:cond delay="0"/>
                                    </p:stCondLst>
                                  </p:cTn>
                                  <p:tgtEl>
                                    <p:spTgt spid="53"/>
                                  </p:tgtEl>
                                  <p:attrNameLst>
                                    <p:attrName>style.visibility</p:attrName>
                                  </p:attrNameLst>
                                </p:cBhvr>
                                <p:to>
                                  <p:strVal val="visible"/>
                                </p:to>
                              </p:set>
                              <p:animEffect transition="in" filter="fade">
                                <p:cBhvr>
                                  <p:cTn id="63" dur="650"/>
                                  <p:tgtEl>
                                    <p:spTgt spid="53"/>
                                  </p:tgtEl>
                                </p:cBhvr>
                              </p:animEffect>
                            </p:childTnLst>
                          </p:cTn>
                        </p:par>
                        <p:par>
                          <p:cTn id="64" presetID="10" presetClass="entr" presetSubtype="0" fill="hold" nodeType="afterEffect">
                            <p:stCondLst>
                              <p:cond delay="0"/>
                            </p:stCondLst>
                            <p:childTnLst>
                              <p:set>
                                <p:cBhvr>
                                  <p:cTn id="65" dur="1" fill="hold">
                                    <p:stCondLst>
                                      <p:cond delay="0"/>
                                    </p:stCondLst>
                                  </p:cTn>
                                  <p:tgtEl>
                                    <p:spTgt spid="55"/>
                                  </p:tgtEl>
                                  <p:attrNameLst>
                                    <p:attrName>style.visibility</p:attrName>
                                  </p:attrNameLst>
                                </p:cBhvr>
                                <p:to>
                                  <p:strVal val="visible"/>
                                </p:to>
                              </p:set>
                              <p:animEffect transition="in" filter="fade">
                                <p:cBhvr>
                                  <p:cTn id="66" dur="650"/>
                                  <p:tgtEl>
                                    <p:spTgt spid="55"/>
                                  </p:tgtEl>
                                </p:cBhvr>
                              </p:animEffect>
                            </p:childTnLst>
                          </p:cTn>
                        </p:par>
                        <p:par>
                          <p:cTn id="67" presetID="10" presetClass="entr" presetSubtype="0" fill="hold" nodeType="afterEffect">
                            <p:stCondLst>
                              <p:cond delay="0"/>
                            </p:stCondLst>
                            <p:childTnLst>
                              <p:set>
                                <p:cBhvr>
                                  <p:cTn id="68" dur="1" fill="hold">
                                    <p:stCondLst>
                                      <p:cond delay="0"/>
                                    </p:stCondLst>
                                  </p:cTn>
                                  <p:tgtEl>
                                    <p:spTgt spid="58"/>
                                  </p:tgtEl>
                                  <p:attrNameLst>
                                    <p:attrName>style.visibility</p:attrName>
                                  </p:attrNameLst>
                                </p:cBhvr>
                                <p:to>
                                  <p:strVal val="visible"/>
                                </p:to>
                              </p:set>
                              <p:animEffect transition="in" filter="fade">
                                <p:cBhvr>
                                  <p:cTn id="69" dur="650"/>
                                  <p:tgtEl>
                                    <p:spTgt spid="58"/>
                                  </p:tgtEl>
                                </p:cBhvr>
                              </p:animEffect>
                            </p:childTnLst>
                          </p:cTn>
                        </p:par>
                        <p:par>
                          <p:cTn id="70" presetID="10" presetClass="entr" presetSubtype="0" fill="hold" nodeType="afterEffect">
                            <p:stCondLst>
                              <p:cond delay="0"/>
                            </p:stCondLst>
                            <p:childTnLst>
                              <p:set>
                                <p:cBhvr>
                                  <p:cTn id="71" dur="1" fill="hold">
                                    <p:stCondLst>
                                      <p:cond delay="0"/>
                                    </p:stCondLst>
                                  </p:cTn>
                                  <p:tgtEl>
                                    <p:spTgt spid="60"/>
                                  </p:tgtEl>
                                  <p:attrNameLst>
                                    <p:attrName>style.visibility</p:attrName>
                                  </p:attrNameLst>
                                </p:cBhvr>
                                <p:to>
                                  <p:strVal val="visible"/>
                                </p:to>
                              </p:set>
                              <p:animEffect transition="in" filter="fade">
                                <p:cBhvr>
                                  <p:cTn id="72" dur="650"/>
                                  <p:tgtEl>
                                    <p:spTgt spid="60"/>
                                  </p:tgtEl>
                                </p:cBhvr>
                              </p:animEffect>
                            </p:childTnLst>
                          </p:cTn>
                        </p:par>
                        <p:par>
                          <p:cTn id="73" presetID="10" presetClass="entr" presetSubtype="0" fill="hold" nodeType="afterEffect">
                            <p:stCondLst>
                              <p:cond delay="0"/>
                            </p:stCondLst>
                            <p:childTnLst>
                              <p:set>
                                <p:cBhvr>
                                  <p:cTn id="74" dur="1" fill="hold">
                                    <p:stCondLst>
                                      <p:cond delay="0"/>
                                    </p:stCondLst>
                                  </p:cTn>
                                  <p:tgtEl>
                                    <p:spTgt spid="63"/>
                                  </p:tgtEl>
                                  <p:attrNameLst>
                                    <p:attrName>style.visibility</p:attrName>
                                  </p:attrNameLst>
                                </p:cBhvr>
                                <p:to>
                                  <p:strVal val="visible"/>
                                </p:to>
                              </p:set>
                              <p:animEffect transition="in" filter="fade">
                                <p:cBhvr>
                                  <p:cTn id="75" dur="650"/>
                                  <p:tgtEl>
                                    <p:spTgt spid="63"/>
                                  </p:tgtEl>
                                </p:cBhvr>
                              </p:animEffect>
                            </p:childTnLst>
                          </p:cTn>
                        </p:par>
                        <p:par>
                          <p:cTn id="76" presetID="10" presetClass="entr" presetSubtype="0" fill="hold" nodeType="afterEffect">
                            <p:stCondLst>
                              <p:cond delay="0"/>
                            </p:stCondLst>
                            <p:childTnLst>
                              <p:set>
                                <p:cBhvr>
                                  <p:cTn id="77" dur="1" fill="hold">
                                    <p:stCondLst>
                                      <p:cond delay="0"/>
                                    </p:stCondLst>
                                  </p:cTn>
                                  <p:tgtEl>
                                    <p:spTgt spid="65"/>
                                  </p:tgtEl>
                                  <p:attrNameLst>
                                    <p:attrName>style.visibility</p:attrName>
                                  </p:attrNameLst>
                                </p:cBhvr>
                                <p:to>
                                  <p:strVal val="visible"/>
                                </p:to>
                              </p:set>
                              <p:animEffect transition="in" filter="fade">
                                <p:cBhvr>
                                  <p:cTn id="78" dur="650"/>
                                  <p:tgtEl>
                                    <p:spTgt spid="65"/>
                                  </p:tgtEl>
                                </p:cBhvr>
                              </p:animEffect>
                            </p:childTnLst>
                          </p:cTn>
                        </p:par>
                        <p:par>
                          <p:cTn id="79" fill="hold">
                            <p:stCondLst>
                              <p:cond delay="0"/>
                            </p:stCondLst>
                            <p:childTnLst>
                              <p:animRot by="21600000">
                                <p:cBhvr>
                                  <p:cTn id="80" dur="60000" repeatCount="indefinite" fill="hold"/>
                                  <p:tgtEl>
                                    <p:spTgt spid="76"/>
                                  </p:tgtEl>
                                  <p:attrNameLst>
                                    <p:attrName>r</p:attrName>
                                  </p:attrNameLst>
                                </p:cBhvr>
                              </p:animRot>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2"/>
          <p:cNvGrpSpPr/>
          <p:nvPr/>
        </p:nvGrpSpPr>
        <p:grpSpPr>
          <a:xfrm>
            <a:off x="963130" y="687953"/>
            <a:ext cx="14997303" cy="481565"/>
            <a:chOff x="0" y="0"/>
            <a:chExt cx="19996404" cy="642087"/>
          </a:xfrm>
        </p:grpSpPr>
        <p:sp>
          <p:nvSpPr>
            <p:cNvPr id="3" name="Freeform 3"/>
            <p:cNvSpPr/>
            <p:nvPr/>
          </p:nvSpPr>
          <p:spPr>
            <a:xfrm>
              <a:off x="0" y="0"/>
              <a:ext cx="19996409" cy="642086"/>
            </a:xfrm>
            <a:custGeom>
              <a:avLst/>
              <a:gdLst/>
              <a:ahLst/>
              <a:cxnLst/>
              <a:rect l="l" t="t" r="r" b="b"/>
              <a:pathLst>
                <a:path w="19996409" h="642086">
                  <a:moveTo>
                    <a:pt x="0" y="0"/>
                  </a:moveTo>
                  <a:lnTo>
                    <a:pt x="19996409" y="0"/>
                  </a:lnTo>
                  <a:lnTo>
                    <a:pt x="19996409" y="642086"/>
                  </a:lnTo>
                  <a:lnTo>
                    <a:pt x="0" y="642086"/>
                  </a:lnTo>
                  <a:close/>
                </a:path>
              </a:pathLst>
            </a:custGeom>
            <a:blipFill>
              <a:blip r:embed="rId3">
                <a:alphaModFix amt="0"/>
              </a:blip>
              <a:stretch>
                <a:fillRect t="-556819" b="-556819"/>
              </a:stretch>
            </a:blipFill>
          </p:spPr>
          <p:txBody>
            <a:bodyPr/>
            <a:lstStyle/>
            <a:p>
              <a:endParaRPr lang="en-US"/>
            </a:p>
          </p:txBody>
        </p:sp>
        <p:sp>
          <p:nvSpPr>
            <p:cNvPr id="4" name="TextBox 4"/>
            <p:cNvSpPr txBox="1"/>
            <p:nvPr/>
          </p:nvSpPr>
          <p:spPr>
            <a:xfrm>
              <a:off x="0" y="-9525"/>
              <a:ext cx="19996404" cy="651612"/>
            </a:xfrm>
            <a:prstGeom prst="rect">
              <a:avLst/>
            </a:prstGeom>
          </p:spPr>
          <p:txBody>
            <a:bodyPr lIns="0" tIns="0" rIns="0" bIns="0" rtlCol="0" anchor="ctr"/>
            <a:lstStyle/>
            <a:p>
              <a:pPr algn="l">
                <a:lnSpc>
                  <a:spcPts val="2347"/>
                </a:lnSpc>
              </a:pPr>
              <a:r>
                <a:rPr lang="en-US" sz="1956" b="1" spc="300">
                  <a:solidFill>
                    <a:srgbClr val="C41E3A"/>
                  </a:solidFill>
                  <a:latin typeface="Montserrat Bold"/>
                  <a:ea typeface="Montserrat Bold"/>
                  <a:cs typeface="Montserrat Bold"/>
                  <a:sym typeface="Montserrat Bold"/>
                </a:rPr>
                <a:t>CÁCH VẬN HÀNH</a:t>
              </a:r>
            </a:p>
          </p:txBody>
        </p:sp>
      </p:grpSp>
      <p:sp>
        <p:nvSpPr>
          <p:cNvPr id="5" name="TextBox 5"/>
          <p:cNvSpPr txBox="1"/>
          <p:nvPr/>
        </p:nvSpPr>
        <p:spPr>
          <a:xfrm>
            <a:off x="963130" y="1155754"/>
            <a:ext cx="14997303" cy="638197"/>
          </a:xfrm>
          <a:prstGeom prst="rect">
            <a:avLst/>
          </a:prstGeom>
        </p:spPr>
        <p:txBody>
          <a:bodyPr lIns="0" tIns="0" rIns="0" bIns="0" rtlCol="0" anchor="t">
            <a:spAutoFit/>
          </a:bodyPr>
          <a:lstStyle/>
          <a:p>
            <a:pPr algn="l">
              <a:lnSpc>
                <a:spcPts val="5055"/>
              </a:lnSpc>
            </a:pPr>
            <a:r>
              <a:rPr lang="en-US" sz="4213" b="1">
                <a:solidFill>
                  <a:srgbClr val="1F2937"/>
                </a:solidFill>
                <a:latin typeface="Montserrat Heavy"/>
                <a:ea typeface="Montserrat Heavy"/>
                <a:cs typeface="Montserrat Heavy"/>
                <a:sym typeface="Montserrat Heavy"/>
              </a:rPr>
              <a:t>WEB APP — QUÉT LÀ DÙNG, KHÔNG CÀI ĐẶT</a:t>
            </a:r>
          </a:p>
        </p:txBody>
      </p:sp>
      <p:grpSp>
        <p:nvGrpSpPr>
          <p:cNvPr id="6" name="Group 6"/>
          <p:cNvGrpSpPr/>
          <p:nvPr/>
        </p:nvGrpSpPr>
        <p:grpSpPr>
          <a:xfrm>
            <a:off x="963130" y="2228955"/>
            <a:ext cx="1513494" cy="96317"/>
            <a:chOff x="0" y="0"/>
            <a:chExt cx="2017992" cy="128422"/>
          </a:xfrm>
        </p:grpSpPr>
        <p:sp>
          <p:nvSpPr>
            <p:cNvPr id="7" name="Freeform 7"/>
            <p:cNvSpPr/>
            <p:nvPr/>
          </p:nvSpPr>
          <p:spPr>
            <a:xfrm>
              <a:off x="0" y="0"/>
              <a:ext cx="2018030" cy="128397"/>
            </a:xfrm>
            <a:custGeom>
              <a:avLst/>
              <a:gdLst/>
              <a:ahLst/>
              <a:cxnLst/>
              <a:rect l="l" t="t" r="r" b="b"/>
              <a:pathLst>
                <a:path w="2018030" h="128397">
                  <a:moveTo>
                    <a:pt x="0" y="0"/>
                  </a:moveTo>
                  <a:lnTo>
                    <a:pt x="2018030" y="0"/>
                  </a:lnTo>
                  <a:lnTo>
                    <a:pt x="2018030" y="128397"/>
                  </a:lnTo>
                  <a:lnTo>
                    <a:pt x="0" y="128397"/>
                  </a:lnTo>
                  <a:close/>
                </a:path>
              </a:pathLst>
            </a:custGeom>
            <a:solidFill>
              <a:srgbClr val="FFD700"/>
            </a:solidFill>
          </p:spPr>
          <p:txBody>
            <a:bodyPr/>
            <a:lstStyle/>
            <a:p>
              <a:endParaRPr lang="en-US"/>
            </a:p>
          </p:txBody>
        </p:sp>
      </p:grpSp>
      <p:grpSp>
        <p:nvGrpSpPr>
          <p:cNvPr id="8" name="Group 8"/>
          <p:cNvGrpSpPr/>
          <p:nvPr/>
        </p:nvGrpSpPr>
        <p:grpSpPr>
          <a:xfrm>
            <a:off x="963130" y="2449106"/>
            <a:ext cx="16373208" cy="825540"/>
            <a:chOff x="0" y="0"/>
            <a:chExt cx="21830944" cy="1100720"/>
          </a:xfrm>
        </p:grpSpPr>
        <p:sp>
          <p:nvSpPr>
            <p:cNvPr id="9" name="Freeform 9"/>
            <p:cNvSpPr/>
            <p:nvPr/>
          </p:nvSpPr>
          <p:spPr>
            <a:xfrm>
              <a:off x="0" y="0"/>
              <a:ext cx="21830942" cy="1100718"/>
            </a:xfrm>
            <a:custGeom>
              <a:avLst/>
              <a:gdLst/>
              <a:ahLst/>
              <a:cxnLst/>
              <a:rect l="l" t="t" r="r" b="b"/>
              <a:pathLst>
                <a:path w="21830942" h="1100718">
                  <a:moveTo>
                    <a:pt x="0" y="0"/>
                  </a:moveTo>
                  <a:lnTo>
                    <a:pt x="21830942" y="0"/>
                  </a:lnTo>
                  <a:lnTo>
                    <a:pt x="21830942" y="1100718"/>
                  </a:lnTo>
                  <a:lnTo>
                    <a:pt x="0" y="1100718"/>
                  </a:lnTo>
                  <a:close/>
                </a:path>
              </a:pathLst>
            </a:custGeom>
            <a:blipFill>
              <a:blip r:embed="rId3">
                <a:alphaModFix amt="0"/>
              </a:blip>
              <a:stretch>
                <a:fillRect t="-336453" b="-336454"/>
              </a:stretch>
            </a:blipFill>
          </p:spPr>
          <p:txBody>
            <a:bodyPr/>
            <a:lstStyle/>
            <a:p>
              <a:endParaRPr lang="en-US"/>
            </a:p>
          </p:txBody>
        </p:sp>
        <p:sp>
          <p:nvSpPr>
            <p:cNvPr id="10" name="TextBox 10"/>
            <p:cNvSpPr txBox="1"/>
            <p:nvPr/>
          </p:nvSpPr>
          <p:spPr>
            <a:xfrm>
              <a:off x="0" y="0"/>
              <a:ext cx="21830944" cy="1100720"/>
            </a:xfrm>
            <a:prstGeom prst="rect">
              <a:avLst/>
            </a:prstGeom>
          </p:spPr>
          <p:txBody>
            <a:bodyPr lIns="0" tIns="0" rIns="0" bIns="0" rtlCol="0" anchor="ctr"/>
            <a:lstStyle/>
            <a:p>
              <a:pPr algn="l">
                <a:lnSpc>
                  <a:spcPts val="2798"/>
                </a:lnSpc>
              </a:pPr>
              <a:r>
                <a:rPr lang="en-US" sz="2332" b="1">
                  <a:solidFill>
                    <a:srgbClr val="374151"/>
                  </a:solidFill>
                  <a:latin typeface="Montserrat Semi-Bold"/>
                  <a:ea typeface="Montserrat Semi-Bold"/>
                  <a:cs typeface="Montserrat Semi-Bold"/>
                  <a:sym typeface="Montserrat Semi-Bold"/>
                </a:rPr>
                <a:t>Truy cập qua trình duyệt hoặc quét mã QR. Ba bước tự nhiên cho người dân.</a:t>
              </a:r>
            </a:p>
          </p:txBody>
        </p:sp>
      </p:grpSp>
      <p:grpSp>
        <p:nvGrpSpPr>
          <p:cNvPr id="11" name="Group 11"/>
          <p:cNvGrpSpPr/>
          <p:nvPr/>
        </p:nvGrpSpPr>
        <p:grpSpPr>
          <a:xfrm>
            <a:off x="953576" y="3705377"/>
            <a:ext cx="4651305" cy="4559579"/>
            <a:chOff x="0" y="0"/>
            <a:chExt cx="6201740" cy="6079439"/>
          </a:xfrm>
        </p:grpSpPr>
        <p:sp>
          <p:nvSpPr>
            <p:cNvPr id="12" name="Freeform 12"/>
            <p:cNvSpPr/>
            <p:nvPr/>
          </p:nvSpPr>
          <p:spPr>
            <a:xfrm>
              <a:off x="0" y="0"/>
              <a:ext cx="6201791" cy="6079490"/>
            </a:xfrm>
            <a:custGeom>
              <a:avLst/>
              <a:gdLst/>
              <a:ahLst/>
              <a:cxnLst/>
              <a:rect l="l" t="t" r="r" b="b"/>
              <a:pathLst>
                <a:path w="6201791" h="6079490">
                  <a:moveTo>
                    <a:pt x="0" y="221107"/>
                  </a:moveTo>
                  <a:cubicBezTo>
                    <a:pt x="0" y="98933"/>
                    <a:pt x="98933" y="0"/>
                    <a:pt x="221107" y="0"/>
                  </a:cubicBezTo>
                  <a:lnTo>
                    <a:pt x="5980684" y="0"/>
                  </a:lnTo>
                  <a:cubicBezTo>
                    <a:pt x="6102731" y="0"/>
                    <a:pt x="6201791" y="98933"/>
                    <a:pt x="6201791" y="221107"/>
                  </a:cubicBezTo>
                  <a:lnTo>
                    <a:pt x="6201791" y="5858383"/>
                  </a:lnTo>
                  <a:cubicBezTo>
                    <a:pt x="6201791" y="5980430"/>
                    <a:pt x="6102858" y="6079490"/>
                    <a:pt x="5980684" y="6079490"/>
                  </a:cubicBezTo>
                  <a:lnTo>
                    <a:pt x="221107" y="6079490"/>
                  </a:lnTo>
                  <a:cubicBezTo>
                    <a:pt x="98933" y="6079490"/>
                    <a:pt x="0" y="5980430"/>
                    <a:pt x="0" y="5858383"/>
                  </a:cubicBezTo>
                  <a:close/>
                </a:path>
              </a:pathLst>
            </a:custGeom>
            <a:solidFill>
              <a:srgbClr val="FFF4F2"/>
            </a:solidFill>
            <a:ln w="19110" cap="sq">
              <a:solidFill>
                <a:srgbClr val="F3D2D7"/>
              </a:solidFill>
              <a:prstDash val="solid"/>
              <a:miter/>
            </a:ln>
          </p:spPr>
          <p:txBody>
            <a:bodyPr/>
            <a:lstStyle/>
            <a:p>
              <a:endParaRPr lang="en-US"/>
            </a:p>
          </p:txBody>
        </p:sp>
      </p:grpSp>
      <p:grpSp>
        <p:nvGrpSpPr>
          <p:cNvPr id="13" name="Group 13"/>
          <p:cNvGrpSpPr/>
          <p:nvPr/>
        </p:nvGrpSpPr>
        <p:grpSpPr>
          <a:xfrm>
            <a:off x="2453688" y="4127697"/>
            <a:ext cx="1651083" cy="1651083"/>
            <a:chOff x="0" y="0"/>
            <a:chExt cx="2201443" cy="2201443"/>
          </a:xfrm>
        </p:grpSpPr>
        <p:sp>
          <p:nvSpPr>
            <p:cNvPr id="14" name="Freeform 14"/>
            <p:cNvSpPr/>
            <p:nvPr/>
          </p:nvSpPr>
          <p:spPr>
            <a:xfrm>
              <a:off x="0" y="0"/>
              <a:ext cx="2201418" cy="2201418"/>
            </a:xfrm>
            <a:custGeom>
              <a:avLst/>
              <a:gdLst/>
              <a:ahLst/>
              <a:cxnLst/>
              <a:rect l="l" t="t" r="r" b="b"/>
              <a:pathLst>
                <a:path w="2201418" h="2201418">
                  <a:moveTo>
                    <a:pt x="0" y="1100709"/>
                  </a:moveTo>
                  <a:cubicBezTo>
                    <a:pt x="0" y="492760"/>
                    <a:pt x="492760" y="0"/>
                    <a:pt x="1100709" y="0"/>
                  </a:cubicBezTo>
                  <a:cubicBezTo>
                    <a:pt x="1708658" y="0"/>
                    <a:pt x="2201418" y="492760"/>
                    <a:pt x="2201418" y="1100709"/>
                  </a:cubicBezTo>
                  <a:cubicBezTo>
                    <a:pt x="2201418" y="1708658"/>
                    <a:pt x="1708658" y="2201418"/>
                    <a:pt x="1100709" y="2201418"/>
                  </a:cubicBezTo>
                  <a:cubicBezTo>
                    <a:pt x="492760" y="2201418"/>
                    <a:pt x="0" y="1708658"/>
                    <a:pt x="0" y="1100709"/>
                  </a:cubicBezTo>
                  <a:close/>
                </a:path>
              </a:pathLst>
            </a:custGeom>
            <a:solidFill>
              <a:srgbClr val="C41E3A"/>
            </a:solidFill>
          </p:spPr>
          <p:txBody>
            <a:bodyPr/>
            <a:lstStyle/>
            <a:p>
              <a:endParaRPr lang="en-US"/>
            </a:p>
          </p:txBody>
        </p:sp>
      </p:grpSp>
      <p:grpSp>
        <p:nvGrpSpPr>
          <p:cNvPr id="15" name="Group 15"/>
          <p:cNvGrpSpPr/>
          <p:nvPr/>
        </p:nvGrpSpPr>
        <p:grpSpPr>
          <a:xfrm>
            <a:off x="2899477" y="4573495"/>
            <a:ext cx="759495" cy="759495"/>
            <a:chOff x="0" y="0"/>
            <a:chExt cx="1012660" cy="1012660"/>
          </a:xfrm>
        </p:grpSpPr>
        <p:sp>
          <p:nvSpPr>
            <p:cNvPr id="16" name="Freeform 16" descr="preencoded.png"/>
            <p:cNvSpPr/>
            <p:nvPr/>
          </p:nvSpPr>
          <p:spPr>
            <a:xfrm>
              <a:off x="0" y="0"/>
              <a:ext cx="1012698" cy="1012698"/>
            </a:xfrm>
            <a:custGeom>
              <a:avLst/>
              <a:gdLst/>
              <a:ahLst/>
              <a:cxnLst/>
              <a:rect l="l" t="t" r="r" b="b"/>
              <a:pathLst>
                <a:path w="1012698" h="1012698">
                  <a:moveTo>
                    <a:pt x="0" y="0"/>
                  </a:moveTo>
                  <a:lnTo>
                    <a:pt x="1012698" y="0"/>
                  </a:lnTo>
                  <a:lnTo>
                    <a:pt x="1012698" y="1012698"/>
                  </a:lnTo>
                  <a:lnTo>
                    <a:pt x="0" y="1012698"/>
                  </a:lnTo>
                  <a:lnTo>
                    <a:pt x="0" y="0"/>
                  </a:lnTo>
                  <a:close/>
                </a:path>
              </a:pathLst>
            </a:custGeom>
            <a:blipFill>
              <a:blip r:embed="rId4"/>
              <a:stretch>
                <a:fillRect r="3" b="3"/>
              </a:stretch>
            </a:blipFill>
          </p:spPr>
          <p:txBody>
            <a:bodyPr/>
            <a:lstStyle/>
            <a:p>
              <a:endParaRPr lang="en-US"/>
            </a:p>
          </p:txBody>
        </p:sp>
      </p:grpSp>
      <p:grpSp>
        <p:nvGrpSpPr>
          <p:cNvPr id="17" name="Group 17"/>
          <p:cNvGrpSpPr/>
          <p:nvPr/>
        </p:nvGrpSpPr>
        <p:grpSpPr>
          <a:xfrm>
            <a:off x="1238307" y="6053957"/>
            <a:ext cx="4081834" cy="756745"/>
            <a:chOff x="0" y="0"/>
            <a:chExt cx="5442445" cy="1008993"/>
          </a:xfrm>
        </p:grpSpPr>
        <p:sp>
          <p:nvSpPr>
            <p:cNvPr id="18" name="Freeform 18"/>
            <p:cNvSpPr/>
            <p:nvPr/>
          </p:nvSpPr>
          <p:spPr>
            <a:xfrm>
              <a:off x="0" y="0"/>
              <a:ext cx="5442448" cy="1008997"/>
            </a:xfrm>
            <a:custGeom>
              <a:avLst/>
              <a:gdLst/>
              <a:ahLst/>
              <a:cxnLst/>
              <a:rect l="l" t="t" r="r" b="b"/>
              <a:pathLst>
                <a:path w="5442448" h="1008997">
                  <a:moveTo>
                    <a:pt x="0" y="0"/>
                  </a:moveTo>
                  <a:lnTo>
                    <a:pt x="5442448" y="0"/>
                  </a:lnTo>
                  <a:lnTo>
                    <a:pt x="5442448" y="1008997"/>
                  </a:lnTo>
                  <a:lnTo>
                    <a:pt x="0" y="1008997"/>
                  </a:lnTo>
                  <a:close/>
                </a:path>
              </a:pathLst>
            </a:custGeom>
            <a:blipFill>
              <a:blip r:embed="rId3">
                <a:alphaModFix amt="0"/>
              </a:blip>
              <a:stretch>
                <a:fillRect t="-55101" b="-55100"/>
              </a:stretch>
            </a:blipFill>
          </p:spPr>
          <p:txBody>
            <a:bodyPr/>
            <a:lstStyle/>
            <a:p>
              <a:endParaRPr lang="en-US"/>
            </a:p>
          </p:txBody>
        </p:sp>
        <p:sp>
          <p:nvSpPr>
            <p:cNvPr id="19" name="TextBox 19"/>
            <p:cNvSpPr txBox="1"/>
            <p:nvPr/>
          </p:nvSpPr>
          <p:spPr>
            <a:xfrm>
              <a:off x="0" y="0"/>
              <a:ext cx="5442445" cy="1008993"/>
            </a:xfrm>
            <a:prstGeom prst="rect">
              <a:avLst/>
            </a:prstGeom>
          </p:spPr>
          <p:txBody>
            <a:bodyPr lIns="0" tIns="0" rIns="0" bIns="0" rtlCol="0" anchor="ctr"/>
            <a:lstStyle/>
            <a:p>
              <a:pPr algn="ctr">
                <a:lnSpc>
                  <a:spcPts val="3250"/>
                </a:lnSpc>
              </a:pPr>
              <a:r>
                <a:rPr lang="en-US" sz="2708" b="1">
                  <a:solidFill>
                    <a:srgbClr val="1F2937"/>
                  </a:solidFill>
                  <a:latin typeface="Montserrat Bold"/>
                  <a:ea typeface="Montserrat Bold"/>
                  <a:cs typeface="Montserrat Bold"/>
                  <a:sym typeface="Montserrat Bold"/>
                </a:rPr>
                <a:t>1. Quét mã QR</a:t>
              </a:r>
            </a:p>
          </p:txBody>
        </p:sp>
      </p:grpSp>
      <p:grpSp>
        <p:nvGrpSpPr>
          <p:cNvPr id="20" name="Group 20"/>
          <p:cNvGrpSpPr/>
          <p:nvPr/>
        </p:nvGrpSpPr>
        <p:grpSpPr>
          <a:xfrm>
            <a:off x="1307106" y="6879498"/>
            <a:ext cx="3944245" cy="1238310"/>
            <a:chOff x="0" y="0"/>
            <a:chExt cx="5258994" cy="1651080"/>
          </a:xfrm>
        </p:grpSpPr>
        <p:sp>
          <p:nvSpPr>
            <p:cNvPr id="21" name="Freeform 21"/>
            <p:cNvSpPr/>
            <p:nvPr/>
          </p:nvSpPr>
          <p:spPr>
            <a:xfrm>
              <a:off x="0" y="0"/>
              <a:ext cx="5258995" cy="1651083"/>
            </a:xfrm>
            <a:custGeom>
              <a:avLst/>
              <a:gdLst/>
              <a:ahLst/>
              <a:cxnLst/>
              <a:rect l="l" t="t" r="r" b="b"/>
              <a:pathLst>
                <a:path w="5258995" h="1651083">
                  <a:moveTo>
                    <a:pt x="0" y="0"/>
                  </a:moveTo>
                  <a:lnTo>
                    <a:pt x="5258995" y="0"/>
                  </a:lnTo>
                  <a:lnTo>
                    <a:pt x="5258995" y="1651083"/>
                  </a:lnTo>
                  <a:lnTo>
                    <a:pt x="0" y="1651083"/>
                  </a:lnTo>
                  <a:close/>
                </a:path>
              </a:pathLst>
            </a:custGeom>
            <a:blipFill>
              <a:blip r:embed="rId3">
                <a:alphaModFix amt="0"/>
              </a:blip>
              <a:stretch>
                <a:fillRect t="-12063" b="-12063"/>
              </a:stretch>
            </a:blipFill>
          </p:spPr>
          <p:txBody>
            <a:bodyPr/>
            <a:lstStyle/>
            <a:p>
              <a:endParaRPr lang="en-US"/>
            </a:p>
          </p:txBody>
        </p:sp>
        <p:sp>
          <p:nvSpPr>
            <p:cNvPr id="22" name="TextBox 22"/>
            <p:cNvSpPr txBox="1"/>
            <p:nvPr/>
          </p:nvSpPr>
          <p:spPr>
            <a:xfrm>
              <a:off x="0" y="0"/>
              <a:ext cx="5258994" cy="1651080"/>
            </a:xfrm>
            <a:prstGeom prst="rect">
              <a:avLst/>
            </a:prstGeom>
          </p:spPr>
          <p:txBody>
            <a:bodyPr lIns="0" tIns="0" rIns="0" bIns="0" rtlCol="0" anchor="ctr"/>
            <a:lstStyle/>
            <a:p>
              <a:pPr algn="ctr">
                <a:lnSpc>
                  <a:spcPts val="2527"/>
                </a:lnSpc>
              </a:pPr>
              <a:r>
                <a:rPr lang="en-US" sz="2106" b="1">
                  <a:solidFill>
                    <a:srgbClr val="374151"/>
                  </a:solidFill>
                  <a:latin typeface="Montserrat Bold"/>
                  <a:ea typeface="Montserrat Bold"/>
                  <a:cs typeface="Montserrat Bold"/>
                  <a:sym typeface="Montserrat Bold"/>
                </a:rPr>
                <a:t>Mở cổng ngay, không cần cài ứng dụng.</a:t>
              </a:r>
            </a:p>
          </p:txBody>
        </p:sp>
      </p:grpSp>
      <p:grpSp>
        <p:nvGrpSpPr>
          <p:cNvPr id="23" name="Group 23"/>
          <p:cNvGrpSpPr/>
          <p:nvPr/>
        </p:nvGrpSpPr>
        <p:grpSpPr>
          <a:xfrm>
            <a:off x="5898023" y="5641191"/>
            <a:ext cx="632917" cy="632917"/>
            <a:chOff x="0" y="0"/>
            <a:chExt cx="843890" cy="843890"/>
          </a:xfrm>
        </p:grpSpPr>
        <p:sp>
          <p:nvSpPr>
            <p:cNvPr id="24" name="Freeform 24" descr="preencoded.png"/>
            <p:cNvSpPr/>
            <p:nvPr/>
          </p:nvSpPr>
          <p:spPr>
            <a:xfrm>
              <a:off x="0" y="0"/>
              <a:ext cx="843915" cy="843915"/>
            </a:xfrm>
            <a:custGeom>
              <a:avLst/>
              <a:gdLst/>
              <a:ahLst/>
              <a:cxnLst/>
              <a:rect l="l" t="t" r="r" b="b"/>
              <a:pathLst>
                <a:path w="843915" h="843915">
                  <a:moveTo>
                    <a:pt x="0" y="0"/>
                  </a:moveTo>
                  <a:lnTo>
                    <a:pt x="843915" y="0"/>
                  </a:lnTo>
                  <a:lnTo>
                    <a:pt x="843915" y="843915"/>
                  </a:lnTo>
                  <a:lnTo>
                    <a:pt x="0" y="843915"/>
                  </a:lnTo>
                  <a:lnTo>
                    <a:pt x="0" y="0"/>
                  </a:lnTo>
                  <a:close/>
                </a:path>
              </a:pathLst>
            </a:custGeom>
            <a:blipFill>
              <a:blip r:embed="rId5"/>
              <a:stretch>
                <a:fillRect r="3" b="3"/>
              </a:stretch>
            </a:blipFill>
          </p:spPr>
          <p:txBody>
            <a:bodyPr/>
            <a:lstStyle/>
            <a:p>
              <a:endParaRPr lang="en-US"/>
            </a:p>
          </p:txBody>
        </p:sp>
      </p:grpSp>
      <p:grpSp>
        <p:nvGrpSpPr>
          <p:cNvPr id="25" name="Group 25"/>
          <p:cNvGrpSpPr/>
          <p:nvPr/>
        </p:nvGrpSpPr>
        <p:grpSpPr>
          <a:xfrm>
            <a:off x="6824081" y="3705377"/>
            <a:ext cx="4651305" cy="4559579"/>
            <a:chOff x="0" y="0"/>
            <a:chExt cx="6201740" cy="6079439"/>
          </a:xfrm>
        </p:grpSpPr>
        <p:sp>
          <p:nvSpPr>
            <p:cNvPr id="26" name="Freeform 26"/>
            <p:cNvSpPr/>
            <p:nvPr/>
          </p:nvSpPr>
          <p:spPr>
            <a:xfrm>
              <a:off x="0" y="0"/>
              <a:ext cx="6201791" cy="6079490"/>
            </a:xfrm>
            <a:custGeom>
              <a:avLst/>
              <a:gdLst/>
              <a:ahLst/>
              <a:cxnLst/>
              <a:rect l="l" t="t" r="r" b="b"/>
              <a:pathLst>
                <a:path w="6201791" h="6079490">
                  <a:moveTo>
                    <a:pt x="0" y="221107"/>
                  </a:moveTo>
                  <a:cubicBezTo>
                    <a:pt x="0" y="98933"/>
                    <a:pt x="98933" y="0"/>
                    <a:pt x="221107" y="0"/>
                  </a:cubicBezTo>
                  <a:lnTo>
                    <a:pt x="5980684" y="0"/>
                  </a:lnTo>
                  <a:cubicBezTo>
                    <a:pt x="6102731" y="0"/>
                    <a:pt x="6201791" y="98933"/>
                    <a:pt x="6201791" y="221107"/>
                  </a:cubicBezTo>
                  <a:lnTo>
                    <a:pt x="6201791" y="5858383"/>
                  </a:lnTo>
                  <a:cubicBezTo>
                    <a:pt x="6201791" y="5980430"/>
                    <a:pt x="6102858" y="6079490"/>
                    <a:pt x="5980684" y="6079490"/>
                  </a:cubicBezTo>
                  <a:lnTo>
                    <a:pt x="221107" y="6079490"/>
                  </a:lnTo>
                  <a:cubicBezTo>
                    <a:pt x="98933" y="6079490"/>
                    <a:pt x="0" y="5980430"/>
                    <a:pt x="0" y="5858383"/>
                  </a:cubicBezTo>
                  <a:close/>
                </a:path>
              </a:pathLst>
            </a:custGeom>
            <a:solidFill>
              <a:srgbClr val="FFF4F2"/>
            </a:solidFill>
            <a:ln w="19110" cap="sq">
              <a:solidFill>
                <a:srgbClr val="F3D2D7"/>
              </a:solidFill>
              <a:prstDash val="solid"/>
              <a:miter/>
            </a:ln>
          </p:spPr>
          <p:txBody>
            <a:bodyPr/>
            <a:lstStyle/>
            <a:p>
              <a:endParaRPr lang="en-US"/>
            </a:p>
          </p:txBody>
        </p:sp>
      </p:grpSp>
      <p:grpSp>
        <p:nvGrpSpPr>
          <p:cNvPr id="27" name="Group 27"/>
          <p:cNvGrpSpPr/>
          <p:nvPr/>
        </p:nvGrpSpPr>
        <p:grpSpPr>
          <a:xfrm>
            <a:off x="8324193" y="4127697"/>
            <a:ext cx="1651083" cy="1651083"/>
            <a:chOff x="0" y="0"/>
            <a:chExt cx="2201443" cy="2201443"/>
          </a:xfrm>
        </p:grpSpPr>
        <p:sp>
          <p:nvSpPr>
            <p:cNvPr id="28" name="Freeform 28"/>
            <p:cNvSpPr/>
            <p:nvPr/>
          </p:nvSpPr>
          <p:spPr>
            <a:xfrm>
              <a:off x="0" y="0"/>
              <a:ext cx="2201418" cy="2201418"/>
            </a:xfrm>
            <a:custGeom>
              <a:avLst/>
              <a:gdLst/>
              <a:ahLst/>
              <a:cxnLst/>
              <a:rect l="l" t="t" r="r" b="b"/>
              <a:pathLst>
                <a:path w="2201418" h="2201418">
                  <a:moveTo>
                    <a:pt x="0" y="1100709"/>
                  </a:moveTo>
                  <a:cubicBezTo>
                    <a:pt x="0" y="492760"/>
                    <a:pt x="492760" y="0"/>
                    <a:pt x="1100709" y="0"/>
                  </a:cubicBezTo>
                  <a:cubicBezTo>
                    <a:pt x="1708658" y="0"/>
                    <a:pt x="2201418" y="492760"/>
                    <a:pt x="2201418" y="1100709"/>
                  </a:cubicBezTo>
                  <a:cubicBezTo>
                    <a:pt x="2201418" y="1708658"/>
                    <a:pt x="1708658" y="2201418"/>
                    <a:pt x="1100709" y="2201418"/>
                  </a:cubicBezTo>
                  <a:cubicBezTo>
                    <a:pt x="492760" y="2201418"/>
                    <a:pt x="0" y="1708658"/>
                    <a:pt x="0" y="1100709"/>
                  </a:cubicBezTo>
                  <a:close/>
                </a:path>
              </a:pathLst>
            </a:custGeom>
            <a:solidFill>
              <a:srgbClr val="C41E3A"/>
            </a:solidFill>
          </p:spPr>
          <p:txBody>
            <a:bodyPr/>
            <a:lstStyle/>
            <a:p>
              <a:endParaRPr lang="en-US"/>
            </a:p>
          </p:txBody>
        </p:sp>
      </p:grpSp>
      <p:grpSp>
        <p:nvGrpSpPr>
          <p:cNvPr id="29" name="Group 29"/>
          <p:cNvGrpSpPr/>
          <p:nvPr/>
        </p:nvGrpSpPr>
        <p:grpSpPr>
          <a:xfrm>
            <a:off x="8769982" y="4573495"/>
            <a:ext cx="759495" cy="759495"/>
            <a:chOff x="0" y="0"/>
            <a:chExt cx="1012660" cy="1012660"/>
          </a:xfrm>
        </p:grpSpPr>
        <p:sp>
          <p:nvSpPr>
            <p:cNvPr id="30" name="Freeform 30" descr="preencoded.png"/>
            <p:cNvSpPr/>
            <p:nvPr/>
          </p:nvSpPr>
          <p:spPr>
            <a:xfrm>
              <a:off x="0" y="0"/>
              <a:ext cx="1012698" cy="1012698"/>
            </a:xfrm>
            <a:custGeom>
              <a:avLst/>
              <a:gdLst/>
              <a:ahLst/>
              <a:cxnLst/>
              <a:rect l="l" t="t" r="r" b="b"/>
              <a:pathLst>
                <a:path w="1012698" h="1012698">
                  <a:moveTo>
                    <a:pt x="0" y="0"/>
                  </a:moveTo>
                  <a:lnTo>
                    <a:pt x="1012698" y="0"/>
                  </a:lnTo>
                  <a:lnTo>
                    <a:pt x="1012698" y="1012698"/>
                  </a:lnTo>
                  <a:lnTo>
                    <a:pt x="0" y="1012698"/>
                  </a:lnTo>
                  <a:lnTo>
                    <a:pt x="0" y="0"/>
                  </a:lnTo>
                  <a:close/>
                </a:path>
              </a:pathLst>
            </a:custGeom>
            <a:blipFill>
              <a:blip r:embed="rId6"/>
              <a:stretch>
                <a:fillRect r="3" b="3"/>
              </a:stretch>
            </a:blipFill>
          </p:spPr>
          <p:txBody>
            <a:bodyPr/>
            <a:lstStyle/>
            <a:p>
              <a:endParaRPr lang="en-US"/>
            </a:p>
          </p:txBody>
        </p:sp>
      </p:grpSp>
      <p:grpSp>
        <p:nvGrpSpPr>
          <p:cNvPr id="31" name="Group 31"/>
          <p:cNvGrpSpPr/>
          <p:nvPr/>
        </p:nvGrpSpPr>
        <p:grpSpPr>
          <a:xfrm>
            <a:off x="7108812" y="6053957"/>
            <a:ext cx="4081834" cy="756745"/>
            <a:chOff x="0" y="0"/>
            <a:chExt cx="5442445" cy="1008993"/>
          </a:xfrm>
        </p:grpSpPr>
        <p:sp>
          <p:nvSpPr>
            <p:cNvPr id="32" name="Freeform 32"/>
            <p:cNvSpPr/>
            <p:nvPr/>
          </p:nvSpPr>
          <p:spPr>
            <a:xfrm>
              <a:off x="0" y="0"/>
              <a:ext cx="5442448" cy="1008997"/>
            </a:xfrm>
            <a:custGeom>
              <a:avLst/>
              <a:gdLst/>
              <a:ahLst/>
              <a:cxnLst/>
              <a:rect l="l" t="t" r="r" b="b"/>
              <a:pathLst>
                <a:path w="5442448" h="1008997">
                  <a:moveTo>
                    <a:pt x="0" y="0"/>
                  </a:moveTo>
                  <a:lnTo>
                    <a:pt x="5442448" y="0"/>
                  </a:lnTo>
                  <a:lnTo>
                    <a:pt x="5442448" y="1008997"/>
                  </a:lnTo>
                  <a:lnTo>
                    <a:pt x="0" y="1008997"/>
                  </a:lnTo>
                  <a:close/>
                </a:path>
              </a:pathLst>
            </a:custGeom>
            <a:blipFill>
              <a:blip r:embed="rId3">
                <a:alphaModFix amt="0"/>
              </a:blip>
              <a:stretch>
                <a:fillRect t="-55101" b="-55100"/>
              </a:stretch>
            </a:blipFill>
          </p:spPr>
          <p:txBody>
            <a:bodyPr/>
            <a:lstStyle/>
            <a:p>
              <a:endParaRPr lang="en-US"/>
            </a:p>
          </p:txBody>
        </p:sp>
        <p:sp>
          <p:nvSpPr>
            <p:cNvPr id="33" name="TextBox 33"/>
            <p:cNvSpPr txBox="1"/>
            <p:nvPr/>
          </p:nvSpPr>
          <p:spPr>
            <a:xfrm>
              <a:off x="0" y="0"/>
              <a:ext cx="5442445" cy="1008993"/>
            </a:xfrm>
            <a:prstGeom prst="rect">
              <a:avLst/>
            </a:prstGeom>
          </p:spPr>
          <p:txBody>
            <a:bodyPr lIns="0" tIns="0" rIns="0" bIns="0" rtlCol="0" anchor="ctr"/>
            <a:lstStyle/>
            <a:p>
              <a:pPr algn="ctr">
                <a:lnSpc>
                  <a:spcPts val="3010"/>
                </a:lnSpc>
              </a:pPr>
              <a:r>
                <a:rPr lang="en-US" sz="2508" b="1">
                  <a:solidFill>
                    <a:srgbClr val="1F2937"/>
                  </a:solidFill>
                  <a:latin typeface="Montserrat Bold"/>
                  <a:ea typeface="Montserrat Bold"/>
                  <a:cs typeface="Montserrat Bold"/>
                  <a:sym typeface="Montserrat Bold"/>
                </a:rPr>
                <a:t>2. Tra cứu / hỏi Trợ lý ảo</a:t>
              </a:r>
            </a:p>
          </p:txBody>
        </p:sp>
      </p:grpSp>
      <p:grpSp>
        <p:nvGrpSpPr>
          <p:cNvPr id="34" name="Group 34"/>
          <p:cNvGrpSpPr/>
          <p:nvPr/>
        </p:nvGrpSpPr>
        <p:grpSpPr>
          <a:xfrm>
            <a:off x="7177611" y="6879498"/>
            <a:ext cx="3944245" cy="1238310"/>
            <a:chOff x="0" y="0"/>
            <a:chExt cx="5258994" cy="1651080"/>
          </a:xfrm>
        </p:grpSpPr>
        <p:sp>
          <p:nvSpPr>
            <p:cNvPr id="35" name="Freeform 35"/>
            <p:cNvSpPr/>
            <p:nvPr/>
          </p:nvSpPr>
          <p:spPr>
            <a:xfrm>
              <a:off x="0" y="0"/>
              <a:ext cx="5258995" cy="1651083"/>
            </a:xfrm>
            <a:custGeom>
              <a:avLst/>
              <a:gdLst/>
              <a:ahLst/>
              <a:cxnLst/>
              <a:rect l="l" t="t" r="r" b="b"/>
              <a:pathLst>
                <a:path w="5258995" h="1651083">
                  <a:moveTo>
                    <a:pt x="0" y="0"/>
                  </a:moveTo>
                  <a:lnTo>
                    <a:pt x="5258995" y="0"/>
                  </a:lnTo>
                  <a:lnTo>
                    <a:pt x="5258995" y="1651083"/>
                  </a:lnTo>
                  <a:lnTo>
                    <a:pt x="0" y="1651083"/>
                  </a:lnTo>
                  <a:close/>
                </a:path>
              </a:pathLst>
            </a:custGeom>
            <a:blipFill>
              <a:blip r:embed="rId3">
                <a:alphaModFix amt="0"/>
              </a:blip>
              <a:stretch>
                <a:fillRect t="-12063" b="-12063"/>
              </a:stretch>
            </a:blipFill>
          </p:spPr>
          <p:txBody>
            <a:bodyPr/>
            <a:lstStyle/>
            <a:p>
              <a:endParaRPr lang="en-US"/>
            </a:p>
          </p:txBody>
        </p:sp>
        <p:sp>
          <p:nvSpPr>
            <p:cNvPr id="36" name="TextBox 36"/>
            <p:cNvSpPr txBox="1"/>
            <p:nvPr/>
          </p:nvSpPr>
          <p:spPr>
            <a:xfrm>
              <a:off x="0" y="0"/>
              <a:ext cx="5258994" cy="1651080"/>
            </a:xfrm>
            <a:prstGeom prst="rect">
              <a:avLst/>
            </a:prstGeom>
          </p:spPr>
          <p:txBody>
            <a:bodyPr lIns="0" tIns="0" rIns="0" bIns="0" rtlCol="0" anchor="ctr"/>
            <a:lstStyle/>
            <a:p>
              <a:pPr algn="ctr">
                <a:lnSpc>
                  <a:spcPts val="2527"/>
                </a:lnSpc>
              </a:pPr>
              <a:r>
                <a:rPr lang="en-US" sz="2106" b="1">
                  <a:solidFill>
                    <a:srgbClr val="374151"/>
                  </a:solidFill>
                  <a:latin typeface="Montserrat Bold"/>
                  <a:ea typeface="Montserrat Bold"/>
                  <a:cs typeface="Montserrat Bold"/>
                  <a:sym typeface="Montserrat Bold"/>
                </a:rPr>
                <a:t>Tìm lĩnh vực hoặc gõ câu hỏi tự nhiên.</a:t>
              </a:r>
            </a:p>
          </p:txBody>
        </p:sp>
      </p:grpSp>
      <p:grpSp>
        <p:nvGrpSpPr>
          <p:cNvPr id="37" name="Group 37"/>
          <p:cNvGrpSpPr/>
          <p:nvPr/>
        </p:nvGrpSpPr>
        <p:grpSpPr>
          <a:xfrm>
            <a:off x="11768528" y="5641191"/>
            <a:ext cx="632917" cy="632917"/>
            <a:chOff x="0" y="0"/>
            <a:chExt cx="843890" cy="843890"/>
          </a:xfrm>
        </p:grpSpPr>
        <p:sp>
          <p:nvSpPr>
            <p:cNvPr id="38" name="Freeform 38" descr="preencoded.png"/>
            <p:cNvSpPr/>
            <p:nvPr/>
          </p:nvSpPr>
          <p:spPr>
            <a:xfrm>
              <a:off x="0" y="0"/>
              <a:ext cx="843915" cy="843915"/>
            </a:xfrm>
            <a:custGeom>
              <a:avLst/>
              <a:gdLst/>
              <a:ahLst/>
              <a:cxnLst/>
              <a:rect l="l" t="t" r="r" b="b"/>
              <a:pathLst>
                <a:path w="843915" h="843915">
                  <a:moveTo>
                    <a:pt x="0" y="0"/>
                  </a:moveTo>
                  <a:lnTo>
                    <a:pt x="843915" y="0"/>
                  </a:lnTo>
                  <a:lnTo>
                    <a:pt x="843915" y="843915"/>
                  </a:lnTo>
                  <a:lnTo>
                    <a:pt x="0" y="843915"/>
                  </a:lnTo>
                  <a:lnTo>
                    <a:pt x="0" y="0"/>
                  </a:lnTo>
                  <a:close/>
                </a:path>
              </a:pathLst>
            </a:custGeom>
            <a:blipFill>
              <a:blip r:embed="rId5"/>
              <a:stretch>
                <a:fillRect r="3" b="3"/>
              </a:stretch>
            </a:blipFill>
          </p:spPr>
          <p:txBody>
            <a:bodyPr/>
            <a:lstStyle/>
            <a:p>
              <a:endParaRPr lang="en-US"/>
            </a:p>
          </p:txBody>
        </p:sp>
      </p:grpSp>
      <p:grpSp>
        <p:nvGrpSpPr>
          <p:cNvPr id="39" name="Group 39"/>
          <p:cNvGrpSpPr/>
          <p:nvPr/>
        </p:nvGrpSpPr>
        <p:grpSpPr>
          <a:xfrm>
            <a:off x="12694587" y="3705377"/>
            <a:ext cx="4651305" cy="4559579"/>
            <a:chOff x="0" y="0"/>
            <a:chExt cx="6201740" cy="6079439"/>
          </a:xfrm>
        </p:grpSpPr>
        <p:sp>
          <p:nvSpPr>
            <p:cNvPr id="40" name="Freeform 40"/>
            <p:cNvSpPr/>
            <p:nvPr/>
          </p:nvSpPr>
          <p:spPr>
            <a:xfrm>
              <a:off x="0" y="0"/>
              <a:ext cx="6201791" cy="6079490"/>
            </a:xfrm>
            <a:custGeom>
              <a:avLst/>
              <a:gdLst/>
              <a:ahLst/>
              <a:cxnLst/>
              <a:rect l="l" t="t" r="r" b="b"/>
              <a:pathLst>
                <a:path w="6201791" h="6079490">
                  <a:moveTo>
                    <a:pt x="0" y="221107"/>
                  </a:moveTo>
                  <a:cubicBezTo>
                    <a:pt x="0" y="98933"/>
                    <a:pt x="98933" y="0"/>
                    <a:pt x="221107" y="0"/>
                  </a:cubicBezTo>
                  <a:lnTo>
                    <a:pt x="5980684" y="0"/>
                  </a:lnTo>
                  <a:cubicBezTo>
                    <a:pt x="6102731" y="0"/>
                    <a:pt x="6201791" y="98933"/>
                    <a:pt x="6201791" y="221107"/>
                  </a:cubicBezTo>
                  <a:lnTo>
                    <a:pt x="6201791" y="5858383"/>
                  </a:lnTo>
                  <a:cubicBezTo>
                    <a:pt x="6201791" y="5980430"/>
                    <a:pt x="6102858" y="6079490"/>
                    <a:pt x="5980684" y="6079490"/>
                  </a:cubicBezTo>
                  <a:lnTo>
                    <a:pt x="221107" y="6079490"/>
                  </a:lnTo>
                  <a:cubicBezTo>
                    <a:pt x="98933" y="6079490"/>
                    <a:pt x="0" y="5980430"/>
                    <a:pt x="0" y="5858383"/>
                  </a:cubicBezTo>
                  <a:close/>
                </a:path>
              </a:pathLst>
            </a:custGeom>
            <a:solidFill>
              <a:srgbClr val="7A0010"/>
            </a:solidFill>
            <a:ln w="19110" cap="sq">
              <a:solidFill>
                <a:srgbClr val="FFD700"/>
              </a:solidFill>
              <a:prstDash val="solid"/>
              <a:miter/>
            </a:ln>
          </p:spPr>
          <p:txBody>
            <a:bodyPr/>
            <a:lstStyle/>
            <a:p>
              <a:endParaRPr lang="en-US"/>
            </a:p>
          </p:txBody>
        </p:sp>
      </p:grpSp>
      <p:grpSp>
        <p:nvGrpSpPr>
          <p:cNvPr id="41" name="Group 41"/>
          <p:cNvGrpSpPr/>
          <p:nvPr/>
        </p:nvGrpSpPr>
        <p:grpSpPr>
          <a:xfrm>
            <a:off x="14194698" y="4127697"/>
            <a:ext cx="1651083" cy="1651083"/>
            <a:chOff x="0" y="0"/>
            <a:chExt cx="2201443" cy="2201443"/>
          </a:xfrm>
        </p:grpSpPr>
        <p:sp>
          <p:nvSpPr>
            <p:cNvPr id="42" name="Freeform 42"/>
            <p:cNvSpPr/>
            <p:nvPr/>
          </p:nvSpPr>
          <p:spPr>
            <a:xfrm>
              <a:off x="0" y="0"/>
              <a:ext cx="2201418" cy="2201418"/>
            </a:xfrm>
            <a:custGeom>
              <a:avLst/>
              <a:gdLst/>
              <a:ahLst/>
              <a:cxnLst/>
              <a:rect l="l" t="t" r="r" b="b"/>
              <a:pathLst>
                <a:path w="2201418" h="2201418">
                  <a:moveTo>
                    <a:pt x="0" y="1100709"/>
                  </a:moveTo>
                  <a:cubicBezTo>
                    <a:pt x="0" y="492760"/>
                    <a:pt x="492760" y="0"/>
                    <a:pt x="1100709" y="0"/>
                  </a:cubicBezTo>
                  <a:cubicBezTo>
                    <a:pt x="1708658" y="0"/>
                    <a:pt x="2201418" y="492760"/>
                    <a:pt x="2201418" y="1100709"/>
                  </a:cubicBezTo>
                  <a:cubicBezTo>
                    <a:pt x="2201418" y="1708658"/>
                    <a:pt x="1708658" y="2201418"/>
                    <a:pt x="1100709" y="2201418"/>
                  </a:cubicBezTo>
                  <a:cubicBezTo>
                    <a:pt x="492760" y="2201418"/>
                    <a:pt x="0" y="1708658"/>
                    <a:pt x="0" y="1100709"/>
                  </a:cubicBezTo>
                  <a:close/>
                </a:path>
              </a:pathLst>
            </a:custGeom>
            <a:solidFill>
              <a:srgbClr val="1F7A1F"/>
            </a:solidFill>
          </p:spPr>
          <p:txBody>
            <a:bodyPr/>
            <a:lstStyle/>
            <a:p>
              <a:endParaRPr lang="en-US"/>
            </a:p>
          </p:txBody>
        </p:sp>
      </p:grpSp>
      <p:grpSp>
        <p:nvGrpSpPr>
          <p:cNvPr id="43" name="Group 43"/>
          <p:cNvGrpSpPr/>
          <p:nvPr/>
        </p:nvGrpSpPr>
        <p:grpSpPr>
          <a:xfrm>
            <a:off x="14640487" y="4573495"/>
            <a:ext cx="759495" cy="759495"/>
            <a:chOff x="0" y="0"/>
            <a:chExt cx="1012660" cy="1012660"/>
          </a:xfrm>
        </p:grpSpPr>
        <p:sp>
          <p:nvSpPr>
            <p:cNvPr id="44" name="Freeform 44" descr="preencoded.png"/>
            <p:cNvSpPr/>
            <p:nvPr/>
          </p:nvSpPr>
          <p:spPr>
            <a:xfrm>
              <a:off x="0" y="0"/>
              <a:ext cx="1012698" cy="1012698"/>
            </a:xfrm>
            <a:custGeom>
              <a:avLst/>
              <a:gdLst/>
              <a:ahLst/>
              <a:cxnLst/>
              <a:rect l="l" t="t" r="r" b="b"/>
              <a:pathLst>
                <a:path w="1012698" h="1012698">
                  <a:moveTo>
                    <a:pt x="0" y="0"/>
                  </a:moveTo>
                  <a:lnTo>
                    <a:pt x="1012698" y="0"/>
                  </a:lnTo>
                  <a:lnTo>
                    <a:pt x="1012698" y="1012698"/>
                  </a:lnTo>
                  <a:lnTo>
                    <a:pt x="0" y="1012698"/>
                  </a:lnTo>
                  <a:lnTo>
                    <a:pt x="0" y="0"/>
                  </a:lnTo>
                  <a:close/>
                </a:path>
              </a:pathLst>
            </a:custGeom>
            <a:blipFill>
              <a:blip r:embed="rId7"/>
              <a:stretch>
                <a:fillRect r="3" b="3"/>
              </a:stretch>
            </a:blipFill>
          </p:spPr>
          <p:txBody>
            <a:bodyPr/>
            <a:lstStyle/>
            <a:p>
              <a:endParaRPr lang="en-US"/>
            </a:p>
          </p:txBody>
        </p:sp>
      </p:grpSp>
      <p:grpSp>
        <p:nvGrpSpPr>
          <p:cNvPr id="45" name="Group 45"/>
          <p:cNvGrpSpPr/>
          <p:nvPr/>
        </p:nvGrpSpPr>
        <p:grpSpPr>
          <a:xfrm>
            <a:off x="12979317" y="6053957"/>
            <a:ext cx="4081834" cy="756745"/>
            <a:chOff x="0" y="0"/>
            <a:chExt cx="5442445" cy="1008993"/>
          </a:xfrm>
        </p:grpSpPr>
        <p:sp>
          <p:nvSpPr>
            <p:cNvPr id="46" name="Freeform 46"/>
            <p:cNvSpPr/>
            <p:nvPr/>
          </p:nvSpPr>
          <p:spPr>
            <a:xfrm>
              <a:off x="0" y="0"/>
              <a:ext cx="5442448" cy="1008997"/>
            </a:xfrm>
            <a:custGeom>
              <a:avLst/>
              <a:gdLst/>
              <a:ahLst/>
              <a:cxnLst/>
              <a:rect l="l" t="t" r="r" b="b"/>
              <a:pathLst>
                <a:path w="5442448" h="1008997">
                  <a:moveTo>
                    <a:pt x="0" y="0"/>
                  </a:moveTo>
                  <a:lnTo>
                    <a:pt x="5442448" y="0"/>
                  </a:lnTo>
                  <a:lnTo>
                    <a:pt x="5442448" y="1008997"/>
                  </a:lnTo>
                  <a:lnTo>
                    <a:pt x="0" y="1008997"/>
                  </a:lnTo>
                  <a:close/>
                </a:path>
              </a:pathLst>
            </a:custGeom>
            <a:blipFill>
              <a:blip r:embed="rId3">
                <a:alphaModFix amt="0"/>
              </a:blip>
              <a:stretch>
                <a:fillRect t="-55101" b="-55100"/>
              </a:stretch>
            </a:blipFill>
          </p:spPr>
          <p:txBody>
            <a:bodyPr/>
            <a:lstStyle/>
            <a:p>
              <a:endParaRPr lang="en-US"/>
            </a:p>
          </p:txBody>
        </p:sp>
        <p:sp>
          <p:nvSpPr>
            <p:cNvPr id="47" name="TextBox 47"/>
            <p:cNvSpPr txBox="1"/>
            <p:nvPr/>
          </p:nvSpPr>
          <p:spPr>
            <a:xfrm>
              <a:off x="0" y="0"/>
              <a:ext cx="5442445" cy="1008993"/>
            </a:xfrm>
            <a:prstGeom prst="rect">
              <a:avLst/>
            </a:prstGeom>
          </p:spPr>
          <p:txBody>
            <a:bodyPr lIns="0" tIns="0" rIns="0" bIns="0" rtlCol="0" anchor="ctr"/>
            <a:lstStyle/>
            <a:p>
              <a:pPr algn="ctr">
                <a:lnSpc>
                  <a:spcPts val="3250"/>
                </a:lnSpc>
              </a:pPr>
              <a:r>
                <a:rPr lang="en-US" sz="2708" b="1">
                  <a:solidFill>
                    <a:srgbClr val="FFFFFF"/>
                  </a:solidFill>
                  <a:latin typeface="Montserrat Bold"/>
                  <a:ea typeface="Montserrat Bold"/>
                  <a:cs typeface="Montserrat Bold"/>
                  <a:sym typeface="Montserrat Bold"/>
                </a:rPr>
                <a:t>3. Nộp hồ sơ online</a:t>
              </a:r>
            </a:p>
          </p:txBody>
        </p:sp>
      </p:grpSp>
      <p:grpSp>
        <p:nvGrpSpPr>
          <p:cNvPr id="48" name="Group 48"/>
          <p:cNvGrpSpPr/>
          <p:nvPr/>
        </p:nvGrpSpPr>
        <p:grpSpPr>
          <a:xfrm>
            <a:off x="13048117" y="6879498"/>
            <a:ext cx="3944245" cy="1238310"/>
            <a:chOff x="0" y="0"/>
            <a:chExt cx="5258994" cy="1651080"/>
          </a:xfrm>
        </p:grpSpPr>
        <p:sp>
          <p:nvSpPr>
            <p:cNvPr id="49" name="Freeform 49"/>
            <p:cNvSpPr/>
            <p:nvPr/>
          </p:nvSpPr>
          <p:spPr>
            <a:xfrm>
              <a:off x="0" y="0"/>
              <a:ext cx="5258995" cy="1651083"/>
            </a:xfrm>
            <a:custGeom>
              <a:avLst/>
              <a:gdLst/>
              <a:ahLst/>
              <a:cxnLst/>
              <a:rect l="l" t="t" r="r" b="b"/>
              <a:pathLst>
                <a:path w="5258995" h="1651083">
                  <a:moveTo>
                    <a:pt x="0" y="0"/>
                  </a:moveTo>
                  <a:lnTo>
                    <a:pt x="5258995" y="0"/>
                  </a:lnTo>
                  <a:lnTo>
                    <a:pt x="5258995" y="1651083"/>
                  </a:lnTo>
                  <a:lnTo>
                    <a:pt x="0" y="1651083"/>
                  </a:lnTo>
                  <a:close/>
                </a:path>
              </a:pathLst>
            </a:custGeom>
            <a:blipFill>
              <a:blip r:embed="rId3">
                <a:alphaModFix amt="0"/>
              </a:blip>
              <a:stretch>
                <a:fillRect t="-12063" b="-12063"/>
              </a:stretch>
            </a:blipFill>
          </p:spPr>
          <p:txBody>
            <a:bodyPr/>
            <a:lstStyle/>
            <a:p>
              <a:endParaRPr lang="en-US"/>
            </a:p>
          </p:txBody>
        </p:sp>
        <p:sp>
          <p:nvSpPr>
            <p:cNvPr id="50" name="TextBox 50"/>
            <p:cNvSpPr txBox="1"/>
            <p:nvPr/>
          </p:nvSpPr>
          <p:spPr>
            <a:xfrm>
              <a:off x="0" y="0"/>
              <a:ext cx="5258994" cy="1651080"/>
            </a:xfrm>
            <a:prstGeom prst="rect">
              <a:avLst/>
            </a:prstGeom>
          </p:spPr>
          <p:txBody>
            <a:bodyPr lIns="0" tIns="0" rIns="0" bIns="0" rtlCol="0" anchor="ctr"/>
            <a:lstStyle/>
            <a:p>
              <a:pPr algn="ctr">
                <a:lnSpc>
                  <a:spcPts val="2527"/>
                </a:lnSpc>
              </a:pPr>
              <a:r>
                <a:rPr lang="en-US" sz="2106" b="1">
                  <a:solidFill>
                    <a:srgbClr val="FFE9A8"/>
                  </a:solidFill>
                  <a:latin typeface="Montserrat Bold"/>
                  <a:ea typeface="Montserrat Bold"/>
                  <a:cs typeface="Montserrat Bold"/>
                  <a:sym typeface="Montserrat Bold"/>
                </a:rPr>
                <a:t>Liên kết thẳng tới Cổng DVC Bộ Công an.</a:t>
              </a:r>
            </a:p>
          </p:txBody>
        </p:sp>
      </p:grpSp>
      <p:grpSp>
        <p:nvGrpSpPr>
          <p:cNvPr id="51" name="Group 51"/>
          <p:cNvGrpSpPr/>
          <p:nvPr/>
        </p:nvGrpSpPr>
        <p:grpSpPr>
          <a:xfrm>
            <a:off x="963130" y="9686334"/>
            <a:ext cx="16373208" cy="19260"/>
            <a:chOff x="0" y="0"/>
            <a:chExt cx="21830944" cy="25679"/>
          </a:xfrm>
        </p:grpSpPr>
        <p:sp>
          <p:nvSpPr>
            <p:cNvPr id="52" name="Freeform 52"/>
            <p:cNvSpPr/>
            <p:nvPr/>
          </p:nvSpPr>
          <p:spPr>
            <a:xfrm>
              <a:off x="0" y="0"/>
              <a:ext cx="21830919" cy="25654"/>
            </a:xfrm>
            <a:custGeom>
              <a:avLst/>
              <a:gdLst/>
              <a:ahLst/>
              <a:cxnLst/>
              <a:rect l="l" t="t" r="r" b="b"/>
              <a:pathLst>
                <a:path w="21830919" h="25654">
                  <a:moveTo>
                    <a:pt x="0" y="0"/>
                  </a:moveTo>
                  <a:lnTo>
                    <a:pt x="21830919" y="0"/>
                  </a:lnTo>
                  <a:lnTo>
                    <a:pt x="21830919" y="25654"/>
                  </a:lnTo>
                  <a:lnTo>
                    <a:pt x="0" y="25654"/>
                  </a:lnTo>
                  <a:close/>
                </a:path>
              </a:pathLst>
            </a:custGeom>
            <a:solidFill>
              <a:srgbClr val="F3D2D7"/>
            </a:solidFill>
          </p:spPr>
          <p:txBody>
            <a:bodyPr/>
            <a:lstStyle/>
            <a:p>
              <a:endParaRPr lang="en-US"/>
            </a:p>
          </p:txBody>
        </p:sp>
      </p:grpSp>
      <p:grpSp>
        <p:nvGrpSpPr>
          <p:cNvPr id="53" name="Group 53"/>
          <p:cNvGrpSpPr/>
          <p:nvPr/>
        </p:nvGrpSpPr>
        <p:grpSpPr>
          <a:xfrm>
            <a:off x="963130" y="9741370"/>
            <a:ext cx="12383100" cy="412770"/>
            <a:chOff x="0" y="0"/>
            <a:chExt cx="16510800" cy="550360"/>
          </a:xfrm>
        </p:grpSpPr>
        <p:sp>
          <p:nvSpPr>
            <p:cNvPr id="54" name="Freeform 54"/>
            <p:cNvSpPr/>
            <p:nvPr/>
          </p:nvSpPr>
          <p:spPr>
            <a:xfrm>
              <a:off x="0" y="0"/>
              <a:ext cx="16510797" cy="550365"/>
            </a:xfrm>
            <a:custGeom>
              <a:avLst/>
              <a:gdLst/>
              <a:ahLst/>
              <a:cxnLst/>
              <a:rect l="l" t="t" r="r" b="b"/>
              <a:pathLst>
                <a:path w="16510797" h="550365">
                  <a:moveTo>
                    <a:pt x="0" y="0"/>
                  </a:moveTo>
                  <a:lnTo>
                    <a:pt x="16510797" y="0"/>
                  </a:lnTo>
                  <a:lnTo>
                    <a:pt x="16510797" y="550365"/>
                  </a:lnTo>
                  <a:lnTo>
                    <a:pt x="0" y="550365"/>
                  </a:lnTo>
                  <a:close/>
                </a:path>
              </a:pathLst>
            </a:custGeom>
            <a:blipFill>
              <a:blip r:embed="rId3">
                <a:alphaModFix amt="0"/>
              </a:blip>
              <a:stretch>
                <a:fillRect t="-534546" b="-534544"/>
              </a:stretch>
            </a:blipFill>
          </p:spPr>
          <p:txBody>
            <a:bodyPr/>
            <a:lstStyle/>
            <a:p>
              <a:endParaRPr lang="en-US"/>
            </a:p>
          </p:txBody>
        </p:sp>
        <p:sp>
          <p:nvSpPr>
            <p:cNvPr id="55" name="TextBox 55"/>
            <p:cNvSpPr txBox="1"/>
            <p:nvPr/>
          </p:nvSpPr>
          <p:spPr>
            <a:xfrm>
              <a:off x="0" y="0"/>
              <a:ext cx="16510800" cy="550360"/>
            </a:xfrm>
            <a:prstGeom prst="rect">
              <a:avLst/>
            </a:prstGeom>
          </p:spPr>
          <p:txBody>
            <a:bodyPr lIns="0" tIns="0" rIns="0" bIns="0" rtlCol="0" anchor="ctr"/>
            <a:lstStyle/>
            <a:p>
              <a:pPr algn="l">
                <a:lnSpc>
                  <a:spcPts val="1625"/>
                </a:lnSpc>
              </a:pPr>
              <a:r>
                <a:rPr lang="en-US" sz="1354" b="1" spc="150">
                  <a:solidFill>
                    <a:srgbClr val="6B7280"/>
                  </a:solidFill>
                  <a:latin typeface="Montserrat Bold"/>
                  <a:ea typeface="Montserrat Bold"/>
                  <a:cs typeface="Montserrat Bold"/>
                  <a:sym typeface="Montserrat Bold"/>
                </a:rPr>
                <a:t>CÔNG AN PHƯỜNG PHÚ THỌ   ·   SÁNG KIẾN CẢI CÁCH HÀNH CHÍNH · 2026</a:t>
              </a:r>
            </a:p>
          </p:txBody>
        </p:sp>
      </p:grpSp>
      <p:grpSp>
        <p:nvGrpSpPr>
          <p:cNvPr id="56" name="Group 56"/>
          <p:cNvGrpSpPr/>
          <p:nvPr/>
        </p:nvGrpSpPr>
        <p:grpSpPr>
          <a:xfrm>
            <a:off x="15960433" y="9741370"/>
            <a:ext cx="1375896" cy="412770"/>
            <a:chOff x="0" y="0"/>
            <a:chExt cx="1834528" cy="550360"/>
          </a:xfrm>
        </p:grpSpPr>
        <p:sp>
          <p:nvSpPr>
            <p:cNvPr id="57" name="Freeform 57"/>
            <p:cNvSpPr/>
            <p:nvPr/>
          </p:nvSpPr>
          <p:spPr>
            <a:xfrm>
              <a:off x="0" y="0"/>
              <a:ext cx="1834533" cy="550365"/>
            </a:xfrm>
            <a:custGeom>
              <a:avLst/>
              <a:gdLst/>
              <a:ahLst/>
              <a:cxnLst/>
              <a:rect l="l" t="t" r="r" b="b"/>
              <a:pathLst>
                <a:path w="1834533" h="550365">
                  <a:moveTo>
                    <a:pt x="0" y="0"/>
                  </a:moveTo>
                  <a:lnTo>
                    <a:pt x="1834533" y="0"/>
                  </a:lnTo>
                  <a:lnTo>
                    <a:pt x="1834533" y="550365"/>
                  </a:lnTo>
                  <a:lnTo>
                    <a:pt x="0" y="550365"/>
                  </a:lnTo>
                  <a:close/>
                </a:path>
              </a:pathLst>
            </a:custGeom>
            <a:blipFill>
              <a:blip r:embed="rId3">
                <a:alphaModFix amt="0"/>
              </a:blip>
              <a:stretch>
                <a:fillRect t="-14950" b="-14948"/>
              </a:stretch>
            </a:blipFill>
          </p:spPr>
          <p:txBody>
            <a:bodyPr/>
            <a:lstStyle/>
            <a:p>
              <a:endParaRPr lang="en-US"/>
            </a:p>
          </p:txBody>
        </p:sp>
        <p:sp>
          <p:nvSpPr>
            <p:cNvPr id="58" name="TextBox 58"/>
            <p:cNvSpPr txBox="1"/>
            <p:nvPr/>
          </p:nvSpPr>
          <p:spPr>
            <a:xfrm>
              <a:off x="0" y="-9525"/>
              <a:ext cx="1834528" cy="559885"/>
            </a:xfrm>
            <a:prstGeom prst="rect">
              <a:avLst/>
            </a:prstGeom>
          </p:spPr>
          <p:txBody>
            <a:bodyPr lIns="0" tIns="0" rIns="0" bIns="0" rtlCol="0" anchor="ctr"/>
            <a:lstStyle/>
            <a:p>
              <a:pPr algn="r">
                <a:lnSpc>
                  <a:spcPts val="1805"/>
                </a:lnSpc>
              </a:pPr>
              <a:r>
                <a:rPr lang="en-US" sz="1504" b="1">
                  <a:solidFill>
                    <a:srgbClr val="C41E3A"/>
                  </a:solidFill>
                  <a:latin typeface="Montserrat Bold"/>
                  <a:ea typeface="Montserrat Bold"/>
                  <a:cs typeface="Montserrat Bold"/>
                  <a:sym typeface="Montserrat Bold"/>
                </a:rPr>
                <a:t>05</a:t>
              </a:r>
            </a:p>
          </p:txBody>
        </p:sp>
      </p:grpSp>
      <p:sp>
        <p:nvSpPr>
          <p:cNvPr id="59" name="Freeform 59"/>
          <p:cNvSpPr/>
          <p:nvPr/>
        </p:nvSpPr>
        <p:spPr>
          <a:xfrm>
            <a:off x="15763067" y="633048"/>
            <a:ext cx="1770628" cy="1768414"/>
          </a:xfrm>
          <a:custGeom>
            <a:avLst/>
            <a:gdLst/>
            <a:ahLst/>
            <a:cxnLst/>
            <a:rect l="l" t="t" r="r" b="b"/>
            <a:pathLst>
              <a:path w="1770628" h="1768414">
                <a:moveTo>
                  <a:pt x="0" y="0"/>
                </a:moveTo>
                <a:lnTo>
                  <a:pt x="1770628" y="0"/>
                </a:lnTo>
                <a:lnTo>
                  <a:pt x="1770628" y="1768414"/>
                </a:lnTo>
                <a:lnTo>
                  <a:pt x="0" y="1768414"/>
                </a:lnTo>
                <a:lnTo>
                  <a:pt x="0" y="0"/>
                </a:lnTo>
                <a:close/>
              </a:path>
            </a:pathLst>
          </a:custGeom>
          <a:blipFill>
            <a:blip>
              <a:alphaModFix amt="10999"/>
              <a:extLst>
                <a:ext uri="{96DAC541-7B7A-43D3-8B79-37D633B846F1}">
                  <asvg:svgBlip xmlns:asvg="http://schemas.microsoft.com/office/drawing/2016/SVG/main" r:embed="rId8"/>
                </a:ext>
              </a:extLst>
            </a:blip>
            <a:stretch>
              <a:fillRect/>
            </a:stretch>
          </a:blipFill>
        </p:spPr>
        <p:txBody>
          <a:bodyPr/>
          <a:lstStyle/>
          <a:p>
            <a:endParaRPr lang="en-US"/>
          </a:p>
        </p:txBody>
      </p:sp>
    </p:spTree>
    <p:extLst>
      <p:ext uri="{BB962C8B-B14F-4D97-AF65-F5344CB8AC3E}">
        <p14:creationId xmlns:p14="http://schemas.microsoft.com/office/powerpoint/2010/main" val="855491179"/>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0"/>
                      </p:stCondLst>
                      <p:childTnLst>
                        <p:par>
                          <p:cTn id="4" presetID="10" presetClass="entr" presetSubtype="0" fill="hold" nodeType="afterEffect">
                            <p:stCondLst>
                              <p:cond delay="0"/>
                            </p:stCondLst>
                            <p:childTnLst>
                              <p:set>
                                <p:cBhvr>
                                  <p:cTn id="5" dur="1" fill="hold">
                                    <p:stCondLst>
                                      <p:cond delay="0"/>
                                    </p:stCondLst>
                                  </p:cTn>
                                  <p:tgtEl>
                                    <p:spTgt spid="11"/>
                                  </p:tgtEl>
                                  <p:attrNameLst>
                                    <p:attrName>style.visibility</p:attrName>
                                  </p:attrNameLst>
                                </p:cBhvr>
                                <p:to>
                                  <p:strVal val="visible"/>
                                </p:to>
                              </p:set>
                              <p:animEffect transition="in" filter="fade">
                                <p:cBhvr>
                                  <p:cTn id="6" dur="650"/>
                                  <p:tgtEl>
                                    <p:spTgt spid="11"/>
                                  </p:tgtEl>
                                </p:cBhvr>
                              </p:animEffect>
                            </p:childTnLst>
                          </p:cTn>
                        </p:par>
                        <p:par>
                          <p:cTn id="7" presetID="10" presetClass="entr" presetSubtype="0" fill="hold" nodeType="afterEffect">
                            <p:stCondLst>
                              <p:cond delay="0"/>
                            </p:stCondLst>
                            <p:childTnLst>
                              <p:set>
                                <p:cBhvr>
                                  <p:cTn id="8" dur="1" fill="hold">
                                    <p:stCondLst>
                                      <p:cond delay="0"/>
                                    </p:stCondLst>
                                  </p:cTn>
                                  <p:tgtEl>
                                    <p:spTgt spid="13"/>
                                  </p:tgtEl>
                                  <p:attrNameLst>
                                    <p:attrName>style.visibility</p:attrName>
                                  </p:attrNameLst>
                                </p:cBhvr>
                                <p:to>
                                  <p:strVal val="visible"/>
                                </p:to>
                              </p:set>
                              <p:animEffect transition="in" filter="fade">
                                <p:cBhvr>
                                  <p:cTn id="9" dur="650"/>
                                  <p:tgtEl>
                                    <p:spTgt spid="13"/>
                                  </p:tgtEl>
                                </p:cBhvr>
                              </p:animEffect>
                            </p:childTnLst>
                          </p:cTn>
                        </p:par>
                        <p:par>
                          <p:cTn id="10" presetID="10" presetClass="entr" presetSubtype="0" fill="hold" nodeType="afterEffect">
                            <p:stCondLst>
                              <p:cond delay="0"/>
                            </p:stCondLst>
                            <p:childTnLst>
                              <p:set>
                                <p:cBhvr>
                                  <p:cTn id="11" dur="1" fill="hold">
                                    <p:stCondLst>
                                      <p:cond delay="0"/>
                                    </p:stCondLst>
                                  </p:cTn>
                                  <p:tgtEl>
                                    <p:spTgt spid="15"/>
                                  </p:tgtEl>
                                  <p:attrNameLst>
                                    <p:attrName>style.visibility</p:attrName>
                                  </p:attrNameLst>
                                </p:cBhvr>
                                <p:to>
                                  <p:strVal val="visible"/>
                                </p:to>
                              </p:set>
                              <p:animEffect transition="in" filter="fade">
                                <p:cBhvr>
                                  <p:cTn id="12" dur="650"/>
                                  <p:tgtEl>
                                    <p:spTgt spid="15"/>
                                  </p:tgtEl>
                                </p:cBhvr>
                              </p:animEffect>
                            </p:childTnLst>
                          </p:cTn>
                        </p:par>
                        <p:par>
                          <p:cTn id="13" presetID="10" presetClass="entr" presetSubtype="0" fill="hold" nodeType="afterEffect">
                            <p:stCondLst>
                              <p:cond delay="0"/>
                            </p:stCondLst>
                            <p:childTnLst>
                              <p:set>
                                <p:cBhvr>
                                  <p:cTn id="14" dur="1" fill="hold">
                                    <p:stCondLst>
                                      <p:cond delay="0"/>
                                    </p:stCondLst>
                                  </p:cTn>
                                  <p:tgtEl>
                                    <p:spTgt spid="17"/>
                                  </p:tgtEl>
                                  <p:attrNameLst>
                                    <p:attrName>style.visibility</p:attrName>
                                  </p:attrNameLst>
                                </p:cBhvr>
                                <p:to>
                                  <p:strVal val="visible"/>
                                </p:to>
                              </p:set>
                              <p:animEffect transition="in" filter="fade">
                                <p:cBhvr>
                                  <p:cTn id="15" dur="650"/>
                                  <p:tgtEl>
                                    <p:spTgt spid="17"/>
                                  </p:tgtEl>
                                </p:cBhvr>
                              </p:animEffect>
                            </p:childTnLst>
                          </p:cTn>
                        </p:par>
                        <p:par>
                          <p:cTn id="16" presetID="10" presetClass="entr" presetSubtype="0" fill="hold" nodeType="afterEffect">
                            <p:stCondLst>
                              <p:cond delay="0"/>
                            </p:stCondLst>
                            <p:childTnLst>
                              <p:set>
                                <p:cBhvr>
                                  <p:cTn id="17" dur="1" fill="hold">
                                    <p:stCondLst>
                                      <p:cond delay="0"/>
                                    </p:stCondLst>
                                  </p:cTn>
                                  <p:tgtEl>
                                    <p:spTgt spid="20"/>
                                  </p:tgtEl>
                                  <p:attrNameLst>
                                    <p:attrName>style.visibility</p:attrName>
                                  </p:attrNameLst>
                                </p:cBhvr>
                                <p:to>
                                  <p:strVal val="visible"/>
                                </p:to>
                              </p:set>
                              <p:animEffect transition="in" filter="fade">
                                <p:cBhvr>
                                  <p:cTn id="18" dur="650"/>
                                  <p:tgtEl>
                                    <p:spTgt spid="20"/>
                                  </p:tgtEl>
                                </p:cBhvr>
                              </p:animEffect>
                            </p:childTnLst>
                          </p:cTn>
                        </p:par>
                        <p:par>
                          <p:cTn id="19" presetID="10" presetClass="entr" presetSubtype="0" fill="hold" nodeType="afterEffect">
                            <p:stCondLst>
                              <p:cond delay="0"/>
                            </p:stCondLst>
                            <p:childTnLst>
                              <p:set>
                                <p:cBhvr>
                                  <p:cTn id="20" dur="1" fill="hold">
                                    <p:stCondLst>
                                      <p:cond delay="0"/>
                                    </p:stCondLst>
                                  </p:cTn>
                                  <p:tgtEl>
                                    <p:spTgt spid="23"/>
                                  </p:tgtEl>
                                  <p:attrNameLst>
                                    <p:attrName>style.visibility</p:attrName>
                                  </p:attrNameLst>
                                </p:cBhvr>
                                <p:to>
                                  <p:strVal val="visible"/>
                                </p:to>
                              </p:set>
                              <p:animEffect transition="in" filter="fade">
                                <p:cBhvr>
                                  <p:cTn id="21" dur="650"/>
                                  <p:tgtEl>
                                    <p:spTgt spid="23"/>
                                  </p:tgtEl>
                                </p:cBhvr>
                              </p:animEffect>
                            </p:childTnLst>
                          </p:cTn>
                        </p:par>
                        <p:par>
                          <p:cTn id="22" presetID="10" presetClass="entr" presetSubtype="0" fill="hold" nodeType="afterEffect">
                            <p:stCondLst>
                              <p:cond delay="0"/>
                            </p:stCondLst>
                            <p:childTnLst>
                              <p:set>
                                <p:cBhvr>
                                  <p:cTn id="23" dur="1" fill="hold">
                                    <p:stCondLst>
                                      <p:cond delay="0"/>
                                    </p:stCondLst>
                                  </p:cTn>
                                  <p:tgtEl>
                                    <p:spTgt spid="25"/>
                                  </p:tgtEl>
                                  <p:attrNameLst>
                                    <p:attrName>style.visibility</p:attrName>
                                  </p:attrNameLst>
                                </p:cBhvr>
                                <p:to>
                                  <p:strVal val="visible"/>
                                </p:to>
                              </p:set>
                              <p:animEffect transition="in" filter="fade">
                                <p:cBhvr>
                                  <p:cTn id="24" dur="650"/>
                                  <p:tgtEl>
                                    <p:spTgt spid="25"/>
                                  </p:tgtEl>
                                </p:cBhvr>
                              </p:animEffect>
                            </p:childTnLst>
                          </p:cTn>
                        </p:par>
                        <p:par>
                          <p:cTn id="25" presetID="10" presetClass="entr" presetSubtype="0" fill="hold" nodeType="afterEffect">
                            <p:stCondLst>
                              <p:cond delay="0"/>
                            </p:stCondLst>
                            <p:childTnLst>
                              <p:set>
                                <p:cBhvr>
                                  <p:cTn id="26" dur="1" fill="hold">
                                    <p:stCondLst>
                                      <p:cond delay="0"/>
                                    </p:stCondLst>
                                  </p:cTn>
                                  <p:tgtEl>
                                    <p:spTgt spid="27"/>
                                  </p:tgtEl>
                                  <p:attrNameLst>
                                    <p:attrName>style.visibility</p:attrName>
                                  </p:attrNameLst>
                                </p:cBhvr>
                                <p:to>
                                  <p:strVal val="visible"/>
                                </p:to>
                              </p:set>
                              <p:animEffect transition="in" filter="fade">
                                <p:cBhvr>
                                  <p:cTn id="27" dur="650"/>
                                  <p:tgtEl>
                                    <p:spTgt spid="27"/>
                                  </p:tgtEl>
                                </p:cBhvr>
                              </p:animEffect>
                            </p:childTnLst>
                          </p:cTn>
                        </p:par>
                        <p:par>
                          <p:cTn id="28" presetID="10" presetClass="entr" presetSubtype="0" fill="hold" nodeType="afterEffect">
                            <p:stCondLst>
                              <p:cond delay="0"/>
                            </p:stCondLst>
                            <p:childTnLst>
                              <p:set>
                                <p:cBhvr>
                                  <p:cTn id="29" dur="1" fill="hold">
                                    <p:stCondLst>
                                      <p:cond delay="0"/>
                                    </p:stCondLst>
                                  </p:cTn>
                                  <p:tgtEl>
                                    <p:spTgt spid="29"/>
                                  </p:tgtEl>
                                  <p:attrNameLst>
                                    <p:attrName>style.visibility</p:attrName>
                                  </p:attrNameLst>
                                </p:cBhvr>
                                <p:to>
                                  <p:strVal val="visible"/>
                                </p:to>
                              </p:set>
                              <p:animEffect transition="in" filter="fade">
                                <p:cBhvr>
                                  <p:cTn id="30" dur="650"/>
                                  <p:tgtEl>
                                    <p:spTgt spid="29"/>
                                  </p:tgtEl>
                                </p:cBhvr>
                              </p:animEffect>
                            </p:childTnLst>
                          </p:cTn>
                        </p:par>
                        <p:par>
                          <p:cTn id="31" presetID="10" presetClass="entr" presetSubtype="0" fill="hold" nodeType="afterEffect">
                            <p:stCondLst>
                              <p:cond delay="0"/>
                            </p:stCondLst>
                            <p:childTnLst>
                              <p:set>
                                <p:cBhvr>
                                  <p:cTn id="32" dur="1" fill="hold">
                                    <p:stCondLst>
                                      <p:cond delay="0"/>
                                    </p:stCondLst>
                                  </p:cTn>
                                  <p:tgtEl>
                                    <p:spTgt spid="31"/>
                                  </p:tgtEl>
                                  <p:attrNameLst>
                                    <p:attrName>style.visibility</p:attrName>
                                  </p:attrNameLst>
                                </p:cBhvr>
                                <p:to>
                                  <p:strVal val="visible"/>
                                </p:to>
                              </p:set>
                              <p:animEffect transition="in" filter="fade">
                                <p:cBhvr>
                                  <p:cTn id="33" dur="650"/>
                                  <p:tgtEl>
                                    <p:spTgt spid="31"/>
                                  </p:tgtEl>
                                </p:cBhvr>
                              </p:animEffect>
                            </p:childTnLst>
                          </p:cTn>
                        </p:par>
                        <p:par>
                          <p:cTn id="34" presetID="10" presetClass="entr" presetSubtype="0" fill="hold" nodeType="afterEffect">
                            <p:stCondLst>
                              <p:cond delay="0"/>
                            </p:stCondLst>
                            <p:childTnLst>
                              <p:set>
                                <p:cBhvr>
                                  <p:cTn id="35" dur="1" fill="hold">
                                    <p:stCondLst>
                                      <p:cond delay="0"/>
                                    </p:stCondLst>
                                  </p:cTn>
                                  <p:tgtEl>
                                    <p:spTgt spid="34"/>
                                  </p:tgtEl>
                                  <p:attrNameLst>
                                    <p:attrName>style.visibility</p:attrName>
                                  </p:attrNameLst>
                                </p:cBhvr>
                                <p:to>
                                  <p:strVal val="visible"/>
                                </p:to>
                              </p:set>
                              <p:animEffect transition="in" filter="fade">
                                <p:cBhvr>
                                  <p:cTn id="36" dur="650"/>
                                  <p:tgtEl>
                                    <p:spTgt spid="34"/>
                                  </p:tgtEl>
                                </p:cBhvr>
                              </p:animEffect>
                            </p:childTnLst>
                          </p:cTn>
                        </p:par>
                        <p:par>
                          <p:cTn id="37" presetID="10" presetClass="entr" presetSubtype="0" fill="hold" nodeType="afterEffect">
                            <p:stCondLst>
                              <p:cond delay="0"/>
                            </p:stCondLst>
                            <p:childTnLst>
                              <p:set>
                                <p:cBhvr>
                                  <p:cTn id="38" dur="1" fill="hold">
                                    <p:stCondLst>
                                      <p:cond delay="0"/>
                                    </p:stCondLst>
                                  </p:cTn>
                                  <p:tgtEl>
                                    <p:spTgt spid="37"/>
                                  </p:tgtEl>
                                  <p:attrNameLst>
                                    <p:attrName>style.visibility</p:attrName>
                                  </p:attrNameLst>
                                </p:cBhvr>
                                <p:to>
                                  <p:strVal val="visible"/>
                                </p:to>
                              </p:set>
                              <p:animEffect transition="in" filter="fade">
                                <p:cBhvr>
                                  <p:cTn id="39" dur="650"/>
                                  <p:tgtEl>
                                    <p:spTgt spid="37"/>
                                  </p:tgtEl>
                                </p:cBhvr>
                              </p:animEffect>
                            </p:childTnLst>
                          </p:cTn>
                        </p:par>
                        <p:par>
                          <p:cTn id="40" presetID="10" presetClass="entr" presetSubtype="0" fill="hold" nodeType="afterEffect">
                            <p:stCondLst>
                              <p:cond delay="0"/>
                            </p:stCondLst>
                            <p:childTnLst>
                              <p:set>
                                <p:cBhvr>
                                  <p:cTn id="41" dur="1" fill="hold">
                                    <p:stCondLst>
                                      <p:cond delay="0"/>
                                    </p:stCondLst>
                                  </p:cTn>
                                  <p:tgtEl>
                                    <p:spTgt spid="39"/>
                                  </p:tgtEl>
                                  <p:attrNameLst>
                                    <p:attrName>style.visibility</p:attrName>
                                  </p:attrNameLst>
                                </p:cBhvr>
                                <p:to>
                                  <p:strVal val="visible"/>
                                </p:to>
                              </p:set>
                              <p:animEffect transition="in" filter="fade">
                                <p:cBhvr>
                                  <p:cTn id="42" dur="650"/>
                                  <p:tgtEl>
                                    <p:spTgt spid="39"/>
                                  </p:tgtEl>
                                </p:cBhvr>
                              </p:animEffect>
                            </p:childTnLst>
                          </p:cTn>
                        </p:par>
                        <p:par>
                          <p:cTn id="43" presetID="10" presetClass="entr" presetSubtype="0" fill="hold" nodeType="afterEffect">
                            <p:stCondLst>
                              <p:cond delay="0"/>
                            </p:stCondLst>
                            <p:childTnLst>
                              <p:set>
                                <p:cBhvr>
                                  <p:cTn id="44" dur="1" fill="hold">
                                    <p:stCondLst>
                                      <p:cond delay="0"/>
                                    </p:stCondLst>
                                  </p:cTn>
                                  <p:tgtEl>
                                    <p:spTgt spid="41"/>
                                  </p:tgtEl>
                                  <p:attrNameLst>
                                    <p:attrName>style.visibility</p:attrName>
                                  </p:attrNameLst>
                                </p:cBhvr>
                                <p:to>
                                  <p:strVal val="visible"/>
                                </p:to>
                              </p:set>
                              <p:animEffect transition="in" filter="fade">
                                <p:cBhvr>
                                  <p:cTn id="45" dur="650"/>
                                  <p:tgtEl>
                                    <p:spTgt spid="41"/>
                                  </p:tgtEl>
                                </p:cBhvr>
                              </p:animEffect>
                            </p:childTnLst>
                          </p:cTn>
                        </p:par>
                        <p:par>
                          <p:cTn id="46" presetID="10" presetClass="entr" presetSubtype="0" fill="hold" nodeType="afterEffect">
                            <p:stCondLst>
                              <p:cond delay="0"/>
                            </p:stCondLst>
                            <p:childTnLst>
                              <p:set>
                                <p:cBhvr>
                                  <p:cTn id="47" dur="1" fill="hold">
                                    <p:stCondLst>
                                      <p:cond delay="0"/>
                                    </p:stCondLst>
                                  </p:cTn>
                                  <p:tgtEl>
                                    <p:spTgt spid="43"/>
                                  </p:tgtEl>
                                  <p:attrNameLst>
                                    <p:attrName>style.visibility</p:attrName>
                                  </p:attrNameLst>
                                </p:cBhvr>
                                <p:to>
                                  <p:strVal val="visible"/>
                                </p:to>
                              </p:set>
                              <p:animEffect transition="in" filter="fade">
                                <p:cBhvr>
                                  <p:cTn id="48" dur="650"/>
                                  <p:tgtEl>
                                    <p:spTgt spid="43"/>
                                  </p:tgtEl>
                                </p:cBhvr>
                              </p:animEffect>
                            </p:childTnLst>
                          </p:cTn>
                        </p:par>
                        <p:par>
                          <p:cTn id="49" presetID="10" presetClass="entr" presetSubtype="0" fill="hold" nodeType="afterEffect">
                            <p:stCondLst>
                              <p:cond delay="0"/>
                            </p:stCondLst>
                            <p:childTnLst>
                              <p:set>
                                <p:cBhvr>
                                  <p:cTn id="50" dur="1" fill="hold">
                                    <p:stCondLst>
                                      <p:cond delay="0"/>
                                    </p:stCondLst>
                                  </p:cTn>
                                  <p:tgtEl>
                                    <p:spTgt spid="45"/>
                                  </p:tgtEl>
                                  <p:attrNameLst>
                                    <p:attrName>style.visibility</p:attrName>
                                  </p:attrNameLst>
                                </p:cBhvr>
                                <p:to>
                                  <p:strVal val="visible"/>
                                </p:to>
                              </p:set>
                              <p:animEffect transition="in" filter="fade">
                                <p:cBhvr>
                                  <p:cTn id="51" dur="650"/>
                                  <p:tgtEl>
                                    <p:spTgt spid="45"/>
                                  </p:tgtEl>
                                </p:cBhvr>
                              </p:animEffect>
                            </p:childTnLst>
                          </p:cTn>
                        </p:par>
                        <p:par>
                          <p:cTn id="52" presetID="10" presetClass="entr" presetSubtype="0" fill="hold" nodeType="afterEffect">
                            <p:stCondLst>
                              <p:cond delay="0"/>
                            </p:stCondLst>
                            <p:childTnLst>
                              <p:set>
                                <p:cBhvr>
                                  <p:cTn id="53" dur="1" fill="hold">
                                    <p:stCondLst>
                                      <p:cond delay="0"/>
                                    </p:stCondLst>
                                  </p:cTn>
                                  <p:tgtEl>
                                    <p:spTgt spid="48"/>
                                  </p:tgtEl>
                                  <p:attrNameLst>
                                    <p:attrName>style.visibility</p:attrName>
                                  </p:attrNameLst>
                                </p:cBhvr>
                                <p:to>
                                  <p:strVal val="visible"/>
                                </p:to>
                              </p:set>
                              <p:animEffect transition="in" filter="fade">
                                <p:cBhvr>
                                  <p:cTn id="54" dur="650"/>
                                  <p:tgtEl>
                                    <p:spTgt spid="48"/>
                                  </p:tgtEl>
                                </p:cBhvr>
                              </p:animEffect>
                            </p:childTnLst>
                          </p:cTn>
                        </p:par>
                        <p:par>
                          <p:cTn id="55" fill="hold">
                            <p:stCondLst>
                              <p:cond delay="0"/>
                            </p:stCondLst>
                            <p:childTnLst>
                              <p:animRot by="21600000">
                                <p:cBhvr>
                                  <p:cTn id="56" dur="60000" repeatCount="indefinite" fill="hold"/>
                                  <p:tgtEl>
                                    <p:spTgt spid="59"/>
                                  </p:tgtEl>
                                  <p:attrNameLst>
                                    <p:attrName>r</p:attrName>
                                  </p:attrNameLst>
                                </p:cBhvr>
                              </p:animRot>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2"/>
          <p:cNvGrpSpPr/>
          <p:nvPr/>
        </p:nvGrpSpPr>
        <p:grpSpPr>
          <a:xfrm>
            <a:off x="963130" y="687953"/>
            <a:ext cx="14997303" cy="481565"/>
            <a:chOff x="0" y="0"/>
            <a:chExt cx="19996404" cy="642087"/>
          </a:xfrm>
        </p:grpSpPr>
        <p:sp>
          <p:nvSpPr>
            <p:cNvPr id="3" name="Freeform 3"/>
            <p:cNvSpPr/>
            <p:nvPr/>
          </p:nvSpPr>
          <p:spPr>
            <a:xfrm>
              <a:off x="0" y="0"/>
              <a:ext cx="19996409" cy="642086"/>
            </a:xfrm>
            <a:custGeom>
              <a:avLst/>
              <a:gdLst/>
              <a:ahLst/>
              <a:cxnLst/>
              <a:rect l="l" t="t" r="r" b="b"/>
              <a:pathLst>
                <a:path w="19996409" h="642086">
                  <a:moveTo>
                    <a:pt x="0" y="0"/>
                  </a:moveTo>
                  <a:lnTo>
                    <a:pt x="19996409" y="0"/>
                  </a:lnTo>
                  <a:lnTo>
                    <a:pt x="19996409" y="642086"/>
                  </a:lnTo>
                  <a:lnTo>
                    <a:pt x="0" y="642086"/>
                  </a:lnTo>
                  <a:close/>
                </a:path>
              </a:pathLst>
            </a:custGeom>
            <a:blipFill>
              <a:blip r:embed="rId3">
                <a:alphaModFix amt="0"/>
              </a:blip>
              <a:stretch>
                <a:fillRect t="-556819" b="-556819"/>
              </a:stretch>
            </a:blipFill>
          </p:spPr>
          <p:txBody>
            <a:bodyPr/>
            <a:lstStyle/>
            <a:p>
              <a:endParaRPr lang="en-US"/>
            </a:p>
          </p:txBody>
        </p:sp>
        <p:sp>
          <p:nvSpPr>
            <p:cNvPr id="4" name="TextBox 4"/>
            <p:cNvSpPr txBox="1"/>
            <p:nvPr/>
          </p:nvSpPr>
          <p:spPr>
            <a:xfrm>
              <a:off x="0" y="-9525"/>
              <a:ext cx="19996404" cy="651612"/>
            </a:xfrm>
            <a:prstGeom prst="rect">
              <a:avLst/>
            </a:prstGeom>
          </p:spPr>
          <p:txBody>
            <a:bodyPr lIns="0" tIns="0" rIns="0" bIns="0" rtlCol="0" anchor="ctr"/>
            <a:lstStyle/>
            <a:p>
              <a:pPr algn="l">
                <a:lnSpc>
                  <a:spcPts val="2347"/>
                </a:lnSpc>
              </a:pPr>
              <a:r>
                <a:rPr lang="en-US" sz="1956" b="1" spc="300">
                  <a:solidFill>
                    <a:srgbClr val="C41E3A"/>
                  </a:solidFill>
                  <a:latin typeface="Montserrat Bold"/>
                  <a:ea typeface="Montserrat Bold"/>
                  <a:cs typeface="Montserrat Bold"/>
                  <a:sym typeface="Montserrat Bold"/>
                </a:rPr>
                <a:t>PHÂN LOẠI THÔNG MINH</a:t>
              </a:r>
            </a:p>
          </p:txBody>
        </p:sp>
      </p:grpSp>
      <p:sp>
        <p:nvSpPr>
          <p:cNvPr id="5" name="TextBox 5"/>
          <p:cNvSpPr txBox="1"/>
          <p:nvPr/>
        </p:nvSpPr>
        <p:spPr>
          <a:xfrm>
            <a:off x="963130" y="1155754"/>
            <a:ext cx="14997303" cy="638197"/>
          </a:xfrm>
          <a:prstGeom prst="rect">
            <a:avLst/>
          </a:prstGeom>
        </p:spPr>
        <p:txBody>
          <a:bodyPr lIns="0" tIns="0" rIns="0" bIns="0" rtlCol="0" anchor="t">
            <a:spAutoFit/>
          </a:bodyPr>
          <a:lstStyle/>
          <a:p>
            <a:pPr algn="l">
              <a:lnSpc>
                <a:spcPts val="5055"/>
              </a:lnSpc>
            </a:pPr>
            <a:r>
              <a:rPr lang="en-US" sz="4213" b="1">
                <a:solidFill>
                  <a:srgbClr val="1F2937"/>
                </a:solidFill>
                <a:latin typeface="Montserrat Heavy"/>
                <a:ea typeface="Montserrat Heavy"/>
                <a:cs typeface="Montserrat Heavy"/>
                <a:sym typeface="Montserrat Heavy"/>
              </a:rPr>
              <a:t>06 NHÓM LĨNH VỰC TRỌNG TÂM CẤP XÃ, PHƯỜNG</a:t>
            </a:r>
          </a:p>
        </p:txBody>
      </p:sp>
      <p:grpSp>
        <p:nvGrpSpPr>
          <p:cNvPr id="6" name="Group 6"/>
          <p:cNvGrpSpPr/>
          <p:nvPr/>
        </p:nvGrpSpPr>
        <p:grpSpPr>
          <a:xfrm>
            <a:off x="963130" y="2228955"/>
            <a:ext cx="1513494" cy="96317"/>
            <a:chOff x="0" y="0"/>
            <a:chExt cx="2017992" cy="128422"/>
          </a:xfrm>
        </p:grpSpPr>
        <p:sp>
          <p:nvSpPr>
            <p:cNvPr id="7" name="Freeform 7"/>
            <p:cNvSpPr/>
            <p:nvPr/>
          </p:nvSpPr>
          <p:spPr>
            <a:xfrm>
              <a:off x="0" y="0"/>
              <a:ext cx="2018030" cy="128397"/>
            </a:xfrm>
            <a:custGeom>
              <a:avLst/>
              <a:gdLst/>
              <a:ahLst/>
              <a:cxnLst/>
              <a:rect l="l" t="t" r="r" b="b"/>
              <a:pathLst>
                <a:path w="2018030" h="128397">
                  <a:moveTo>
                    <a:pt x="0" y="0"/>
                  </a:moveTo>
                  <a:lnTo>
                    <a:pt x="2018030" y="0"/>
                  </a:lnTo>
                  <a:lnTo>
                    <a:pt x="2018030" y="128397"/>
                  </a:lnTo>
                  <a:lnTo>
                    <a:pt x="0" y="128397"/>
                  </a:lnTo>
                  <a:close/>
                </a:path>
              </a:pathLst>
            </a:custGeom>
            <a:solidFill>
              <a:srgbClr val="FFD700"/>
            </a:solidFill>
          </p:spPr>
          <p:txBody>
            <a:bodyPr/>
            <a:lstStyle/>
            <a:p>
              <a:endParaRPr lang="en-US"/>
            </a:p>
          </p:txBody>
        </p:sp>
      </p:grpSp>
      <p:grpSp>
        <p:nvGrpSpPr>
          <p:cNvPr id="8" name="Group 8"/>
          <p:cNvGrpSpPr/>
          <p:nvPr/>
        </p:nvGrpSpPr>
        <p:grpSpPr>
          <a:xfrm>
            <a:off x="963130" y="2394061"/>
            <a:ext cx="16373208" cy="730002"/>
            <a:chOff x="0" y="0"/>
            <a:chExt cx="21830944" cy="973336"/>
          </a:xfrm>
        </p:grpSpPr>
        <p:sp>
          <p:nvSpPr>
            <p:cNvPr id="9" name="Freeform 9"/>
            <p:cNvSpPr/>
            <p:nvPr/>
          </p:nvSpPr>
          <p:spPr>
            <a:xfrm>
              <a:off x="0" y="0"/>
              <a:ext cx="21830942" cy="973338"/>
            </a:xfrm>
            <a:custGeom>
              <a:avLst/>
              <a:gdLst/>
              <a:ahLst/>
              <a:cxnLst/>
              <a:rect l="l" t="t" r="r" b="b"/>
              <a:pathLst>
                <a:path w="21830942" h="973338">
                  <a:moveTo>
                    <a:pt x="0" y="0"/>
                  </a:moveTo>
                  <a:lnTo>
                    <a:pt x="21830942" y="0"/>
                  </a:lnTo>
                  <a:lnTo>
                    <a:pt x="21830942" y="973338"/>
                  </a:lnTo>
                  <a:lnTo>
                    <a:pt x="0" y="973338"/>
                  </a:lnTo>
                  <a:close/>
                </a:path>
              </a:pathLst>
            </a:custGeom>
            <a:blipFill>
              <a:blip r:embed="rId3">
                <a:alphaModFix amt="0"/>
              </a:blip>
              <a:stretch>
                <a:fillRect t="-394621" b="-379436"/>
              </a:stretch>
            </a:blipFill>
          </p:spPr>
          <p:txBody>
            <a:bodyPr/>
            <a:lstStyle/>
            <a:p>
              <a:endParaRPr lang="en-US"/>
            </a:p>
          </p:txBody>
        </p:sp>
        <p:sp>
          <p:nvSpPr>
            <p:cNvPr id="10" name="TextBox 10"/>
            <p:cNvSpPr txBox="1"/>
            <p:nvPr/>
          </p:nvSpPr>
          <p:spPr>
            <a:xfrm>
              <a:off x="0" y="0"/>
              <a:ext cx="21830944" cy="973336"/>
            </a:xfrm>
            <a:prstGeom prst="rect">
              <a:avLst/>
            </a:prstGeom>
          </p:spPr>
          <p:txBody>
            <a:bodyPr lIns="0" tIns="0" rIns="0" bIns="0" rtlCol="0" anchor="ctr"/>
            <a:lstStyle/>
            <a:p>
              <a:pPr algn="l">
                <a:lnSpc>
                  <a:spcPts val="2527"/>
                </a:lnSpc>
              </a:pPr>
              <a:r>
                <a:rPr lang="en-US" sz="2106" i="1">
                  <a:solidFill>
                    <a:srgbClr val="374151"/>
                  </a:solidFill>
                  <a:latin typeface="Montserrat Italics"/>
                  <a:ea typeface="Montserrat Italics"/>
                  <a:cs typeface="Montserrat Italics"/>
                  <a:sym typeface="Montserrat Italics"/>
                </a:rPr>
                <a:t>Mỗi lĩnh vực là một thẻ gập/mở (giấy tờ · thời gian · nút nộp online) — kèm chuyên mục riêng “Thủ tục liên thông trọng điểm”.</a:t>
              </a:r>
            </a:p>
          </p:txBody>
        </p:sp>
      </p:grpSp>
      <p:grpSp>
        <p:nvGrpSpPr>
          <p:cNvPr id="11" name="Group 11"/>
          <p:cNvGrpSpPr/>
          <p:nvPr/>
        </p:nvGrpSpPr>
        <p:grpSpPr>
          <a:xfrm>
            <a:off x="953576" y="3223812"/>
            <a:ext cx="5109934" cy="2564521"/>
            <a:chOff x="0" y="0"/>
            <a:chExt cx="6813245" cy="3419361"/>
          </a:xfrm>
        </p:grpSpPr>
        <p:sp>
          <p:nvSpPr>
            <p:cNvPr id="12" name="Freeform 12"/>
            <p:cNvSpPr/>
            <p:nvPr/>
          </p:nvSpPr>
          <p:spPr>
            <a:xfrm>
              <a:off x="0" y="0"/>
              <a:ext cx="6813169" cy="3419348"/>
            </a:xfrm>
            <a:custGeom>
              <a:avLst/>
              <a:gdLst/>
              <a:ahLst/>
              <a:cxnLst/>
              <a:rect l="l" t="t" r="r" b="b"/>
              <a:pathLst>
                <a:path w="6813169" h="3419348">
                  <a:moveTo>
                    <a:pt x="0" y="184785"/>
                  </a:moveTo>
                  <a:cubicBezTo>
                    <a:pt x="0" y="82804"/>
                    <a:pt x="82804" y="0"/>
                    <a:pt x="184785" y="0"/>
                  </a:cubicBezTo>
                  <a:lnTo>
                    <a:pt x="6628384" y="0"/>
                  </a:lnTo>
                  <a:cubicBezTo>
                    <a:pt x="6730492" y="0"/>
                    <a:pt x="6813169" y="82804"/>
                    <a:pt x="6813169" y="184785"/>
                  </a:cubicBezTo>
                  <a:lnTo>
                    <a:pt x="6813169" y="3234563"/>
                  </a:lnTo>
                  <a:cubicBezTo>
                    <a:pt x="6813169" y="3336671"/>
                    <a:pt x="6730365" y="3419348"/>
                    <a:pt x="6628384" y="3419348"/>
                  </a:cubicBezTo>
                  <a:lnTo>
                    <a:pt x="184785" y="3419348"/>
                  </a:lnTo>
                  <a:cubicBezTo>
                    <a:pt x="82804" y="3419348"/>
                    <a:pt x="0" y="3336671"/>
                    <a:pt x="0" y="3234563"/>
                  </a:cubicBezTo>
                  <a:close/>
                </a:path>
              </a:pathLst>
            </a:custGeom>
            <a:solidFill>
              <a:srgbClr val="FFF4F2"/>
            </a:solidFill>
            <a:ln w="19110" cap="sq">
              <a:solidFill>
                <a:srgbClr val="F3D2D7"/>
              </a:solidFill>
              <a:prstDash val="solid"/>
              <a:miter/>
            </a:ln>
          </p:spPr>
          <p:txBody>
            <a:bodyPr/>
            <a:lstStyle/>
            <a:p>
              <a:endParaRPr lang="en-US"/>
            </a:p>
          </p:txBody>
        </p:sp>
      </p:grpSp>
      <p:grpSp>
        <p:nvGrpSpPr>
          <p:cNvPr id="13" name="Group 13"/>
          <p:cNvGrpSpPr/>
          <p:nvPr/>
        </p:nvGrpSpPr>
        <p:grpSpPr>
          <a:xfrm>
            <a:off x="963130" y="3233366"/>
            <a:ext cx="137589" cy="2545413"/>
            <a:chOff x="0" y="0"/>
            <a:chExt cx="183452" cy="3393884"/>
          </a:xfrm>
        </p:grpSpPr>
        <p:sp>
          <p:nvSpPr>
            <p:cNvPr id="14" name="Freeform 14"/>
            <p:cNvSpPr/>
            <p:nvPr/>
          </p:nvSpPr>
          <p:spPr>
            <a:xfrm>
              <a:off x="0" y="0"/>
              <a:ext cx="183515" cy="3393948"/>
            </a:xfrm>
            <a:custGeom>
              <a:avLst/>
              <a:gdLst/>
              <a:ahLst/>
              <a:cxnLst/>
              <a:rect l="l" t="t" r="r" b="b"/>
              <a:pathLst>
                <a:path w="183515" h="3393948">
                  <a:moveTo>
                    <a:pt x="0" y="0"/>
                  </a:moveTo>
                  <a:lnTo>
                    <a:pt x="183515" y="0"/>
                  </a:lnTo>
                  <a:lnTo>
                    <a:pt x="183515" y="3393948"/>
                  </a:lnTo>
                  <a:lnTo>
                    <a:pt x="0" y="3393948"/>
                  </a:lnTo>
                  <a:close/>
                </a:path>
              </a:pathLst>
            </a:custGeom>
            <a:solidFill>
              <a:srgbClr val="C41E3A"/>
            </a:solidFill>
          </p:spPr>
          <p:txBody>
            <a:bodyPr/>
            <a:lstStyle/>
            <a:p>
              <a:endParaRPr lang="en-US"/>
            </a:p>
          </p:txBody>
        </p:sp>
      </p:grpSp>
      <p:grpSp>
        <p:nvGrpSpPr>
          <p:cNvPr id="15" name="Group 15"/>
          <p:cNvGrpSpPr/>
          <p:nvPr/>
        </p:nvGrpSpPr>
        <p:grpSpPr>
          <a:xfrm>
            <a:off x="1403414" y="3673650"/>
            <a:ext cx="1169518" cy="1169518"/>
            <a:chOff x="0" y="0"/>
            <a:chExt cx="1559357" cy="1559357"/>
          </a:xfrm>
        </p:grpSpPr>
        <p:sp>
          <p:nvSpPr>
            <p:cNvPr id="16" name="Freeform 16"/>
            <p:cNvSpPr/>
            <p:nvPr/>
          </p:nvSpPr>
          <p:spPr>
            <a:xfrm>
              <a:off x="0" y="0"/>
              <a:ext cx="1559306" cy="1559306"/>
            </a:xfrm>
            <a:custGeom>
              <a:avLst/>
              <a:gdLst/>
              <a:ahLst/>
              <a:cxnLst/>
              <a:rect l="l" t="t" r="r" b="b"/>
              <a:pathLst>
                <a:path w="1559306" h="1559306">
                  <a:moveTo>
                    <a:pt x="0" y="779653"/>
                  </a:moveTo>
                  <a:cubicBezTo>
                    <a:pt x="0" y="349123"/>
                    <a:pt x="349123" y="0"/>
                    <a:pt x="779653" y="0"/>
                  </a:cubicBezTo>
                  <a:cubicBezTo>
                    <a:pt x="1210183" y="0"/>
                    <a:pt x="1559306" y="349123"/>
                    <a:pt x="1559306" y="779653"/>
                  </a:cubicBezTo>
                  <a:cubicBezTo>
                    <a:pt x="1559306" y="1210183"/>
                    <a:pt x="1210183" y="1559306"/>
                    <a:pt x="779653" y="1559306"/>
                  </a:cubicBezTo>
                  <a:cubicBezTo>
                    <a:pt x="349123" y="1559306"/>
                    <a:pt x="0" y="1210310"/>
                    <a:pt x="0" y="779653"/>
                  </a:cubicBezTo>
                  <a:close/>
                </a:path>
              </a:pathLst>
            </a:custGeom>
            <a:solidFill>
              <a:srgbClr val="C41E3A"/>
            </a:solidFill>
          </p:spPr>
          <p:txBody>
            <a:bodyPr/>
            <a:lstStyle/>
            <a:p>
              <a:endParaRPr lang="en-US"/>
            </a:p>
          </p:txBody>
        </p:sp>
      </p:grpSp>
      <p:grpSp>
        <p:nvGrpSpPr>
          <p:cNvPr id="17" name="Group 17"/>
          <p:cNvGrpSpPr/>
          <p:nvPr/>
        </p:nvGrpSpPr>
        <p:grpSpPr>
          <a:xfrm>
            <a:off x="1719186" y="3989422"/>
            <a:ext cx="537972" cy="537972"/>
            <a:chOff x="0" y="0"/>
            <a:chExt cx="717296" cy="717296"/>
          </a:xfrm>
        </p:grpSpPr>
        <p:sp>
          <p:nvSpPr>
            <p:cNvPr id="18" name="Freeform 18" descr="preencoded.png"/>
            <p:cNvSpPr/>
            <p:nvPr/>
          </p:nvSpPr>
          <p:spPr>
            <a:xfrm>
              <a:off x="0" y="0"/>
              <a:ext cx="717296" cy="717296"/>
            </a:xfrm>
            <a:custGeom>
              <a:avLst/>
              <a:gdLst/>
              <a:ahLst/>
              <a:cxnLst/>
              <a:rect l="l" t="t" r="r" b="b"/>
              <a:pathLst>
                <a:path w="717296" h="717296">
                  <a:moveTo>
                    <a:pt x="0" y="0"/>
                  </a:moveTo>
                  <a:lnTo>
                    <a:pt x="717296" y="0"/>
                  </a:lnTo>
                  <a:lnTo>
                    <a:pt x="717296" y="717296"/>
                  </a:lnTo>
                  <a:lnTo>
                    <a:pt x="0" y="717296"/>
                  </a:lnTo>
                  <a:lnTo>
                    <a:pt x="0" y="0"/>
                  </a:lnTo>
                  <a:close/>
                </a:path>
              </a:pathLst>
            </a:custGeom>
            <a:blipFill>
              <a:blip r:embed="rId4"/>
              <a:stretch>
                <a:fillRect/>
              </a:stretch>
            </a:blipFill>
          </p:spPr>
          <p:txBody>
            <a:bodyPr/>
            <a:lstStyle/>
            <a:p>
              <a:endParaRPr lang="en-US"/>
            </a:p>
          </p:txBody>
        </p:sp>
      </p:grpSp>
      <p:grpSp>
        <p:nvGrpSpPr>
          <p:cNvPr id="19" name="Group 19"/>
          <p:cNvGrpSpPr/>
          <p:nvPr/>
        </p:nvGrpSpPr>
        <p:grpSpPr>
          <a:xfrm>
            <a:off x="2820591" y="3646132"/>
            <a:ext cx="2958189" cy="756745"/>
            <a:chOff x="0" y="0"/>
            <a:chExt cx="3944252" cy="1008993"/>
          </a:xfrm>
        </p:grpSpPr>
        <p:sp>
          <p:nvSpPr>
            <p:cNvPr id="20" name="Freeform 20"/>
            <p:cNvSpPr/>
            <p:nvPr/>
          </p:nvSpPr>
          <p:spPr>
            <a:xfrm>
              <a:off x="0" y="0"/>
              <a:ext cx="3944246" cy="1008997"/>
            </a:xfrm>
            <a:custGeom>
              <a:avLst/>
              <a:gdLst/>
              <a:ahLst/>
              <a:cxnLst/>
              <a:rect l="l" t="t" r="r" b="b"/>
              <a:pathLst>
                <a:path w="3944246" h="1008997">
                  <a:moveTo>
                    <a:pt x="0" y="0"/>
                  </a:moveTo>
                  <a:lnTo>
                    <a:pt x="3944246" y="0"/>
                  </a:lnTo>
                  <a:lnTo>
                    <a:pt x="3944246" y="1008997"/>
                  </a:lnTo>
                  <a:lnTo>
                    <a:pt x="0" y="1008997"/>
                  </a:lnTo>
                  <a:close/>
                </a:path>
              </a:pathLst>
            </a:custGeom>
            <a:blipFill>
              <a:blip r:embed="rId3">
                <a:alphaModFix amt="0"/>
              </a:blip>
              <a:stretch>
                <a:fillRect t="-26168" b="-26168"/>
              </a:stretch>
            </a:blipFill>
          </p:spPr>
          <p:txBody>
            <a:bodyPr/>
            <a:lstStyle/>
            <a:p>
              <a:endParaRPr lang="en-US"/>
            </a:p>
          </p:txBody>
        </p:sp>
        <p:sp>
          <p:nvSpPr>
            <p:cNvPr id="21" name="TextBox 21"/>
            <p:cNvSpPr txBox="1"/>
            <p:nvPr/>
          </p:nvSpPr>
          <p:spPr>
            <a:xfrm>
              <a:off x="0" y="9525"/>
              <a:ext cx="3944252" cy="999468"/>
            </a:xfrm>
            <a:prstGeom prst="rect">
              <a:avLst/>
            </a:prstGeom>
          </p:spPr>
          <p:txBody>
            <a:bodyPr lIns="0" tIns="0" rIns="0" bIns="0" rtlCol="0" anchor="ctr"/>
            <a:lstStyle/>
            <a:p>
              <a:pPr algn="l">
                <a:lnSpc>
                  <a:spcPts val="2889"/>
                </a:lnSpc>
              </a:pPr>
              <a:r>
                <a:rPr lang="en-US" sz="2407" b="1">
                  <a:solidFill>
                    <a:srgbClr val="1F2937"/>
                  </a:solidFill>
                  <a:latin typeface="Montserrat Bold"/>
                  <a:ea typeface="Montserrat Bold"/>
                  <a:cs typeface="Montserrat Bold"/>
                  <a:sym typeface="Montserrat Bold"/>
                </a:rPr>
                <a:t>Cư trú &amp; Căn cước</a:t>
              </a:r>
            </a:p>
          </p:txBody>
        </p:sp>
      </p:grpSp>
      <p:grpSp>
        <p:nvGrpSpPr>
          <p:cNvPr id="22" name="Group 22"/>
          <p:cNvGrpSpPr/>
          <p:nvPr/>
        </p:nvGrpSpPr>
        <p:grpSpPr>
          <a:xfrm>
            <a:off x="2820591" y="4361602"/>
            <a:ext cx="2958189" cy="550360"/>
            <a:chOff x="0" y="0"/>
            <a:chExt cx="3944252" cy="733813"/>
          </a:xfrm>
        </p:grpSpPr>
        <p:sp>
          <p:nvSpPr>
            <p:cNvPr id="23" name="Freeform 23"/>
            <p:cNvSpPr/>
            <p:nvPr/>
          </p:nvSpPr>
          <p:spPr>
            <a:xfrm>
              <a:off x="0" y="0"/>
              <a:ext cx="3944246" cy="733808"/>
            </a:xfrm>
            <a:custGeom>
              <a:avLst/>
              <a:gdLst/>
              <a:ahLst/>
              <a:cxnLst/>
              <a:rect l="l" t="t" r="r" b="b"/>
              <a:pathLst>
                <a:path w="3944246" h="733808">
                  <a:moveTo>
                    <a:pt x="0" y="0"/>
                  </a:moveTo>
                  <a:lnTo>
                    <a:pt x="3944246" y="0"/>
                  </a:lnTo>
                  <a:lnTo>
                    <a:pt x="3944246" y="733808"/>
                  </a:lnTo>
                  <a:lnTo>
                    <a:pt x="0" y="733808"/>
                  </a:lnTo>
                  <a:close/>
                </a:path>
              </a:pathLst>
            </a:custGeom>
            <a:blipFill>
              <a:blip r:embed="rId3">
                <a:alphaModFix amt="0"/>
              </a:blip>
              <a:stretch>
                <a:fillRect t="-54732" b="-54733"/>
              </a:stretch>
            </a:blipFill>
          </p:spPr>
          <p:txBody>
            <a:bodyPr/>
            <a:lstStyle/>
            <a:p>
              <a:endParaRPr lang="en-US"/>
            </a:p>
          </p:txBody>
        </p:sp>
        <p:sp>
          <p:nvSpPr>
            <p:cNvPr id="24" name="TextBox 24"/>
            <p:cNvSpPr txBox="1"/>
            <p:nvPr/>
          </p:nvSpPr>
          <p:spPr>
            <a:xfrm>
              <a:off x="0" y="0"/>
              <a:ext cx="3944252" cy="733813"/>
            </a:xfrm>
            <a:prstGeom prst="rect">
              <a:avLst/>
            </a:prstGeom>
          </p:spPr>
          <p:txBody>
            <a:bodyPr lIns="0" tIns="0" rIns="0" bIns="0" rtlCol="0" anchor="ctr"/>
            <a:lstStyle/>
            <a:p>
              <a:pPr algn="l">
                <a:lnSpc>
                  <a:spcPts val="2166"/>
                </a:lnSpc>
              </a:pPr>
              <a:r>
                <a:rPr lang="en-US" sz="1805">
                  <a:solidFill>
                    <a:srgbClr val="6B7280"/>
                  </a:solidFill>
                  <a:latin typeface="Montserrat"/>
                  <a:ea typeface="Montserrat"/>
                  <a:cs typeface="Montserrat"/>
                  <a:sym typeface="Montserrat"/>
                </a:rPr>
                <a:t>CCCD · cư trú · định danh</a:t>
              </a:r>
            </a:p>
          </p:txBody>
        </p:sp>
      </p:grpSp>
      <p:grpSp>
        <p:nvGrpSpPr>
          <p:cNvPr id="25" name="Group 25"/>
          <p:cNvGrpSpPr/>
          <p:nvPr/>
        </p:nvGrpSpPr>
        <p:grpSpPr>
          <a:xfrm>
            <a:off x="1375896" y="5159626"/>
            <a:ext cx="4265285" cy="440288"/>
            <a:chOff x="0" y="0"/>
            <a:chExt cx="5687047" cy="587051"/>
          </a:xfrm>
        </p:grpSpPr>
        <p:sp>
          <p:nvSpPr>
            <p:cNvPr id="26" name="Freeform 26"/>
            <p:cNvSpPr/>
            <p:nvPr/>
          </p:nvSpPr>
          <p:spPr>
            <a:xfrm>
              <a:off x="0" y="0"/>
              <a:ext cx="5687052" cy="587056"/>
            </a:xfrm>
            <a:custGeom>
              <a:avLst/>
              <a:gdLst/>
              <a:ahLst/>
              <a:cxnLst/>
              <a:rect l="l" t="t" r="r" b="b"/>
              <a:pathLst>
                <a:path w="5687052" h="587056">
                  <a:moveTo>
                    <a:pt x="0" y="0"/>
                  </a:moveTo>
                  <a:lnTo>
                    <a:pt x="5687052" y="0"/>
                  </a:lnTo>
                  <a:lnTo>
                    <a:pt x="5687052" y="587056"/>
                  </a:lnTo>
                  <a:lnTo>
                    <a:pt x="0" y="587056"/>
                  </a:lnTo>
                  <a:close/>
                </a:path>
              </a:pathLst>
            </a:custGeom>
            <a:blipFill>
              <a:blip r:embed="rId3">
                <a:alphaModFix amt="0"/>
              </a:blip>
              <a:stretch>
                <a:fillRect t="-138760" b="-138758"/>
              </a:stretch>
            </a:blipFill>
          </p:spPr>
          <p:txBody>
            <a:bodyPr/>
            <a:lstStyle/>
            <a:p>
              <a:endParaRPr lang="en-US"/>
            </a:p>
          </p:txBody>
        </p:sp>
        <p:sp>
          <p:nvSpPr>
            <p:cNvPr id="27" name="TextBox 27"/>
            <p:cNvSpPr txBox="1"/>
            <p:nvPr/>
          </p:nvSpPr>
          <p:spPr>
            <a:xfrm>
              <a:off x="0" y="0"/>
              <a:ext cx="5687047" cy="587051"/>
            </a:xfrm>
            <a:prstGeom prst="rect">
              <a:avLst/>
            </a:prstGeom>
          </p:spPr>
          <p:txBody>
            <a:bodyPr lIns="0" tIns="0" rIns="0" bIns="0" rtlCol="0" anchor="ctr"/>
            <a:lstStyle/>
            <a:p>
              <a:pPr algn="l">
                <a:lnSpc>
                  <a:spcPts val="1895"/>
                </a:lnSpc>
              </a:pPr>
              <a:r>
                <a:rPr lang="en-US" sz="1579" b="1" i="1">
                  <a:solidFill>
                    <a:srgbClr val="C41E3A"/>
                  </a:solidFill>
                  <a:latin typeface="Montserrat Bold Italics"/>
                  <a:ea typeface="Montserrat Bold Italics"/>
                  <a:cs typeface="Montserrat Bold Italics"/>
                  <a:sym typeface="Montserrat Bold Italics"/>
                </a:rPr>
                <a:t>Giấy tờ · Thời gian · Nộp online</a:t>
              </a:r>
            </a:p>
          </p:txBody>
        </p:sp>
      </p:grpSp>
      <p:grpSp>
        <p:nvGrpSpPr>
          <p:cNvPr id="28" name="Group 28"/>
          <p:cNvGrpSpPr/>
          <p:nvPr/>
        </p:nvGrpSpPr>
        <p:grpSpPr>
          <a:xfrm>
            <a:off x="6594767" y="3223812"/>
            <a:ext cx="5109934" cy="2564521"/>
            <a:chOff x="0" y="0"/>
            <a:chExt cx="6813245" cy="3419361"/>
          </a:xfrm>
        </p:grpSpPr>
        <p:sp>
          <p:nvSpPr>
            <p:cNvPr id="29" name="Freeform 29"/>
            <p:cNvSpPr/>
            <p:nvPr/>
          </p:nvSpPr>
          <p:spPr>
            <a:xfrm>
              <a:off x="0" y="0"/>
              <a:ext cx="6813169" cy="3419348"/>
            </a:xfrm>
            <a:custGeom>
              <a:avLst/>
              <a:gdLst/>
              <a:ahLst/>
              <a:cxnLst/>
              <a:rect l="l" t="t" r="r" b="b"/>
              <a:pathLst>
                <a:path w="6813169" h="3419348">
                  <a:moveTo>
                    <a:pt x="0" y="184785"/>
                  </a:moveTo>
                  <a:cubicBezTo>
                    <a:pt x="0" y="82804"/>
                    <a:pt x="82804" y="0"/>
                    <a:pt x="184785" y="0"/>
                  </a:cubicBezTo>
                  <a:lnTo>
                    <a:pt x="6628384" y="0"/>
                  </a:lnTo>
                  <a:cubicBezTo>
                    <a:pt x="6730492" y="0"/>
                    <a:pt x="6813169" y="82804"/>
                    <a:pt x="6813169" y="184785"/>
                  </a:cubicBezTo>
                  <a:lnTo>
                    <a:pt x="6813169" y="3234563"/>
                  </a:lnTo>
                  <a:cubicBezTo>
                    <a:pt x="6813169" y="3336671"/>
                    <a:pt x="6730365" y="3419348"/>
                    <a:pt x="6628384" y="3419348"/>
                  </a:cubicBezTo>
                  <a:lnTo>
                    <a:pt x="184785" y="3419348"/>
                  </a:lnTo>
                  <a:cubicBezTo>
                    <a:pt x="82804" y="3419348"/>
                    <a:pt x="0" y="3336671"/>
                    <a:pt x="0" y="3234563"/>
                  </a:cubicBezTo>
                  <a:close/>
                </a:path>
              </a:pathLst>
            </a:custGeom>
            <a:solidFill>
              <a:srgbClr val="FFF4F2"/>
            </a:solidFill>
            <a:ln w="19110" cap="sq">
              <a:solidFill>
                <a:srgbClr val="F3D2D7"/>
              </a:solidFill>
              <a:prstDash val="solid"/>
              <a:miter/>
            </a:ln>
          </p:spPr>
          <p:txBody>
            <a:bodyPr/>
            <a:lstStyle/>
            <a:p>
              <a:endParaRPr lang="en-US"/>
            </a:p>
          </p:txBody>
        </p:sp>
      </p:grpSp>
      <p:grpSp>
        <p:nvGrpSpPr>
          <p:cNvPr id="30" name="Group 30"/>
          <p:cNvGrpSpPr/>
          <p:nvPr/>
        </p:nvGrpSpPr>
        <p:grpSpPr>
          <a:xfrm>
            <a:off x="6604321" y="3233366"/>
            <a:ext cx="137589" cy="2545413"/>
            <a:chOff x="0" y="0"/>
            <a:chExt cx="183452" cy="3393884"/>
          </a:xfrm>
        </p:grpSpPr>
        <p:sp>
          <p:nvSpPr>
            <p:cNvPr id="31" name="Freeform 31"/>
            <p:cNvSpPr/>
            <p:nvPr/>
          </p:nvSpPr>
          <p:spPr>
            <a:xfrm>
              <a:off x="0" y="0"/>
              <a:ext cx="183515" cy="3393948"/>
            </a:xfrm>
            <a:custGeom>
              <a:avLst/>
              <a:gdLst/>
              <a:ahLst/>
              <a:cxnLst/>
              <a:rect l="l" t="t" r="r" b="b"/>
              <a:pathLst>
                <a:path w="183515" h="3393948">
                  <a:moveTo>
                    <a:pt x="0" y="0"/>
                  </a:moveTo>
                  <a:lnTo>
                    <a:pt x="183515" y="0"/>
                  </a:lnTo>
                  <a:lnTo>
                    <a:pt x="183515" y="3393948"/>
                  </a:lnTo>
                  <a:lnTo>
                    <a:pt x="0" y="3393948"/>
                  </a:lnTo>
                  <a:close/>
                </a:path>
              </a:pathLst>
            </a:custGeom>
            <a:solidFill>
              <a:srgbClr val="1F7A1F"/>
            </a:solidFill>
          </p:spPr>
          <p:txBody>
            <a:bodyPr/>
            <a:lstStyle/>
            <a:p>
              <a:endParaRPr lang="en-US"/>
            </a:p>
          </p:txBody>
        </p:sp>
      </p:grpSp>
      <p:grpSp>
        <p:nvGrpSpPr>
          <p:cNvPr id="32" name="Group 32"/>
          <p:cNvGrpSpPr/>
          <p:nvPr/>
        </p:nvGrpSpPr>
        <p:grpSpPr>
          <a:xfrm>
            <a:off x="7044604" y="3673650"/>
            <a:ext cx="1169518" cy="1169518"/>
            <a:chOff x="0" y="0"/>
            <a:chExt cx="1559357" cy="1559357"/>
          </a:xfrm>
        </p:grpSpPr>
        <p:sp>
          <p:nvSpPr>
            <p:cNvPr id="33" name="Freeform 33"/>
            <p:cNvSpPr/>
            <p:nvPr/>
          </p:nvSpPr>
          <p:spPr>
            <a:xfrm>
              <a:off x="0" y="0"/>
              <a:ext cx="1559306" cy="1559306"/>
            </a:xfrm>
            <a:custGeom>
              <a:avLst/>
              <a:gdLst/>
              <a:ahLst/>
              <a:cxnLst/>
              <a:rect l="l" t="t" r="r" b="b"/>
              <a:pathLst>
                <a:path w="1559306" h="1559306">
                  <a:moveTo>
                    <a:pt x="0" y="779653"/>
                  </a:moveTo>
                  <a:cubicBezTo>
                    <a:pt x="0" y="349123"/>
                    <a:pt x="349123" y="0"/>
                    <a:pt x="779653" y="0"/>
                  </a:cubicBezTo>
                  <a:cubicBezTo>
                    <a:pt x="1210183" y="0"/>
                    <a:pt x="1559306" y="349123"/>
                    <a:pt x="1559306" y="779653"/>
                  </a:cubicBezTo>
                  <a:cubicBezTo>
                    <a:pt x="1559306" y="1210183"/>
                    <a:pt x="1210183" y="1559306"/>
                    <a:pt x="779653" y="1559306"/>
                  </a:cubicBezTo>
                  <a:cubicBezTo>
                    <a:pt x="349123" y="1559306"/>
                    <a:pt x="0" y="1210310"/>
                    <a:pt x="0" y="779653"/>
                  </a:cubicBezTo>
                  <a:close/>
                </a:path>
              </a:pathLst>
            </a:custGeom>
            <a:solidFill>
              <a:srgbClr val="1F7A1F"/>
            </a:solidFill>
          </p:spPr>
          <p:txBody>
            <a:bodyPr/>
            <a:lstStyle/>
            <a:p>
              <a:endParaRPr lang="en-US"/>
            </a:p>
          </p:txBody>
        </p:sp>
      </p:grpSp>
      <p:grpSp>
        <p:nvGrpSpPr>
          <p:cNvPr id="34" name="Group 34"/>
          <p:cNvGrpSpPr/>
          <p:nvPr/>
        </p:nvGrpSpPr>
        <p:grpSpPr>
          <a:xfrm>
            <a:off x="7360377" y="3989422"/>
            <a:ext cx="537972" cy="537972"/>
            <a:chOff x="0" y="0"/>
            <a:chExt cx="717296" cy="717296"/>
          </a:xfrm>
        </p:grpSpPr>
        <p:sp>
          <p:nvSpPr>
            <p:cNvPr id="35" name="Freeform 35" descr="preencoded.png"/>
            <p:cNvSpPr/>
            <p:nvPr/>
          </p:nvSpPr>
          <p:spPr>
            <a:xfrm>
              <a:off x="0" y="0"/>
              <a:ext cx="717296" cy="717296"/>
            </a:xfrm>
            <a:custGeom>
              <a:avLst/>
              <a:gdLst/>
              <a:ahLst/>
              <a:cxnLst/>
              <a:rect l="l" t="t" r="r" b="b"/>
              <a:pathLst>
                <a:path w="717296" h="717296">
                  <a:moveTo>
                    <a:pt x="0" y="0"/>
                  </a:moveTo>
                  <a:lnTo>
                    <a:pt x="717296" y="0"/>
                  </a:lnTo>
                  <a:lnTo>
                    <a:pt x="717296" y="717296"/>
                  </a:lnTo>
                  <a:lnTo>
                    <a:pt x="0" y="717296"/>
                  </a:lnTo>
                  <a:lnTo>
                    <a:pt x="0" y="0"/>
                  </a:lnTo>
                  <a:close/>
                </a:path>
              </a:pathLst>
            </a:custGeom>
            <a:blipFill>
              <a:blip r:embed="rId5"/>
              <a:stretch>
                <a:fillRect/>
              </a:stretch>
            </a:blipFill>
          </p:spPr>
          <p:txBody>
            <a:bodyPr/>
            <a:lstStyle/>
            <a:p>
              <a:endParaRPr lang="en-US"/>
            </a:p>
          </p:txBody>
        </p:sp>
      </p:grpSp>
      <p:grpSp>
        <p:nvGrpSpPr>
          <p:cNvPr id="36" name="Group 36"/>
          <p:cNvGrpSpPr/>
          <p:nvPr/>
        </p:nvGrpSpPr>
        <p:grpSpPr>
          <a:xfrm>
            <a:off x="8461781" y="3646132"/>
            <a:ext cx="2958189" cy="756745"/>
            <a:chOff x="0" y="0"/>
            <a:chExt cx="3944252" cy="1008993"/>
          </a:xfrm>
        </p:grpSpPr>
        <p:sp>
          <p:nvSpPr>
            <p:cNvPr id="37" name="Freeform 37"/>
            <p:cNvSpPr/>
            <p:nvPr/>
          </p:nvSpPr>
          <p:spPr>
            <a:xfrm>
              <a:off x="0" y="0"/>
              <a:ext cx="3944246" cy="1008997"/>
            </a:xfrm>
            <a:custGeom>
              <a:avLst/>
              <a:gdLst/>
              <a:ahLst/>
              <a:cxnLst/>
              <a:rect l="l" t="t" r="r" b="b"/>
              <a:pathLst>
                <a:path w="3944246" h="1008997">
                  <a:moveTo>
                    <a:pt x="0" y="0"/>
                  </a:moveTo>
                  <a:lnTo>
                    <a:pt x="3944246" y="0"/>
                  </a:lnTo>
                  <a:lnTo>
                    <a:pt x="3944246" y="1008997"/>
                  </a:lnTo>
                  <a:lnTo>
                    <a:pt x="0" y="1008997"/>
                  </a:lnTo>
                  <a:close/>
                </a:path>
              </a:pathLst>
            </a:custGeom>
            <a:blipFill>
              <a:blip r:embed="rId3">
                <a:alphaModFix amt="0"/>
              </a:blip>
              <a:stretch>
                <a:fillRect t="-26168" b="-26168"/>
              </a:stretch>
            </a:blipFill>
          </p:spPr>
          <p:txBody>
            <a:bodyPr/>
            <a:lstStyle/>
            <a:p>
              <a:endParaRPr lang="en-US"/>
            </a:p>
          </p:txBody>
        </p:sp>
        <p:sp>
          <p:nvSpPr>
            <p:cNvPr id="38" name="TextBox 38"/>
            <p:cNvSpPr txBox="1"/>
            <p:nvPr/>
          </p:nvSpPr>
          <p:spPr>
            <a:xfrm>
              <a:off x="0" y="9525"/>
              <a:ext cx="3944252" cy="999468"/>
            </a:xfrm>
            <a:prstGeom prst="rect">
              <a:avLst/>
            </a:prstGeom>
          </p:spPr>
          <p:txBody>
            <a:bodyPr lIns="0" tIns="0" rIns="0" bIns="0" rtlCol="0" anchor="ctr"/>
            <a:lstStyle/>
            <a:p>
              <a:pPr algn="l">
                <a:lnSpc>
                  <a:spcPts val="2889"/>
                </a:lnSpc>
              </a:pPr>
              <a:r>
                <a:rPr lang="en-US" sz="2407" b="1">
                  <a:solidFill>
                    <a:srgbClr val="1F2937"/>
                  </a:solidFill>
                  <a:latin typeface="Montserrat Bold"/>
                  <a:ea typeface="Montserrat Bold"/>
                  <a:cs typeface="Montserrat Bold"/>
                  <a:sym typeface="Montserrat Bold"/>
                </a:rPr>
                <a:t>Đăng ký xe</a:t>
              </a:r>
            </a:p>
          </p:txBody>
        </p:sp>
      </p:grpSp>
      <p:grpSp>
        <p:nvGrpSpPr>
          <p:cNvPr id="39" name="Group 39"/>
          <p:cNvGrpSpPr/>
          <p:nvPr/>
        </p:nvGrpSpPr>
        <p:grpSpPr>
          <a:xfrm>
            <a:off x="8461781" y="4361602"/>
            <a:ext cx="2958189" cy="620267"/>
            <a:chOff x="0" y="0"/>
            <a:chExt cx="3944252" cy="827023"/>
          </a:xfrm>
        </p:grpSpPr>
        <p:sp>
          <p:nvSpPr>
            <p:cNvPr id="40" name="Freeform 40"/>
            <p:cNvSpPr/>
            <p:nvPr/>
          </p:nvSpPr>
          <p:spPr>
            <a:xfrm>
              <a:off x="0" y="0"/>
              <a:ext cx="3944246" cy="827016"/>
            </a:xfrm>
            <a:custGeom>
              <a:avLst/>
              <a:gdLst/>
              <a:ahLst/>
              <a:cxnLst/>
              <a:rect l="l" t="t" r="r" b="b"/>
              <a:pathLst>
                <a:path w="3944246" h="827016">
                  <a:moveTo>
                    <a:pt x="0" y="0"/>
                  </a:moveTo>
                  <a:lnTo>
                    <a:pt x="3944246" y="0"/>
                  </a:lnTo>
                  <a:lnTo>
                    <a:pt x="3944246" y="827016"/>
                  </a:lnTo>
                  <a:lnTo>
                    <a:pt x="0" y="827016"/>
                  </a:lnTo>
                  <a:close/>
                </a:path>
              </a:pathLst>
            </a:custGeom>
            <a:blipFill>
              <a:blip r:embed="rId3">
                <a:alphaModFix amt="0"/>
              </a:blip>
              <a:stretch>
                <a:fillRect t="-48563" b="-37294"/>
              </a:stretch>
            </a:blipFill>
          </p:spPr>
          <p:txBody>
            <a:bodyPr/>
            <a:lstStyle/>
            <a:p>
              <a:endParaRPr lang="en-US"/>
            </a:p>
          </p:txBody>
        </p:sp>
        <p:sp>
          <p:nvSpPr>
            <p:cNvPr id="41" name="TextBox 41"/>
            <p:cNvSpPr txBox="1"/>
            <p:nvPr/>
          </p:nvSpPr>
          <p:spPr>
            <a:xfrm>
              <a:off x="0" y="0"/>
              <a:ext cx="3944252" cy="827023"/>
            </a:xfrm>
            <a:prstGeom prst="rect">
              <a:avLst/>
            </a:prstGeom>
          </p:spPr>
          <p:txBody>
            <a:bodyPr lIns="0" tIns="0" rIns="0" bIns="0" rtlCol="0" anchor="ctr"/>
            <a:lstStyle/>
            <a:p>
              <a:pPr algn="l">
                <a:lnSpc>
                  <a:spcPts val="2166"/>
                </a:lnSpc>
              </a:pPr>
              <a:r>
                <a:rPr lang="en-US" sz="1805">
                  <a:solidFill>
                    <a:srgbClr val="6B7280"/>
                  </a:solidFill>
                  <a:latin typeface="Montserrat"/>
                  <a:ea typeface="Montserrat"/>
                  <a:cs typeface="Montserrat"/>
                  <a:sym typeface="Montserrat"/>
                </a:rPr>
                <a:t>Xe máy: cấp biển, sang tên</a:t>
              </a:r>
            </a:p>
          </p:txBody>
        </p:sp>
      </p:grpSp>
      <p:grpSp>
        <p:nvGrpSpPr>
          <p:cNvPr id="42" name="Group 42"/>
          <p:cNvGrpSpPr/>
          <p:nvPr/>
        </p:nvGrpSpPr>
        <p:grpSpPr>
          <a:xfrm>
            <a:off x="7017087" y="5159626"/>
            <a:ext cx="4265285" cy="440288"/>
            <a:chOff x="0" y="0"/>
            <a:chExt cx="5687047" cy="587051"/>
          </a:xfrm>
        </p:grpSpPr>
        <p:sp>
          <p:nvSpPr>
            <p:cNvPr id="43" name="Freeform 43"/>
            <p:cNvSpPr/>
            <p:nvPr/>
          </p:nvSpPr>
          <p:spPr>
            <a:xfrm>
              <a:off x="0" y="0"/>
              <a:ext cx="5687052" cy="587056"/>
            </a:xfrm>
            <a:custGeom>
              <a:avLst/>
              <a:gdLst/>
              <a:ahLst/>
              <a:cxnLst/>
              <a:rect l="l" t="t" r="r" b="b"/>
              <a:pathLst>
                <a:path w="5687052" h="587056">
                  <a:moveTo>
                    <a:pt x="0" y="0"/>
                  </a:moveTo>
                  <a:lnTo>
                    <a:pt x="5687052" y="0"/>
                  </a:lnTo>
                  <a:lnTo>
                    <a:pt x="5687052" y="587056"/>
                  </a:lnTo>
                  <a:lnTo>
                    <a:pt x="0" y="587056"/>
                  </a:lnTo>
                  <a:close/>
                </a:path>
              </a:pathLst>
            </a:custGeom>
            <a:blipFill>
              <a:blip r:embed="rId3">
                <a:alphaModFix amt="0"/>
              </a:blip>
              <a:stretch>
                <a:fillRect t="-138760" b="-138758"/>
              </a:stretch>
            </a:blipFill>
          </p:spPr>
          <p:txBody>
            <a:bodyPr/>
            <a:lstStyle/>
            <a:p>
              <a:endParaRPr lang="en-US"/>
            </a:p>
          </p:txBody>
        </p:sp>
        <p:sp>
          <p:nvSpPr>
            <p:cNvPr id="44" name="TextBox 44"/>
            <p:cNvSpPr txBox="1"/>
            <p:nvPr/>
          </p:nvSpPr>
          <p:spPr>
            <a:xfrm>
              <a:off x="0" y="0"/>
              <a:ext cx="5687047" cy="587051"/>
            </a:xfrm>
            <a:prstGeom prst="rect">
              <a:avLst/>
            </a:prstGeom>
          </p:spPr>
          <p:txBody>
            <a:bodyPr lIns="0" tIns="0" rIns="0" bIns="0" rtlCol="0" anchor="ctr"/>
            <a:lstStyle/>
            <a:p>
              <a:pPr algn="l">
                <a:lnSpc>
                  <a:spcPts val="1895"/>
                </a:lnSpc>
              </a:pPr>
              <a:r>
                <a:rPr lang="en-US" sz="1579" b="1" i="1">
                  <a:solidFill>
                    <a:srgbClr val="1F7A1F"/>
                  </a:solidFill>
                  <a:latin typeface="Montserrat Bold Italics"/>
                  <a:ea typeface="Montserrat Bold Italics"/>
                  <a:cs typeface="Montserrat Bold Italics"/>
                  <a:sym typeface="Montserrat Bold Italics"/>
                </a:rPr>
                <a:t>Giấy tờ · Thời gian · Nộp online</a:t>
              </a:r>
            </a:p>
          </p:txBody>
        </p:sp>
      </p:grpSp>
      <p:grpSp>
        <p:nvGrpSpPr>
          <p:cNvPr id="45" name="Group 45"/>
          <p:cNvGrpSpPr/>
          <p:nvPr/>
        </p:nvGrpSpPr>
        <p:grpSpPr>
          <a:xfrm>
            <a:off x="12235948" y="3223812"/>
            <a:ext cx="5109934" cy="2564521"/>
            <a:chOff x="0" y="0"/>
            <a:chExt cx="6813245" cy="3419361"/>
          </a:xfrm>
        </p:grpSpPr>
        <p:sp>
          <p:nvSpPr>
            <p:cNvPr id="46" name="Freeform 46"/>
            <p:cNvSpPr/>
            <p:nvPr/>
          </p:nvSpPr>
          <p:spPr>
            <a:xfrm>
              <a:off x="0" y="0"/>
              <a:ext cx="6813169" cy="3419348"/>
            </a:xfrm>
            <a:custGeom>
              <a:avLst/>
              <a:gdLst/>
              <a:ahLst/>
              <a:cxnLst/>
              <a:rect l="l" t="t" r="r" b="b"/>
              <a:pathLst>
                <a:path w="6813169" h="3419348">
                  <a:moveTo>
                    <a:pt x="0" y="184785"/>
                  </a:moveTo>
                  <a:cubicBezTo>
                    <a:pt x="0" y="82804"/>
                    <a:pt x="82804" y="0"/>
                    <a:pt x="184785" y="0"/>
                  </a:cubicBezTo>
                  <a:lnTo>
                    <a:pt x="6628384" y="0"/>
                  </a:lnTo>
                  <a:cubicBezTo>
                    <a:pt x="6730492" y="0"/>
                    <a:pt x="6813169" y="82804"/>
                    <a:pt x="6813169" y="184785"/>
                  </a:cubicBezTo>
                  <a:lnTo>
                    <a:pt x="6813169" y="3234563"/>
                  </a:lnTo>
                  <a:cubicBezTo>
                    <a:pt x="6813169" y="3336671"/>
                    <a:pt x="6730365" y="3419348"/>
                    <a:pt x="6628384" y="3419348"/>
                  </a:cubicBezTo>
                  <a:lnTo>
                    <a:pt x="184785" y="3419348"/>
                  </a:lnTo>
                  <a:cubicBezTo>
                    <a:pt x="82804" y="3419348"/>
                    <a:pt x="0" y="3336671"/>
                    <a:pt x="0" y="3234563"/>
                  </a:cubicBezTo>
                  <a:close/>
                </a:path>
              </a:pathLst>
            </a:custGeom>
            <a:solidFill>
              <a:srgbClr val="FFF4F2"/>
            </a:solidFill>
            <a:ln w="19110" cap="sq">
              <a:solidFill>
                <a:srgbClr val="F3D2D7"/>
              </a:solidFill>
              <a:prstDash val="solid"/>
              <a:miter/>
            </a:ln>
          </p:spPr>
          <p:txBody>
            <a:bodyPr/>
            <a:lstStyle/>
            <a:p>
              <a:endParaRPr lang="en-US"/>
            </a:p>
          </p:txBody>
        </p:sp>
      </p:grpSp>
      <p:grpSp>
        <p:nvGrpSpPr>
          <p:cNvPr id="47" name="Group 47"/>
          <p:cNvGrpSpPr/>
          <p:nvPr/>
        </p:nvGrpSpPr>
        <p:grpSpPr>
          <a:xfrm>
            <a:off x="12245511" y="3233366"/>
            <a:ext cx="137589" cy="2545413"/>
            <a:chOff x="0" y="0"/>
            <a:chExt cx="183452" cy="3393884"/>
          </a:xfrm>
        </p:grpSpPr>
        <p:sp>
          <p:nvSpPr>
            <p:cNvPr id="48" name="Freeform 48"/>
            <p:cNvSpPr/>
            <p:nvPr/>
          </p:nvSpPr>
          <p:spPr>
            <a:xfrm>
              <a:off x="0" y="0"/>
              <a:ext cx="183515" cy="3393948"/>
            </a:xfrm>
            <a:custGeom>
              <a:avLst/>
              <a:gdLst/>
              <a:ahLst/>
              <a:cxnLst/>
              <a:rect l="l" t="t" r="r" b="b"/>
              <a:pathLst>
                <a:path w="183515" h="3393948">
                  <a:moveTo>
                    <a:pt x="0" y="0"/>
                  </a:moveTo>
                  <a:lnTo>
                    <a:pt x="183515" y="0"/>
                  </a:lnTo>
                  <a:lnTo>
                    <a:pt x="183515" y="3393948"/>
                  </a:lnTo>
                  <a:lnTo>
                    <a:pt x="0" y="3393948"/>
                  </a:lnTo>
                  <a:close/>
                </a:path>
              </a:pathLst>
            </a:custGeom>
            <a:solidFill>
              <a:srgbClr val="C2410C"/>
            </a:solidFill>
          </p:spPr>
          <p:txBody>
            <a:bodyPr/>
            <a:lstStyle/>
            <a:p>
              <a:endParaRPr lang="en-US"/>
            </a:p>
          </p:txBody>
        </p:sp>
      </p:grpSp>
      <p:grpSp>
        <p:nvGrpSpPr>
          <p:cNvPr id="49" name="Group 49"/>
          <p:cNvGrpSpPr/>
          <p:nvPr/>
        </p:nvGrpSpPr>
        <p:grpSpPr>
          <a:xfrm>
            <a:off x="12685795" y="3673650"/>
            <a:ext cx="1169518" cy="1169518"/>
            <a:chOff x="0" y="0"/>
            <a:chExt cx="1559357" cy="1559357"/>
          </a:xfrm>
        </p:grpSpPr>
        <p:sp>
          <p:nvSpPr>
            <p:cNvPr id="50" name="Freeform 50"/>
            <p:cNvSpPr/>
            <p:nvPr/>
          </p:nvSpPr>
          <p:spPr>
            <a:xfrm>
              <a:off x="0" y="0"/>
              <a:ext cx="1559306" cy="1559306"/>
            </a:xfrm>
            <a:custGeom>
              <a:avLst/>
              <a:gdLst/>
              <a:ahLst/>
              <a:cxnLst/>
              <a:rect l="l" t="t" r="r" b="b"/>
              <a:pathLst>
                <a:path w="1559306" h="1559306">
                  <a:moveTo>
                    <a:pt x="0" y="779653"/>
                  </a:moveTo>
                  <a:cubicBezTo>
                    <a:pt x="0" y="349123"/>
                    <a:pt x="349123" y="0"/>
                    <a:pt x="779653" y="0"/>
                  </a:cubicBezTo>
                  <a:cubicBezTo>
                    <a:pt x="1210183" y="0"/>
                    <a:pt x="1559306" y="349123"/>
                    <a:pt x="1559306" y="779653"/>
                  </a:cubicBezTo>
                  <a:cubicBezTo>
                    <a:pt x="1559306" y="1210183"/>
                    <a:pt x="1210183" y="1559306"/>
                    <a:pt x="779653" y="1559306"/>
                  </a:cubicBezTo>
                  <a:cubicBezTo>
                    <a:pt x="349123" y="1559306"/>
                    <a:pt x="0" y="1210310"/>
                    <a:pt x="0" y="779653"/>
                  </a:cubicBezTo>
                  <a:close/>
                </a:path>
              </a:pathLst>
            </a:custGeom>
            <a:solidFill>
              <a:srgbClr val="C2410C"/>
            </a:solidFill>
          </p:spPr>
          <p:txBody>
            <a:bodyPr/>
            <a:lstStyle/>
            <a:p>
              <a:endParaRPr lang="en-US"/>
            </a:p>
          </p:txBody>
        </p:sp>
      </p:grpSp>
      <p:grpSp>
        <p:nvGrpSpPr>
          <p:cNvPr id="51" name="Group 51"/>
          <p:cNvGrpSpPr/>
          <p:nvPr/>
        </p:nvGrpSpPr>
        <p:grpSpPr>
          <a:xfrm>
            <a:off x="13001568" y="3989422"/>
            <a:ext cx="537972" cy="537972"/>
            <a:chOff x="0" y="0"/>
            <a:chExt cx="717296" cy="717296"/>
          </a:xfrm>
        </p:grpSpPr>
        <p:sp>
          <p:nvSpPr>
            <p:cNvPr id="52" name="Freeform 52" descr="preencoded.png"/>
            <p:cNvSpPr/>
            <p:nvPr/>
          </p:nvSpPr>
          <p:spPr>
            <a:xfrm>
              <a:off x="0" y="0"/>
              <a:ext cx="717296" cy="717296"/>
            </a:xfrm>
            <a:custGeom>
              <a:avLst/>
              <a:gdLst/>
              <a:ahLst/>
              <a:cxnLst/>
              <a:rect l="l" t="t" r="r" b="b"/>
              <a:pathLst>
                <a:path w="717296" h="717296">
                  <a:moveTo>
                    <a:pt x="0" y="0"/>
                  </a:moveTo>
                  <a:lnTo>
                    <a:pt x="717296" y="0"/>
                  </a:lnTo>
                  <a:lnTo>
                    <a:pt x="717296" y="717296"/>
                  </a:lnTo>
                  <a:lnTo>
                    <a:pt x="0" y="717296"/>
                  </a:lnTo>
                  <a:lnTo>
                    <a:pt x="0" y="0"/>
                  </a:lnTo>
                  <a:close/>
                </a:path>
              </a:pathLst>
            </a:custGeom>
            <a:blipFill>
              <a:blip r:embed="rId6"/>
              <a:stretch>
                <a:fillRect/>
              </a:stretch>
            </a:blipFill>
          </p:spPr>
          <p:txBody>
            <a:bodyPr/>
            <a:lstStyle/>
            <a:p>
              <a:endParaRPr lang="en-US"/>
            </a:p>
          </p:txBody>
        </p:sp>
      </p:grpSp>
      <p:grpSp>
        <p:nvGrpSpPr>
          <p:cNvPr id="53" name="Group 53"/>
          <p:cNvGrpSpPr/>
          <p:nvPr/>
        </p:nvGrpSpPr>
        <p:grpSpPr>
          <a:xfrm>
            <a:off x="14102972" y="3646132"/>
            <a:ext cx="2958189" cy="756745"/>
            <a:chOff x="0" y="0"/>
            <a:chExt cx="3944252" cy="1008993"/>
          </a:xfrm>
        </p:grpSpPr>
        <p:sp>
          <p:nvSpPr>
            <p:cNvPr id="54" name="Freeform 54"/>
            <p:cNvSpPr/>
            <p:nvPr/>
          </p:nvSpPr>
          <p:spPr>
            <a:xfrm>
              <a:off x="0" y="0"/>
              <a:ext cx="3944246" cy="1008997"/>
            </a:xfrm>
            <a:custGeom>
              <a:avLst/>
              <a:gdLst/>
              <a:ahLst/>
              <a:cxnLst/>
              <a:rect l="l" t="t" r="r" b="b"/>
              <a:pathLst>
                <a:path w="3944246" h="1008997">
                  <a:moveTo>
                    <a:pt x="0" y="0"/>
                  </a:moveTo>
                  <a:lnTo>
                    <a:pt x="3944246" y="0"/>
                  </a:lnTo>
                  <a:lnTo>
                    <a:pt x="3944246" y="1008997"/>
                  </a:lnTo>
                  <a:lnTo>
                    <a:pt x="0" y="1008997"/>
                  </a:lnTo>
                  <a:close/>
                </a:path>
              </a:pathLst>
            </a:custGeom>
            <a:blipFill>
              <a:blip r:embed="rId3">
                <a:alphaModFix amt="0"/>
              </a:blip>
              <a:stretch>
                <a:fillRect t="-26168" b="-26168"/>
              </a:stretch>
            </a:blipFill>
          </p:spPr>
          <p:txBody>
            <a:bodyPr/>
            <a:lstStyle/>
            <a:p>
              <a:endParaRPr lang="en-US"/>
            </a:p>
          </p:txBody>
        </p:sp>
        <p:sp>
          <p:nvSpPr>
            <p:cNvPr id="55" name="TextBox 55"/>
            <p:cNvSpPr txBox="1"/>
            <p:nvPr/>
          </p:nvSpPr>
          <p:spPr>
            <a:xfrm>
              <a:off x="0" y="9525"/>
              <a:ext cx="3944252" cy="999468"/>
            </a:xfrm>
            <a:prstGeom prst="rect">
              <a:avLst/>
            </a:prstGeom>
          </p:spPr>
          <p:txBody>
            <a:bodyPr lIns="0" tIns="0" rIns="0" bIns="0" rtlCol="0" anchor="ctr"/>
            <a:lstStyle/>
            <a:p>
              <a:pPr algn="l">
                <a:lnSpc>
                  <a:spcPts val="2889"/>
                </a:lnSpc>
              </a:pPr>
              <a:r>
                <a:rPr lang="en-US" sz="2407" b="1">
                  <a:solidFill>
                    <a:srgbClr val="1F2937"/>
                  </a:solidFill>
                  <a:latin typeface="Montserrat Bold"/>
                  <a:ea typeface="Montserrat Bold"/>
                  <a:cs typeface="Montserrat Bold"/>
                  <a:sym typeface="Montserrat Bold"/>
                </a:rPr>
                <a:t>Ngành nghề ANTT</a:t>
              </a:r>
            </a:p>
          </p:txBody>
        </p:sp>
      </p:grpSp>
      <p:grpSp>
        <p:nvGrpSpPr>
          <p:cNvPr id="56" name="Group 56"/>
          <p:cNvGrpSpPr/>
          <p:nvPr/>
        </p:nvGrpSpPr>
        <p:grpSpPr>
          <a:xfrm>
            <a:off x="14102972" y="4361602"/>
            <a:ext cx="2958189" cy="550360"/>
            <a:chOff x="0" y="0"/>
            <a:chExt cx="3944252" cy="733813"/>
          </a:xfrm>
        </p:grpSpPr>
        <p:sp>
          <p:nvSpPr>
            <p:cNvPr id="57" name="Freeform 57"/>
            <p:cNvSpPr/>
            <p:nvPr/>
          </p:nvSpPr>
          <p:spPr>
            <a:xfrm>
              <a:off x="0" y="0"/>
              <a:ext cx="3944246" cy="733808"/>
            </a:xfrm>
            <a:custGeom>
              <a:avLst/>
              <a:gdLst/>
              <a:ahLst/>
              <a:cxnLst/>
              <a:rect l="l" t="t" r="r" b="b"/>
              <a:pathLst>
                <a:path w="3944246" h="733808">
                  <a:moveTo>
                    <a:pt x="0" y="0"/>
                  </a:moveTo>
                  <a:lnTo>
                    <a:pt x="3944246" y="0"/>
                  </a:lnTo>
                  <a:lnTo>
                    <a:pt x="3944246" y="733808"/>
                  </a:lnTo>
                  <a:lnTo>
                    <a:pt x="0" y="733808"/>
                  </a:lnTo>
                  <a:close/>
                </a:path>
              </a:pathLst>
            </a:custGeom>
            <a:blipFill>
              <a:blip r:embed="rId3">
                <a:alphaModFix amt="0"/>
              </a:blip>
              <a:stretch>
                <a:fillRect t="-54732" b="-54733"/>
              </a:stretch>
            </a:blipFill>
          </p:spPr>
          <p:txBody>
            <a:bodyPr/>
            <a:lstStyle/>
            <a:p>
              <a:endParaRPr lang="en-US"/>
            </a:p>
          </p:txBody>
        </p:sp>
        <p:sp>
          <p:nvSpPr>
            <p:cNvPr id="58" name="TextBox 58"/>
            <p:cNvSpPr txBox="1"/>
            <p:nvPr/>
          </p:nvSpPr>
          <p:spPr>
            <a:xfrm>
              <a:off x="0" y="0"/>
              <a:ext cx="3944252" cy="733813"/>
            </a:xfrm>
            <a:prstGeom prst="rect">
              <a:avLst/>
            </a:prstGeom>
          </p:spPr>
          <p:txBody>
            <a:bodyPr lIns="0" tIns="0" rIns="0" bIns="0" rtlCol="0" anchor="ctr"/>
            <a:lstStyle/>
            <a:p>
              <a:pPr algn="l">
                <a:lnSpc>
                  <a:spcPts val="2166"/>
                </a:lnSpc>
              </a:pPr>
              <a:r>
                <a:rPr lang="en-US" sz="1805">
                  <a:solidFill>
                    <a:srgbClr val="6B7280"/>
                  </a:solidFill>
                  <a:latin typeface="Montserrat"/>
                  <a:ea typeface="Montserrat"/>
                  <a:cs typeface="Montserrat"/>
                  <a:sym typeface="Montserrat"/>
                </a:rPr>
                <a:t>Kinh doanh có điều kiện</a:t>
              </a:r>
            </a:p>
          </p:txBody>
        </p:sp>
      </p:grpSp>
      <p:grpSp>
        <p:nvGrpSpPr>
          <p:cNvPr id="59" name="Group 59"/>
          <p:cNvGrpSpPr/>
          <p:nvPr/>
        </p:nvGrpSpPr>
        <p:grpSpPr>
          <a:xfrm>
            <a:off x="12658277" y="5159626"/>
            <a:ext cx="4265285" cy="440288"/>
            <a:chOff x="0" y="0"/>
            <a:chExt cx="5687047" cy="587051"/>
          </a:xfrm>
        </p:grpSpPr>
        <p:sp>
          <p:nvSpPr>
            <p:cNvPr id="60" name="Freeform 60"/>
            <p:cNvSpPr/>
            <p:nvPr/>
          </p:nvSpPr>
          <p:spPr>
            <a:xfrm>
              <a:off x="0" y="0"/>
              <a:ext cx="5687052" cy="587056"/>
            </a:xfrm>
            <a:custGeom>
              <a:avLst/>
              <a:gdLst/>
              <a:ahLst/>
              <a:cxnLst/>
              <a:rect l="l" t="t" r="r" b="b"/>
              <a:pathLst>
                <a:path w="5687052" h="587056">
                  <a:moveTo>
                    <a:pt x="0" y="0"/>
                  </a:moveTo>
                  <a:lnTo>
                    <a:pt x="5687052" y="0"/>
                  </a:lnTo>
                  <a:lnTo>
                    <a:pt x="5687052" y="587056"/>
                  </a:lnTo>
                  <a:lnTo>
                    <a:pt x="0" y="587056"/>
                  </a:lnTo>
                  <a:close/>
                </a:path>
              </a:pathLst>
            </a:custGeom>
            <a:blipFill>
              <a:blip r:embed="rId3">
                <a:alphaModFix amt="0"/>
              </a:blip>
              <a:stretch>
                <a:fillRect t="-138760" b="-138758"/>
              </a:stretch>
            </a:blipFill>
          </p:spPr>
          <p:txBody>
            <a:bodyPr/>
            <a:lstStyle/>
            <a:p>
              <a:endParaRPr lang="en-US"/>
            </a:p>
          </p:txBody>
        </p:sp>
        <p:sp>
          <p:nvSpPr>
            <p:cNvPr id="61" name="TextBox 61"/>
            <p:cNvSpPr txBox="1"/>
            <p:nvPr/>
          </p:nvSpPr>
          <p:spPr>
            <a:xfrm>
              <a:off x="0" y="0"/>
              <a:ext cx="5687047" cy="587051"/>
            </a:xfrm>
            <a:prstGeom prst="rect">
              <a:avLst/>
            </a:prstGeom>
          </p:spPr>
          <p:txBody>
            <a:bodyPr lIns="0" tIns="0" rIns="0" bIns="0" rtlCol="0" anchor="ctr"/>
            <a:lstStyle/>
            <a:p>
              <a:pPr algn="l">
                <a:lnSpc>
                  <a:spcPts val="1895"/>
                </a:lnSpc>
              </a:pPr>
              <a:r>
                <a:rPr lang="en-US" sz="1579" b="1" i="1">
                  <a:solidFill>
                    <a:srgbClr val="C2410C"/>
                  </a:solidFill>
                  <a:latin typeface="Montserrat Bold Italics"/>
                  <a:ea typeface="Montserrat Bold Italics"/>
                  <a:cs typeface="Montserrat Bold Italics"/>
                  <a:sym typeface="Montserrat Bold Italics"/>
                </a:rPr>
                <a:t>Giấy tờ · Thời gian · Nộp online</a:t>
              </a:r>
            </a:p>
          </p:txBody>
        </p:sp>
      </p:grpSp>
      <p:grpSp>
        <p:nvGrpSpPr>
          <p:cNvPr id="62" name="Group 62"/>
          <p:cNvGrpSpPr/>
          <p:nvPr/>
        </p:nvGrpSpPr>
        <p:grpSpPr>
          <a:xfrm>
            <a:off x="953576" y="6250791"/>
            <a:ext cx="5109934" cy="2564521"/>
            <a:chOff x="0" y="0"/>
            <a:chExt cx="6813245" cy="3419361"/>
          </a:xfrm>
        </p:grpSpPr>
        <p:sp>
          <p:nvSpPr>
            <p:cNvPr id="63" name="Freeform 63"/>
            <p:cNvSpPr/>
            <p:nvPr/>
          </p:nvSpPr>
          <p:spPr>
            <a:xfrm>
              <a:off x="0" y="0"/>
              <a:ext cx="6813169" cy="3419348"/>
            </a:xfrm>
            <a:custGeom>
              <a:avLst/>
              <a:gdLst/>
              <a:ahLst/>
              <a:cxnLst/>
              <a:rect l="l" t="t" r="r" b="b"/>
              <a:pathLst>
                <a:path w="6813169" h="3419348">
                  <a:moveTo>
                    <a:pt x="0" y="184785"/>
                  </a:moveTo>
                  <a:cubicBezTo>
                    <a:pt x="0" y="82804"/>
                    <a:pt x="82804" y="0"/>
                    <a:pt x="184785" y="0"/>
                  </a:cubicBezTo>
                  <a:lnTo>
                    <a:pt x="6628384" y="0"/>
                  </a:lnTo>
                  <a:cubicBezTo>
                    <a:pt x="6730492" y="0"/>
                    <a:pt x="6813169" y="82804"/>
                    <a:pt x="6813169" y="184785"/>
                  </a:cubicBezTo>
                  <a:lnTo>
                    <a:pt x="6813169" y="3234563"/>
                  </a:lnTo>
                  <a:cubicBezTo>
                    <a:pt x="6813169" y="3336671"/>
                    <a:pt x="6730365" y="3419348"/>
                    <a:pt x="6628384" y="3419348"/>
                  </a:cubicBezTo>
                  <a:lnTo>
                    <a:pt x="184785" y="3419348"/>
                  </a:lnTo>
                  <a:cubicBezTo>
                    <a:pt x="82804" y="3419348"/>
                    <a:pt x="0" y="3336671"/>
                    <a:pt x="0" y="3234563"/>
                  </a:cubicBezTo>
                  <a:close/>
                </a:path>
              </a:pathLst>
            </a:custGeom>
            <a:solidFill>
              <a:srgbClr val="FFF4F2"/>
            </a:solidFill>
            <a:ln w="19110" cap="sq">
              <a:solidFill>
                <a:srgbClr val="F3D2D7"/>
              </a:solidFill>
              <a:prstDash val="solid"/>
              <a:miter/>
            </a:ln>
          </p:spPr>
          <p:txBody>
            <a:bodyPr/>
            <a:lstStyle/>
            <a:p>
              <a:endParaRPr lang="en-US"/>
            </a:p>
          </p:txBody>
        </p:sp>
      </p:grpSp>
      <p:grpSp>
        <p:nvGrpSpPr>
          <p:cNvPr id="64" name="Group 64"/>
          <p:cNvGrpSpPr/>
          <p:nvPr/>
        </p:nvGrpSpPr>
        <p:grpSpPr>
          <a:xfrm>
            <a:off x="963130" y="6260344"/>
            <a:ext cx="137589" cy="2545413"/>
            <a:chOff x="0" y="0"/>
            <a:chExt cx="183452" cy="3393884"/>
          </a:xfrm>
        </p:grpSpPr>
        <p:sp>
          <p:nvSpPr>
            <p:cNvPr id="65" name="Freeform 65"/>
            <p:cNvSpPr/>
            <p:nvPr/>
          </p:nvSpPr>
          <p:spPr>
            <a:xfrm>
              <a:off x="0" y="0"/>
              <a:ext cx="183515" cy="3393948"/>
            </a:xfrm>
            <a:custGeom>
              <a:avLst/>
              <a:gdLst/>
              <a:ahLst/>
              <a:cxnLst/>
              <a:rect l="l" t="t" r="r" b="b"/>
              <a:pathLst>
                <a:path w="183515" h="3393948">
                  <a:moveTo>
                    <a:pt x="0" y="0"/>
                  </a:moveTo>
                  <a:lnTo>
                    <a:pt x="183515" y="0"/>
                  </a:lnTo>
                  <a:lnTo>
                    <a:pt x="183515" y="3393948"/>
                  </a:lnTo>
                  <a:lnTo>
                    <a:pt x="0" y="3393948"/>
                  </a:lnTo>
                  <a:close/>
                </a:path>
              </a:pathLst>
            </a:custGeom>
            <a:solidFill>
              <a:srgbClr val="C41E3A"/>
            </a:solidFill>
          </p:spPr>
          <p:txBody>
            <a:bodyPr/>
            <a:lstStyle/>
            <a:p>
              <a:endParaRPr lang="en-US"/>
            </a:p>
          </p:txBody>
        </p:sp>
      </p:grpSp>
      <p:grpSp>
        <p:nvGrpSpPr>
          <p:cNvPr id="66" name="Group 66"/>
          <p:cNvGrpSpPr/>
          <p:nvPr/>
        </p:nvGrpSpPr>
        <p:grpSpPr>
          <a:xfrm>
            <a:off x="1403414" y="6700628"/>
            <a:ext cx="1169518" cy="1169518"/>
            <a:chOff x="0" y="0"/>
            <a:chExt cx="1559357" cy="1559357"/>
          </a:xfrm>
        </p:grpSpPr>
        <p:sp>
          <p:nvSpPr>
            <p:cNvPr id="67" name="Freeform 67"/>
            <p:cNvSpPr/>
            <p:nvPr/>
          </p:nvSpPr>
          <p:spPr>
            <a:xfrm>
              <a:off x="0" y="0"/>
              <a:ext cx="1559306" cy="1559306"/>
            </a:xfrm>
            <a:custGeom>
              <a:avLst/>
              <a:gdLst/>
              <a:ahLst/>
              <a:cxnLst/>
              <a:rect l="l" t="t" r="r" b="b"/>
              <a:pathLst>
                <a:path w="1559306" h="1559306">
                  <a:moveTo>
                    <a:pt x="0" y="779653"/>
                  </a:moveTo>
                  <a:cubicBezTo>
                    <a:pt x="0" y="349123"/>
                    <a:pt x="349123" y="0"/>
                    <a:pt x="779653" y="0"/>
                  </a:cubicBezTo>
                  <a:cubicBezTo>
                    <a:pt x="1210183" y="0"/>
                    <a:pt x="1559306" y="349123"/>
                    <a:pt x="1559306" y="779653"/>
                  </a:cubicBezTo>
                  <a:cubicBezTo>
                    <a:pt x="1559306" y="1210183"/>
                    <a:pt x="1210183" y="1559306"/>
                    <a:pt x="779653" y="1559306"/>
                  </a:cubicBezTo>
                  <a:cubicBezTo>
                    <a:pt x="349123" y="1559306"/>
                    <a:pt x="0" y="1210310"/>
                    <a:pt x="0" y="779653"/>
                  </a:cubicBezTo>
                  <a:close/>
                </a:path>
              </a:pathLst>
            </a:custGeom>
            <a:solidFill>
              <a:srgbClr val="C41E3A"/>
            </a:solidFill>
          </p:spPr>
          <p:txBody>
            <a:bodyPr/>
            <a:lstStyle/>
            <a:p>
              <a:endParaRPr lang="en-US"/>
            </a:p>
          </p:txBody>
        </p:sp>
      </p:grpSp>
      <p:grpSp>
        <p:nvGrpSpPr>
          <p:cNvPr id="68" name="Group 68"/>
          <p:cNvGrpSpPr/>
          <p:nvPr/>
        </p:nvGrpSpPr>
        <p:grpSpPr>
          <a:xfrm>
            <a:off x="1719186" y="7016401"/>
            <a:ext cx="537972" cy="537972"/>
            <a:chOff x="0" y="0"/>
            <a:chExt cx="717296" cy="717296"/>
          </a:xfrm>
        </p:grpSpPr>
        <p:sp>
          <p:nvSpPr>
            <p:cNvPr id="69" name="Freeform 69" descr="preencoded.png"/>
            <p:cNvSpPr/>
            <p:nvPr/>
          </p:nvSpPr>
          <p:spPr>
            <a:xfrm>
              <a:off x="0" y="0"/>
              <a:ext cx="717296" cy="717296"/>
            </a:xfrm>
            <a:custGeom>
              <a:avLst/>
              <a:gdLst/>
              <a:ahLst/>
              <a:cxnLst/>
              <a:rect l="l" t="t" r="r" b="b"/>
              <a:pathLst>
                <a:path w="717296" h="717296">
                  <a:moveTo>
                    <a:pt x="0" y="0"/>
                  </a:moveTo>
                  <a:lnTo>
                    <a:pt x="717296" y="0"/>
                  </a:lnTo>
                  <a:lnTo>
                    <a:pt x="717296" y="717296"/>
                  </a:lnTo>
                  <a:lnTo>
                    <a:pt x="0" y="717296"/>
                  </a:lnTo>
                  <a:lnTo>
                    <a:pt x="0" y="0"/>
                  </a:lnTo>
                  <a:close/>
                </a:path>
              </a:pathLst>
            </a:custGeom>
            <a:blipFill>
              <a:blip r:embed="rId7"/>
              <a:stretch>
                <a:fillRect/>
              </a:stretch>
            </a:blipFill>
          </p:spPr>
          <p:txBody>
            <a:bodyPr/>
            <a:lstStyle/>
            <a:p>
              <a:endParaRPr lang="en-US"/>
            </a:p>
          </p:txBody>
        </p:sp>
      </p:grpSp>
      <p:grpSp>
        <p:nvGrpSpPr>
          <p:cNvPr id="70" name="Group 70"/>
          <p:cNvGrpSpPr/>
          <p:nvPr/>
        </p:nvGrpSpPr>
        <p:grpSpPr>
          <a:xfrm>
            <a:off x="2820591" y="6673110"/>
            <a:ext cx="2958189" cy="756745"/>
            <a:chOff x="0" y="0"/>
            <a:chExt cx="3944252" cy="1008993"/>
          </a:xfrm>
        </p:grpSpPr>
        <p:sp>
          <p:nvSpPr>
            <p:cNvPr id="71" name="Freeform 71"/>
            <p:cNvSpPr/>
            <p:nvPr/>
          </p:nvSpPr>
          <p:spPr>
            <a:xfrm>
              <a:off x="0" y="0"/>
              <a:ext cx="3944246" cy="1008997"/>
            </a:xfrm>
            <a:custGeom>
              <a:avLst/>
              <a:gdLst/>
              <a:ahLst/>
              <a:cxnLst/>
              <a:rect l="l" t="t" r="r" b="b"/>
              <a:pathLst>
                <a:path w="3944246" h="1008997">
                  <a:moveTo>
                    <a:pt x="0" y="0"/>
                  </a:moveTo>
                  <a:lnTo>
                    <a:pt x="3944246" y="0"/>
                  </a:lnTo>
                  <a:lnTo>
                    <a:pt x="3944246" y="1008997"/>
                  </a:lnTo>
                  <a:lnTo>
                    <a:pt x="0" y="1008997"/>
                  </a:lnTo>
                  <a:close/>
                </a:path>
              </a:pathLst>
            </a:custGeom>
            <a:blipFill>
              <a:blip r:embed="rId3">
                <a:alphaModFix amt="0"/>
              </a:blip>
              <a:stretch>
                <a:fillRect t="-26168" b="-26168"/>
              </a:stretch>
            </a:blipFill>
          </p:spPr>
          <p:txBody>
            <a:bodyPr/>
            <a:lstStyle/>
            <a:p>
              <a:endParaRPr lang="en-US"/>
            </a:p>
          </p:txBody>
        </p:sp>
        <p:sp>
          <p:nvSpPr>
            <p:cNvPr id="72" name="TextBox 72"/>
            <p:cNvSpPr txBox="1"/>
            <p:nvPr/>
          </p:nvSpPr>
          <p:spPr>
            <a:xfrm>
              <a:off x="0" y="9525"/>
              <a:ext cx="3944252" cy="999468"/>
            </a:xfrm>
            <a:prstGeom prst="rect">
              <a:avLst/>
            </a:prstGeom>
          </p:spPr>
          <p:txBody>
            <a:bodyPr lIns="0" tIns="0" rIns="0" bIns="0" rtlCol="0" anchor="ctr"/>
            <a:lstStyle/>
            <a:p>
              <a:pPr algn="l">
                <a:lnSpc>
                  <a:spcPts val="2889"/>
                </a:lnSpc>
              </a:pPr>
              <a:r>
                <a:rPr lang="en-US" sz="2407" b="1">
                  <a:solidFill>
                    <a:srgbClr val="1F2937"/>
                  </a:solidFill>
                  <a:latin typeface="Montserrat Bold"/>
                  <a:ea typeface="Montserrat Bold"/>
                  <a:cs typeface="Montserrat Bold"/>
                  <a:sym typeface="Montserrat Bold"/>
                </a:rPr>
                <a:t>Người nước ngoài</a:t>
              </a:r>
            </a:p>
          </p:txBody>
        </p:sp>
      </p:grpSp>
      <p:grpSp>
        <p:nvGrpSpPr>
          <p:cNvPr id="73" name="Group 73"/>
          <p:cNvGrpSpPr/>
          <p:nvPr/>
        </p:nvGrpSpPr>
        <p:grpSpPr>
          <a:xfrm>
            <a:off x="2820591" y="7388581"/>
            <a:ext cx="2958189" cy="550360"/>
            <a:chOff x="0" y="0"/>
            <a:chExt cx="3944252" cy="733813"/>
          </a:xfrm>
        </p:grpSpPr>
        <p:sp>
          <p:nvSpPr>
            <p:cNvPr id="74" name="Freeform 74"/>
            <p:cNvSpPr/>
            <p:nvPr/>
          </p:nvSpPr>
          <p:spPr>
            <a:xfrm>
              <a:off x="0" y="0"/>
              <a:ext cx="3944246" cy="733808"/>
            </a:xfrm>
            <a:custGeom>
              <a:avLst/>
              <a:gdLst/>
              <a:ahLst/>
              <a:cxnLst/>
              <a:rect l="l" t="t" r="r" b="b"/>
              <a:pathLst>
                <a:path w="3944246" h="733808">
                  <a:moveTo>
                    <a:pt x="0" y="0"/>
                  </a:moveTo>
                  <a:lnTo>
                    <a:pt x="3944246" y="0"/>
                  </a:lnTo>
                  <a:lnTo>
                    <a:pt x="3944246" y="733808"/>
                  </a:lnTo>
                  <a:lnTo>
                    <a:pt x="0" y="733808"/>
                  </a:lnTo>
                  <a:close/>
                </a:path>
              </a:pathLst>
            </a:custGeom>
            <a:blipFill>
              <a:blip r:embed="rId3">
                <a:alphaModFix amt="0"/>
              </a:blip>
              <a:stretch>
                <a:fillRect t="-54732" b="-54733"/>
              </a:stretch>
            </a:blipFill>
          </p:spPr>
          <p:txBody>
            <a:bodyPr/>
            <a:lstStyle/>
            <a:p>
              <a:endParaRPr lang="en-US"/>
            </a:p>
          </p:txBody>
        </p:sp>
        <p:sp>
          <p:nvSpPr>
            <p:cNvPr id="75" name="TextBox 75"/>
            <p:cNvSpPr txBox="1"/>
            <p:nvPr/>
          </p:nvSpPr>
          <p:spPr>
            <a:xfrm>
              <a:off x="0" y="0"/>
              <a:ext cx="3944252" cy="733813"/>
            </a:xfrm>
            <a:prstGeom prst="rect">
              <a:avLst/>
            </a:prstGeom>
          </p:spPr>
          <p:txBody>
            <a:bodyPr lIns="0" tIns="0" rIns="0" bIns="0" rtlCol="0" anchor="ctr"/>
            <a:lstStyle/>
            <a:p>
              <a:pPr algn="l">
                <a:lnSpc>
                  <a:spcPts val="2166"/>
                </a:lnSpc>
              </a:pPr>
              <a:r>
                <a:rPr lang="en-US" sz="1805">
                  <a:solidFill>
                    <a:srgbClr val="6B7280"/>
                  </a:solidFill>
                  <a:latin typeface="Montserrat"/>
                  <a:ea typeface="Montserrat"/>
                  <a:cs typeface="Montserrat"/>
                  <a:sym typeface="Montserrat"/>
                </a:rPr>
                <a:t>Tạm trú · visa · XNC</a:t>
              </a:r>
            </a:p>
          </p:txBody>
        </p:sp>
      </p:grpSp>
      <p:grpSp>
        <p:nvGrpSpPr>
          <p:cNvPr id="76" name="Group 76"/>
          <p:cNvGrpSpPr/>
          <p:nvPr/>
        </p:nvGrpSpPr>
        <p:grpSpPr>
          <a:xfrm>
            <a:off x="1375896" y="8186604"/>
            <a:ext cx="4265285" cy="440288"/>
            <a:chOff x="0" y="0"/>
            <a:chExt cx="5687047" cy="587051"/>
          </a:xfrm>
        </p:grpSpPr>
        <p:sp>
          <p:nvSpPr>
            <p:cNvPr id="77" name="Freeform 77"/>
            <p:cNvSpPr/>
            <p:nvPr/>
          </p:nvSpPr>
          <p:spPr>
            <a:xfrm>
              <a:off x="0" y="0"/>
              <a:ext cx="5687052" cy="587056"/>
            </a:xfrm>
            <a:custGeom>
              <a:avLst/>
              <a:gdLst/>
              <a:ahLst/>
              <a:cxnLst/>
              <a:rect l="l" t="t" r="r" b="b"/>
              <a:pathLst>
                <a:path w="5687052" h="587056">
                  <a:moveTo>
                    <a:pt x="0" y="0"/>
                  </a:moveTo>
                  <a:lnTo>
                    <a:pt x="5687052" y="0"/>
                  </a:lnTo>
                  <a:lnTo>
                    <a:pt x="5687052" y="587056"/>
                  </a:lnTo>
                  <a:lnTo>
                    <a:pt x="0" y="587056"/>
                  </a:lnTo>
                  <a:close/>
                </a:path>
              </a:pathLst>
            </a:custGeom>
            <a:blipFill>
              <a:blip r:embed="rId3">
                <a:alphaModFix amt="0"/>
              </a:blip>
              <a:stretch>
                <a:fillRect t="-138760" b="-138758"/>
              </a:stretch>
            </a:blipFill>
          </p:spPr>
          <p:txBody>
            <a:bodyPr/>
            <a:lstStyle/>
            <a:p>
              <a:endParaRPr lang="en-US"/>
            </a:p>
          </p:txBody>
        </p:sp>
        <p:sp>
          <p:nvSpPr>
            <p:cNvPr id="78" name="TextBox 78"/>
            <p:cNvSpPr txBox="1"/>
            <p:nvPr/>
          </p:nvSpPr>
          <p:spPr>
            <a:xfrm>
              <a:off x="0" y="0"/>
              <a:ext cx="5687047" cy="587051"/>
            </a:xfrm>
            <a:prstGeom prst="rect">
              <a:avLst/>
            </a:prstGeom>
          </p:spPr>
          <p:txBody>
            <a:bodyPr lIns="0" tIns="0" rIns="0" bIns="0" rtlCol="0" anchor="ctr"/>
            <a:lstStyle/>
            <a:p>
              <a:pPr algn="l">
                <a:lnSpc>
                  <a:spcPts val="1895"/>
                </a:lnSpc>
              </a:pPr>
              <a:r>
                <a:rPr lang="en-US" sz="1579" b="1" i="1">
                  <a:solidFill>
                    <a:srgbClr val="C41E3A"/>
                  </a:solidFill>
                  <a:latin typeface="Montserrat Bold Italics"/>
                  <a:ea typeface="Montserrat Bold Italics"/>
                  <a:cs typeface="Montserrat Bold Italics"/>
                  <a:sym typeface="Montserrat Bold Italics"/>
                </a:rPr>
                <a:t>Giấy tờ · Thời gian · Nộp online</a:t>
              </a:r>
            </a:p>
          </p:txBody>
        </p:sp>
      </p:grpSp>
      <p:grpSp>
        <p:nvGrpSpPr>
          <p:cNvPr id="79" name="Group 79"/>
          <p:cNvGrpSpPr/>
          <p:nvPr/>
        </p:nvGrpSpPr>
        <p:grpSpPr>
          <a:xfrm>
            <a:off x="6594767" y="6250791"/>
            <a:ext cx="5109934" cy="2564521"/>
            <a:chOff x="0" y="0"/>
            <a:chExt cx="6813245" cy="3419361"/>
          </a:xfrm>
        </p:grpSpPr>
        <p:sp>
          <p:nvSpPr>
            <p:cNvPr id="80" name="Freeform 80"/>
            <p:cNvSpPr/>
            <p:nvPr/>
          </p:nvSpPr>
          <p:spPr>
            <a:xfrm>
              <a:off x="0" y="0"/>
              <a:ext cx="6813169" cy="3419348"/>
            </a:xfrm>
            <a:custGeom>
              <a:avLst/>
              <a:gdLst/>
              <a:ahLst/>
              <a:cxnLst/>
              <a:rect l="l" t="t" r="r" b="b"/>
              <a:pathLst>
                <a:path w="6813169" h="3419348">
                  <a:moveTo>
                    <a:pt x="0" y="184785"/>
                  </a:moveTo>
                  <a:cubicBezTo>
                    <a:pt x="0" y="82804"/>
                    <a:pt x="82804" y="0"/>
                    <a:pt x="184785" y="0"/>
                  </a:cubicBezTo>
                  <a:lnTo>
                    <a:pt x="6628384" y="0"/>
                  </a:lnTo>
                  <a:cubicBezTo>
                    <a:pt x="6730492" y="0"/>
                    <a:pt x="6813169" y="82804"/>
                    <a:pt x="6813169" y="184785"/>
                  </a:cubicBezTo>
                  <a:lnTo>
                    <a:pt x="6813169" y="3234563"/>
                  </a:lnTo>
                  <a:cubicBezTo>
                    <a:pt x="6813169" y="3336671"/>
                    <a:pt x="6730365" y="3419348"/>
                    <a:pt x="6628384" y="3419348"/>
                  </a:cubicBezTo>
                  <a:lnTo>
                    <a:pt x="184785" y="3419348"/>
                  </a:lnTo>
                  <a:cubicBezTo>
                    <a:pt x="82804" y="3419348"/>
                    <a:pt x="0" y="3336671"/>
                    <a:pt x="0" y="3234563"/>
                  </a:cubicBezTo>
                  <a:close/>
                </a:path>
              </a:pathLst>
            </a:custGeom>
            <a:solidFill>
              <a:srgbClr val="FFF4F2"/>
            </a:solidFill>
            <a:ln w="19110" cap="sq">
              <a:solidFill>
                <a:srgbClr val="F3D2D7"/>
              </a:solidFill>
              <a:prstDash val="solid"/>
              <a:miter/>
            </a:ln>
          </p:spPr>
          <p:txBody>
            <a:bodyPr/>
            <a:lstStyle/>
            <a:p>
              <a:endParaRPr lang="en-US"/>
            </a:p>
          </p:txBody>
        </p:sp>
      </p:grpSp>
      <p:grpSp>
        <p:nvGrpSpPr>
          <p:cNvPr id="81" name="Group 81"/>
          <p:cNvGrpSpPr/>
          <p:nvPr/>
        </p:nvGrpSpPr>
        <p:grpSpPr>
          <a:xfrm>
            <a:off x="6604321" y="6260344"/>
            <a:ext cx="137589" cy="2545413"/>
            <a:chOff x="0" y="0"/>
            <a:chExt cx="183452" cy="3393884"/>
          </a:xfrm>
        </p:grpSpPr>
        <p:sp>
          <p:nvSpPr>
            <p:cNvPr id="82" name="Freeform 82"/>
            <p:cNvSpPr/>
            <p:nvPr/>
          </p:nvSpPr>
          <p:spPr>
            <a:xfrm>
              <a:off x="0" y="0"/>
              <a:ext cx="183515" cy="3393948"/>
            </a:xfrm>
            <a:custGeom>
              <a:avLst/>
              <a:gdLst/>
              <a:ahLst/>
              <a:cxnLst/>
              <a:rect l="l" t="t" r="r" b="b"/>
              <a:pathLst>
                <a:path w="183515" h="3393948">
                  <a:moveTo>
                    <a:pt x="0" y="0"/>
                  </a:moveTo>
                  <a:lnTo>
                    <a:pt x="183515" y="0"/>
                  </a:lnTo>
                  <a:lnTo>
                    <a:pt x="183515" y="3393948"/>
                  </a:lnTo>
                  <a:lnTo>
                    <a:pt x="0" y="3393948"/>
                  </a:lnTo>
                  <a:close/>
                </a:path>
              </a:pathLst>
            </a:custGeom>
            <a:solidFill>
              <a:srgbClr val="1F7A1F"/>
            </a:solidFill>
          </p:spPr>
          <p:txBody>
            <a:bodyPr/>
            <a:lstStyle/>
            <a:p>
              <a:endParaRPr lang="en-US"/>
            </a:p>
          </p:txBody>
        </p:sp>
      </p:grpSp>
      <p:grpSp>
        <p:nvGrpSpPr>
          <p:cNvPr id="83" name="Group 83"/>
          <p:cNvGrpSpPr/>
          <p:nvPr/>
        </p:nvGrpSpPr>
        <p:grpSpPr>
          <a:xfrm>
            <a:off x="7044604" y="6700628"/>
            <a:ext cx="1169518" cy="1169518"/>
            <a:chOff x="0" y="0"/>
            <a:chExt cx="1559357" cy="1559357"/>
          </a:xfrm>
        </p:grpSpPr>
        <p:sp>
          <p:nvSpPr>
            <p:cNvPr id="84" name="Freeform 84"/>
            <p:cNvSpPr/>
            <p:nvPr/>
          </p:nvSpPr>
          <p:spPr>
            <a:xfrm>
              <a:off x="0" y="0"/>
              <a:ext cx="1559306" cy="1559306"/>
            </a:xfrm>
            <a:custGeom>
              <a:avLst/>
              <a:gdLst/>
              <a:ahLst/>
              <a:cxnLst/>
              <a:rect l="l" t="t" r="r" b="b"/>
              <a:pathLst>
                <a:path w="1559306" h="1559306">
                  <a:moveTo>
                    <a:pt x="0" y="779653"/>
                  </a:moveTo>
                  <a:cubicBezTo>
                    <a:pt x="0" y="349123"/>
                    <a:pt x="349123" y="0"/>
                    <a:pt x="779653" y="0"/>
                  </a:cubicBezTo>
                  <a:cubicBezTo>
                    <a:pt x="1210183" y="0"/>
                    <a:pt x="1559306" y="349123"/>
                    <a:pt x="1559306" y="779653"/>
                  </a:cubicBezTo>
                  <a:cubicBezTo>
                    <a:pt x="1559306" y="1210183"/>
                    <a:pt x="1210183" y="1559306"/>
                    <a:pt x="779653" y="1559306"/>
                  </a:cubicBezTo>
                  <a:cubicBezTo>
                    <a:pt x="349123" y="1559306"/>
                    <a:pt x="0" y="1210310"/>
                    <a:pt x="0" y="779653"/>
                  </a:cubicBezTo>
                  <a:close/>
                </a:path>
              </a:pathLst>
            </a:custGeom>
            <a:solidFill>
              <a:srgbClr val="1F7A1F"/>
            </a:solidFill>
          </p:spPr>
          <p:txBody>
            <a:bodyPr/>
            <a:lstStyle/>
            <a:p>
              <a:endParaRPr lang="en-US"/>
            </a:p>
          </p:txBody>
        </p:sp>
      </p:grpSp>
      <p:grpSp>
        <p:nvGrpSpPr>
          <p:cNvPr id="85" name="Group 85"/>
          <p:cNvGrpSpPr/>
          <p:nvPr/>
        </p:nvGrpSpPr>
        <p:grpSpPr>
          <a:xfrm>
            <a:off x="7360377" y="7016401"/>
            <a:ext cx="537972" cy="537972"/>
            <a:chOff x="0" y="0"/>
            <a:chExt cx="717296" cy="717296"/>
          </a:xfrm>
        </p:grpSpPr>
        <p:sp>
          <p:nvSpPr>
            <p:cNvPr id="86" name="Freeform 86" descr="preencoded.png"/>
            <p:cNvSpPr/>
            <p:nvPr/>
          </p:nvSpPr>
          <p:spPr>
            <a:xfrm>
              <a:off x="0" y="0"/>
              <a:ext cx="717296" cy="717296"/>
            </a:xfrm>
            <a:custGeom>
              <a:avLst/>
              <a:gdLst/>
              <a:ahLst/>
              <a:cxnLst/>
              <a:rect l="l" t="t" r="r" b="b"/>
              <a:pathLst>
                <a:path w="717296" h="717296">
                  <a:moveTo>
                    <a:pt x="0" y="0"/>
                  </a:moveTo>
                  <a:lnTo>
                    <a:pt x="717296" y="0"/>
                  </a:lnTo>
                  <a:lnTo>
                    <a:pt x="717296" y="717296"/>
                  </a:lnTo>
                  <a:lnTo>
                    <a:pt x="0" y="717296"/>
                  </a:lnTo>
                  <a:lnTo>
                    <a:pt x="0" y="0"/>
                  </a:lnTo>
                  <a:close/>
                </a:path>
              </a:pathLst>
            </a:custGeom>
            <a:blipFill>
              <a:blip r:embed="rId8"/>
              <a:stretch>
                <a:fillRect/>
              </a:stretch>
            </a:blipFill>
          </p:spPr>
          <p:txBody>
            <a:bodyPr/>
            <a:lstStyle/>
            <a:p>
              <a:endParaRPr lang="en-US"/>
            </a:p>
          </p:txBody>
        </p:sp>
      </p:grpSp>
      <p:grpSp>
        <p:nvGrpSpPr>
          <p:cNvPr id="87" name="Group 87"/>
          <p:cNvGrpSpPr/>
          <p:nvPr/>
        </p:nvGrpSpPr>
        <p:grpSpPr>
          <a:xfrm>
            <a:off x="8461781" y="6673110"/>
            <a:ext cx="2958189" cy="756745"/>
            <a:chOff x="0" y="0"/>
            <a:chExt cx="3944252" cy="1008993"/>
          </a:xfrm>
        </p:grpSpPr>
        <p:sp>
          <p:nvSpPr>
            <p:cNvPr id="88" name="Freeform 88"/>
            <p:cNvSpPr/>
            <p:nvPr/>
          </p:nvSpPr>
          <p:spPr>
            <a:xfrm>
              <a:off x="0" y="0"/>
              <a:ext cx="3944246" cy="1008997"/>
            </a:xfrm>
            <a:custGeom>
              <a:avLst/>
              <a:gdLst/>
              <a:ahLst/>
              <a:cxnLst/>
              <a:rect l="l" t="t" r="r" b="b"/>
              <a:pathLst>
                <a:path w="3944246" h="1008997">
                  <a:moveTo>
                    <a:pt x="0" y="0"/>
                  </a:moveTo>
                  <a:lnTo>
                    <a:pt x="3944246" y="0"/>
                  </a:lnTo>
                  <a:lnTo>
                    <a:pt x="3944246" y="1008997"/>
                  </a:lnTo>
                  <a:lnTo>
                    <a:pt x="0" y="1008997"/>
                  </a:lnTo>
                  <a:close/>
                </a:path>
              </a:pathLst>
            </a:custGeom>
            <a:blipFill>
              <a:blip r:embed="rId3">
                <a:alphaModFix amt="0"/>
              </a:blip>
              <a:stretch>
                <a:fillRect t="-26168" b="-26168"/>
              </a:stretch>
            </a:blipFill>
          </p:spPr>
          <p:txBody>
            <a:bodyPr/>
            <a:lstStyle/>
            <a:p>
              <a:endParaRPr lang="en-US"/>
            </a:p>
          </p:txBody>
        </p:sp>
        <p:sp>
          <p:nvSpPr>
            <p:cNvPr id="89" name="TextBox 89"/>
            <p:cNvSpPr txBox="1"/>
            <p:nvPr/>
          </p:nvSpPr>
          <p:spPr>
            <a:xfrm>
              <a:off x="0" y="9525"/>
              <a:ext cx="3944252" cy="999468"/>
            </a:xfrm>
            <a:prstGeom prst="rect">
              <a:avLst/>
            </a:prstGeom>
          </p:spPr>
          <p:txBody>
            <a:bodyPr lIns="0" tIns="0" rIns="0" bIns="0" rtlCol="0" anchor="ctr"/>
            <a:lstStyle/>
            <a:p>
              <a:pPr algn="l">
                <a:lnSpc>
                  <a:spcPts val="2889"/>
                </a:lnSpc>
              </a:pPr>
              <a:r>
                <a:rPr lang="en-US" sz="2407" b="1">
                  <a:solidFill>
                    <a:srgbClr val="1F2937"/>
                  </a:solidFill>
                  <a:latin typeface="Montserrat Bold"/>
                  <a:ea typeface="Montserrat Bold"/>
                  <a:cs typeface="Montserrat Bold"/>
                  <a:sym typeface="Montserrat Bold"/>
                </a:rPr>
                <a:t>Vũ khí &amp; Pháo</a:t>
              </a:r>
            </a:p>
          </p:txBody>
        </p:sp>
      </p:grpSp>
      <p:grpSp>
        <p:nvGrpSpPr>
          <p:cNvPr id="90" name="Group 90"/>
          <p:cNvGrpSpPr/>
          <p:nvPr/>
        </p:nvGrpSpPr>
        <p:grpSpPr>
          <a:xfrm>
            <a:off x="8461781" y="7388581"/>
            <a:ext cx="2958189" cy="620267"/>
            <a:chOff x="0" y="0"/>
            <a:chExt cx="3944252" cy="827023"/>
          </a:xfrm>
        </p:grpSpPr>
        <p:sp>
          <p:nvSpPr>
            <p:cNvPr id="91" name="Freeform 91"/>
            <p:cNvSpPr/>
            <p:nvPr/>
          </p:nvSpPr>
          <p:spPr>
            <a:xfrm>
              <a:off x="0" y="0"/>
              <a:ext cx="3944246" cy="827016"/>
            </a:xfrm>
            <a:custGeom>
              <a:avLst/>
              <a:gdLst/>
              <a:ahLst/>
              <a:cxnLst/>
              <a:rect l="l" t="t" r="r" b="b"/>
              <a:pathLst>
                <a:path w="3944246" h="827016">
                  <a:moveTo>
                    <a:pt x="0" y="0"/>
                  </a:moveTo>
                  <a:lnTo>
                    <a:pt x="3944246" y="0"/>
                  </a:lnTo>
                  <a:lnTo>
                    <a:pt x="3944246" y="827016"/>
                  </a:lnTo>
                  <a:lnTo>
                    <a:pt x="0" y="827016"/>
                  </a:lnTo>
                  <a:close/>
                </a:path>
              </a:pathLst>
            </a:custGeom>
            <a:blipFill>
              <a:blip r:embed="rId3">
                <a:alphaModFix amt="0"/>
              </a:blip>
              <a:stretch>
                <a:fillRect t="-48563" b="-37294"/>
              </a:stretch>
            </a:blipFill>
          </p:spPr>
          <p:txBody>
            <a:bodyPr/>
            <a:lstStyle/>
            <a:p>
              <a:endParaRPr lang="en-US"/>
            </a:p>
          </p:txBody>
        </p:sp>
        <p:sp>
          <p:nvSpPr>
            <p:cNvPr id="92" name="TextBox 92"/>
            <p:cNvSpPr txBox="1"/>
            <p:nvPr/>
          </p:nvSpPr>
          <p:spPr>
            <a:xfrm>
              <a:off x="0" y="0"/>
              <a:ext cx="3944252" cy="827023"/>
            </a:xfrm>
            <a:prstGeom prst="rect">
              <a:avLst/>
            </a:prstGeom>
          </p:spPr>
          <p:txBody>
            <a:bodyPr lIns="0" tIns="0" rIns="0" bIns="0" rtlCol="0" anchor="ctr"/>
            <a:lstStyle/>
            <a:p>
              <a:pPr algn="l">
                <a:lnSpc>
                  <a:spcPts val="2166"/>
                </a:lnSpc>
              </a:pPr>
              <a:r>
                <a:rPr lang="en-US" sz="1805">
                  <a:solidFill>
                    <a:srgbClr val="6B7280"/>
                  </a:solidFill>
                  <a:latin typeface="Montserrat"/>
                  <a:ea typeface="Montserrat"/>
                  <a:cs typeface="Montserrat"/>
                  <a:sym typeface="Montserrat"/>
                </a:rPr>
                <a:t>Vận động giao nộp, tố giác</a:t>
              </a:r>
            </a:p>
          </p:txBody>
        </p:sp>
      </p:grpSp>
      <p:grpSp>
        <p:nvGrpSpPr>
          <p:cNvPr id="93" name="Group 93"/>
          <p:cNvGrpSpPr/>
          <p:nvPr/>
        </p:nvGrpSpPr>
        <p:grpSpPr>
          <a:xfrm>
            <a:off x="7017087" y="8186604"/>
            <a:ext cx="4265285" cy="440288"/>
            <a:chOff x="0" y="0"/>
            <a:chExt cx="5687047" cy="587051"/>
          </a:xfrm>
        </p:grpSpPr>
        <p:sp>
          <p:nvSpPr>
            <p:cNvPr id="94" name="Freeform 94"/>
            <p:cNvSpPr/>
            <p:nvPr/>
          </p:nvSpPr>
          <p:spPr>
            <a:xfrm>
              <a:off x="0" y="0"/>
              <a:ext cx="5687052" cy="587056"/>
            </a:xfrm>
            <a:custGeom>
              <a:avLst/>
              <a:gdLst/>
              <a:ahLst/>
              <a:cxnLst/>
              <a:rect l="l" t="t" r="r" b="b"/>
              <a:pathLst>
                <a:path w="5687052" h="587056">
                  <a:moveTo>
                    <a:pt x="0" y="0"/>
                  </a:moveTo>
                  <a:lnTo>
                    <a:pt x="5687052" y="0"/>
                  </a:lnTo>
                  <a:lnTo>
                    <a:pt x="5687052" y="587056"/>
                  </a:lnTo>
                  <a:lnTo>
                    <a:pt x="0" y="587056"/>
                  </a:lnTo>
                  <a:close/>
                </a:path>
              </a:pathLst>
            </a:custGeom>
            <a:blipFill>
              <a:blip r:embed="rId3">
                <a:alphaModFix amt="0"/>
              </a:blip>
              <a:stretch>
                <a:fillRect t="-138760" b="-138758"/>
              </a:stretch>
            </a:blipFill>
          </p:spPr>
          <p:txBody>
            <a:bodyPr/>
            <a:lstStyle/>
            <a:p>
              <a:endParaRPr lang="en-US"/>
            </a:p>
          </p:txBody>
        </p:sp>
        <p:sp>
          <p:nvSpPr>
            <p:cNvPr id="95" name="TextBox 95"/>
            <p:cNvSpPr txBox="1"/>
            <p:nvPr/>
          </p:nvSpPr>
          <p:spPr>
            <a:xfrm>
              <a:off x="0" y="0"/>
              <a:ext cx="5687047" cy="587051"/>
            </a:xfrm>
            <a:prstGeom prst="rect">
              <a:avLst/>
            </a:prstGeom>
          </p:spPr>
          <p:txBody>
            <a:bodyPr lIns="0" tIns="0" rIns="0" bIns="0" rtlCol="0" anchor="ctr"/>
            <a:lstStyle/>
            <a:p>
              <a:pPr algn="l">
                <a:lnSpc>
                  <a:spcPts val="1895"/>
                </a:lnSpc>
              </a:pPr>
              <a:r>
                <a:rPr lang="en-US" sz="1579" b="1" i="1">
                  <a:solidFill>
                    <a:srgbClr val="1F7A1F"/>
                  </a:solidFill>
                  <a:latin typeface="Montserrat Bold Italics"/>
                  <a:ea typeface="Montserrat Bold Italics"/>
                  <a:cs typeface="Montserrat Bold Italics"/>
                  <a:sym typeface="Montserrat Bold Italics"/>
                </a:rPr>
                <a:t>Giấy tờ · Thời gian · Nộp online</a:t>
              </a:r>
            </a:p>
          </p:txBody>
        </p:sp>
      </p:grpSp>
      <p:grpSp>
        <p:nvGrpSpPr>
          <p:cNvPr id="96" name="Group 96"/>
          <p:cNvGrpSpPr/>
          <p:nvPr/>
        </p:nvGrpSpPr>
        <p:grpSpPr>
          <a:xfrm>
            <a:off x="12235948" y="6250791"/>
            <a:ext cx="5109934" cy="2564521"/>
            <a:chOff x="0" y="0"/>
            <a:chExt cx="6813245" cy="3419361"/>
          </a:xfrm>
        </p:grpSpPr>
        <p:sp>
          <p:nvSpPr>
            <p:cNvPr id="97" name="Freeform 97"/>
            <p:cNvSpPr/>
            <p:nvPr/>
          </p:nvSpPr>
          <p:spPr>
            <a:xfrm>
              <a:off x="0" y="0"/>
              <a:ext cx="6813169" cy="3419348"/>
            </a:xfrm>
            <a:custGeom>
              <a:avLst/>
              <a:gdLst/>
              <a:ahLst/>
              <a:cxnLst/>
              <a:rect l="l" t="t" r="r" b="b"/>
              <a:pathLst>
                <a:path w="6813169" h="3419348">
                  <a:moveTo>
                    <a:pt x="0" y="184785"/>
                  </a:moveTo>
                  <a:cubicBezTo>
                    <a:pt x="0" y="82804"/>
                    <a:pt x="82804" y="0"/>
                    <a:pt x="184785" y="0"/>
                  </a:cubicBezTo>
                  <a:lnTo>
                    <a:pt x="6628384" y="0"/>
                  </a:lnTo>
                  <a:cubicBezTo>
                    <a:pt x="6730492" y="0"/>
                    <a:pt x="6813169" y="82804"/>
                    <a:pt x="6813169" y="184785"/>
                  </a:cubicBezTo>
                  <a:lnTo>
                    <a:pt x="6813169" y="3234563"/>
                  </a:lnTo>
                  <a:cubicBezTo>
                    <a:pt x="6813169" y="3336671"/>
                    <a:pt x="6730365" y="3419348"/>
                    <a:pt x="6628384" y="3419348"/>
                  </a:cubicBezTo>
                  <a:lnTo>
                    <a:pt x="184785" y="3419348"/>
                  </a:lnTo>
                  <a:cubicBezTo>
                    <a:pt x="82804" y="3419348"/>
                    <a:pt x="0" y="3336671"/>
                    <a:pt x="0" y="3234563"/>
                  </a:cubicBezTo>
                  <a:close/>
                </a:path>
              </a:pathLst>
            </a:custGeom>
            <a:solidFill>
              <a:srgbClr val="FFF4F2"/>
            </a:solidFill>
            <a:ln w="19110" cap="sq">
              <a:solidFill>
                <a:srgbClr val="F3D2D7"/>
              </a:solidFill>
              <a:prstDash val="solid"/>
              <a:miter/>
            </a:ln>
          </p:spPr>
          <p:txBody>
            <a:bodyPr/>
            <a:lstStyle/>
            <a:p>
              <a:endParaRPr lang="en-US"/>
            </a:p>
          </p:txBody>
        </p:sp>
      </p:grpSp>
      <p:grpSp>
        <p:nvGrpSpPr>
          <p:cNvPr id="98" name="Group 98"/>
          <p:cNvGrpSpPr/>
          <p:nvPr/>
        </p:nvGrpSpPr>
        <p:grpSpPr>
          <a:xfrm>
            <a:off x="12245511" y="6260344"/>
            <a:ext cx="137589" cy="2545413"/>
            <a:chOff x="0" y="0"/>
            <a:chExt cx="183452" cy="3393884"/>
          </a:xfrm>
        </p:grpSpPr>
        <p:sp>
          <p:nvSpPr>
            <p:cNvPr id="99" name="Freeform 99"/>
            <p:cNvSpPr/>
            <p:nvPr/>
          </p:nvSpPr>
          <p:spPr>
            <a:xfrm>
              <a:off x="0" y="0"/>
              <a:ext cx="183515" cy="3393948"/>
            </a:xfrm>
            <a:custGeom>
              <a:avLst/>
              <a:gdLst/>
              <a:ahLst/>
              <a:cxnLst/>
              <a:rect l="l" t="t" r="r" b="b"/>
              <a:pathLst>
                <a:path w="183515" h="3393948">
                  <a:moveTo>
                    <a:pt x="0" y="0"/>
                  </a:moveTo>
                  <a:lnTo>
                    <a:pt x="183515" y="0"/>
                  </a:lnTo>
                  <a:lnTo>
                    <a:pt x="183515" y="3393948"/>
                  </a:lnTo>
                  <a:lnTo>
                    <a:pt x="0" y="3393948"/>
                  </a:lnTo>
                  <a:close/>
                </a:path>
              </a:pathLst>
            </a:custGeom>
            <a:solidFill>
              <a:srgbClr val="C2410C"/>
            </a:solidFill>
          </p:spPr>
          <p:txBody>
            <a:bodyPr/>
            <a:lstStyle/>
            <a:p>
              <a:endParaRPr lang="en-US"/>
            </a:p>
          </p:txBody>
        </p:sp>
      </p:grpSp>
      <p:grpSp>
        <p:nvGrpSpPr>
          <p:cNvPr id="100" name="Group 100"/>
          <p:cNvGrpSpPr/>
          <p:nvPr/>
        </p:nvGrpSpPr>
        <p:grpSpPr>
          <a:xfrm>
            <a:off x="12685795" y="6700628"/>
            <a:ext cx="1169518" cy="1169518"/>
            <a:chOff x="0" y="0"/>
            <a:chExt cx="1559357" cy="1559357"/>
          </a:xfrm>
        </p:grpSpPr>
        <p:sp>
          <p:nvSpPr>
            <p:cNvPr id="101" name="Freeform 101"/>
            <p:cNvSpPr/>
            <p:nvPr/>
          </p:nvSpPr>
          <p:spPr>
            <a:xfrm>
              <a:off x="0" y="0"/>
              <a:ext cx="1559306" cy="1559306"/>
            </a:xfrm>
            <a:custGeom>
              <a:avLst/>
              <a:gdLst/>
              <a:ahLst/>
              <a:cxnLst/>
              <a:rect l="l" t="t" r="r" b="b"/>
              <a:pathLst>
                <a:path w="1559306" h="1559306">
                  <a:moveTo>
                    <a:pt x="0" y="779653"/>
                  </a:moveTo>
                  <a:cubicBezTo>
                    <a:pt x="0" y="349123"/>
                    <a:pt x="349123" y="0"/>
                    <a:pt x="779653" y="0"/>
                  </a:cubicBezTo>
                  <a:cubicBezTo>
                    <a:pt x="1210183" y="0"/>
                    <a:pt x="1559306" y="349123"/>
                    <a:pt x="1559306" y="779653"/>
                  </a:cubicBezTo>
                  <a:cubicBezTo>
                    <a:pt x="1559306" y="1210183"/>
                    <a:pt x="1210183" y="1559306"/>
                    <a:pt x="779653" y="1559306"/>
                  </a:cubicBezTo>
                  <a:cubicBezTo>
                    <a:pt x="349123" y="1559306"/>
                    <a:pt x="0" y="1210310"/>
                    <a:pt x="0" y="779653"/>
                  </a:cubicBezTo>
                  <a:close/>
                </a:path>
              </a:pathLst>
            </a:custGeom>
            <a:solidFill>
              <a:srgbClr val="C2410C"/>
            </a:solidFill>
          </p:spPr>
          <p:txBody>
            <a:bodyPr/>
            <a:lstStyle/>
            <a:p>
              <a:endParaRPr lang="en-US"/>
            </a:p>
          </p:txBody>
        </p:sp>
      </p:grpSp>
      <p:grpSp>
        <p:nvGrpSpPr>
          <p:cNvPr id="102" name="Group 102"/>
          <p:cNvGrpSpPr/>
          <p:nvPr/>
        </p:nvGrpSpPr>
        <p:grpSpPr>
          <a:xfrm>
            <a:off x="13001568" y="7016401"/>
            <a:ext cx="537972" cy="537972"/>
            <a:chOff x="0" y="0"/>
            <a:chExt cx="717296" cy="717296"/>
          </a:xfrm>
        </p:grpSpPr>
        <p:sp>
          <p:nvSpPr>
            <p:cNvPr id="103" name="Freeform 103" descr="preencoded.png"/>
            <p:cNvSpPr/>
            <p:nvPr/>
          </p:nvSpPr>
          <p:spPr>
            <a:xfrm>
              <a:off x="0" y="0"/>
              <a:ext cx="717296" cy="717296"/>
            </a:xfrm>
            <a:custGeom>
              <a:avLst/>
              <a:gdLst/>
              <a:ahLst/>
              <a:cxnLst/>
              <a:rect l="l" t="t" r="r" b="b"/>
              <a:pathLst>
                <a:path w="717296" h="717296">
                  <a:moveTo>
                    <a:pt x="0" y="0"/>
                  </a:moveTo>
                  <a:lnTo>
                    <a:pt x="717296" y="0"/>
                  </a:lnTo>
                  <a:lnTo>
                    <a:pt x="717296" y="717296"/>
                  </a:lnTo>
                  <a:lnTo>
                    <a:pt x="0" y="717296"/>
                  </a:lnTo>
                  <a:lnTo>
                    <a:pt x="0" y="0"/>
                  </a:lnTo>
                  <a:close/>
                </a:path>
              </a:pathLst>
            </a:custGeom>
            <a:blipFill>
              <a:blip r:embed="rId9"/>
              <a:stretch>
                <a:fillRect/>
              </a:stretch>
            </a:blipFill>
          </p:spPr>
          <p:txBody>
            <a:bodyPr/>
            <a:lstStyle/>
            <a:p>
              <a:endParaRPr lang="en-US"/>
            </a:p>
          </p:txBody>
        </p:sp>
      </p:grpSp>
      <p:grpSp>
        <p:nvGrpSpPr>
          <p:cNvPr id="104" name="Group 104"/>
          <p:cNvGrpSpPr/>
          <p:nvPr/>
        </p:nvGrpSpPr>
        <p:grpSpPr>
          <a:xfrm>
            <a:off x="14102972" y="6673110"/>
            <a:ext cx="2958189" cy="839737"/>
            <a:chOff x="0" y="0"/>
            <a:chExt cx="3944252" cy="1119650"/>
          </a:xfrm>
        </p:grpSpPr>
        <p:sp>
          <p:nvSpPr>
            <p:cNvPr id="105" name="Freeform 105"/>
            <p:cNvSpPr/>
            <p:nvPr/>
          </p:nvSpPr>
          <p:spPr>
            <a:xfrm>
              <a:off x="0" y="0"/>
              <a:ext cx="3944246" cy="1119653"/>
            </a:xfrm>
            <a:custGeom>
              <a:avLst/>
              <a:gdLst/>
              <a:ahLst/>
              <a:cxnLst/>
              <a:rect l="l" t="t" r="r" b="b"/>
              <a:pathLst>
                <a:path w="3944246" h="1119653">
                  <a:moveTo>
                    <a:pt x="0" y="0"/>
                  </a:moveTo>
                  <a:lnTo>
                    <a:pt x="3944246" y="0"/>
                  </a:lnTo>
                  <a:lnTo>
                    <a:pt x="3944246" y="1119653"/>
                  </a:lnTo>
                  <a:lnTo>
                    <a:pt x="0" y="1119653"/>
                  </a:lnTo>
                  <a:close/>
                </a:path>
              </a:pathLst>
            </a:custGeom>
            <a:blipFill>
              <a:blip r:embed="rId3">
                <a:alphaModFix amt="0"/>
              </a:blip>
              <a:stretch>
                <a:fillRect t="-23582" b="-13698"/>
              </a:stretch>
            </a:blipFill>
          </p:spPr>
          <p:txBody>
            <a:bodyPr/>
            <a:lstStyle/>
            <a:p>
              <a:endParaRPr lang="en-US"/>
            </a:p>
          </p:txBody>
        </p:sp>
        <p:sp>
          <p:nvSpPr>
            <p:cNvPr id="106" name="TextBox 106"/>
            <p:cNvSpPr txBox="1"/>
            <p:nvPr/>
          </p:nvSpPr>
          <p:spPr>
            <a:xfrm>
              <a:off x="0" y="9525"/>
              <a:ext cx="3944252" cy="1110125"/>
            </a:xfrm>
            <a:prstGeom prst="rect">
              <a:avLst/>
            </a:prstGeom>
          </p:spPr>
          <p:txBody>
            <a:bodyPr lIns="0" tIns="0" rIns="0" bIns="0" rtlCol="0" anchor="ctr"/>
            <a:lstStyle/>
            <a:p>
              <a:pPr algn="l">
                <a:lnSpc>
                  <a:spcPts val="2889"/>
                </a:lnSpc>
              </a:pPr>
              <a:r>
                <a:rPr lang="en-US" sz="2407" b="1">
                  <a:solidFill>
                    <a:srgbClr val="1F2937"/>
                  </a:solidFill>
                  <a:latin typeface="Montserrat Bold"/>
                  <a:ea typeface="Montserrat Bold"/>
                  <a:cs typeface="Montserrat Bold"/>
                  <a:sym typeface="Montserrat Bold"/>
                </a:rPr>
                <a:t>Khiếu nại, tố cáo &amp; Góp ý</a:t>
              </a:r>
            </a:p>
          </p:txBody>
        </p:sp>
      </p:grpSp>
      <p:grpSp>
        <p:nvGrpSpPr>
          <p:cNvPr id="107" name="Group 107"/>
          <p:cNvGrpSpPr/>
          <p:nvPr/>
        </p:nvGrpSpPr>
        <p:grpSpPr>
          <a:xfrm>
            <a:off x="14102972" y="7388581"/>
            <a:ext cx="2958189" cy="620267"/>
            <a:chOff x="0" y="0"/>
            <a:chExt cx="3944252" cy="827023"/>
          </a:xfrm>
        </p:grpSpPr>
        <p:sp>
          <p:nvSpPr>
            <p:cNvPr id="108" name="Freeform 108"/>
            <p:cNvSpPr/>
            <p:nvPr/>
          </p:nvSpPr>
          <p:spPr>
            <a:xfrm>
              <a:off x="0" y="0"/>
              <a:ext cx="3944246" cy="827016"/>
            </a:xfrm>
            <a:custGeom>
              <a:avLst/>
              <a:gdLst/>
              <a:ahLst/>
              <a:cxnLst/>
              <a:rect l="l" t="t" r="r" b="b"/>
              <a:pathLst>
                <a:path w="3944246" h="827016">
                  <a:moveTo>
                    <a:pt x="0" y="0"/>
                  </a:moveTo>
                  <a:lnTo>
                    <a:pt x="3944246" y="0"/>
                  </a:lnTo>
                  <a:lnTo>
                    <a:pt x="3944246" y="827016"/>
                  </a:lnTo>
                  <a:lnTo>
                    <a:pt x="0" y="827016"/>
                  </a:lnTo>
                  <a:close/>
                </a:path>
              </a:pathLst>
            </a:custGeom>
            <a:blipFill>
              <a:blip r:embed="rId3">
                <a:alphaModFix amt="0"/>
              </a:blip>
              <a:stretch>
                <a:fillRect t="-48563" b="-37294"/>
              </a:stretch>
            </a:blipFill>
          </p:spPr>
          <p:txBody>
            <a:bodyPr/>
            <a:lstStyle/>
            <a:p>
              <a:endParaRPr lang="en-US"/>
            </a:p>
          </p:txBody>
        </p:sp>
        <p:sp>
          <p:nvSpPr>
            <p:cNvPr id="109" name="TextBox 109"/>
            <p:cNvSpPr txBox="1"/>
            <p:nvPr/>
          </p:nvSpPr>
          <p:spPr>
            <a:xfrm>
              <a:off x="0" y="0"/>
              <a:ext cx="3944252" cy="827023"/>
            </a:xfrm>
            <a:prstGeom prst="rect">
              <a:avLst/>
            </a:prstGeom>
          </p:spPr>
          <p:txBody>
            <a:bodyPr lIns="0" tIns="0" rIns="0" bIns="0" rtlCol="0" anchor="ctr"/>
            <a:lstStyle/>
            <a:p>
              <a:pPr algn="l">
                <a:lnSpc>
                  <a:spcPts val="2166"/>
                </a:lnSpc>
              </a:pPr>
              <a:r>
                <a:rPr lang="en-US" sz="1805">
                  <a:solidFill>
                    <a:srgbClr val="6B7280"/>
                  </a:solidFill>
                  <a:latin typeface="Montserrat"/>
                  <a:ea typeface="Montserrat"/>
                  <a:cs typeface="Montserrat"/>
                  <a:sym typeface="Montserrat"/>
                </a:rPr>
                <a:t>Tiếp nhận đơn thư, phản ánh</a:t>
              </a:r>
            </a:p>
          </p:txBody>
        </p:sp>
      </p:grpSp>
      <p:grpSp>
        <p:nvGrpSpPr>
          <p:cNvPr id="110" name="Group 110"/>
          <p:cNvGrpSpPr/>
          <p:nvPr/>
        </p:nvGrpSpPr>
        <p:grpSpPr>
          <a:xfrm>
            <a:off x="12658277" y="8186604"/>
            <a:ext cx="4265285" cy="440288"/>
            <a:chOff x="0" y="0"/>
            <a:chExt cx="5687047" cy="587051"/>
          </a:xfrm>
        </p:grpSpPr>
        <p:sp>
          <p:nvSpPr>
            <p:cNvPr id="111" name="Freeform 111"/>
            <p:cNvSpPr/>
            <p:nvPr/>
          </p:nvSpPr>
          <p:spPr>
            <a:xfrm>
              <a:off x="0" y="0"/>
              <a:ext cx="5687052" cy="587056"/>
            </a:xfrm>
            <a:custGeom>
              <a:avLst/>
              <a:gdLst/>
              <a:ahLst/>
              <a:cxnLst/>
              <a:rect l="l" t="t" r="r" b="b"/>
              <a:pathLst>
                <a:path w="5687052" h="587056">
                  <a:moveTo>
                    <a:pt x="0" y="0"/>
                  </a:moveTo>
                  <a:lnTo>
                    <a:pt x="5687052" y="0"/>
                  </a:lnTo>
                  <a:lnTo>
                    <a:pt x="5687052" y="587056"/>
                  </a:lnTo>
                  <a:lnTo>
                    <a:pt x="0" y="587056"/>
                  </a:lnTo>
                  <a:close/>
                </a:path>
              </a:pathLst>
            </a:custGeom>
            <a:blipFill>
              <a:blip r:embed="rId3">
                <a:alphaModFix amt="0"/>
              </a:blip>
              <a:stretch>
                <a:fillRect t="-138760" b="-138758"/>
              </a:stretch>
            </a:blipFill>
          </p:spPr>
          <p:txBody>
            <a:bodyPr/>
            <a:lstStyle/>
            <a:p>
              <a:endParaRPr lang="en-US"/>
            </a:p>
          </p:txBody>
        </p:sp>
        <p:sp>
          <p:nvSpPr>
            <p:cNvPr id="112" name="TextBox 112"/>
            <p:cNvSpPr txBox="1"/>
            <p:nvPr/>
          </p:nvSpPr>
          <p:spPr>
            <a:xfrm>
              <a:off x="0" y="0"/>
              <a:ext cx="5687047" cy="587051"/>
            </a:xfrm>
            <a:prstGeom prst="rect">
              <a:avLst/>
            </a:prstGeom>
          </p:spPr>
          <p:txBody>
            <a:bodyPr lIns="0" tIns="0" rIns="0" bIns="0" rtlCol="0" anchor="ctr"/>
            <a:lstStyle/>
            <a:p>
              <a:pPr algn="l">
                <a:lnSpc>
                  <a:spcPts val="1895"/>
                </a:lnSpc>
              </a:pPr>
              <a:r>
                <a:rPr lang="en-US" sz="1579" b="1" i="1">
                  <a:solidFill>
                    <a:srgbClr val="C2410C"/>
                  </a:solidFill>
                  <a:latin typeface="Montserrat Bold Italics"/>
                  <a:ea typeface="Montserrat Bold Italics"/>
                  <a:cs typeface="Montserrat Bold Italics"/>
                  <a:sym typeface="Montserrat Bold Italics"/>
                </a:rPr>
                <a:t>Giấy tờ · Thời gian · Nộp online</a:t>
              </a:r>
            </a:p>
          </p:txBody>
        </p:sp>
      </p:grpSp>
      <p:grpSp>
        <p:nvGrpSpPr>
          <p:cNvPr id="113" name="Group 113"/>
          <p:cNvGrpSpPr/>
          <p:nvPr/>
        </p:nvGrpSpPr>
        <p:grpSpPr>
          <a:xfrm>
            <a:off x="963130" y="9686334"/>
            <a:ext cx="16373208" cy="19260"/>
            <a:chOff x="0" y="0"/>
            <a:chExt cx="21830944" cy="25679"/>
          </a:xfrm>
        </p:grpSpPr>
        <p:sp>
          <p:nvSpPr>
            <p:cNvPr id="114" name="Freeform 114"/>
            <p:cNvSpPr/>
            <p:nvPr/>
          </p:nvSpPr>
          <p:spPr>
            <a:xfrm>
              <a:off x="0" y="0"/>
              <a:ext cx="21830919" cy="25654"/>
            </a:xfrm>
            <a:custGeom>
              <a:avLst/>
              <a:gdLst/>
              <a:ahLst/>
              <a:cxnLst/>
              <a:rect l="l" t="t" r="r" b="b"/>
              <a:pathLst>
                <a:path w="21830919" h="25654">
                  <a:moveTo>
                    <a:pt x="0" y="0"/>
                  </a:moveTo>
                  <a:lnTo>
                    <a:pt x="21830919" y="0"/>
                  </a:lnTo>
                  <a:lnTo>
                    <a:pt x="21830919" y="25654"/>
                  </a:lnTo>
                  <a:lnTo>
                    <a:pt x="0" y="25654"/>
                  </a:lnTo>
                  <a:close/>
                </a:path>
              </a:pathLst>
            </a:custGeom>
            <a:solidFill>
              <a:srgbClr val="F3D2D7"/>
            </a:solidFill>
          </p:spPr>
          <p:txBody>
            <a:bodyPr/>
            <a:lstStyle/>
            <a:p>
              <a:endParaRPr lang="en-US"/>
            </a:p>
          </p:txBody>
        </p:sp>
      </p:grpSp>
      <p:grpSp>
        <p:nvGrpSpPr>
          <p:cNvPr id="115" name="Group 115"/>
          <p:cNvGrpSpPr/>
          <p:nvPr/>
        </p:nvGrpSpPr>
        <p:grpSpPr>
          <a:xfrm>
            <a:off x="963130" y="9741370"/>
            <a:ext cx="12383100" cy="412770"/>
            <a:chOff x="0" y="0"/>
            <a:chExt cx="16510800" cy="550360"/>
          </a:xfrm>
        </p:grpSpPr>
        <p:sp>
          <p:nvSpPr>
            <p:cNvPr id="116" name="Freeform 116"/>
            <p:cNvSpPr/>
            <p:nvPr/>
          </p:nvSpPr>
          <p:spPr>
            <a:xfrm>
              <a:off x="0" y="0"/>
              <a:ext cx="16510797" cy="550365"/>
            </a:xfrm>
            <a:custGeom>
              <a:avLst/>
              <a:gdLst/>
              <a:ahLst/>
              <a:cxnLst/>
              <a:rect l="l" t="t" r="r" b="b"/>
              <a:pathLst>
                <a:path w="16510797" h="550365">
                  <a:moveTo>
                    <a:pt x="0" y="0"/>
                  </a:moveTo>
                  <a:lnTo>
                    <a:pt x="16510797" y="0"/>
                  </a:lnTo>
                  <a:lnTo>
                    <a:pt x="16510797" y="550365"/>
                  </a:lnTo>
                  <a:lnTo>
                    <a:pt x="0" y="550365"/>
                  </a:lnTo>
                  <a:close/>
                </a:path>
              </a:pathLst>
            </a:custGeom>
            <a:blipFill>
              <a:blip r:embed="rId3">
                <a:alphaModFix amt="0"/>
              </a:blip>
              <a:stretch>
                <a:fillRect t="-534546" b="-534544"/>
              </a:stretch>
            </a:blipFill>
          </p:spPr>
          <p:txBody>
            <a:bodyPr/>
            <a:lstStyle/>
            <a:p>
              <a:endParaRPr lang="en-US"/>
            </a:p>
          </p:txBody>
        </p:sp>
        <p:sp>
          <p:nvSpPr>
            <p:cNvPr id="117" name="TextBox 117"/>
            <p:cNvSpPr txBox="1"/>
            <p:nvPr/>
          </p:nvSpPr>
          <p:spPr>
            <a:xfrm>
              <a:off x="0" y="0"/>
              <a:ext cx="16510800" cy="550360"/>
            </a:xfrm>
            <a:prstGeom prst="rect">
              <a:avLst/>
            </a:prstGeom>
          </p:spPr>
          <p:txBody>
            <a:bodyPr lIns="0" tIns="0" rIns="0" bIns="0" rtlCol="0" anchor="ctr"/>
            <a:lstStyle/>
            <a:p>
              <a:pPr algn="l">
                <a:lnSpc>
                  <a:spcPts val="1625"/>
                </a:lnSpc>
              </a:pPr>
              <a:r>
                <a:rPr lang="en-US" sz="1354" b="1" spc="150">
                  <a:solidFill>
                    <a:srgbClr val="6B7280"/>
                  </a:solidFill>
                  <a:latin typeface="Montserrat Bold"/>
                  <a:ea typeface="Montserrat Bold"/>
                  <a:cs typeface="Montserrat Bold"/>
                  <a:sym typeface="Montserrat Bold"/>
                </a:rPr>
                <a:t>CÔNG AN PHƯỜNG PHÚ THỌ   ·   SÁNG KIẾN CẢI CÁCH HÀNH CHÍNH · 2026</a:t>
              </a:r>
            </a:p>
          </p:txBody>
        </p:sp>
      </p:grpSp>
      <p:grpSp>
        <p:nvGrpSpPr>
          <p:cNvPr id="118" name="Group 118"/>
          <p:cNvGrpSpPr/>
          <p:nvPr/>
        </p:nvGrpSpPr>
        <p:grpSpPr>
          <a:xfrm>
            <a:off x="15960433" y="9741370"/>
            <a:ext cx="1375896" cy="412770"/>
            <a:chOff x="0" y="0"/>
            <a:chExt cx="1834528" cy="550360"/>
          </a:xfrm>
        </p:grpSpPr>
        <p:sp>
          <p:nvSpPr>
            <p:cNvPr id="119" name="Freeform 119"/>
            <p:cNvSpPr/>
            <p:nvPr/>
          </p:nvSpPr>
          <p:spPr>
            <a:xfrm>
              <a:off x="0" y="0"/>
              <a:ext cx="1834533" cy="550365"/>
            </a:xfrm>
            <a:custGeom>
              <a:avLst/>
              <a:gdLst/>
              <a:ahLst/>
              <a:cxnLst/>
              <a:rect l="l" t="t" r="r" b="b"/>
              <a:pathLst>
                <a:path w="1834533" h="550365">
                  <a:moveTo>
                    <a:pt x="0" y="0"/>
                  </a:moveTo>
                  <a:lnTo>
                    <a:pt x="1834533" y="0"/>
                  </a:lnTo>
                  <a:lnTo>
                    <a:pt x="1834533" y="550365"/>
                  </a:lnTo>
                  <a:lnTo>
                    <a:pt x="0" y="550365"/>
                  </a:lnTo>
                  <a:close/>
                </a:path>
              </a:pathLst>
            </a:custGeom>
            <a:blipFill>
              <a:blip r:embed="rId3">
                <a:alphaModFix amt="0"/>
              </a:blip>
              <a:stretch>
                <a:fillRect t="-14950" b="-14948"/>
              </a:stretch>
            </a:blipFill>
          </p:spPr>
          <p:txBody>
            <a:bodyPr/>
            <a:lstStyle/>
            <a:p>
              <a:endParaRPr lang="en-US"/>
            </a:p>
          </p:txBody>
        </p:sp>
        <p:sp>
          <p:nvSpPr>
            <p:cNvPr id="120" name="TextBox 120"/>
            <p:cNvSpPr txBox="1"/>
            <p:nvPr/>
          </p:nvSpPr>
          <p:spPr>
            <a:xfrm>
              <a:off x="0" y="-9525"/>
              <a:ext cx="1834528" cy="559885"/>
            </a:xfrm>
            <a:prstGeom prst="rect">
              <a:avLst/>
            </a:prstGeom>
          </p:spPr>
          <p:txBody>
            <a:bodyPr lIns="0" tIns="0" rIns="0" bIns="0" rtlCol="0" anchor="ctr"/>
            <a:lstStyle/>
            <a:p>
              <a:pPr algn="r">
                <a:lnSpc>
                  <a:spcPts val="1805"/>
                </a:lnSpc>
              </a:pPr>
              <a:r>
                <a:rPr lang="en-US" sz="1504" b="1">
                  <a:solidFill>
                    <a:srgbClr val="C41E3A"/>
                  </a:solidFill>
                  <a:latin typeface="Montserrat Bold"/>
                  <a:ea typeface="Montserrat Bold"/>
                  <a:cs typeface="Montserrat Bold"/>
                  <a:sym typeface="Montserrat Bold"/>
                </a:rPr>
                <a:t>06</a:t>
              </a:r>
            </a:p>
          </p:txBody>
        </p:sp>
      </p:grpSp>
      <p:sp>
        <p:nvSpPr>
          <p:cNvPr id="121" name="Freeform 121"/>
          <p:cNvSpPr/>
          <p:nvPr/>
        </p:nvSpPr>
        <p:spPr>
          <a:xfrm>
            <a:off x="15763067" y="633048"/>
            <a:ext cx="1770628" cy="1768414"/>
          </a:xfrm>
          <a:custGeom>
            <a:avLst/>
            <a:gdLst/>
            <a:ahLst/>
            <a:cxnLst/>
            <a:rect l="l" t="t" r="r" b="b"/>
            <a:pathLst>
              <a:path w="1770628" h="1768414">
                <a:moveTo>
                  <a:pt x="0" y="0"/>
                </a:moveTo>
                <a:lnTo>
                  <a:pt x="1770628" y="0"/>
                </a:lnTo>
                <a:lnTo>
                  <a:pt x="1770628" y="1768414"/>
                </a:lnTo>
                <a:lnTo>
                  <a:pt x="0" y="1768414"/>
                </a:lnTo>
                <a:lnTo>
                  <a:pt x="0" y="0"/>
                </a:lnTo>
                <a:close/>
              </a:path>
            </a:pathLst>
          </a:custGeom>
          <a:blipFill>
            <a:blip>
              <a:alphaModFix amt="10999"/>
              <a:extLst>
                <a:ext uri="{96DAC541-7B7A-43D3-8B79-37D633B846F1}">
                  <asvg:svgBlip xmlns:asvg="http://schemas.microsoft.com/office/drawing/2016/SVG/main" r:embed="rId10"/>
                </a:ext>
              </a:extLst>
            </a:blip>
            <a:stretch>
              <a:fillRect/>
            </a:stretch>
          </a:blipFill>
        </p:spPr>
        <p:txBody>
          <a:bodyPr/>
          <a:lstStyle/>
          <a:p>
            <a:endParaRPr lang="en-US"/>
          </a:p>
        </p:txBody>
      </p:sp>
    </p:spTree>
    <p:extLst>
      <p:ext uri="{BB962C8B-B14F-4D97-AF65-F5344CB8AC3E}">
        <p14:creationId xmlns:p14="http://schemas.microsoft.com/office/powerpoint/2010/main" val="103965663"/>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0"/>
                      </p:stCondLst>
                      <p:childTnLst>
                        <p:par>
                          <p:cTn id="4" presetID="10" presetClass="entr" presetSubtype="0" fill="hold" nodeType="afterEffect">
                            <p:stCondLst>
                              <p:cond delay="0"/>
                            </p:stCondLst>
                            <p:childTnLst>
                              <p:set>
                                <p:cBhvr>
                                  <p:cTn id="5" dur="1" fill="hold">
                                    <p:stCondLst>
                                      <p:cond delay="0"/>
                                    </p:stCondLst>
                                  </p:cTn>
                                  <p:tgtEl>
                                    <p:spTgt spid="11"/>
                                  </p:tgtEl>
                                  <p:attrNameLst>
                                    <p:attrName>style.visibility</p:attrName>
                                  </p:attrNameLst>
                                </p:cBhvr>
                                <p:to>
                                  <p:strVal val="visible"/>
                                </p:to>
                              </p:set>
                              <p:animEffect transition="in" filter="fade">
                                <p:cBhvr>
                                  <p:cTn id="6" dur="650"/>
                                  <p:tgtEl>
                                    <p:spTgt spid="11"/>
                                  </p:tgtEl>
                                </p:cBhvr>
                              </p:animEffect>
                            </p:childTnLst>
                          </p:cTn>
                        </p:par>
                        <p:par>
                          <p:cTn id="7" presetID="10" presetClass="entr" presetSubtype="0" fill="hold" nodeType="afterEffect">
                            <p:stCondLst>
                              <p:cond delay="0"/>
                            </p:stCondLst>
                            <p:childTnLst>
                              <p:set>
                                <p:cBhvr>
                                  <p:cTn id="8" dur="1" fill="hold">
                                    <p:stCondLst>
                                      <p:cond delay="0"/>
                                    </p:stCondLst>
                                  </p:cTn>
                                  <p:tgtEl>
                                    <p:spTgt spid="13"/>
                                  </p:tgtEl>
                                  <p:attrNameLst>
                                    <p:attrName>style.visibility</p:attrName>
                                  </p:attrNameLst>
                                </p:cBhvr>
                                <p:to>
                                  <p:strVal val="visible"/>
                                </p:to>
                              </p:set>
                              <p:animEffect transition="in" filter="fade">
                                <p:cBhvr>
                                  <p:cTn id="9" dur="650"/>
                                  <p:tgtEl>
                                    <p:spTgt spid="13"/>
                                  </p:tgtEl>
                                </p:cBhvr>
                              </p:animEffect>
                            </p:childTnLst>
                          </p:cTn>
                        </p:par>
                        <p:par>
                          <p:cTn id="10" presetID="10" presetClass="entr" presetSubtype="0" fill="hold" nodeType="afterEffect">
                            <p:stCondLst>
                              <p:cond delay="0"/>
                            </p:stCondLst>
                            <p:childTnLst>
                              <p:set>
                                <p:cBhvr>
                                  <p:cTn id="11" dur="1" fill="hold">
                                    <p:stCondLst>
                                      <p:cond delay="0"/>
                                    </p:stCondLst>
                                  </p:cTn>
                                  <p:tgtEl>
                                    <p:spTgt spid="15"/>
                                  </p:tgtEl>
                                  <p:attrNameLst>
                                    <p:attrName>style.visibility</p:attrName>
                                  </p:attrNameLst>
                                </p:cBhvr>
                                <p:to>
                                  <p:strVal val="visible"/>
                                </p:to>
                              </p:set>
                              <p:animEffect transition="in" filter="fade">
                                <p:cBhvr>
                                  <p:cTn id="12" dur="650"/>
                                  <p:tgtEl>
                                    <p:spTgt spid="15"/>
                                  </p:tgtEl>
                                </p:cBhvr>
                              </p:animEffect>
                            </p:childTnLst>
                          </p:cTn>
                        </p:par>
                        <p:par>
                          <p:cTn id="13" presetID="10" presetClass="entr" presetSubtype="0" fill="hold" nodeType="afterEffect">
                            <p:stCondLst>
                              <p:cond delay="0"/>
                            </p:stCondLst>
                            <p:childTnLst>
                              <p:set>
                                <p:cBhvr>
                                  <p:cTn id="14" dur="1" fill="hold">
                                    <p:stCondLst>
                                      <p:cond delay="0"/>
                                    </p:stCondLst>
                                  </p:cTn>
                                  <p:tgtEl>
                                    <p:spTgt spid="17"/>
                                  </p:tgtEl>
                                  <p:attrNameLst>
                                    <p:attrName>style.visibility</p:attrName>
                                  </p:attrNameLst>
                                </p:cBhvr>
                                <p:to>
                                  <p:strVal val="visible"/>
                                </p:to>
                              </p:set>
                              <p:animEffect transition="in" filter="fade">
                                <p:cBhvr>
                                  <p:cTn id="15" dur="650"/>
                                  <p:tgtEl>
                                    <p:spTgt spid="17"/>
                                  </p:tgtEl>
                                </p:cBhvr>
                              </p:animEffect>
                            </p:childTnLst>
                          </p:cTn>
                        </p:par>
                        <p:par>
                          <p:cTn id="16" presetID="10" presetClass="entr" presetSubtype="0" fill="hold" nodeType="afterEffect">
                            <p:stCondLst>
                              <p:cond delay="0"/>
                            </p:stCondLst>
                            <p:childTnLst>
                              <p:set>
                                <p:cBhvr>
                                  <p:cTn id="17" dur="1" fill="hold">
                                    <p:stCondLst>
                                      <p:cond delay="0"/>
                                    </p:stCondLst>
                                  </p:cTn>
                                  <p:tgtEl>
                                    <p:spTgt spid="19"/>
                                  </p:tgtEl>
                                  <p:attrNameLst>
                                    <p:attrName>style.visibility</p:attrName>
                                  </p:attrNameLst>
                                </p:cBhvr>
                                <p:to>
                                  <p:strVal val="visible"/>
                                </p:to>
                              </p:set>
                              <p:animEffect transition="in" filter="fade">
                                <p:cBhvr>
                                  <p:cTn id="18" dur="650"/>
                                  <p:tgtEl>
                                    <p:spTgt spid="19"/>
                                  </p:tgtEl>
                                </p:cBhvr>
                              </p:animEffect>
                            </p:childTnLst>
                          </p:cTn>
                        </p:par>
                        <p:par>
                          <p:cTn id="19" presetID="10" presetClass="entr" presetSubtype="0" fill="hold" nodeType="afterEffect">
                            <p:stCondLst>
                              <p:cond delay="0"/>
                            </p:stCondLst>
                            <p:childTnLst>
                              <p:set>
                                <p:cBhvr>
                                  <p:cTn id="20" dur="1" fill="hold">
                                    <p:stCondLst>
                                      <p:cond delay="0"/>
                                    </p:stCondLst>
                                  </p:cTn>
                                  <p:tgtEl>
                                    <p:spTgt spid="22"/>
                                  </p:tgtEl>
                                  <p:attrNameLst>
                                    <p:attrName>style.visibility</p:attrName>
                                  </p:attrNameLst>
                                </p:cBhvr>
                                <p:to>
                                  <p:strVal val="visible"/>
                                </p:to>
                              </p:set>
                              <p:animEffect transition="in" filter="fade">
                                <p:cBhvr>
                                  <p:cTn id="21" dur="650"/>
                                  <p:tgtEl>
                                    <p:spTgt spid="22"/>
                                  </p:tgtEl>
                                </p:cBhvr>
                              </p:animEffect>
                            </p:childTnLst>
                          </p:cTn>
                        </p:par>
                        <p:par>
                          <p:cTn id="22" presetID="10" presetClass="entr" presetSubtype="0" fill="hold" nodeType="afterEffect">
                            <p:stCondLst>
                              <p:cond delay="0"/>
                            </p:stCondLst>
                            <p:childTnLst>
                              <p:set>
                                <p:cBhvr>
                                  <p:cTn id="23" dur="1" fill="hold">
                                    <p:stCondLst>
                                      <p:cond delay="0"/>
                                    </p:stCondLst>
                                  </p:cTn>
                                  <p:tgtEl>
                                    <p:spTgt spid="25"/>
                                  </p:tgtEl>
                                  <p:attrNameLst>
                                    <p:attrName>style.visibility</p:attrName>
                                  </p:attrNameLst>
                                </p:cBhvr>
                                <p:to>
                                  <p:strVal val="visible"/>
                                </p:to>
                              </p:set>
                              <p:animEffect transition="in" filter="fade">
                                <p:cBhvr>
                                  <p:cTn id="24" dur="650"/>
                                  <p:tgtEl>
                                    <p:spTgt spid="25"/>
                                  </p:tgtEl>
                                </p:cBhvr>
                              </p:animEffect>
                            </p:childTnLst>
                          </p:cTn>
                        </p:par>
                        <p:par>
                          <p:cTn id="25" presetID="10" presetClass="entr" presetSubtype="0" fill="hold" nodeType="afterEffect">
                            <p:stCondLst>
                              <p:cond delay="600"/>
                            </p:stCondLst>
                            <p:childTnLst>
                              <p:set>
                                <p:cBhvr>
                                  <p:cTn id="26" dur="1" fill="hold">
                                    <p:stCondLst>
                                      <p:cond delay="0"/>
                                    </p:stCondLst>
                                  </p:cTn>
                                  <p:tgtEl>
                                    <p:spTgt spid="28"/>
                                  </p:tgtEl>
                                  <p:attrNameLst>
                                    <p:attrName>style.visibility</p:attrName>
                                  </p:attrNameLst>
                                </p:cBhvr>
                                <p:to>
                                  <p:strVal val="visible"/>
                                </p:to>
                              </p:set>
                              <p:animEffect transition="in" filter="fade">
                                <p:cBhvr>
                                  <p:cTn id="27" dur="650"/>
                                  <p:tgtEl>
                                    <p:spTgt spid="28"/>
                                  </p:tgtEl>
                                </p:cBhvr>
                              </p:animEffect>
                            </p:childTnLst>
                          </p:cTn>
                        </p:par>
                        <p:par>
                          <p:cTn id="28" presetID="10" presetClass="entr" presetSubtype="0" fill="hold" nodeType="afterEffect">
                            <p:stCondLst>
                              <p:cond delay="600"/>
                            </p:stCondLst>
                            <p:childTnLst>
                              <p:set>
                                <p:cBhvr>
                                  <p:cTn id="29" dur="1" fill="hold">
                                    <p:stCondLst>
                                      <p:cond delay="0"/>
                                    </p:stCondLst>
                                  </p:cTn>
                                  <p:tgtEl>
                                    <p:spTgt spid="30"/>
                                  </p:tgtEl>
                                  <p:attrNameLst>
                                    <p:attrName>style.visibility</p:attrName>
                                  </p:attrNameLst>
                                </p:cBhvr>
                                <p:to>
                                  <p:strVal val="visible"/>
                                </p:to>
                              </p:set>
                              <p:animEffect transition="in" filter="fade">
                                <p:cBhvr>
                                  <p:cTn id="30" dur="650"/>
                                  <p:tgtEl>
                                    <p:spTgt spid="30"/>
                                  </p:tgtEl>
                                </p:cBhvr>
                              </p:animEffect>
                            </p:childTnLst>
                          </p:cTn>
                        </p:par>
                        <p:par>
                          <p:cTn id="31" presetID="10" presetClass="entr" presetSubtype="0" fill="hold" nodeType="afterEffect">
                            <p:stCondLst>
                              <p:cond delay="600"/>
                            </p:stCondLst>
                            <p:childTnLst>
                              <p:set>
                                <p:cBhvr>
                                  <p:cTn id="32" dur="1" fill="hold">
                                    <p:stCondLst>
                                      <p:cond delay="0"/>
                                    </p:stCondLst>
                                  </p:cTn>
                                  <p:tgtEl>
                                    <p:spTgt spid="32"/>
                                  </p:tgtEl>
                                  <p:attrNameLst>
                                    <p:attrName>style.visibility</p:attrName>
                                  </p:attrNameLst>
                                </p:cBhvr>
                                <p:to>
                                  <p:strVal val="visible"/>
                                </p:to>
                              </p:set>
                              <p:animEffect transition="in" filter="fade">
                                <p:cBhvr>
                                  <p:cTn id="33" dur="650"/>
                                  <p:tgtEl>
                                    <p:spTgt spid="32"/>
                                  </p:tgtEl>
                                </p:cBhvr>
                              </p:animEffect>
                            </p:childTnLst>
                          </p:cTn>
                        </p:par>
                        <p:par>
                          <p:cTn id="34" presetID="10" presetClass="entr" presetSubtype="0" fill="hold" nodeType="afterEffect">
                            <p:stCondLst>
                              <p:cond delay="600"/>
                            </p:stCondLst>
                            <p:childTnLst>
                              <p:set>
                                <p:cBhvr>
                                  <p:cTn id="35" dur="1" fill="hold">
                                    <p:stCondLst>
                                      <p:cond delay="0"/>
                                    </p:stCondLst>
                                  </p:cTn>
                                  <p:tgtEl>
                                    <p:spTgt spid="34"/>
                                  </p:tgtEl>
                                  <p:attrNameLst>
                                    <p:attrName>style.visibility</p:attrName>
                                  </p:attrNameLst>
                                </p:cBhvr>
                                <p:to>
                                  <p:strVal val="visible"/>
                                </p:to>
                              </p:set>
                              <p:animEffect transition="in" filter="fade">
                                <p:cBhvr>
                                  <p:cTn id="36" dur="650"/>
                                  <p:tgtEl>
                                    <p:spTgt spid="34"/>
                                  </p:tgtEl>
                                </p:cBhvr>
                              </p:animEffect>
                            </p:childTnLst>
                          </p:cTn>
                        </p:par>
                        <p:par>
                          <p:cTn id="37" presetID="10" presetClass="entr" presetSubtype="0" fill="hold" nodeType="afterEffect">
                            <p:stCondLst>
                              <p:cond delay="600"/>
                            </p:stCondLst>
                            <p:childTnLst>
                              <p:set>
                                <p:cBhvr>
                                  <p:cTn id="38" dur="1" fill="hold">
                                    <p:stCondLst>
                                      <p:cond delay="0"/>
                                    </p:stCondLst>
                                  </p:cTn>
                                  <p:tgtEl>
                                    <p:spTgt spid="36"/>
                                  </p:tgtEl>
                                  <p:attrNameLst>
                                    <p:attrName>style.visibility</p:attrName>
                                  </p:attrNameLst>
                                </p:cBhvr>
                                <p:to>
                                  <p:strVal val="visible"/>
                                </p:to>
                              </p:set>
                              <p:animEffect transition="in" filter="fade">
                                <p:cBhvr>
                                  <p:cTn id="39" dur="650"/>
                                  <p:tgtEl>
                                    <p:spTgt spid="36"/>
                                  </p:tgtEl>
                                </p:cBhvr>
                              </p:animEffect>
                            </p:childTnLst>
                          </p:cTn>
                        </p:par>
                        <p:par>
                          <p:cTn id="40" presetID="10" presetClass="entr" presetSubtype="0" fill="hold" nodeType="afterEffect">
                            <p:stCondLst>
                              <p:cond delay="600"/>
                            </p:stCondLst>
                            <p:childTnLst>
                              <p:set>
                                <p:cBhvr>
                                  <p:cTn id="41" dur="1" fill="hold">
                                    <p:stCondLst>
                                      <p:cond delay="0"/>
                                    </p:stCondLst>
                                  </p:cTn>
                                  <p:tgtEl>
                                    <p:spTgt spid="39"/>
                                  </p:tgtEl>
                                  <p:attrNameLst>
                                    <p:attrName>style.visibility</p:attrName>
                                  </p:attrNameLst>
                                </p:cBhvr>
                                <p:to>
                                  <p:strVal val="visible"/>
                                </p:to>
                              </p:set>
                              <p:animEffect transition="in" filter="fade">
                                <p:cBhvr>
                                  <p:cTn id="42" dur="650"/>
                                  <p:tgtEl>
                                    <p:spTgt spid="39"/>
                                  </p:tgtEl>
                                </p:cBhvr>
                              </p:animEffect>
                            </p:childTnLst>
                          </p:cTn>
                        </p:par>
                        <p:par>
                          <p:cTn id="43" presetID="10" presetClass="entr" presetSubtype="0" fill="hold" nodeType="afterEffect">
                            <p:stCondLst>
                              <p:cond delay="600"/>
                            </p:stCondLst>
                            <p:childTnLst>
                              <p:set>
                                <p:cBhvr>
                                  <p:cTn id="44" dur="1" fill="hold">
                                    <p:stCondLst>
                                      <p:cond delay="0"/>
                                    </p:stCondLst>
                                  </p:cTn>
                                  <p:tgtEl>
                                    <p:spTgt spid="42"/>
                                  </p:tgtEl>
                                  <p:attrNameLst>
                                    <p:attrName>style.visibility</p:attrName>
                                  </p:attrNameLst>
                                </p:cBhvr>
                                <p:to>
                                  <p:strVal val="visible"/>
                                </p:to>
                              </p:set>
                              <p:animEffect transition="in" filter="fade">
                                <p:cBhvr>
                                  <p:cTn id="45" dur="650"/>
                                  <p:tgtEl>
                                    <p:spTgt spid="42"/>
                                  </p:tgtEl>
                                </p:cBhvr>
                              </p:animEffect>
                            </p:childTnLst>
                          </p:cTn>
                        </p:par>
                        <p:par>
                          <p:cTn id="46" presetID="10" presetClass="entr" presetSubtype="0" fill="hold" nodeType="afterEffect">
                            <p:stCondLst>
                              <p:cond delay="1200"/>
                            </p:stCondLst>
                            <p:childTnLst>
                              <p:set>
                                <p:cBhvr>
                                  <p:cTn id="47" dur="1" fill="hold">
                                    <p:stCondLst>
                                      <p:cond delay="0"/>
                                    </p:stCondLst>
                                  </p:cTn>
                                  <p:tgtEl>
                                    <p:spTgt spid="45"/>
                                  </p:tgtEl>
                                  <p:attrNameLst>
                                    <p:attrName>style.visibility</p:attrName>
                                  </p:attrNameLst>
                                </p:cBhvr>
                                <p:to>
                                  <p:strVal val="visible"/>
                                </p:to>
                              </p:set>
                              <p:animEffect transition="in" filter="fade">
                                <p:cBhvr>
                                  <p:cTn id="48" dur="650"/>
                                  <p:tgtEl>
                                    <p:spTgt spid="45"/>
                                  </p:tgtEl>
                                </p:cBhvr>
                              </p:animEffect>
                            </p:childTnLst>
                          </p:cTn>
                        </p:par>
                        <p:par>
                          <p:cTn id="49" presetID="10" presetClass="entr" presetSubtype="0" fill="hold" nodeType="afterEffect">
                            <p:stCondLst>
                              <p:cond delay="1200"/>
                            </p:stCondLst>
                            <p:childTnLst>
                              <p:set>
                                <p:cBhvr>
                                  <p:cTn id="50" dur="1" fill="hold">
                                    <p:stCondLst>
                                      <p:cond delay="0"/>
                                    </p:stCondLst>
                                  </p:cTn>
                                  <p:tgtEl>
                                    <p:spTgt spid="47"/>
                                  </p:tgtEl>
                                  <p:attrNameLst>
                                    <p:attrName>style.visibility</p:attrName>
                                  </p:attrNameLst>
                                </p:cBhvr>
                                <p:to>
                                  <p:strVal val="visible"/>
                                </p:to>
                              </p:set>
                              <p:animEffect transition="in" filter="fade">
                                <p:cBhvr>
                                  <p:cTn id="51" dur="650"/>
                                  <p:tgtEl>
                                    <p:spTgt spid="47"/>
                                  </p:tgtEl>
                                </p:cBhvr>
                              </p:animEffect>
                            </p:childTnLst>
                          </p:cTn>
                        </p:par>
                        <p:par>
                          <p:cTn id="52" presetID="10" presetClass="entr" presetSubtype="0" fill="hold" nodeType="afterEffect">
                            <p:stCondLst>
                              <p:cond delay="1200"/>
                            </p:stCondLst>
                            <p:childTnLst>
                              <p:set>
                                <p:cBhvr>
                                  <p:cTn id="53" dur="1" fill="hold">
                                    <p:stCondLst>
                                      <p:cond delay="0"/>
                                    </p:stCondLst>
                                  </p:cTn>
                                  <p:tgtEl>
                                    <p:spTgt spid="49"/>
                                  </p:tgtEl>
                                  <p:attrNameLst>
                                    <p:attrName>style.visibility</p:attrName>
                                  </p:attrNameLst>
                                </p:cBhvr>
                                <p:to>
                                  <p:strVal val="visible"/>
                                </p:to>
                              </p:set>
                              <p:animEffect transition="in" filter="fade">
                                <p:cBhvr>
                                  <p:cTn id="54" dur="650"/>
                                  <p:tgtEl>
                                    <p:spTgt spid="49"/>
                                  </p:tgtEl>
                                </p:cBhvr>
                              </p:animEffect>
                            </p:childTnLst>
                          </p:cTn>
                        </p:par>
                        <p:par>
                          <p:cTn id="55" presetID="10" presetClass="entr" presetSubtype="0" fill="hold" nodeType="afterEffect">
                            <p:stCondLst>
                              <p:cond delay="1200"/>
                            </p:stCondLst>
                            <p:childTnLst>
                              <p:set>
                                <p:cBhvr>
                                  <p:cTn id="56" dur="1" fill="hold">
                                    <p:stCondLst>
                                      <p:cond delay="0"/>
                                    </p:stCondLst>
                                  </p:cTn>
                                  <p:tgtEl>
                                    <p:spTgt spid="51"/>
                                  </p:tgtEl>
                                  <p:attrNameLst>
                                    <p:attrName>style.visibility</p:attrName>
                                  </p:attrNameLst>
                                </p:cBhvr>
                                <p:to>
                                  <p:strVal val="visible"/>
                                </p:to>
                              </p:set>
                              <p:animEffect transition="in" filter="fade">
                                <p:cBhvr>
                                  <p:cTn id="57" dur="650"/>
                                  <p:tgtEl>
                                    <p:spTgt spid="51"/>
                                  </p:tgtEl>
                                </p:cBhvr>
                              </p:animEffect>
                            </p:childTnLst>
                          </p:cTn>
                        </p:par>
                        <p:par>
                          <p:cTn id="58" presetID="10" presetClass="entr" presetSubtype="0" fill="hold" nodeType="afterEffect">
                            <p:stCondLst>
                              <p:cond delay="1200"/>
                            </p:stCondLst>
                            <p:childTnLst>
                              <p:set>
                                <p:cBhvr>
                                  <p:cTn id="59" dur="1" fill="hold">
                                    <p:stCondLst>
                                      <p:cond delay="0"/>
                                    </p:stCondLst>
                                  </p:cTn>
                                  <p:tgtEl>
                                    <p:spTgt spid="53"/>
                                  </p:tgtEl>
                                  <p:attrNameLst>
                                    <p:attrName>style.visibility</p:attrName>
                                  </p:attrNameLst>
                                </p:cBhvr>
                                <p:to>
                                  <p:strVal val="visible"/>
                                </p:to>
                              </p:set>
                              <p:animEffect transition="in" filter="fade">
                                <p:cBhvr>
                                  <p:cTn id="60" dur="650"/>
                                  <p:tgtEl>
                                    <p:spTgt spid="53"/>
                                  </p:tgtEl>
                                </p:cBhvr>
                              </p:animEffect>
                            </p:childTnLst>
                          </p:cTn>
                        </p:par>
                        <p:par>
                          <p:cTn id="61" presetID="10" presetClass="entr" presetSubtype="0" fill="hold" nodeType="afterEffect">
                            <p:stCondLst>
                              <p:cond delay="1200"/>
                            </p:stCondLst>
                            <p:childTnLst>
                              <p:set>
                                <p:cBhvr>
                                  <p:cTn id="62" dur="1" fill="hold">
                                    <p:stCondLst>
                                      <p:cond delay="0"/>
                                    </p:stCondLst>
                                  </p:cTn>
                                  <p:tgtEl>
                                    <p:spTgt spid="56"/>
                                  </p:tgtEl>
                                  <p:attrNameLst>
                                    <p:attrName>style.visibility</p:attrName>
                                  </p:attrNameLst>
                                </p:cBhvr>
                                <p:to>
                                  <p:strVal val="visible"/>
                                </p:to>
                              </p:set>
                              <p:animEffect transition="in" filter="fade">
                                <p:cBhvr>
                                  <p:cTn id="63" dur="650"/>
                                  <p:tgtEl>
                                    <p:spTgt spid="56"/>
                                  </p:tgtEl>
                                </p:cBhvr>
                              </p:animEffect>
                            </p:childTnLst>
                          </p:cTn>
                        </p:par>
                        <p:par>
                          <p:cTn id="64" presetID="10" presetClass="entr" presetSubtype="0" fill="hold" nodeType="afterEffect">
                            <p:stCondLst>
                              <p:cond delay="1200"/>
                            </p:stCondLst>
                            <p:childTnLst>
                              <p:set>
                                <p:cBhvr>
                                  <p:cTn id="65" dur="1" fill="hold">
                                    <p:stCondLst>
                                      <p:cond delay="0"/>
                                    </p:stCondLst>
                                  </p:cTn>
                                  <p:tgtEl>
                                    <p:spTgt spid="59"/>
                                  </p:tgtEl>
                                  <p:attrNameLst>
                                    <p:attrName>style.visibility</p:attrName>
                                  </p:attrNameLst>
                                </p:cBhvr>
                                <p:to>
                                  <p:strVal val="visible"/>
                                </p:to>
                              </p:set>
                              <p:animEffect transition="in" filter="fade">
                                <p:cBhvr>
                                  <p:cTn id="66" dur="650"/>
                                  <p:tgtEl>
                                    <p:spTgt spid="59"/>
                                  </p:tgtEl>
                                </p:cBhvr>
                              </p:animEffect>
                            </p:childTnLst>
                          </p:cTn>
                        </p:par>
                        <p:par>
                          <p:cTn id="67" presetID="10" presetClass="entr" presetSubtype="0" fill="hold" nodeType="afterEffect">
                            <p:stCondLst>
                              <p:cond delay="1800"/>
                            </p:stCondLst>
                            <p:childTnLst>
                              <p:set>
                                <p:cBhvr>
                                  <p:cTn id="68" dur="1" fill="hold">
                                    <p:stCondLst>
                                      <p:cond delay="0"/>
                                    </p:stCondLst>
                                  </p:cTn>
                                  <p:tgtEl>
                                    <p:spTgt spid="62"/>
                                  </p:tgtEl>
                                  <p:attrNameLst>
                                    <p:attrName>style.visibility</p:attrName>
                                  </p:attrNameLst>
                                </p:cBhvr>
                                <p:to>
                                  <p:strVal val="visible"/>
                                </p:to>
                              </p:set>
                              <p:animEffect transition="in" filter="fade">
                                <p:cBhvr>
                                  <p:cTn id="69" dur="650"/>
                                  <p:tgtEl>
                                    <p:spTgt spid="62"/>
                                  </p:tgtEl>
                                </p:cBhvr>
                              </p:animEffect>
                            </p:childTnLst>
                          </p:cTn>
                        </p:par>
                        <p:par>
                          <p:cTn id="70" presetID="10" presetClass="entr" presetSubtype="0" fill="hold" nodeType="afterEffect">
                            <p:stCondLst>
                              <p:cond delay="1800"/>
                            </p:stCondLst>
                            <p:childTnLst>
                              <p:set>
                                <p:cBhvr>
                                  <p:cTn id="71" dur="1" fill="hold">
                                    <p:stCondLst>
                                      <p:cond delay="0"/>
                                    </p:stCondLst>
                                  </p:cTn>
                                  <p:tgtEl>
                                    <p:spTgt spid="64"/>
                                  </p:tgtEl>
                                  <p:attrNameLst>
                                    <p:attrName>style.visibility</p:attrName>
                                  </p:attrNameLst>
                                </p:cBhvr>
                                <p:to>
                                  <p:strVal val="visible"/>
                                </p:to>
                              </p:set>
                              <p:animEffect transition="in" filter="fade">
                                <p:cBhvr>
                                  <p:cTn id="72" dur="650"/>
                                  <p:tgtEl>
                                    <p:spTgt spid="64"/>
                                  </p:tgtEl>
                                </p:cBhvr>
                              </p:animEffect>
                            </p:childTnLst>
                          </p:cTn>
                        </p:par>
                        <p:par>
                          <p:cTn id="73" presetID="10" presetClass="entr" presetSubtype="0" fill="hold" nodeType="afterEffect">
                            <p:stCondLst>
                              <p:cond delay="1800"/>
                            </p:stCondLst>
                            <p:childTnLst>
                              <p:set>
                                <p:cBhvr>
                                  <p:cTn id="74" dur="1" fill="hold">
                                    <p:stCondLst>
                                      <p:cond delay="0"/>
                                    </p:stCondLst>
                                  </p:cTn>
                                  <p:tgtEl>
                                    <p:spTgt spid="66"/>
                                  </p:tgtEl>
                                  <p:attrNameLst>
                                    <p:attrName>style.visibility</p:attrName>
                                  </p:attrNameLst>
                                </p:cBhvr>
                                <p:to>
                                  <p:strVal val="visible"/>
                                </p:to>
                              </p:set>
                              <p:animEffect transition="in" filter="fade">
                                <p:cBhvr>
                                  <p:cTn id="75" dur="650"/>
                                  <p:tgtEl>
                                    <p:spTgt spid="66"/>
                                  </p:tgtEl>
                                </p:cBhvr>
                              </p:animEffect>
                            </p:childTnLst>
                          </p:cTn>
                        </p:par>
                        <p:par>
                          <p:cTn id="76" presetID="10" presetClass="entr" presetSubtype="0" fill="hold" nodeType="afterEffect">
                            <p:stCondLst>
                              <p:cond delay="1800"/>
                            </p:stCondLst>
                            <p:childTnLst>
                              <p:set>
                                <p:cBhvr>
                                  <p:cTn id="77" dur="1" fill="hold">
                                    <p:stCondLst>
                                      <p:cond delay="0"/>
                                    </p:stCondLst>
                                  </p:cTn>
                                  <p:tgtEl>
                                    <p:spTgt spid="68"/>
                                  </p:tgtEl>
                                  <p:attrNameLst>
                                    <p:attrName>style.visibility</p:attrName>
                                  </p:attrNameLst>
                                </p:cBhvr>
                                <p:to>
                                  <p:strVal val="visible"/>
                                </p:to>
                              </p:set>
                              <p:animEffect transition="in" filter="fade">
                                <p:cBhvr>
                                  <p:cTn id="78" dur="650"/>
                                  <p:tgtEl>
                                    <p:spTgt spid="68"/>
                                  </p:tgtEl>
                                </p:cBhvr>
                              </p:animEffect>
                            </p:childTnLst>
                          </p:cTn>
                        </p:par>
                        <p:par>
                          <p:cTn id="79" presetID="10" presetClass="entr" presetSubtype="0" fill="hold" nodeType="afterEffect">
                            <p:stCondLst>
                              <p:cond delay="1800"/>
                            </p:stCondLst>
                            <p:childTnLst>
                              <p:set>
                                <p:cBhvr>
                                  <p:cTn id="80" dur="1" fill="hold">
                                    <p:stCondLst>
                                      <p:cond delay="0"/>
                                    </p:stCondLst>
                                  </p:cTn>
                                  <p:tgtEl>
                                    <p:spTgt spid="70"/>
                                  </p:tgtEl>
                                  <p:attrNameLst>
                                    <p:attrName>style.visibility</p:attrName>
                                  </p:attrNameLst>
                                </p:cBhvr>
                                <p:to>
                                  <p:strVal val="visible"/>
                                </p:to>
                              </p:set>
                              <p:animEffect transition="in" filter="fade">
                                <p:cBhvr>
                                  <p:cTn id="81" dur="650"/>
                                  <p:tgtEl>
                                    <p:spTgt spid="70"/>
                                  </p:tgtEl>
                                </p:cBhvr>
                              </p:animEffect>
                            </p:childTnLst>
                          </p:cTn>
                        </p:par>
                        <p:par>
                          <p:cTn id="82" presetID="10" presetClass="entr" presetSubtype="0" fill="hold" nodeType="afterEffect">
                            <p:stCondLst>
                              <p:cond delay="1800"/>
                            </p:stCondLst>
                            <p:childTnLst>
                              <p:set>
                                <p:cBhvr>
                                  <p:cTn id="83" dur="1" fill="hold">
                                    <p:stCondLst>
                                      <p:cond delay="0"/>
                                    </p:stCondLst>
                                  </p:cTn>
                                  <p:tgtEl>
                                    <p:spTgt spid="73"/>
                                  </p:tgtEl>
                                  <p:attrNameLst>
                                    <p:attrName>style.visibility</p:attrName>
                                  </p:attrNameLst>
                                </p:cBhvr>
                                <p:to>
                                  <p:strVal val="visible"/>
                                </p:to>
                              </p:set>
                              <p:animEffect transition="in" filter="fade">
                                <p:cBhvr>
                                  <p:cTn id="84" dur="650"/>
                                  <p:tgtEl>
                                    <p:spTgt spid="73"/>
                                  </p:tgtEl>
                                </p:cBhvr>
                              </p:animEffect>
                            </p:childTnLst>
                          </p:cTn>
                        </p:par>
                        <p:par>
                          <p:cTn id="85" presetID="10" presetClass="entr" presetSubtype="0" fill="hold" nodeType="afterEffect">
                            <p:stCondLst>
                              <p:cond delay="1800"/>
                            </p:stCondLst>
                            <p:childTnLst>
                              <p:set>
                                <p:cBhvr>
                                  <p:cTn id="86" dur="1" fill="hold">
                                    <p:stCondLst>
                                      <p:cond delay="0"/>
                                    </p:stCondLst>
                                  </p:cTn>
                                  <p:tgtEl>
                                    <p:spTgt spid="76"/>
                                  </p:tgtEl>
                                  <p:attrNameLst>
                                    <p:attrName>style.visibility</p:attrName>
                                  </p:attrNameLst>
                                </p:cBhvr>
                                <p:to>
                                  <p:strVal val="visible"/>
                                </p:to>
                              </p:set>
                              <p:animEffect transition="in" filter="fade">
                                <p:cBhvr>
                                  <p:cTn id="87" dur="650"/>
                                  <p:tgtEl>
                                    <p:spTgt spid="76"/>
                                  </p:tgtEl>
                                </p:cBhvr>
                              </p:animEffect>
                            </p:childTnLst>
                          </p:cTn>
                        </p:par>
                        <p:par>
                          <p:cTn id="88" presetID="10" presetClass="entr" presetSubtype="0" fill="hold" nodeType="afterEffect">
                            <p:stCondLst>
                              <p:cond delay="2400"/>
                            </p:stCondLst>
                            <p:childTnLst>
                              <p:set>
                                <p:cBhvr>
                                  <p:cTn id="89" dur="1" fill="hold">
                                    <p:stCondLst>
                                      <p:cond delay="0"/>
                                    </p:stCondLst>
                                  </p:cTn>
                                  <p:tgtEl>
                                    <p:spTgt spid="79"/>
                                  </p:tgtEl>
                                  <p:attrNameLst>
                                    <p:attrName>style.visibility</p:attrName>
                                  </p:attrNameLst>
                                </p:cBhvr>
                                <p:to>
                                  <p:strVal val="visible"/>
                                </p:to>
                              </p:set>
                              <p:animEffect transition="in" filter="fade">
                                <p:cBhvr>
                                  <p:cTn id="90" dur="650"/>
                                  <p:tgtEl>
                                    <p:spTgt spid="79"/>
                                  </p:tgtEl>
                                </p:cBhvr>
                              </p:animEffect>
                            </p:childTnLst>
                          </p:cTn>
                        </p:par>
                        <p:par>
                          <p:cTn id="91" presetID="10" presetClass="entr" presetSubtype="0" fill="hold" nodeType="afterEffect">
                            <p:stCondLst>
                              <p:cond delay="2400"/>
                            </p:stCondLst>
                            <p:childTnLst>
                              <p:set>
                                <p:cBhvr>
                                  <p:cTn id="92" dur="1" fill="hold">
                                    <p:stCondLst>
                                      <p:cond delay="0"/>
                                    </p:stCondLst>
                                  </p:cTn>
                                  <p:tgtEl>
                                    <p:spTgt spid="81"/>
                                  </p:tgtEl>
                                  <p:attrNameLst>
                                    <p:attrName>style.visibility</p:attrName>
                                  </p:attrNameLst>
                                </p:cBhvr>
                                <p:to>
                                  <p:strVal val="visible"/>
                                </p:to>
                              </p:set>
                              <p:animEffect transition="in" filter="fade">
                                <p:cBhvr>
                                  <p:cTn id="93" dur="650"/>
                                  <p:tgtEl>
                                    <p:spTgt spid="81"/>
                                  </p:tgtEl>
                                </p:cBhvr>
                              </p:animEffect>
                            </p:childTnLst>
                          </p:cTn>
                        </p:par>
                        <p:par>
                          <p:cTn id="94" presetID="10" presetClass="entr" presetSubtype="0" fill="hold" nodeType="afterEffect">
                            <p:stCondLst>
                              <p:cond delay="2400"/>
                            </p:stCondLst>
                            <p:childTnLst>
                              <p:set>
                                <p:cBhvr>
                                  <p:cTn id="95" dur="1" fill="hold">
                                    <p:stCondLst>
                                      <p:cond delay="0"/>
                                    </p:stCondLst>
                                  </p:cTn>
                                  <p:tgtEl>
                                    <p:spTgt spid="83"/>
                                  </p:tgtEl>
                                  <p:attrNameLst>
                                    <p:attrName>style.visibility</p:attrName>
                                  </p:attrNameLst>
                                </p:cBhvr>
                                <p:to>
                                  <p:strVal val="visible"/>
                                </p:to>
                              </p:set>
                              <p:animEffect transition="in" filter="fade">
                                <p:cBhvr>
                                  <p:cTn id="96" dur="650"/>
                                  <p:tgtEl>
                                    <p:spTgt spid="83"/>
                                  </p:tgtEl>
                                </p:cBhvr>
                              </p:animEffect>
                            </p:childTnLst>
                          </p:cTn>
                        </p:par>
                        <p:par>
                          <p:cTn id="97" presetID="10" presetClass="entr" presetSubtype="0" fill="hold" nodeType="afterEffect">
                            <p:stCondLst>
                              <p:cond delay="2400"/>
                            </p:stCondLst>
                            <p:childTnLst>
                              <p:set>
                                <p:cBhvr>
                                  <p:cTn id="98" dur="1" fill="hold">
                                    <p:stCondLst>
                                      <p:cond delay="0"/>
                                    </p:stCondLst>
                                  </p:cTn>
                                  <p:tgtEl>
                                    <p:spTgt spid="85"/>
                                  </p:tgtEl>
                                  <p:attrNameLst>
                                    <p:attrName>style.visibility</p:attrName>
                                  </p:attrNameLst>
                                </p:cBhvr>
                                <p:to>
                                  <p:strVal val="visible"/>
                                </p:to>
                              </p:set>
                              <p:animEffect transition="in" filter="fade">
                                <p:cBhvr>
                                  <p:cTn id="99" dur="650"/>
                                  <p:tgtEl>
                                    <p:spTgt spid="85"/>
                                  </p:tgtEl>
                                </p:cBhvr>
                              </p:animEffect>
                            </p:childTnLst>
                          </p:cTn>
                        </p:par>
                        <p:par>
                          <p:cTn id="100" presetID="10" presetClass="entr" presetSubtype="0" fill="hold" nodeType="afterEffect">
                            <p:stCondLst>
                              <p:cond delay="2400"/>
                            </p:stCondLst>
                            <p:childTnLst>
                              <p:set>
                                <p:cBhvr>
                                  <p:cTn id="101" dur="1" fill="hold">
                                    <p:stCondLst>
                                      <p:cond delay="0"/>
                                    </p:stCondLst>
                                  </p:cTn>
                                  <p:tgtEl>
                                    <p:spTgt spid="87"/>
                                  </p:tgtEl>
                                  <p:attrNameLst>
                                    <p:attrName>style.visibility</p:attrName>
                                  </p:attrNameLst>
                                </p:cBhvr>
                                <p:to>
                                  <p:strVal val="visible"/>
                                </p:to>
                              </p:set>
                              <p:animEffect transition="in" filter="fade">
                                <p:cBhvr>
                                  <p:cTn id="102" dur="650"/>
                                  <p:tgtEl>
                                    <p:spTgt spid="87"/>
                                  </p:tgtEl>
                                </p:cBhvr>
                              </p:animEffect>
                            </p:childTnLst>
                          </p:cTn>
                        </p:par>
                        <p:par>
                          <p:cTn id="103" presetID="10" presetClass="entr" presetSubtype="0" fill="hold" nodeType="afterEffect">
                            <p:stCondLst>
                              <p:cond delay="2400"/>
                            </p:stCondLst>
                            <p:childTnLst>
                              <p:set>
                                <p:cBhvr>
                                  <p:cTn id="104" dur="1" fill="hold">
                                    <p:stCondLst>
                                      <p:cond delay="0"/>
                                    </p:stCondLst>
                                  </p:cTn>
                                  <p:tgtEl>
                                    <p:spTgt spid="90"/>
                                  </p:tgtEl>
                                  <p:attrNameLst>
                                    <p:attrName>style.visibility</p:attrName>
                                  </p:attrNameLst>
                                </p:cBhvr>
                                <p:to>
                                  <p:strVal val="visible"/>
                                </p:to>
                              </p:set>
                              <p:animEffect transition="in" filter="fade">
                                <p:cBhvr>
                                  <p:cTn id="105" dur="650"/>
                                  <p:tgtEl>
                                    <p:spTgt spid="90"/>
                                  </p:tgtEl>
                                </p:cBhvr>
                              </p:animEffect>
                            </p:childTnLst>
                          </p:cTn>
                        </p:par>
                        <p:par>
                          <p:cTn id="106" presetID="10" presetClass="entr" presetSubtype="0" fill="hold" nodeType="afterEffect">
                            <p:stCondLst>
                              <p:cond delay="2400"/>
                            </p:stCondLst>
                            <p:childTnLst>
                              <p:set>
                                <p:cBhvr>
                                  <p:cTn id="107" dur="1" fill="hold">
                                    <p:stCondLst>
                                      <p:cond delay="0"/>
                                    </p:stCondLst>
                                  </p:cTn>
                                  <p:tgtEl>
                                    <p:spTgt spid="93"/>
                                  </p:tgtEl>
                                  <p:attrNameLst>
                                    <p:attrName>style.visibility</p:attrName>
                                  </p:attrNameLst>
                                </p:cBhvr>
                                <p:to>
                                  <p:strVal val="visible"/>
                                </p:to>
                              </p:set>
                              <p:animEffect transition="in" filter="fade">
                                <p:cBhvr>
                                  <p:cTn id="108" dur="650"/>
                                  <p:tgtEl>
                                    <p:spTgt spid="93"/>
                                  </p:tgtEl>
                                </p:cBhvr>
                              </p:animEffect>
                            </p:childTnLst>
                          </p:cTn>
                        </p:par>
                        <p:par>
                          <p:cTn id="109" presetID="10" presetClass="entr" presetSubtype="0" fill="hold" nodeType="afterEffect">
                            <p:stCondLst>
                              <p:cond delay="3000"/>
                            </p:stCondLst>
                            <p:childTnLst>
                              <p:set>
                                <p:cBhvr>
                                  <p:cTn id="110" dur="1" fill="hold">
                                    <p:stCondLst>
                                      <p:cond delay="0"/>
                                    </p:stCondLst>
                                  </p:cTn>
                                  <p:tgtEl>
                                    <p:spTgt spid="96"/>
                                  </p:tgtEl>
                                  <p:attrNameLst>
                                    <p:attrName>style.visibility</p:attrName>
                                  </p:attrNameLst>
                                </p:cBhvr>
                                <p:to>
                                  <p:strVal val="visible"/>
                                </p:to>
                              </p:set>
                              <p:animEffect transition="in" filter="fade">
                                <p:cBhvr>
                                  <p:cTn id="111" dur="650"/>
                                  <p:tgtEl>
                                    <p:spTgt spid="96"/>
                                  </p:tgtEl>
                                </p:cBhvr>
                              </p:animEffect>
                            </p:childTnLst>
                          </p:cTn>
                        </p:par>
                        <p:par>
                          <p:cTn id="112" presetID="10" presetClass="entr" presetSubtype="0" fill="hold" nodeType="afterEffect">
                            <p:stCondLst>
                              <p:cond delay="3000"/>
                            </p:stCondLst>
                            <p:childTnLst>
                              <p:set>
                                <p:cBhvr>
                                  <p:cTn id="113" dur="1" fill="hold">
                                    <p:stCondLst>
                                      <p:cond delay="0"/>
                                    </p:stCondLst>
                                  </p:cTn>
                                  <p:tgtEl>
                                    <p:spTgt spid="98"/>
                                  </p:tgtEl>
                                  <p:attrNameLst>
                                    <p:attrName>style.visibility</p:attrName>
                                  </p:attrNameLst>
                                </p:cBhvr>
                                <p:to>
                                  <p:strVal val="visible"/>
                                </p:to>
                              </p:set>
                              <p:animEffect transition="in" filter="fade">
                                <p:cBhvr>
                                  <p:cTn id="114" dur="650"/>
                                  <p:tgtEl>
                                    <p:spTgt spid="98"/>
                                  </p:tgtEl>
                                </p:cBhvr>
                              </p:animEffect>
                            </p:childTnLst>
                          </p:cTn>
                        </p:par>
                        <p:par>
                          <p:cTn id="115" presetID="10" presetClass="entr" presetSubtype="0" fill="hold" nodeType="afterEffect">
                            <p:stCondLst>
                              <p:cond delay="3000"/>
                            </p:stCondLst>
                            <p:childTnLst>
                              <p:set>
                                <p:cBhvr>
                                  <p:cTn id="116" dur="1" fill="hold">
                                    <p:stCondLst>
                                      <p:cond delay="0"/>
                                    </p:stCondLst>
                                  </p:cTn>
                                  <p:tgtEl>
                                    <p:spTgt spid="100"/>
                                  </p:tgtEl>
                                  <p:attrNameLst>
                                    <p:attrName>style.visibility</p:attrName>
                                  </p:attrNameLst>
                                </p:cBhvr>
                                <p:to>
                                  <p:strVal val="visible"/>
                                </p:to>
                              </p:set>
                              <p:animEffect transition="in" filter="fade">
                                <p:cBhvr>
                                  <p:cTn id="117" dur="650"/>
                                  <p:tgtEl>
                                    <p:spTgt spid="100"/>
                                  </p:tgtEl>
                                </p:cBhvr>
                              </p:animEffect>
                            </p:childTnLst>
                          </p:cTn>
                        </p:par>
                        <p:par>
                          <p:cTn id="118" presetID="10" presetClass="entr" presetSubtype="0" fill="hold" nodeType="afterEffect">
                            <p:stCondLst>
                              <p:cond delay="3000"/>
                            </p:stCondLst>
                            <p:childTnLst>
                              <p:set>
                                <p:cBhvr>
                                  <p:cTn id="119" dur="1" fill="hold">
                                    <p:stCondLst>
                                      <p:cond delay="0"/>
                                    </p:stCondLst>
                                  </p:cTn>
                                  <p:tgtEl>
                                    <p:spTgt spid="102"/>
                                  </p:tgtEl>
                                  <p:attrNameLst>
                                    <p:attrName>style.visibility</p:attrName>
                                  </p:attrNameLst>
                                </p:cBhvr>
                                <p:to>
                                  <p:strVal val="visible"/>
                                </p:to>
                              </p:set>
                              <p:animEffect transition="in" filter="fade">
                                <p:cBhvr>
                                  <p:cTn id="120" dur="650"/>
                                  <p:tgtEl>
                                    <p:spTgt spid="102"/>
                                  </p:tgtEl>
                                </p:cBhvr>
                              </p:animEffect>
                            </p:childTnLst>
                          </p:cTn>
                        </p:par>
                        <p:par>
                          <p:cTn id="121" presetID="10" presetClass="entr" presetSubtype="0" fill="hold" nodeType="afterEffect">
                            <p:stCondLst>
                              <p:cond delay="3000"/>
                            </p:stCondLst>
                            <p:childTnLst>
                              <p:set>
                                <p:cBhvr>
                                  <p:cTn id="122" dur="1" fill="hold">
                                    <p:stCondLst>
                                      <p:cond delay="0"/>
                                    </p:stCondLst>
                                  </p:cTn>
                                  <p:tgtEl>
                                    <p:spTgt spid="104"/>
                                  </p:tgtEl>
                                  <p:attrNameLst>
                                    <p:attrName>style.visibility</p:attrName>
                                  </p:attrNameLst>
                                </p:cBhvr>
                                <p:to>
                                  <p:strVal val="visible"/>
                                </p:to>
                              </p:set>
                              <p:animEffect transition="in" filter="fade">
                                <p:cBhvr>
                                  <p:cTn id="123" dur="650"/>
                                  <p:tgtEl>
                                    <p:spTgt spid="104"/>
                                  </p:tgtEl>
                                </p:cBhvr>
                              </p:animEffect>
                            </p:childTnLst>
                          </p:cTn>
                        </p:par>
                        <p:par>
                          <p:cTn id="124" presetID="10" presetClass="entr" presetSubtype="0" fill="hold" nodeType="afterEffect">
                            <p:stCondLst>
                              <p:cond delay="3000"/>
                            </p:stCondLst>
                            <p:childTnLst>
                              <p:set>
                                <p:cBhvr>
                                  <p:cTn id="125" dur="1" fill="hold">
                                    <p:stCondLst>
                                      <p:cond delay="0"/>
                                    </p:stCondLst>
                                  </p:cTn>
                                  <p:tgtEl>
                                    <p:spTgt spid="107"/>
                                  </p:tgtEl>
                                  <p:attrNameLst>
                                    <p:attrName>style.visibility</p:attrName>
                                  </p:attrNameLst>
                                </p:cBhvr>
                                <p:to>
                                  <p:strVal val="visible"/>
                                </p:to>
                              </p:set>
                              <p:animEffect transition="in" filter="fade">
                                <p:cBhvr>
                                  <p:cTn id="126" dur="650"/>
                                  <p:tgtEl>
                                    <p:spTgt spid="107"/>
                                  </p:tgtEl>
                                </p:cBhvr>
                              </p:animEffect>
                            </p:childTnLst>
                          </p:cTn>
                        </p:par>
                        <p:par>
                          <p:cTn id="127" presetID="10" presetClass="entr" presetSubtype="0" fill="hold" nodeType="afterEffect">
                            <p:stCondLst>
                              <p:cond delay="3000"/>
                            </p:stCondLst>
                            <p:childTnLst>
                              <p:set>
                                <p:cBhvr>
                                  <p:cTn id="128" dur="1" fill="hold">
                                    <p:stCondLst>
                                      <p:cond delay="0"/>
                                    </p:stCondLst>
                                  </p:cTn>
                                  <p:tgtEl>
                                    <p:spTgt spid="110"/>
                                  </p:tgtEl>
                                  <p:attrNameLst>
                                    <p:attrName>style.visibility</p:attrName>
                                  </p:attrNameLst>
                                </p:cBhvr>
                                <p:to>
                                  <p:strVal val="visible"/>
                                </p:to>
                              </p:set>
                              <p:animEffect transition="in" filter="fade">
                                <p:cBhvr>
                                  <p:cTn id="129" dur="650"/>
                                  <p:tgtEl>
                                    <p:spTgt spid="110"/>
                                  </p:tgtEl>
                                </p:cBhvr>
                              </p:animEffect>
                            </p:childTnLst>
                          </p:cTn>
                        </p:par>
                        <p:par>
                          <p:cTn id="130" fill="hold">
                            <p:stCondLst>
                              <p:cond delay="0"/>
                            </p:stCondLst>
                            <p:childTnLst>
                              <p:animRot by="21600000">
                                <p:cBhvr>
                                  <p:cTn id="131" dur="60000" repeatCount="indefinite" fill="hold"/>
                                  <p:tgtEl>
                                    <p:spTgt spid="121"/>
                                  </p:tgtEl>
                                  <p:attrNameLst>
                                    <p:attrName>r</p:attrName>
                                  </p:attrNameLst>
                                </p:cBhvr>
                              </p:animRot>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2"/>
          <p:cNvGrpSpPr/>
          <p:nvPr/>
        </p:nvGrpSpPr>
        <p:grpSpPr>
          <a:xfrm>
            <a:off x="963130" y="687953"/>
            <a:ext cx="14997303" cy="481565"/>
            <a:chOff x="0" y="0"/>
            <a:chExt cx="19996404" cy="642087"/>
          </a:xfrm>
        </p:grpSpPr>
        <p:sp>
          <p:nvSpPr>
            <p:cNvPr id="3" name="Freeform 3"/>
            <p:cNvSpPr/>
            <p:nvPr/>
          </p:nvSpPr>
          <p:spPr>
            <a:xfrm>
              <a:off x="0" y="0"/>
              <a:ext cx="19996409" cy="642086"/>
            </a:xfrm>
            <a:custGeom>
              <a:avLst/>
              <a:gdLst/>
              <a:ahLst/>
              <a:cxnLst/>
              <a:rect l="l" t="t" r="r" b="b"/>
              <a:pathLst>
                <a:path w="19996409" h="642086">
                  <a:moveTo>
                    <a:pt x="0" y="0"/>
                  </a:moveTo>
                  <a:lnTo>
                    <a:pt x="19996409" y="0"/>
                  </a:lnTo>
                  <a:lnTo>
                    <a:pt x="19996409" y="642086"/>
                  </a:lnTo>
                  <a:lnTo>
                    <a:pt x="0" y="642086"/>
                  </a:lnTo>
                  <a:close/>
                </a:path>
              </a:pathLst>
            </a:custGeom>
            <a:blipFill>
              <a:blip r:embed="rId3">
                <a:alphaModFix amt="0"/>
              </a:blip>
              <a:stretch>
                <a:fillRect t="-556819" b="-556819"/>
              </a:stretch>
            </a:blipFill>
          </p:spPr>
          <p:txBody>
            <a:bodyPr/>
            <a:lstStyle/>
            <a:p>
              <a:endParaRPr lang="en-US"/>
            </a:p>
          </p:txBody>
        </p:sp>
        <p:sp>
          <p:nvSpPr>
            <p:cNvPr id="4" name="TextBox 4"/>
            <p:cNvSpPr txBox="1"/>
            <p:nvPr/>
          </p:nvSpPr>
          <p:spPr>
            <a:xfrm>
              <a:off x="0" y="-9525"/>
              <a:ext cx="19996404" cy="651612"/>
            </a:xfrm>
            <a:prstGeom prst="rect">
              <a:avLst/>
            </a:prstGeom>
          </p:spPr>
          <p:txBody>
            <a:bodyPr lIns="0" tIns="0" rIns="0" bIns="0" rtlCol="0" anchor="ctr"/>
            <a:lstStyle/>
            <a:p>
              <a:pPr algn="l">
                <a:lnSpc>
                  <a:spcPts val="2347"/>
                </a:lnSpc>
              </a:pPr>
              <a:r>
                <a:rPr lang="en-US" sz="1956" b="1" spc="300">
                  <a:solidFill>
                    <a:srgbClr val="C41E3A"/>
                  </a:solidFill>
                  <a:latin typeface="Montserrat Bold"/>
                  <a:ea typeface="Montserrat Bold"/>
                  <a:cs typeface="Montserrat Bold"/>
                  <a:sym typeface="Montserrat Bold"/>
                </a:rPr>
                <a:t>GIAO DIỆN THỰC TẾ</a:t>
              </a:r>
            </a:p>
          </p:txBody>
        </p:sp>
      </p:grpSp>
      <p:sp>
        <p:nvSpPr>
          <p:cNvPr id="5" name="TextBox 5"/>
          <p:cNvSpPr txBox="1"/>
          <p:nvPr/>
        </p:nvSpPr>
        <p:spPr>
          <a:xfrm>
            <a:off x="963130" y="1155754"/>
            <a:ext cx="14997303" cy="638197"/>
          </a:xfrm>
          <a:prstGeom prst="rect">
            <a:avLst/>
          </a:prstGeom>
        </p:spPr>
        <p:txBody>
          <a:bodyPr lIns="0" tIns="0" rIns="0" bIns="0" rtlCol="0" anchor="t">
            <a:spAutoFit/>
          </a:bodyPr>
          <a:lstStyle/>
          <a:p>
            <a:pPr algn="l">
              <a:lnSpc>
                <a:spcPts val="5055"/>
              </a:lnSpc>
            </a:pPr>
            <a:r>
              <a:rPr lang="en-US" sz="4213" b="1">
                <a:solidFill>
                  <a:srgbClr val="1F2937"/>
                </a:solidFill>
                <a:latin typeface="Montserrat Heavy"/>
                <a:ea typeface="Montserrat Heavy"/>
                <a:cs typeface="Montserrat Heavy"/>
                <a:sym typeface="Montserrat Heavy"/>
              </a:rPr>
              <a:t>PHẦN MỀM ĐANG VẬN HÀNH TRÊN ĐIỆN THOẠI</a:t>
            </a:r>
          </a:p>
        </p:txBody>
      </p:sp>
      <p:grpSp>
        <p:nvGrpSpPr>
          <p:cNvPr id="6" name="Group 6"/>
          <p:cNvGrpSpPr/>
          <p:nvPr/>
        </p:nvGrpSpPr>
        <p:grpSpPr>
          <a:xfrm>
            <a:off x="963130" y="2228955"/>
            <a:ext cx="1513494" cy="96317"/>
            <a:chOff x="0" y="0"/>
            <a:chExt cx="2017992" cy="128422"/>
          </a:xfrm>
        </p:grpSpPr>
        <p:sp>
          <p:nvSpPr>
            <p:cNvPr id="7" name="Freeform 7"/>
            <p:cNvSpPr/>
            <p:nvPr/>
          </p:nvSpPr>
          <p:spPr>
            <a:xfrm>
              <a:off x="0" y="0"/>
              <a:ext cx="2018030" cy="128397"/>
            </a:xfrm>
            <a:custGeom>
              <a:avLst/>
              <a:gdLst/>
              <a:ahLst/>
              <a:cxnLst/>
              <a:rect l="l" t="t" r="r" b="b"/>
              <a:pathLst>
                <a:path w="2018030" h="128397">
                  <a:moveTo>
                    <a:pt x="0" y="0"/>
                  </a:moveTo>
                  <a:lnTo>
                    <a:pt x="2018030" y="0"/>
                  </a:lnTo>
                  <a:lnTo>
                    <a:pt x="2018030" y="128397"/>
                  </a:lnTo>
                  <a:lnTo>
                    <a:pt x="0" y="128397"/>
                  </a:lnTo>
                  <a:close/>
                </a:path>
              </a:pathLst>
            </a:custGeom>
            <a:solidFill>
              <a:srgbClr val="FFD700"/>
            </a:solidFill>
          </p:spPr>
          <p:txBody>
            <a:bodyPr/>
            <a:lstStyle/>
            <a:p>
              <a:endParaRPr lang="en-US"/>
            </a:p>
          </p:txBody>
        </p:sp>
      </p:grpSp>
      <p:grpSp>
        <p:nvGrpSpPr>
          <p:cNvPr id="8" name="Group 8"/>
          <p:cNvGrpSpPr/>
          <p:nvPr/>
        </p:nvGrpSpPr>
        <p:grpSpPr>
          <a:xfrm>
            <a:off x="2457355" y="2793073"/>
            <a:ext cx="2923099" cy="5765016"/>
            <a:chOff x="0" y="0"/>
            <a:chExt cx="3897465" cy="7686688"/>
          </a:xfrm>
        </p:grpSpPr>
        <p:sp>
          <p:nvSpPr>
            <p:cNvPr id="9" name="Freeform 9"/>
            <p:cNvSpPr/>
            <p:nvPr/>
          </p:nvSpPr>
          <p:spPr>
            <a:xfrm>
              <a:off x="0" y="0"/>
              <a:ext cx="3897503" cy="7686675"/>
            </a:xfrm>
            <a:custGeom>
              <a:avLst/>
              <a:gdLst/>
              <a:ahLst/>
              <a:cxnLst/>
              <a:rect l="l" t="t" r="r" b="b"/>
              <a:pathLst>
                <a:path w="3897503" h="7686675">
                  <a:moveTo>
                    <a:pt x="0" y="293497"/>
                  </a:moveTo>
                  <a:cubicBezTo>
                    <a:pt x="0" y="131445"/>
                    <a:pt x="131445" y="0"/>
                    <a:pt x="293497" y="0"/>
                  </a:cubicBezTo>
                  <a:lnTo>
                    <a:pt x="3604006" y="0"/>
                  </a:lnTo>
                  <a:cubicBezTo>
                    <a:pt x="3766058" y="0"/>
                    <a:pt x="3897503" y="131445"/>
                    <a:pt x="3897503" y="293497"/>
                  </a:cubicBezTo>
                  <a:lnTo>
                    <a:pt x="3897503" y="7393178"/>
                  </a:lnTo>
                  <a:cubicBezTo>
                    <a:pt x="3897503" y="7555230"/>
                    <a:pt x="3766058" y="7686675"/>
                    <a:pt x="3604006" y="7686675"/>
                  </a:cubicBezTo>
                  <a:lnTo>
                    <a:pt x="293497" y="7686675"/>
                  </a:lnTo>
                  <a:cubicBezTo>
                    <a:pt x="131445" y="7686675"/>
                    <a:pt x="0" y="7555230"/>
                    <a:pt x="0" y="7393178"/>
                  </a:cubicBezTo>
                  <a:close/>
                </a:path>
              </a:pathLst>
            </a:custGeom>
            <a:solidFill>
              <a:srgbClr val="1F2937"/>
            </a:solidFill>
          </p:spPr>
          <p:txBody>
            <a:bodyPr/>
            <a:lstStyle/>
            <a:p>
              <a:endParaRPr lang="en-US"/>
            </a:p>
          </p:txBody>
        </p:sp>
      </p:grpSp>
      <p:grpSp>
        <p:nvGrpSpPr>
          <p:cNvPr id="10" name="Group 10"/>
          <p:cNvGrpSpPr/>
          <p:nvPr/>
        </p:nvGrpSpPr>
        <p:grpSpPr>
          <a:xfrm>
            <a:off x="2553672" y="2889390"/>
            <a:ext cx="2730475" cy="5572392"/>
            <a:chOff x="0" y="0"/>
            <a:chExt cx="3640633" cy="7429856"/>
          </a:xfrm>
        </p:grpSpPr>
        <p:sp>
          <p:nvSpPr>
            <p:cNvPr id="11" name="Freeform 11" descr="D:\04. Github\capphutho\shots\home.png"/>
            <p:cNvSpPr/>
            <p:nvPr/>
          </p:nvSpPr>
          <p:spPr>
            <a:xfrm>
              <a:off x="0" y="0"/>
              <a:ext cx="3640582" cy="7429881"/>
            </a:xfrm>
            <a:custGeom>
              <a:avLst/>
              <a:gdLst/>
              <a:ahLst/>
              <a:cxnLst/>
              <a:rect l="l" t="t" r="r" b="b"/>
              <a:pathLst>
                <a:path w="3640582" h="7429881">
                  <a:moveTo>
                    <a:pt x="0" y="0"/>
                  </a:moveTo>
                  <a:lnTo>
                    <a:pt x="3640582" y="0"/>
                  </a:lnTo>
                  <a:lnTo>
                    <a:pt x="3640582" y="7429881"/>
                  </a:lnTo>
                  <a:lnTo>
                    <a:pt x="0" y="7429881"/>
                  </a:lnTo>
                  <a:lnTo>
                    <a:pt x="0" y="0"/>
                  </a:lnTo>
                  <a:close/>
                </a:path>
              </a:pathLst>
            </a:custGeom>
            <a:blipFill>
              <a:blip r:embed="rId4"/>
              <a:stretch>
                <a:fillRect r="-1" b="-278"/>
              </a:stretch>
            </a:blipFill>
          </p:spPr>
          <p:txBody>
            <a:bodyPr/>
            <a:lstStyle/>
            <a:p>
              <a:endParaRPr lang="en-US"/>
            </a:p>
          </p:txBody>
        </p:sp>
      </p:grpSp>
      <p:grpSp>
        <p:nvGrpSpPr>
          <p:cNvPr id="12" name="Group 12"/>
          <p:cNvGrpSpPr/>
          <p:nvPr/>
        </p:nvGrpSpPr>
        <p:grpSpPr>
          <a:xfrm>
            <a:off x="2416083" y="8626888"/>
            <a:ext cx="3005652" cy="440288"/>
            <a:chOff x="0" y="0"/>
            <a:chExt cx="4007536" cy="587051"/>
          </a:xfrm>
        </p:grpSpPr>
        <p:sp>
          <p:nvSpPr>
            <p:cNvPr id="13" name="Freeform 13"/>
            <p:cNvSpPr/>
            <p:nvPr/>
          </p:nvSpPr>
          <p:spPr>
            <a:xfrm>
              <a:off x="0" y="0"/>
              <a:ext cx="4007538" cy="587056"/>
            </a:xfrm>
            <a:custGeom>
              <a:avLst/>
              <a:gdLst/>
              <a:ahLst/>
              <a:cxnLst/>
              <a:rect l="l" t="t" r="r" b="b"/>
              <a:pathLst>
                <a:path w="4007538" h="587056">
                  <a:moveTo>
                    <a:pt x="0" y="0"/>
                  </a:moveTo>
                  <a:lnTo>
                    <a:pt x="4007538" y="0"/>
                  </a:lnTo>
                  <a:lnTo>
                    <a:pt x="4007538" y="587056"/>
                  </a:lnTo>
                  <a:lnTo>
                    <a:pt x="0" y="587056"/>
                  </a:lnTo>
                  <a:close/>
                </a:path>
              </a:pathLst>
            </a:custGeom>
            <a:blipFill>
              <a:blip r:embed="rId3">
                <a:alphaModFix amt="0"/>
              </a:blip>
              <a:stretch>
                <a:fillRect t="-83015" b="-83013"/>
              </a:stretch>
            </a:blipFill>
          </p:spPr>
          <p:txBody>
            <a:bodyPr/>
            <a:lstStyle/>
            <a:p>
              <a:endParaRPr lang="en-US"/>
            </a:p>
          </p:txBody>
        </p:sp>
        <p:sp>
          <p:nvSpPr>
            <p:cNvPr id="14" name="TextBox 14"/>
            <p:cNvSpPr txBox="1"/>
            <p:nvPr/>
          </p:nvSpPr>
          <p:spPr>
            <a:xfrm>
              <a:off x="0" y="0"/>
              <a:ext cx="4007536" cy="587051"/>
            </a:xfrm>
            <a:prstGeom prst="rect">
              <a:avLst/>
            </a:prstGeom>
          </p:spPr>
          <p:txBody>
            <a:bodyPr lIns="0" tIns="0" rIns="0" bIns="0" rtlCol="0" anchor="ctr"/>
            <a:lstStyle/>
            <a:p>
              <a:pPr algn="ctr">
                <a:lnSpc>
                  <a:spcPts val="2257"/>
                </a:lnSpc>
              </a:pPr>
              <a:r>
                <a:rPr lang="en-US" sz="1880" b="1">
                  <a:solidFill>
                    <a:srgbClr val="374151"/>
                  </a:solidFill>
                  <a:latin typeface="Montserrat Bold"/>
                  <a:ea typeface="Montserrat Bold"/>
                  <a:cs typeface="Montserrat Bold"/>
                  <a:sym typeface="Montserrat Bold"/>
                </a:rPr>
                <a:t>Trang chủ</a:t>
              </a:r>
            </a:p>
          </p:txBody>
        </p:sp>
      </p:grpSp>
      <p:grpSp>
        <p:nvGrpSpPr>
          <p:cNvPr id="15" name="Group 15"/>
          <p:cNvGrpSpPr/>
          <p:nvPr/>
        </p:nvGrpSpPr>
        <p:grpSpPr>
          <a:xfrm>
            <a:off x="5944572" y="2793073"/>
            <a:ext cx="2923099" cy="5765016"/>
            <a:chOff x="0" y="0"/>
            <a:chExt cx="3897465" cy="7686688"/>
          </a:xfrm>
        </p:grpSpPr>
        <p:sp>
          <p:nvSpPr>
            <p:cNvPr id="16" name="Freeform 16"/>
            <p:cNvSpPr/>
            <p:nvPr/>
          </p:nvSpPr>
          <p:spPr>
            <a:xfrm>
              <a:off x="0" y="0"/>
              <a:ext cx="3897503" cy="7686675"/>
            </a:xfrm>
            <a:custGeom>
              <a:avLst/>
              <a:gdLst/>
              <a:ahLst/>
              <a:cxnLst/>
              <a:rect l="l" t="t" r="r" b="b"/>
              <a:pathLst>
                <a:path w="3897503" h="7686675">
                  <a:moveTo>
                    <a:pt x="0" y="293497"/>
                  </a:moveTo>
                  <a:cubicBezTo>
                    <a:pt x="0" y="131445"/>
                    <a:pt x="131445" y="0"/>
                    <a:pt x="293497" y="0"/>
                  </a:cubicBezTo>
                  <a:lnTo>
                    <a:pt x="3604006" y="0"/>
                  </a:lnTo>
                  <a:cubicBezTo>
                    <a:pt x="3766058" y="0"/>
                    <a:pt x="3897503" y="131445"/>
                    <a:pt x="3897503" y="293497"/>
                  </a:cubicBezTo>
                  <a:lnTo>
                    <a:pt x="3897503" y="7393178"/>
                  </a:lnTo>
                  <a:cubicBezTo>
                    <a:pt x="3897503" y="7555230"/>
                    <a:pt x="3766058" y="7686675"/>
                    <a:pt x="3604006" y="7686675"/>
                  </a:cubicBezTo>
                  <a:lnTo>
                    <a:pt x="293497" y="7686675"/>
                  </a:lnTo>
                  <a:cubicBezTo>
                    <a:pt x="131445" y="7686675"/>
                    <a:pt x="0" y="7555230"/>
                    <a:pt x="0" y="7393178"/>
                  </a:cubicBezTo>
                  <a:close/>
                </a:path>
              </a:pathLst>
            </a:custGeom>
            <a:solidFill>
              <a:srgbClr val="1F2937"/>
            </a:solidFill>
          </p:spPr>
          <p:txBody>
            <a:bodyPr/>
            <a:lstStyle/>
            <a:p>
              <a:endParaRPr lang="en-US"/>
            </a:p>
          </p:txBody>
        </p:sp>
      </p:grpSp>
      <p:grpSp>
        <p:nvGrpSpPr>
          <p:cNvPr id="17" name="Group 17"/>
          <p:cNvGrpSpPr/>
          <p:nvPr/>
        </p:nvGrpSpPr>
        <p:grpSpPr>
          <a:xfrm>
            <a:off x="6040888" y="2889390"/>
            <a:ext cx="2730475" cy="5572392"/>
            <a:chOff x="0" y="0"/>
            <a:chExt cx="3640633" cy="7429856"/>
          </a:xfrm>
        </p:grpSpPr>
        <p:sp>
          <p:nvSpPr>
            <p:cNvPr id="18" name="Freeform 18" descr="D:\04. Github\capphutho\shots\chatbot.png"/>
            <p:cNvSpPr/>
            <p:nvPr/>
          </p:nvSpPr>
          <p:spPr>
            <a:xfrm>
              <a:off x="0" y="0"/>
              <a:ext cx="3640582" cy="7429881"/>
            </a:xfrm>
            <a:custGeom>
              <a:avLst/>
              <a:gdLst/>
              <a:ahLst/>
              <a:cxnLst/>
              <a:rect l="l" t="t" r="r" b="b"/>
              <a:pathLst>
                <a:path w="3640582" h="7429881">
                  <a:moveTo>
                    <a:pt x="0" y="0"/>
                  </a:moveTo>
                  <a:lnTo>
                    <a:pt x="3640582" y="0"/>
                  </a:lnTo>
                  <a:lnTo>
                    <a:pt x="3640582" y="7429881"/>
                  </a:lnTo>
                  <a:lnTo>
                    <a:pt x="0" y="7429881"/>
                  </a:lnTo>
                  <a:lnTo>
                    <a:pt x="0" y="0"/>
                  </a:lnTo>
                  <a:close/>
                </a:path>
              </a:pathLst>
            </a:custGeom>
            <a:blipFill>
              <a:blip r:embed="rId5"/>
              <a:stretch>
                <a:fillRect r="-1" b="-278"/>
              </a:stretch>
            </a:blipFill>
          </p:spPr>
          <p:txBody>
            <a:bodyPr/>
            <a:lstStyle/>
            <a:p>
              <a:endParaRPr lang="en-US"/>
            </a:p>
          </p:txBody>
        </p:sp>
      </p:grpSp>
      <p:grpSp>
        <p:nvGrpSpPr>
          <p:cNvPr id="19" name="Group 19"/>
          <p:cNvGrpSpPr/>
          <p:nvPr/>
        </p:nvGrpSpPr>
        <p:grpSpPr>
          <a:xfrm>
            <a:off x="5903300" y="8626888"/>
            <a:ext cx="3005652" cy="440288"/>
            <a:chOff x="0" y="0"/>
            <a:chExt cx="4007536" cy="587051"/>
          </a:xfrm>
        </p:grpSpPr>
        <p:sp>
          <p:nvSpPr>
            <p:cNvPr id="20" name="Freeform 20"/>
            <p:cNvSpPr/>
            <p:nvPr/>
          </p:nvSpPr>
          <p:spPr>
            <a:xfrm>
              <a:off x="0" y="0"/>
              <a:ext cx="4007538" cy="587056"/>
            </a:xfrm>
            <a:custGeom>
              <a:avLst/>
              <a:gdLst/>
              <a:ahLst/>
              <a:cxnLst/>
              <a:rect l="l" t="t" r="r" b="b"/>
              <a:pathLst>
                <a:path w="4007538" h="587056">
                  <a:moveTo>
                    <a:pt x="0" y="0"/>
                  </a:moveTo>
                  <a:lnTo>
                    <a:pt x="4007538" y="0"/>
                  </a:lnTo>
                  <a:lnTo>
                    <a:pt x="4007538" y="587056"/>
                  </a:lnTo>
                  <a:lnTo>
                    <a:pt x="0" y="587056"/>
                  </a:lnTo>
                  <a:close/>
                </a:path>
              </a:pathLst>
            </a:custGeom>
            <a:blipFill>
              <a:blip r:embed="rId3">
                <a:alphaModFix amt="0"/>
              </a:blip>
              <a:stretch>
                <a:fillRect t="-83015" b="-83013"/>
              </a:stretch>
            </a:blipFill>
          </p:spPr>
          <p:txBody>
            <a:bodyPr/>
            <a:lstStyle/>
            <a:p>
              <a:endParaRPr lang="en-US"/>
            </a:p>
          </p:txBody>
        </p:sp>
        <p:sp>
          <p:nvSpPr>
            <p:cNvPr id="21" name="TextBox 21"/>
            <p:cNvSpPr txBox="1"/>
            <p:nvPr/>
          </p:nvSpPr>
          <p:spPr>
            <a:xfrm>
              <a:off x="0" y="0"/>
              <a:ext cx="4007536" cy="587051"/>
            </a:xfrm>
            <a:prstGeom prst="rect">
              <a:avLst/>
            </a:prstGeom>
          </p:spPr>
          <p:txBody>
            <a:bodyPr lIns="0" tIns="0" rIns="0" bIns="0" rtlCol="0" anchor="ctr"/>
            <a:lstStyle/>
            <a:p>
              <a:pPr algn="ctr">
                <a:lnSpc>
                  <a:spcPts val="2257"/>
                </a:lnSpc>
              </a:pPr>
              <a:r>
                <a:rPr lang="en-US" sz="1880" b="1">
                  <a:solidFill>
                    <a:srgbClr val="374151"/>
                  </a:solidFill>
                  <a:latin typeface="Montserrat Bold"/>
                  <a:ea typeface="Montserrat Bold"/>
                  <a:cs typeface="Montserrat Bold"/>
                  <a:sym typeface="Montserrat Bold"/>
                </a:rPr>
                <a:t>Trợ lý ảo</a:t>
              </a:r>
            </a:p>
          </p:txBody>
        </p:sp>
      </p:grpSp>
      <p:grpSp>
        <p:nvGrpSpPr>
          <p:cNvPr id="22" name="Group 22"/>
          <p:cNvGrpSpPr/>
          <p:nvPr/>
        </p:nvGrpSpPr>
        <p:grpSpPr>
          <a:xfrm>
            <a:off x="9431788" y="2793073"/>
            <a:ext cx="2923099" cy="5765016"/>
            <a:chOff x="0" y="0"/>
            <a:chExt cx="3897465" cy="7686688"/>
          </a:xfrm>
        </p:grpSpPr>
        <p:sp>
          <p:nvSpPr>
            <p:cNvPr id="23" name="Freeform 23"/>
            <p:cNvSpPr/>
            <p:nvPr/>
          </p:nvSpPr>
          <p:spPr>
            <a:xfrm>
              <a:off x="0" y="0"/>
              <a:ext cx="3897503" cy="7686675"/>
            </a:xfrm>
            <a:custGeom>
              <a:avLst/>
              <a:gdLst/>
              <a:ahLst/>
              <a:cxnLst/>
              <a:rect l="l" t="t" r="r" b="b"/>
              <a:pathLst>
                <a:path w="3897503" h="7686675">
                  <a:moveTo>
                    <a:pt x="0" y="293497"/>
                  </a:moveTo>
                  <a:cubicBezTo>
                    <a:pt x="0" y="131445"/>
                    <a:pt x="131445" y="0"/>
                    <a:pt x="293497" y="0"/>
                  </a:cubicBezTo>
                  <a:lnTo>
                    <a:pt x="3604006" y="0"/>
                  </a:lnTo>
                  <a:cubicBezTo>
                    <a:pt x="3766058" y="0"/>
                    <a:pt x="3897503" y="131445"/>
                    <a:pt x="3897503" y="293497"/>
                  </a:cubicBezTo>
                  <a:lnTo>
                    <a:pt x="3897503" y="7393178"/>
                  </a:lnTo>
                  <a:cubicBezTo>
                    <a:pt x="3897503" y="7555230"/>
                    <a:pt x="3766058" y="7686675"/>
                    <a:pt x="3604006" y="7686675"/>
                  </a:cubicBezTo>
                  <a:lnTo>
                    <a:pt x="293497" y="7686675"/>
                  </a:lnTo>
                  <a:cubicBezTo>
                    <a:pt x="131445" y="7686675"/>
                    <a:pt x="0" y="7555230"/>
                    <a:pt x="0" y="7393178"/>
                  </a:cubicBezTo>
                  <a:close/>
                </a:path>
              </a:pathLst>
            </a:custGeom>
            <a:solidFill>
              <a:srgbClr val="1F2937"/>
            </a:solidFill>
          </p:spPr>
          <p:txBody>
            <a:bodyPr/>
            <a:lstStyle/>
            <a:p>
              <a:endParaRPr lang="en-US"/>
            </a:p>
          </p:txBody>
        </p:sp>
      </p:grpSp>
      <p:grpSp>
        <p:nvGrpSpPr>
          <p:cNvPr id="24" name="Group 24"/>
          <p:cNvGrpSpPr/>
          <p:nvPr/>
        </p:nvGrpSpPr>
        <p:grpSpPr>
          <a:xfrm>
            <a:off x="9528105" y="2889390"/>
            <a:ext cx="2730475" cy="5572392"/>
            <a:chOff x="0" y="0"/>
            <a:chExt cx="3640633" cy="7429856"/>
          </a:xfrm>
        </p:grpSpPr>
        <p:sp>
          <p:nvSpPr>
            <p:cNvPr id="25" name="Freeform 25" descr="D:\04. Github\capphutho\shots\modules.png"/>
            <p:cNvSpPr/>
            <p:nvPr/>
          </p:nvSpPr>
          <p:spPr>
            <a:xfrm>
              <a:off x="0" y="0"/>
              <a:ext cx="3640582" cy="7429881"/>
            </a:xfrm>
            <a:custGeom>
              <a:avLst/>
              <a:gdLst/>
              <a:ahLst/>
              <a:cxnLst/>
              <a:rect l="l" t="t" r="r" b="b"/>
              <a:pathLst>
                <a:path w="3640582" h="7429881">
                  <a:moveTo>
                    <a:pt x="0" y="0"/>
                  </a:moveTo>
                  <a:lnTo>
                    <a:pt x="3640582" y="0"/>
                  </a:lnTo>
                  <a:lnTo>
                    <a:pt x="3640582" y="7429881"/>
                  </a:lnTo>
                  <a:lnTo>
                    <a:pt x="0" y="7429881"/>
                  </a:lnTo>
                  <a:lnTo>
                    <a:pt x="0" y="0"/>
                  </a:lnTo>
                  <a:close/>
                </a:path>
              </a:pathLst>
            </a:custGeom>
            <a:blipFill>
              <a:blip r:embed="rId6"/>
              <a:stretch>
                <a:fillRect r="-1" b="-278"/>
              </a:stretch>
            </a:blipFill>
          </p:spPr>
          <p:txBody>
            <a:bodyPr/>
            <a:lstStyle/>
            <a:p>
              <a:endParaRPr lang="en-US"/>
            </a:p>
          </p:txBody>
        </p:sp>
      </p:grpSp>
      <p:grpSp>
        <p:nvGrpSpPr>
          <p:cNvPr id="26" name="Group 26"/>
          <p:cNvGrpSpPr/>
          <p:nvPr/>
        </p:nvGrpSpPr>
        <p:grpSpPr>
          <a:xfrm>
            <a:off x="9390517" y="8626888"/>
            <a:ext cx="3005652" cy="440288"/>
            <a:chOff x="0" y="0"/>
            <a:chExt cx="4007536" cy="587051"/>
          </a:xfrm>
        </p:grpSpPr>
        <p:sp>
          <p:nvSpPr>
            <p:cNvPr id="27" name="Freeform 27"/>
            <p:cNvSpPr/>
            <p:nvPr/>
          </p:nvSpPr>
          <p:spPr>
            <a:xfrm>
              <a:off x="0" y="0"/>
              <a:ext cx="4007538" cy="587056"/>
            </a:xfrm>
            <a:custGeom>
              <a:avLst/>
              <a:gdLst/>
              <a:ahLst/>
              <a:cxnLst/>
              <a:rect l="l" t="t" r="r" b="b"/>
              <a:pathLst>
                <a:path w="4007538" h="587056">
                  <a:moveTo>
                    <a:pt x="0" y="0"/>
                  </a:moveTo>
                  <a:lnTo>
                    <a:pt x="4007538" y="0"/>
                  </a:lnTo>
                  <a:lnTo>
                    <a:pt x="4007538" y="587056"/>
                  </a:lnTo>
                  <a:lnTo>
                    <a:pt x="0" y="587056"/>
                  </a:lnTo>
                  <a:close/>
                </a:path>
              </a:pathLst>
            </a:custGeom>
            <a:blipFill>
              <a:blip r:embed="rId3">
                <a:alphaModFix amt="0"/>
              </a:blip>
              <a:stretch>
                <a:fillRect t="-83015" b="-83013"/>
              </a:stretch>
            </a:blipFill>
          </p:spPr>
          <p:txBody>
            <a:bodyPr/>
            <a:lstStyle/>
            <a:p>
              <a:endParaRPr lang="en-US"/>
            </a:p>
          </p:txBody>
        </p:sp>
        <p:sp>
          <p:nvSpPr>
            <p:cNvPr id="28" name="TextBox 28"/>
            <p:cNvSpPr txBox="1"/>
            <p:nvPr/>
          </p:nvSpPr>
          <p:spPr>
            <a:xfrm>
              <a:off x="0" y="0"/>
              <a:ext cx="4007536" cy="587051"/>
            </a:xfrm>
            <a:prstGeom prst="rect">
              <a:avLst/>
            </a:prstGeom>
          </p:spPr>
          <p:txBody>
            <a:bodyPr lIns="0" tIns="0" rIns="0" bIns="0" rtlCol="0" anchor="ctr"/>
            <a:lstStyle/>
            <a:p>
              <a:pPr algn="ctr">
                <a:lnSpc>
                  <a:spcPts val="2257"/>
                </a:lnSpc>
              </a:pPr>
              <a:r>
                <a:rPr lang="en-US" sz="1880" b="1">
                  <a:solidFill>
                    <a:srgbClr val="374151"/>
                  </a:solidFill>
                  <a:latin typeface="Montserrat Bold"/>
                  <a:ea typeface="Montserrat Bold"/>
                  <a:cs typeface="Montserrat Bold"/>
                  <a:sym typeface="Montserrat Bold"/>
                </a:rPr>
                <a:t>Hướng dẫn lĩnh vực</a:t>
              </a:r>
            </a:p>
          </p:txBody>
        </p:sp>
      </p:grpSp>
      <p:grpSp>
        <p:nvGrpSpPr>
          <p:cNvPr id="29" name="Group 29"/>
          <p:cNvGrpSpPr/>
          <p:nvPr/>
        </p:nvGrpSpPr>
        <p:grpSpPr>
          <a:xfrm>
            <a:off x="12919015" y="2793073"/>
            <a:ext cx="2923099" cy="5765016"/>
            <a:chOff x="0" y="0"/>
            <a:chExt cx="3897465" cy="7686688"/>
          </a:xfrm>
        </p:grpSpPr>
        <p:sp>
          <p:nvSpPr>
            <p:cNvPr id="30" name="Freeform 30"/>
            <p:cNvSpPr/>
            <p:nvPr/>
          </p:nvSpPr>
          <p:spPr>
            <a:xfrm>
              <a:off x="0" y="0"/>
              <a:ext cx="3897503" cy="7686675"/>
            </a:xfrm>
            <a:custGeom>
              <a:avLst/>
              <a:gdLst/>
              <a:ahLst/>
              <a:cxnLst/>
              <a:rect l="l" t="t" r="r" b="b"/>
              <a:pathLst>
                <a:path w="3897503" h="7686675">
                  <a:moveTo>
                    <a:pt x="0" y="293497"/>
                  </a:moveTo>
                  <a:cubicBezTo>
                    <a:pt x="0" y="131445"/>
                    <a:pt x="131445" y="0"/>
                    <a:pt x="293497" y="0"/>
                  </a:cubicBezTo>
                  <a:lnTo>
                    <a:pt x="3604006" y="0"/>
                  </a:lnTo>
                  <a:cubicBezTo>
                    <a:pt x="3766058" y="0"/>
                    <a:pt x="3897503" y="131445"/>
                    <a:pt x="3897503" y="293497"/>
                  </a:cubicBezTo>
                  <a:lnTo>
                    <a:pt x="3897503" y="7393178"/>
                  </a:lnTo>
                  <a:cubicBezTo>
                    <a:pt x="3897503" y="7555230"/>
                    <a:pt x="3766058" y="7686675"/>
                    <a:pt x="3604006" y="7686675"/>
                  </a:cubicBezTo>
                  <a:lnTo>
                    <a:pt x="293497" y="7686675"/>
                  </a:lnTo>
                  <a:cubicBezTo>
                    <a:pt x="131445" y="7686675"/>
                    <a:pt x="0" y="7555230"/>
                    <a:pt x="0" y="7393178"/>
                  </a:cubicBezTo>
                  <a:close/>
                </a:path>
              </a:pathLst>
            </a:custGeom>
            <a:solidFill>
              <a:srgbClr val="1F2937"/>
            </a:solidFill>
          </p:spPr>
          <p:txBody>
            <a:bodyPr/>
            <a:lstStyle/>
            <a:p>
              <a:endParaRPr lang="en-US"/>
            </a:p>
          </p:txBody>
        </p:sp>
      </p:grpSp>
      <p:grpSp>
        <p:nvGrpSpPr>
          <p:cNvPr id="31" name="Group 31"/>
          <p:cNvGrpSpPr/>
          <p:nvPr/>
        </p:nvGrpSpPr>
        <p:grpSpPr>
          <a:xfrm>
            <a:off x="13015322" y="2889390"/>
            <a:ext cx="2730475" cy="5572392"/>
            <a:chOff x="0" y="0"/>
            <a:chExt cx="3640633" cy="7429856"/>
          </a:xfrm>
        </p:grpSpPr>
        <p:sp>
          <p:nvSpPr>
            <p:cNvPr id="32" name="Freeform 32" descr="D:\04. Github\capphutho\shots\lienthong.png"/>
            <p:cNvSpPr/>
            <p:nvPr/>
          </p:nvSpPr>
          <p:spPr>
            <a:xfrm>
              <a:off x="0" y="0"/>
              <a:ext cx="3640582" cy="7429881"/>
            </a:xfrm>
            <a:custGeom>
              <a:avLst/>
              <a:gdLst/>
              <a:ahLst/>
              <a:cxnLst/>
              <a:rect l="l" t="t" r="r" b="b"/>
              <a:pathLst>
                <a:path w="3640582" h="7429881">
                  <a:moveTo>
                    <a:pt x="0" y="0"/>
                  </a:moveTo>
                  <a:lnTo>
                    <a:pt x="3640582" y="0"/>
                  </a:lnTo>
                  <a:lnTo>
                    <a:pt x="3640582" y="7429881"/>
                  </a:lnTo>
                  <a:lnTo>
                    <a:pt x="0" y="7429881"/>
                  </a:lnTo>
                  <a:lnTo>
                    <a:pt x="0" y="0"/>
                  </a:lnTo>
                  <a:close/>
                </a:path>
              </a:pathLst>
            </a:custGeom>
            <a:blipFill>
              <a:blip r:embed="rId7"/>
              <a:stretch>
                <a:fillRect r="-1" b="-278"/>
              </a:stretch>
            </a:blipFill>
          </p:spPr>
          <p:txBody>
            <a:bodyPr/>
            <a:lstStyle/>
            <a:p>
              <a:endParaRPr lang="en-US"/>
            </a:p>
          </p:txBody>
        </p:sp>
      </p:grpSp>
      <p:grpSp>
        <p:nvGrpSpPr>
          <p:cNvPr id="33" name="Group 33"/>
          <p:cNvGrpSpPr/>
          <p:nvPr/>
        </p:nvGrpSpPr>
        <p:grpSpPr>
          <a:xfrm>
            <a:off x="12877733" y="8626888"/>
            <a:ext cx="3005652" cy="440288"/>
            <a:chOff x="0" y="0"/>
            <a:chExt cx="4007536" cy="587051"/>
          </a:xfrm>
        </p:grpSpPr>
        <p:sp>
          <p:nvSpPr>
            <p:cNvPr id="34" name="Freeform 34"/>
            <p:cNvSpPr/>
            <p:nvPr/>
          </p:nvSpPr>
          <p:spPr>
            <a:xfrm>
              <a:off x="0" y="0"/>
              <a:ext cx="4007538" cy="587056"/>
            </a:xfrm>
            <a:custGeom>
              <a:avLst/>
              <a:gdLst/>
              <a:ahLst/>
              <a:cxnLst/>
              <a:rect l="l" t="t" r="r" b="b"/>
              <a:pathLst>
                <a:path w="4007538" h="587056">
                  <a:moveTo>
                    <a:pt x="0" y="0"/>
                  </a:moveTo>
                  <a:lnTo>
                    <a:pt x="4007538" y="0"/>
                  </a:lnTo>
                  <a:lnTo>
                    <a:pt x="4007538" y="587056"/>
                  </a:lnTo>
                  <a:lnTo>
                    <a:pt x="0" y="587056"/>
                  </a:lnTo>
                  <a:close/>
                </a:path>
              </a:pathLst>
            </a:custGeom>
            <a:blipFill>
              <a:blip r:embed="rId3">
                <a:alphaModFix amt="0"/>
              </a:blip>
              <a:stretch>
                <a:fillRect t="-83015" b="-83013"/>
              </a:stretch>
            </a:blipFill>
          </p:spPr>
          <p:txBody>
            <a:bodyPr/>
            <a:lstStyle/>
            <a:p>
              <a:endParaRPr lang="en-US"/>
            </a:p>
          </p:txBody>
        </p:sp>
        <p:sp>
          <p:nvSpPr>
            <p:cNvPr id="35" name="TextBox 35"/>
            <p:cNvSpPr txBox="1"/>
            <p:nvPr/>
          </p:nvSpPr>
          <p:spPr>
            <a:xfrm>
              <a:off x="0" y="0"/>
              <a:ext cx="4007536" cy="587051"/>
            </a:xfrm>
            <a:prstGeom prst="rect">
              <a:avLst/>
            </a:prstGeom>
          </p:spPr>
          <p:txBody>
            <a:bodyPr lIns="0" tIns="0" rIns="0" bIns="0" rtlCol="0" anchor="ctr"/>
            <a:lstStyle/>
            <a:p>
              <a:pPr algn="ctr">
                <a:lnSpc>
                  <a:spcPts val="2257"/>
                </a:lnSpc>
              </a:pPr>
              <a:r>
                <a:rPr lang="en-US" sz="1880" b="1">
                  <a:solidFill>
                    <a:srgbClr val="374151"/>
                  </a:solidFill>
                  <a:latin typeface="Montserrat Bold"/>
                  <a:ea typeface="Montserrat Bold"/>
                  <a:cs typeface="Montserrat Bold"/>
                  <a:sym typeface="Montserrat Bold"/>
                </a:rPr>
                <a:t>Thủ tục liên thông</a:t>
              </a:r>
            </a:p>
          </p:txBody>
        </p:sp>
      </p:grpSp>
      <p:grpSp>
        <p:nvGrpSpPr>
          <p:cNvPr id="36" name="Group 36"/>
          <p:cNvGrpSpPr/>
          <p:nvPr/>
        </p:nvGrpSpPr>
        <p:grpSpPr>
          <a:xfrm>
            <a:off x="963130" y="9686334"/>
            <a:ext cx="16373208" cy="19260"/>
            <a:chOff x="0" y="0"/>
            <a:chExt cx="21830944" cy="25679"/>
          </a:xfrm>
        </p:grpSpPr>
        <p:sp>
          <p:nvSpPr>
            <p:cNvPr id="37" name="Freeform 37"/>
            <p:cNvSpPr/>
            <p:nvPr/>
          </p:nvSpPr>
          <p:spPr>
            <a:xfrm>
              <a:off x="0" y="0"/>
              <a:ext cx="21830919" cy="25654"/>
            </a:xfrm>
            <a:custGeom>
              <a:avLst/>
              <a:gdLst/>
              <a:ahLst/>
              <a:cxnLst/>
              <a:rect l="l" t="t" r="r" b="b"/>
              <a:pathLst>
                <a:path w="21830919" h="25654">
                  <a:moveTo>
                    <a:pt x="0" y="0"/>
                  </a:moveTo>
                  <a:lnTo>
                    <a:pt x="21830919" y="0"/>
                  </a:lnTo>
                  <a:lnTo>
                    <a:pt x="21830919" y="25654"/>
                  </a:lnTo>
                  <a:lnTo>
                    <a:pt x="0" y="25654"/>
                  </a:lnTo>
                  <a:close/>
                </a:path>
              </a:pathLst>
            </a:custGeom>
            <a:solidFill>
              <a:srgbClr val="F3D2D7"/>
            </a:solidFill>
          </p:spPr>
          <p:txBody>
            <a:bodyPr/>
            <a:lstStyle/>
            <a:p>
              <a:endParaRPr lang="en-US"/>
            </a:p>
          </p:txBody>
        </p:sp>
      </p:grpSp>
      <p:grpSp>
        <p:nvGrpSpPr>
          <p:cNvPr id="38" name="Group 38"/>
          <p:cNvGrpSpPr/>
          <p:nvPr/>
        </p:nvGrpSpPr>
        <p:grpSpPr>
          <a:xfrm>
            <a:off x="963130" y="9741370"/>
            <a:ext cx="12383100" cy="412770"/>
            <a:chOff x="0" y="0"/>
            <a:chExt cx="16510800" cy="550360"/>
          </a:xfrm>
        </p:grpSpPr>
        <p:sp>
          <p:nvSpPr>
            <p:cNvPr id="39" name="Freeform 39"/>
            <p:cNvSpPr/>
            <p:nvPr/>
          </p:nvSpPr>
          <p:spPr>
            <a:xfrm>
              <a:off x="0" y="0"/>
              <a:ext cx="16510797" cy="550365"/>
            </a:xfrm>
            <a:custGeom>
              <a:avLst/>
              <a:gdLst/>
              <a:ahLst/>
              <a:cxnLst/>
              <a:rect l="l" t="t" r="r" b="b"/>
              <a:pathLst>
                <a:path w="16510797" h="550365">
                  <a:moveTo>
                    <a:pt x="0" y="0"/>
                  </a:moveTo>
                  <a:lnTo>
                    <a:pt x="16510797" y="0"/>
                  </a:lnTo>
                  <a:lnTo>
                    <a:pt x="16510797" y="550365"/>
                  </a:lnTo>
                  <a:lnTo>
                    <a:pt x="0" y="550365"/>
                  </a:lnTo>
                  <a:close/>
                </a:path>
              </a:pathLst>
            </a:custGeom>
            <a:blipFill>
              <a:blip r:embed="rId3">
                <a:alphaModFix amt="0"/>
              </a:blip>
              <a:stretch>
                <a:fillRect t="-534546" b="-534544"/>
              </a:stretch>
            </a:blipFill>
          </p:spPr>
          <p:txBody>
            <a:bodyPr/>
            <a:lstStyle/>
            <a:p>
              <a:endParaRPr lang="en-US"/>
            </a:p>
          </p:txBody>
        </p:sp>
        <p:sp>
          <p:nvSpPr>
            <p:cNvPr id="40" name="TextBox 40"/>
            <p:cNvSpPr txBox="1"/>
            <p:nvPr/>
          </p:nvSpPr>
          <p:spPr>
            <a:xfrm>
              <a:off x="0" y="0"/>
              <a:ext cx="16510800" cy="550360"/>
            </a:xfrm>
            <a:prstGeom prst="rect">
              <a:avLst/>
            </a:prstGeom>
          </p:spPr>
          <p:txBody>
            <a:bodyPr lIns="0" tIns="0" rIns="0" bIns="0" rtlCol="0" anchor="ctr"/>
            <a:lstStyle/>
            <a:p>
              <a:pPr algn="l">
                <a:lnSpc>
                  <a:spcPts val="1625"/>
                </a:lnSpc>
              </a:pPr>
              <a:r>
                <a:rPr lang="en-US" sz="1354" b="1" spc="150">
                  <a:solidFill>
                    <a:srgbClr val="6B7280"/>
                  </a:solidFill>
                  <a:latin typeface="Montserrat Bold"/>
                  <a:ea typeface="Montserrat Bold"/>
                  <a:cs typeface="Montserrat Bold"/>
                  <a:sym typeface="Montserrat Bold"/>
                </a:rPr>
                <a:t>CÔNG AN PHƯỜNG PHÚ THỌ   ·   SÁNG KIẾN CẢI CÁCH HÀNH CHÍNH · 2026</a:t>
              </a:r>
            </a:p>
          </p:txBody>
        </p:sp>
      </p:grpSp>
      <p:grpSp>
        <p:nvGrpSpPr>
          <p:cNvPr id="41" name="Group 41"/>
          <p:cNvGrpSpPr/>
          <p:nvPr/>
        </p:nvGrpSpPr>
        <p:grpSpPr>
          <a:xfrm>
            <a:off x="15960433" y="9741370"/>
            <a:ext cx="1375896" cy="412770"/>
            <a:chOff x="0" y="0"/>
            <a:chExt cx="1834528" cy="550360"/>
          </a:xfrm>
        </p:grpSpPr>
        <p:sp>
          <p:nvSpPr>
            <p:cNvPr id="42" name="Freeform 42"/>
            <p:cNvSpPr/>
            <p:nvPr/>
          </p:nvSpPr>
          <p:spPr>
            <a:xfrm>
              <a:off x="0" y="0"/>
              <a:ext cx="1834533" cy="550365"/>
            </a:xfrm>
            <a:custGeom>
              <a:avLst/>
              <a:gdLst/>
              <a:ahLst/>
              <a:cxnLst/>
              <a:rect l="l" t="t" r="r" b="b"/>
              <a:pathLst>
                <a:path w="1834533" h="550365">
                  <a:moveTo>
                    <a:pt x="0" y="0"/>
                  </a:moveTo>
                  <a:lnTo>
                    <a:pt x="1834533" y="0"/>
                  </a:lnTo>
                  <a:lnTo>
                    <a:pt x="1834533" y="550365"/>
                  </a:lnTo>
                  <a:lnTo>
                    <a:pt x="0" y="550365"/>
                  </a:lnTo>
                  <a:close/>
                </a:path>
              </a:pathLst>
            </a:custGeom>
            <a:blipFill>
              <a:blip r:embed="rId3">
                <a:alphaModFix amt="0"/>
              </a:blip>
              <a:stretch>
                <a:fillRect t="-14950" b="-14948"/>
              </a:stretch>
            </a:blipFill>
          </p:spPr>
          <p:txBody>
            <a:bodyPr/>
            <a:lstStyle/>
            <a:p>
              <a:endParaRPr lang="en-US"/>
            </a:p>
          </p:txBody>
        </p:sp>
        <p:sp>
          <p:nvSpPr>
            <p:cNvPr id="43" name="TextBox 43"/>
            <p:cNvSpPr txBox="1"/>
            <p:nvPr/>
          </p:nvSpPr>
          <p:spPr>
            <a:xfrm>
              <a:off x="0" y="-9525"/>
              <a:ext cx="1834528" cy="559885"/>
            </a:xfrm>
            <a:prstGeom prst="rect">
              <a:avLst/>
            </a:prstGeom>
          </p:spPr>
          <p:txBody>
            <a:bodyPr lIns="0" tIns="0" rIns="0" bIns="0" rtlCol="0" anchor="ctr"/>
            <a:lstStyle/>
            <a:p>
              <a:pPr algn="r">
                <a:lnSpc>
                  <a:spcPts val="1805"/>
                </a:lnSpc>
              </a:pPr>
              <a:r>
                <a:rPr lang="en-US" sz="1504" b="1">
                  <a:solidFill>
                    <a:srgbClr val="C41E3A"/>
                  </a:solidFill>
                  <a:latin typeface="Montserrat Bold"/>
                  <a:ea typeface="Montserrat Bold"/>
                  <a:cs typeface="Montserrat Bold"/>
                  <a:sym typeface="Montserrat Bold"/>
                </a:rPr>
                <a:t>07</a:t>
              </a:r>
            </a:p>
          </p:txBody>
        </p:sp>
      </p:grpSp>
      <p:sp>
        <p:nvSpPr>
          <p:cNvPr id="44" name="Freeform 44"/>
          <p:cNvSpPr/>
          <p:nvPr/>
        </p:nvSpPr>
        <p:spPr>
          <a:xfrm>
            <a:off x="15763067" y="633048"/>
            <a:ext cx="1770628" cy="1768414"/>
          </a:xfrm>
          <a:custGeom>
            <a:avLst/>
            <a:gdLst/>
            <a:ahLst/>
            <a:cxnLst/>
            <a:rect l="l" t="t" r="r" b="b"/>
            <a:pathLst>
              <a:path w="1770628" h="1768414">
                <a:moveTo>
                  <a:pt x="0" y="0"/>
                </a:moveTo>
                <a:lnTo>
                  <a:pt x="1770628" y="0"/>
                </a:lnTo>
                <a:lnTo>
                  <a:pt x="1770628" y="1768414"/>
                </a:lnTo>
                <a:lnTo>
                  <a:pt x="0" y="1768414"/>
                </a:lnTo>
                <a:lnTo>
                  <a:pt x="0" y="0"/>
                </a:lnTo>
                <a:close/>
              </a:path>
            </a:pathLst>
          </a:custGeom>
          <a:blipFill>
            <a:blip>
              <a:alphaModFix amt="10999"/>
              <a:extLst>
                <a:ext uri="{96DAC541-7B7A-43D3-8B79-37D633B846F1}">
                  <asvg:svgBlip xmlns:asvg="http://schemas.microsoft.com/office/drawing/2016/SVG/main" r:embed="rId8"/>
                </a:ext>
              </a:extLst>
            </a:blip>
            <a:stretch>
              <a:fillRect/>
            </a:stretch>
          </a:blipFill>
        </p:spPr>
        <p:txBody>
          <a:bodyPr/>
          <a:lstStyle/>
          <a:p>
            <a:endParaRPr lang="en-US"/>
          </a:p>
        </p:txBody>
      </p:sp>
    </p:spTree>
    <p:extLst>
      <p:ext uri="{BB962C8B-B14F-4D97-AF65-F5344CB8AC3E}">
        <p14:creationId xmlns:p14="http://schemas.microsoft.com/office/powerpoint/2010/main" val="1727967187"/>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0"/>
                      </p:stCondLst>
                      <p:childTnLst>
                        <p:par>
                          <p:cTn id="4" presetID="10" presetClass="entr" presetSubtype="0" fill="hold" nodeType="afterEffect">
                            <p:stCondLst>
                              <p:cond delay="0"/>
                            </p:stCondLst>
                            <p:childTnLst>
                              <p:set>
                                <p:cBhvr>
                                  <p:cTn id="5" dur="1" fill="hold">
                                    <p:stCondLst>
                                      <p:cond delay="0"/>
                                    </p:stCondLst>
                                  </p:cTn>
                                  <p:tgtEl>
                                    <p:spTgt spid="8"/>
                                  </p:tgtEl>
                                  <p:attrNameLst>
                                    <p:attrName>style.visibility</p:attrName>
                                  </p:attrNameLst>
                                </p:cBhvr>
                                <p:to>
                                  <p:strVal val="visible"/>
                                </p:to>
                              </p:set>
                              <p:animEffect transition="in" filter="fade">
                                <p:cBhvr>
                                  <p:cTn id="6" dur="650"/>
                                  <p:tgtEl>
                                    <p:spTgt spid="8"/>
                                  </p:tgtEl>
                                </p:cBhvr>
                              </p:animEffect>
                            </p:childTnLst>
                          </p:cTn>
                        </p:par>
                        <p:par>
                          <p:cTn id="7" presetID="10" presetClass="entr" presetSubtype="0" fill="hold" nodeType="afterEffect">
                            <p:stCondLst>
                              <p:cond delay="0"/>
                            </p:stCondLst>
                            <p:childTnLst>
                              <p:set>
                                <p:cBhvr>
                                  <p:cTn id="8" dur="1" fill="hold">
                                    <p:stCondLst>
                                      <p:cond delay="0"/>
                                    </p:stCondLst>
                                  </p:cTn>
                                  <p:tgtEl>
                                    <p:spTgt spid="10"/>
                                  </p:tgtEl>
                                  <p:attrNameLst>
                                    <p:attrName>style.visibility</p:attrName>
                                  </p:attrNameLst>
                                </p:cBhvr>
                                <p:to>
                                  <p:strVal val="visible"/>
                                </p:to>
                              </p:set>
                              <p:animEffect transition="in" filter="fade">
                                <p:cBhvr>
                                  <p:cTn id="9" dur="650"/>
                                  <p:tgtEl>
                                    <p:spTgt spid="10"/>
                                  </p:tgtEl>
                                </p:cBhvr>
                              </p:animEffect>
                            </p:childTnLst>
                          </p:cTn>
                        </p:par>
                        <p:par>
                          <p:cTn id="10" presetID="10" presetClass="entr" presetSubtype="0" fill="hold" nodeType="afterEffect">
                            <p:stCondLst>
                              <p:cond delay="0"/>
                            </p:stCondLst>
                            <p:childTnLst>
                              <p:set>
                                <p:cBhvr>
                                  <p:cTn id="11" dur="1" fill="hold">
                                    <p:stCondLst>
                                      <p:cond delay="0"/>
                                    </p:stCondLst>
                                  </p:cTn>
                                  <p:tgtEl>
                                    <p:spTgt spid="12"/>
                                  </p:tgtEl>
                                  <p:attrNameLst>
                                    <p:attrName>style.visibility</p:attrName>
                                  </p:attrNameLst>
                                </p:cBhvr>
                                <p:to>
                                  <p:strVal val="visible"/>
                                </p:to>
                              </p:set>
                              <p:animEffect transition="in" filter="fade">
                                <p:cBhvr>
                                  <p:cTn id="12" dur="650"/>
                                  <p:tgtEl>
                                    <p:spTgt spid="12"/>
                                  </p:tgtEl>
                                </p:cBhvr>
                              </p:animEffect>
                            </p:childTnLst>
                          </p:cTn>
                        </p:par>
                        <p:par>
                          <p:cTn id="13" presetID="10" presetClass="entr" presetSubtype="0" fill="hold" nodeType="afterEffect">
                            <p:stCondLst>
                              <p:cond delay="600"/>
                            </p:stCondLst>
                            <p:childTnLst>
                              <p:set>
                                <p:cBhvr>
                                  <p:cTn id="14" dur="1" fill="hold">
                                    <p:stCondLst>
                                      <p:cond delay="0"/>
                                    </p:stCondLst>
                                  </p:cTn>
                                  <p:tgtEl>
                                    <p:spTgt spid="15"/>
                                  </p:tgtEl>
                                  <p:attrNameLst>
                                    <p:attrName>style.visibility</p:attrName>
                                  </p:attrNameLst>
                                </p:cBhvr>
                                <p:to>
                                  <p:strVal val="visible"/>
                                </p:to>
                              </p:set>
                              <p:animEffect transition="in" filter="fade">
                                <p:cBhvr>
                                  <p:cTn id="15" dur="650"/>
                                  <p:tgtEl>
                                    <p:spTgt spid="15"/>
                                  </p:tgtEl>
                                </p:cBhvr>
                              </p:animEffect>
                            </p:childTnLst>
                          </p:cTn>
                        </p:par>
                        <p:par>
                          <p:cTn id="16" presetID="10" presetClass="entr" presetSubtype="0" fill="hold" nodeType="afterEffect">
                            <p:stCondLst>
                              <p:cond delay="600"/>
                            </p:stCondLst>
                            <p:childTnLst>
                              <p:set>
                                <p:cBhvr>
                                  <p:cTn id="17" dur="1" fill="hold">
                                    <p:stCondLst>
                                      <p:cond delay="0"/>
                                    </p:stCondLst>
                                  </p:cTn>
                                  <p:tgtEl>
                                    <p:spTgt spid="17"/>
                                  </p:tgtEl>
                                  <p:attrNameLst>
                                    <p:attrName>style.visibility</p:attrName>
                                  </p:attrNameLst>
                                </p:cBhvr>
                                <p:to>
                                  <p:strVal val="visible"/>
                                </p:to>
                              </p:set>
                              <p:animEffect transition="in" filter="fade">
                                <p:cBhvr>
                                  <p:cTn id="18" dur="650"/>
                                  <p:tgtEl>
                                    <p:spTgt spid="17"/>
                                  </p:tgtEl>
                                </p:cBhvr>
                              </p:animEffect>
                            </p:childTnLst>
                          </p:cTn>
                        </p:par>
                        <p:par>
                          <p:cTn id="19" presetID="10" presetClass="entr" presetSubtype="0" fill="hold" nodeType="afterEffect">
                            <p:stCondLst>
                              <p:cond delay="600"/>
                            </p:stCondLst>
                            <p:childTnLst>
                              <p:set>
                                <p:cBhvr>
                                  <p:cTn id="20" dur="1" fill="hold">
                                    <p:stCondLst>
                                      <p:cond delay="0"/>
                                    </p:stCondLst>
                                  </p:cTn>
                                  <p:tgtEl>
                                    <p:spTgt spid="19"/>
                                  </p:tgtEl>
                                  <p:attrNameLst>
                                    <p:attrName>style.visibility</p:attrName>
                                  </p:attrNameLst>
                                </p:cBhvr>
                                <p:to>
                                  <p:strVal val="visible"/>
                                </p:to>
                              </p:set>
                              <p:animEffect transition="in" filter="fade">
                                <p:cBhvr>
                                  <p:cTn id="21" dur="650"/>
                                  <p:tgtEl>
                                    <p:spTgt spid="19"/>
                                  </p:tgtEl>
                                </p:cBhvr>
                              </p:animEffect>
                            </p:childTnLst>
                          </p:cTn>
                        </p:par>
                        <p:par>
                          <p:cTn id="22" presetID="10" presetClass="entr" presetSubtype="0" fill="hold" nodeType="afterEffect">
                            <p:stCondLst>
                              <p:cond delay="1200"/>
                            </p:stCondLst>
                            <p:childTnLst>
                              <p:set>
                                <p:cBhvr>
                                  <p:cTn id="23" dur="1" fill="hold">
                                    <p:stCondLst>
                                      <p:cond delay="0"/>
                                    </p:stCondLst>
                                  </p:cTn>
                                  <p:tgtEl>
                                    <p:spTgt spid="22"/>
                                  </p:tgtEl>
                                  <p:attrNameLst>
                                    <p:attrName>style.visibility</p:attrName>
                                  </p:attrNameLst>
                                </p:cBhvr>
                                <p:to>
                                  <p:strVal val="visible"/>
                                </p:to>
                              </p:set>
                              <p:animEffect transition="in" filter="fade">
                                <p:cBhvr>
                                  <p:cTn id="24" dur="650"/>
                                  <p:tgtEl>
                                    <p:spTgt spid="22"/>
                                  </p:tgtEl>
                                </p:cBhvr>
                              </p:animEffect>
                            </p:childTnLst>
                          </p:cTn>
                        </p:par>
                        <p:par>
                          <p:cTn id="25" presetID="10" presetClass="entr" presetSubtype="0" fill="hold" nodeType="afterEffect">
                            <p:stCondLst>
                              <p:cond delay="1200"/>
                            </p:stCondLst>
                            <p:childTnLst>
                              <p:set>
                                <p:cBhvr>
                                  <p:cTn id="26" dur="1" fill="hold">
                                    <p:stCondLst>
                                      <p:cond delay="0"/>
                                    </p:stCondLst>
                                  </p:cTn>
                                  <p:tgtEl>
                                    <p:spTgt spid="24"/>
                                  </p:tgtEl>
                                  <p:attrNameLst>
                                    <p:attrName>style.visibility</p:attrName>
                                  </p:attrNameLst>
                                </p:cBhvr>
                                <p:to>
                                  <p:strVal val="visible"/>
                                </p:to>
                              </p:set>
                              <p:animEffect transition="in" filter="fade">
                                <p:cBhvr>
                                  <p:cTn id="27" dur="650"/>
                                  <p:tgtEl>
                                    <p:spTgt spid="24"/>
                                  </p:tgtEl>
                                </p:cBhvr>
                              </p:animEffect>
                            </p:childTnLst>
                          </p:cTn>
                        </p:par>
                        <p:par>
                          <p:cTn id="28" presetID="10" presetClass="entr" presetSubtype="0" fill="hold" nodeType="afterEffect">
                            <p:stCondLst>
                              <p:cond delay="1200"/>
                            </p:stCondLst>
                            <p:childTnLst>
                              <p:set>
                                <p:cBhvr>
                                  <p:cTn id="29" dur="1" fill="hold">
                                    <p:stCondLst>
                                      <p:cond delay="0"/>
                                    </p:stCondLst>
                                  </p:cTn>
                                  <p:tgtEl>
                                    <p:spTgt spid="26"/>
                                  </p:tgtEl>
                                  <p:attrNameLst>
                                    <p:attrName>style.visibility</p:attrName>
                                  </p:attrNameLst>
                                </p:cBhvr>
                                <p:to>
                                  <p:strVal val="visible"/>
                                </p:to>
                              </p:set>
                              <p:animEffect transition="in" filter="fade">
                                <p:cBhvr>
                                  <p:cTn id="30" dur="650"/>
                                  <p:tgtEl>
                                    <p:spTgt spid="26"/>
                                  </p:tgtEl>
                                </p:cBhvr>
                              </p:animEffect>
                            </p:childTnLst>
                          </p:cTn>
                        </p:par>
                        <p:par>
                          <p:cTn id="31" presetID="10" presetClass="entr" presetSubtype="0" fill="hold" nodeType="afterEffect">
                            <p:stCondLst>
                              <p:cond delay="1800"/>
                            </p:stCondLst>
                            <p:childTnLst>
                              <p:set>
                                <p:cBhvr>
                                  <p:cTn id="32" dur="1" fill="hold">
                                    <p:stCondLst>
                                      <p:cond delay="0"/>
                                    </p:stCondLst>
                                  </p:cTn>
                                  <p:tgtEl>
                                    <p:spTgt spid="29"/>
                                  </p:tgtEl>
                                  <p:attrNameLst>
                                    <p:attrName>style.visibility</p:attrName>
                                  </p:attrNameLst>
                                </p:cBhvr>
                                <p:to>
                                  <p:strVal val="visible"/>
                                </p:to>
                              </p:set>
                              <p:animEffect transition="in" filter="fade">
                                <p:cBhvr>
                                  <p:cTn id="33" dur="650"/>
                                  <p:tgtEl>
                                    <p:spTgt spid="29"/>
                                  </p:tgtEl>
                                </p:cBhvr>
                              </p:animEffect>
                            </p:childTnLst>
                          </p:cTn>
                        </p:par>
                        <p:par>
                          <p:cTn id="34" presetID="10" presetClass="entr" presetSubtype="0" fill="hold" nodeType="afterEffect">
                            <p:stCondLst>
                              <p:cond delay="1800"/>
                            </p:stCondLst>
                            <p:childTnLst>
                              <p:set>
                                <p:cBhvr>
                                  <p:cTn id="35" dur="1" fill="hold">
                                    <p:stCondLst>
                                      <p:cond delay="0"/>
                                    </p:stCondLst>
                                  </p:cTn>
                                  <p:tgtEl>
                                    <p:spTgt spid="31"/>
                                  </p:tgtEl>
                                  <p:attrNameLst>
                                    <p:attrName>style.visibility</p:attrName>
                                  </p:attrNameLst>
                                </p:cBhvr>
                                <p:to>
                                  <p:strVal val="visible"/>
                                </p:to>
                              </p:set>
                              <p:animEffect transition="in" filter="fade">
                                <p:cBhvr>
                                  <p:cTn id="36" dur="650"/>
                                  <p:tgtEl>
                                    <p:spTgt spid="31"/>
                                  </p:tgtEl>
                                </p:cBhvr>
                              </p:animEffect>
                            </p:childTnLst>
                          </p:cTn>
                        </p:par>
                        <p:par>
                          <p:cTn id="37" presetID="10" presetClass="entr" presetSubtype="0" fill="hold" nodeType="afterEffect">
                            <p:stCondLst>
                              <p:cond delay="1800"/>
                            </p:stCondLst>
                            <p:childTnLst>
                              <p:set>
                                <p:cBhvr>
                                  <p:cTn id="38" dur="1" fill="hold">
                                    <p:stCondLst>
                                      <p:cond delay="0"/>
                                    </p:stCondLst>
                                  </p:cTn>
                                  <p:tgtEl>
                                    <p:spTgt spid="33"/>
                                  </p:tgtEl>
                                  <p:attrNameLst>
                                    <p:attrName>style.visibility</p:attrName>
                                  </p:attrNameLst>
                                </p:cBhvr>
                                <p:to>
                                  <p:strVal val="visible"/>
                                </p:to>
                              </p:set>
                              <p:animEffect transition="in" filter="fade">
                                <p:cBhvr>
                                  <p:cTn id="39" dur="650"/>
                                  <p:tgtEl>
                                    <p:spTgt spid="33"/>
                                  </p:tgtEl>
                                </p:cBhvr>
                              </p:animEffect>
                            </p:childTnLst>
                          </p:cTn>
                        </p:par>
                        <p:par>
                          <p:cTn id="40" fill="hold">
                            <p:stCondLst>
                              <p:cond delay="0"/>
                            </p:stCondLst>
                            <p:childTnLst>
                              <p:animRot by="21600000">
                                <p:cBhvr>
                                  <p:cTn id="41" dur="60000" repeatCount="indefinite" fill="hold"/>
                                  <p:tgtEl>
                                    <p:spTgt spid="44"/>
                                  </p:tgtEl>
                                  <p:attrNameLst>
                                    <p:attrName>r</p:attrName>
                                  </p:attrNameLst>
                                </p:cBhvr>
                              </p:animRot>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2"/>
          <p:cNvGrpSpPr/>
          <p:nvPr/>
        </p:nvGrpSpPr>
        <p:grpSpPr>
          <a:xfrm>
            <a:off x="963130" y="687953"/>
            <a:ext cx="14997303" cy="481565"/>
            <a:chOff x="0" y="0"/>
            <a:chExt cx="19996404" cy="642087"/>
          </a:xfrm>
        </p:grpSpPr>
        <p:sp>
          <p:nvSpPr>
            <p:cNvPr id="3" name="Freeform 3"/>
            <p:cNvSpPr/>
            <p:nvPr/>
          </p:nvSpPr>
          <p:spPr>
            <a:xfrm>
              <a:off x="0" y="0"/>
              <a:ext cx="19996409" cy="642086"/>
            </a:xfrm>
            <a:custGeom>
              <a:avLst/>
              <a:gdLst/>
              <a:ahLst/>
              <a:cxnLst/>
              <a:rect l="l" t="t" r="r" b="b"/>
              <a:pathLst>
                <a:path w="19996409" h="642086">
                  <a:moveTo>
                    <a:pt x="0" y="0"/>
                  </a:moveTo>
                  <a:lnTo>
                    <a:pt x="19996409" y="0"/>
                  </a:lnTo>
                  <a:lnTo>
                    <a:pt x="19996409" y="642086"/>
                  </a:lnTo>
                  <a:lnTo>
                    <a:pt x="0" y="642086"/>
                  </a:lnTo>
                  <a:close/>
                </a:path>
              </a:pathLst>
            </a:custGeom>
            <a:blipFill>
              <a:blip r:embed="rId3">
                <a:alphaModFix amt="0"/>
              </a:blip>
              <a:stretch>
                <a:fillRect t="-556819" b="-556819"/>
              </a:stretch>
            </a:blipFill>
          </p:spPr>
          <p:txBody>
            <a:bodyPr/>
            <a:lstStyle/>
            <a:p>
              <a:endParaRPr lang="en-US"/>
            </a:p>
          </p:txBody>
        </p:sp>
        <p:sp>
          <p:nvSpPr>
            <p:cNvPr id="4" name="TextBox 4"/>
            <p:cNvSpPr txBox="1"/>
            <p:nvPr/>
          </p:nvSpPr>
          <p:spPr>
            <a:xfrm>
              <a:off x="0" y="-9525"/>
              <a:ext cx="19996404" cy="651612"/>
            </a:xfrm>
            <a:prstGeom prst="rect">
              <a:avLst/>
            </a:prstGeom>
          </p:spPr>
          <p:txBody>
            <a:bodyPr lIns="0" tIns="0" rIns="0" bIns="0" rtlCol="0" anchor="ctr"/>
            <a:lstStyle/>
            <a:p>
              <a:pPr algn="l">
                <a:lnSpc>
                  <a:spcPts val="2347"/>
                </a:lnSpc>
              </a:pPr>
              <a:r>
                <a:rPr lang="en-US" sz="1956" b="1" spc="300">
                  <a:solidFill>
                    <a:srgbClr val="C41E3A"/>
                  </a:solidFill>
                  <a:latin typeface="Montserrat Bold"/>
                  <a:ea typeface="Montserrat Bold"/>
                  <a:cs typeface="Montserrat Bold"/>
                  <a:sym typeface="Montserrat Bold"/>
                </a:rPr>
                <a:t>TÍNH MỚI, TÍNH SÁNG TẠO</a:t>
              </a:r>
            </a:p>
          </p:txBody>
        </p:sp>
      </p:grpSp>
      <p:sp>
        <p:nvSpPr>
          <p:cNvPr id="5" name="TextBox 5"/>
          <p:cNvSpPr txBox="1"/>
          <p:nvPr/>
        </p:nvSpPr>
        <p:spPr>
          <a:xfrm>
            <a:off x="963130" y="1155754"/>
            <a:ext cx="14997303" cy="638197"/>
          </a:xfrm>
          <a:prstGeom prst="rect">
            <a:avLst/>
          </a:prstGeom>
        </p:spPr>
        <p:txBody>
          <a:bodyPr lIns="0" tIns="0" rIns="0" bIns="0" rtlCol="0" anchor="t">
            <a:spAutoFit/>
          </a:bodyPr>
          <a:lstStyle/>
          <a:p>
            <a:pPr algn="l">
              <a:lnSpc>
                <a:spcPts val="5055"/>
              </a:lnSpc>
            </a:pPr>
            <a:r>
              <a:rPr lang="en-US" sz="4213" b="1">
                <a:solidFill>
                  <a:srgbClr val="1F2937"/>
                </a:solidFill>
                <a:latin typeface="Montserrat Heavy"/>
                <a:ea typeface="Montserrat Heavy"/>
                <a:cs typeface="Montserrat Heavy"/>
                <a:sym typeface="Montserrat Heavy"/>
              </a:rPr>
              <a:t>BỐN ĐIỂM KHÁC BIỆT CỐT LÕI</a:t>
            </a:r>
          </a:p>
        </p:txBody>
      </p:sp>
      <p:grpSp>
        <p:nvGrpSpPr>
          <p:cNvPr id="6" name="Group 6"/>
          <p:cNvGrpSpPr/>
          <p:nvPr/>
        </p:nvGrpSpPr>
        <p:grpSpPr>
          <a:xfrm>
            <a:off x="963130" y="2228955"/>
            <a:ext cx="1513494" cy="96317"/>
            <a:chOff x="0" y="0"/>
            <a:chExt cx="2017992" cy="128422"/>
          </a:xfrm>
        </p:grpSpPr>
        <p:sp>
          <p:nvSpPr>
            <p:cNvPr id="7" name="Freeform 7"/>
            <p:cNvSpPr/>
            <p:nvPr/>
          </p:nvSpPr>
          <p:spPr>
            <a:xfrm>
              <a:off x="0" y="0"/>
              <a:ext cx="2018030" cy="128397"/>
            </a:xfrm>
            <a:custGeom>
              <a:avLst/>
              <a:gdLst/>
              <a:ahLst/>
              <a:cxnLst/>
              <a:rect l="l" t="t" r="r" b="b"/>
              <a:pathLst>
                <a:path w="2018030" h="128397">
                  <a:moveTo>
                    <a:pt x="0" y="0"/>
                  </a:moveTo>
                  <a:lnTo>
                    <a:pt x="2018030" y="0"/>
                  </a:lnTo>
                  <a:lnTo>
                    <a:pt x="2018030" y="128397"/>
                  </a:lnTo>
                  <a:lnTo>
                    <a:pt x="0" y="128397"/>
                  </a:lnTo>
                  <a:close/>
                </a:path>
              </a:pathLst>
            </a:custGeom>
            <a:solidFill>
              <a:srgbClr val="FFD700"/>
            </a:solidFill>
          </p:spPr>
          <p:txBody>
            <a:bodyPr/>
            <a:lstStyle/>
            <a:p>
              <a:endParaRPr lang="en-US"/>
            </a:p>
          </p:txBody>
        </p:sp>
      </p:grpSp>
      <p:grpSp>
        <p:nvGrpSpPr>
          <p:cNvPr id="8" name="Group 8"/>
          <p:cNvGrpSpPr/>
          <p:nvPr/>
        </p:nvGrpSpPr>
        <p:grpSpPr>
          <a:xfrm>
            <a:off x="953576" y="3292602"/>
            <a:ext cx="3596450" cy="4697168"/>
            <a:chOff x="0" y="0"/>
            <a:chExt cx="4795266" cy="6262891"/>
          </a:xfrm>
        </p:grpSpPr>
        <p:sp>
          <p:nvSpPr>
            <p:cNvPr id="9" name="Freeform 9"/>
            <p:cNvSpPr/>
            <p:nvPr/>
          </p:nvSpPr>
          <p:spPr>
            <a:xfrm>
              <a:off x="0" y="0"/>
              <a:ext cx="4795266" cy="6263005"/>
            </a:xfrm>
            <a:custGeom>
              <a:avLst/>
              <a:gdLst/>
              <a:ahLst/>
              <a:cxnLst/>
              <a:rect l="l" t="t" r="r" b="b"/>
              <a:pathLst>
                <a:path w="4795266" h="6263005">
                  <a:moveTo>
                    <a:pt x="0" y="221361"/>
                  </a:moveTo>
                  <a:cubicBezTo>
                    <a:pt x="0" y="99060"/>
                    <a:pt x="99060" y="0"/>
                    <a:pt x="221361" y="0"/>
                  </a:cubicBezTo>
                  <a:lnTo>
                    <a:pt x="4573905" y="0"/>
                  </a:lnTo>
                  <a:cubicBezTo>
                    <a:pt x="4696079" y="0"/>
                    <a:pt x="4795266" y="99060"/>
                    <a:pt x="4795266" y="221361"/>
                  </a:cubicBezTo>
                  <a:lnTo>
                    <a:pt x="4795266" y="6041644"/>
                  </a:lnTo>
                  <a:cubicBezTo>
                    <a:pt x="4795266" y="6163818"/>
                    <a:pt x="4696206" y="6263005"/>
                    <a:pt x="4573905" y="6263005"/>
                  </a:cubicBezTo>
                  <a:lnTo>
                    <a:pt x="221361" y="6263005"/>
                  </a:lnTo>
                  <a:cubicBezTo>
                    <a:pt x="99060" y="6262878"/>
                    <a:pt x="0" y="6163818"/>
                    <a:pt x="0" y="6041644"/>
                  </a:cubicBezTo>
                  <a:close/>
                </a:path>
              </a:pathLst>
            </a:custGeom>
            <a:solidFill>
              <a:srgbClr val="FFF4F2"/>
            </a:solidFill>
            <a:ln w="19110" cap="sq">
              <a:solidFill>
                <a:srgbClr val="F3D2D7"/>
              </a:solidFill>
              <a:prstDash val="solid"/>
              <a:miter/>
            </a:ln>
          </p:spPr>
          <p:txBody>
            <a:bodyPr/>
            <a:lstStyle/>
            <a:p>
              <a:endParaRPr lang="en-US"/>
            </a:p>
          </p:txBody>
        </p:sp>
      </p:grpSp>
      <p:grpSp>
        <p:nvGrpSpPr>
          <p:cNvPr id="10" name="Group 10"/>
          <p:cNvGrpSpPr/>
          <p:nvPr/>
        </p:nvGrpSpPr>
        <p:grpSpPr>
          <a:xfrm>
            <a:off x="1926260" y="3825002"/>
            <a:ext cx="1651083" cy="1651083"/>
            <a:chOff x="0" y="0"/>
            <a:chExt cx="2201443" cy="2201443"/>
          </a:xfrm>
        </p:grpSpPr>
        <p:sp>
          <p:nvSpPr>
            <p:cNvPr id="11" name="Freeform 11"/>
            <p:cNvSpPr/>
            <p:nvPr/>
          </p:nvSpPr>
          <p:spPr>
            <a:xfrm>
              <a:off x="0" y="0"/>
              <a:ext cx="2201418" cy="2201418"/>
            </a:xfrm>
            <a:custGeom>
              <a:avLst/>
              <a:gdLst/>
              <a:ahLst/>
              <a:cxnLst/>
              <a:rect l="l" t="t" r="r" b="b"/>
              <a:pathLst>
                <a:path w="2201418" h="2201418">
                  <a:moveTo>
                    <a:pt x="0" y="1100709"/>
                  </a:moveTo>
                  <a:cubicBezTo>
                    <a:pt x="0" y="492760"/>
                    <a:pt x="492760" y="0"/>
                    <a:pt x="1100709" y="0"/>
                  </a:cubicBezTo>
                  <a:cubicBezTo>
                    <a:pt x="1708658" y="0"/>
                    <a:pt x="2201418" y="492760"/>
                    <a:pt x="2201418" y="1100709"/>
                  </a:cubicBezTo>
                  <a:cubicBezTo>
                    <a:pt x="2201418" y="1708658"/>
                    <a:pt x="1708658" y="2201418"/>
                    <a:pt x="1100709" y="2201418"/>
                  </a:cubicBezTo>
                  <a:cubicBezTo>
                    <a:pt x="492760" y="2201418"/>
                    <a:pt x="0" y="1708658"/>
                    <a:pt x="0" y="1100709"/>
                  </a:cubicBezTo>
                  <a:close/>
                </a:path>
              </a:pathLst>
            </a:custGeom>
            <a:solidFill>
              <a:srgbClr val="C41E3A"/>
            </a:solidFill>
          </p:spPr>
          <p:txBody>
            <a:bodyPr/>
            <a:lstStyle/>
            <a:p>
              <a:endParaRPr lang="en-US"/>
            </a:p>
          </p:txBody>
        </p:sp>
      </p:grpSp>
      <p:grpSp>
        <p:nvGrpSpPr>
          <p:cNvPr id="12" name="Group 12"/>
          <p:cNvGrpSpPr/>
          <p:nvPr/>
        </p:nvGrpSpPr>
        <p:grpSpPr>
          <a:xfrm>
            <a:off x="2372049" y="4270791"/>
            <a:ext cx="759495" cy="759495"/>
            <a:chOff x="0" y="0"/>
            <a:chExt cx="1012660" cy="1012660"/>
          </a:xfrm>
        </p:grpSpPr>
        <p:sp>
          <p:nvSpPr>
            <p:cNvPr id="13" name="Freeform 13" descr="preencoded.png"/>
            <p:cNvSpPr/>
            <p:nvPr/>
          </p:nvSpPr>
          <p:spPr>
            <a:xfrm>
              <a:off x="0" y="0"/>
              <a:ext cx="1012698" cy="1012698"/>
            </a:xfrm>
            <a:custGeom>
              <a:avLst/>
              <a:gdLst/>
              <a:ahLst/>
              <a:cxnLst/>
              <a:rect l="l" t="t" r="r" b="b"/>
              <a:pathLst>
                <a:path w="1012698" h="1012698">
                  <a:moveTo>
                    <a:pt x="0" y="0"/>
                  </a:moveTo>
                  <a:lnTo>
                    <a:pt x="1012698" y="0"/>
                  </a:lnTo>
                  <a:lnTo>
                    <a:pt x="1012698" y="1012698"/>
                  </a:lnTo>
                  <a:lnTo>
                    <a:pt x="0" y="1012698"/>
                  </a:lnTo>
                  <a:lnTo>
                    <a:pt x="0" y="0"/>
                  </a:lnTo>
                  <a:close/>
                </a:path>
              </a:pathLst>
            </a:custGeom>
            <a:blipFill>
              <a:blip r:embed="rId4"/>
              <a:stretch>
                <a:fillRect r="3" b="3"/>
              </a:stretch>
            </a:blipFill>
          </p:spPr>
          <p:txBody>
            <a:bodyPr/>
            <a:lstStyle/>
            <a:p>
              <a:endParaRPr lang="en-US"/>
            </a:p>
          </p:txBody>
        </p:sp>
      </p:grpSp>
      <p:grpSp>
        <p:nvGrpSpPr>
          <p:cNvPr id="14" name="Group 14"/>
          <p:cNvGrpSpPr/>
          <p:nvPr/>
        </p:nvGrpSpPr>
        <p:grpSpPr>
          <a:xfrm>
            <a:off x="1238307" y="5983223"/>
            <a:ext cx="3026978" cy="1104594"/>
            <a:chOff x="0" y="0"/>
            <a:chExt cx="4035971" cy="1472792"/>
          </a:xfrm>
        </p:grpSpPr>
        <p:sp>
          <p:nvSpPr>
            <p:cNvPr id="15" name="Freeform 15"/>
            <p:cNvSpPr/>
            <p:nvPr/>
          </p:nvSpPr>
          <p:spPr>
            <a:xfrm>
              <a:off x="0" y="0"/>
              <a:ext cx="4035972" cy="1472790"/>
            </a:xfrm>
            <a:custGeom>
              <a:avLst/>
              <a:gdLst/>
              <a:ahLst/>
              <a:cxnLst/>
              <a:rect l="l" t="t" r="r" b="b"/>
              <a:pathLst>
                <a:path w="4035972" h="1472790">
                  <a:moveTo>
                    <a:pt x="0" y="0"/>
                  </a:moveTo>
                  <a:lnTo>
                    <a:pt x="4035972" y="0"/>
                  </a:lnTo>
                  <a:lnTo>
                    <a:pt x="4035972" y="1472790"/>
                  </a:lnTo>
                  <a:lnTo>
                    <a:pt x="0" y="1472790"/>
                  </a:lnTo>
                  <a:close/>
                </a:path>
              </a:pathLst>
            </a:custGeom>
            <a:blipFill>
              <a:blip r:embed="rId3">
                <a:alphaModFix amt="0"/>
              </a:blip>
              <a:stretch>
                <a:fillRect t="-16027" b="9235"/>
              </a:stretch>
            </a:blipFill>
          </p:spPr>
          <p:txBody>
            <a:bodyPr/>
            <a:lstStyle/>
            <a:p>
              <a:endParaRPr lang="en-US"/>
            </a:p>
          </p:txBody>
        </p:sp>
        <p:sp>
          <p:nvSpPr>
            <p:cNvPr id="16" name="TextBox 16"/>
            <p:cNvSpPr txBox="1"/>
            <p:nvPr/>
          </p:nvSpPr>
          <p:spPr>
            <a:xfrm>
              <a:off x="0" y="0"/>
              <a:ext cx="4035971" cy="1472792"/>
            </a:xfrm>
            <a:prstGeom prst="rect">
              <a:avLst/>
            </a:prstGeom>
          </p:spPr>
          <p:txBody>
            <a:bodyPr lIns="0" tIns="0" rIns="0" bIns="0" rtlCol="0" anchor="ctr"/>
            <a:lstStyle/>
            <a:p>
              <a:pPr algn="ctr">
                <a:lnSpc>
                  <a:spcPts val="3791"/>
                </a:lnSpc>
              </a:pPr>
              <a:r>
                <a:rPr lang="en-US" sz="3159" b="1">
                  <a:solidFill>
                    <a:srgbClr val="1F2937"/>
                  </a:solidFill>
                  <a:latin typeface="Montserrat Bold"/>
                  <a:ea typeface="Montserrat Bold"/>
                  <a:cs typeface="Montserrat Bold"/>
                  <a:sym typeface="Montserrat Bold"/>
                </a:rPr>
                <a:t>Bình dân hóa pháp lý</a:t>
              </a:r>
            </a:p>
          </p:txBody>
        </p:sp>
      </p:grpSp>
      <p:grpSp>
        <p:nvGrpSpPr>
          <p:cNvPr id="17" name="Group 17"/>
          <p:cNvGrpSpPr/>
          <p:nvPr/>
        </p:nvGrpSpPr>
        <p:grpSpPr>
          <a:xfrm>
            <a:off x="5218862" y="3292602"/>
            <a:ext cx="3596450" cy="4697168"/>
            <a:chOff x="0" y="0"/>
            <a:chExt cx="4795266" cy="6262891"/>
          </a:xfrm>
        </p:grpSpPr>
        <p:sp>
          <p:nvSpPr>
            <p:cNvPr id="18" name="Freeform 18"/>
            <p:cNvSpPr/>
            <p:nvPr/>
          </p:nvSpPr>
          <p:spPr>
            <a:xfrm>
              <a:off x="0" y="0"/>
              <a:ext cx="4795266" cy="6263005"/>
            </a:xfrm>
            <a:custGeom>
              <a:avLst/>
              <a:gdLst/>
              <a:ahLst/>
              <a:cxnLst/>
              <a:rect l="l" t="t" r="r" b="b"/>
              <a:pathLst>
                <a:path w="4795266" h="6263005">
                  <a:moveTo>
                    <a:pt x="0" y="221361"/>
                  </a:moveTo>
                  <a:cubicBezTo>
                    <a:pt x="0" y="99060"/>
                    <a:pt x="99060" y="0"/>
                    <a:pt x="221361" y="0"/>
                  </a:cubicBezTo>
                  <a:lnTo>
                    <a:pt x="4573905" y="0"/>
                  </a:lnTo>
                  <a:cubicBezTo>
                    <a:pt x="4696079" y="0"/>
                    <a:pt x="4795266" y="99060"/>
                    <a:pt x="4795266" y="221361"/>
                  </a:cubicBezTo>
                  <a:lnTo>
                    <a:pt x="4795266" y="6041644"/>
                  </a:lnTo>
                  <a:cubicBezTo>
                    <a:pt x="4795266" y="6163818"/>
                    <a:pt x="4696206" y="6263005"/>
                    <a:pt x="4573905" y="6263005"/>
                  </a:cubicBezTo>
                  <a:lnTo>
                    <a:pt x="221361" y="6263005"/>
                  </a:lnTo>
                  <a:cubicBezTo>
                    <a:pt x="99060" y="6262878"/>
                    <a:pt x="0" y="6163818"/>
                    <a:pt x="0" y="6041644"/>
                  </a:cubicBezTo>
                  <a:close/>
                </a:path>
              </a:pathLst>
            </a:custGeom>
            <a:solidFill>
              <a:srgbClr val="FFF4F2"/>
            </a:solidFill>
            <a:ln w="19110" cap="sq">
              <a:solidFill>
                <a:srgbClr val="F3D2D7"/>
              </a:solidFill>
              <a:prstDash val="solid"/>
              <a:miter/>
            </a:ln>
          </p:spPr>
          <p:txBody>
            <a:bodyPr/>
            <a:lstStyle/>
            <a:p>
              <a:endParaRPr lang="en-US"/>
            </a:p>
          </p:txBody>
        </p:sp>
      </p:grpSp>
      <p:grpSp>
        <p:nvGrpSpPr>
          <p:cNvPr id="19" name="Group 19"/>
          <p:cNvGrpSpPr/>
          <p:nvPr/>
        </p:nvGrpSpPr>
        <p:grpSpPr>
          <a:xfrm>
            <a:off x="6191545" y="3825002"/>
            <a:ext cx="1651083" cy="1651083"/>
            <a:chOff x="0" y="0"/>
            <a:chExt cx="2201443" cy="2201443"/>
          </a:xfrm>
        </p:grpSpPr>
        <p:sp>
          <p:nvSpPr>
            <p:cNvPr id="20" name="Freeform 20"/>
            <p:cNvSpPr/>
            <p:nvPr/>
          </p:nvSpPr>
          <p:spPr>
            <a:xfrm>
              <a:off x="0" y="0"/>
              <a:ext cx="2201418" cy="2201418"/>
            </a:xfrm>
            <a:custGeom>
              <a:avLst/>
              <a:gdLst/>
              <a:ahLst/>
              <a:cxnLst/>
              <a:rect l="l" t="t" r="r" b="b"/>
              <a:pathLst>
                <a:path w="2201418" h="2201418">
                  <a:moveTo>
                    <a:pt x="0" y="1100709"/>
                  </a:moveTo>
                  <a:cubicBezTo>
                    <a:pt x="0" y="492760"/>
                    <a:pt x="492760" y="0"/>
                    <a:pt x="1100709" y="0"/>
                  </a:cubicBezTo>
                  <a:cubicBezTo>
                    <a:pt x="1708658" y="0"/>
                    <a:pt x="2201418" y="492760"/>
                    <a:pt x="2201418" y="1100709"/>
                  </a:cubicBezTo>
                  <a:cubicBezTo>
                    <a:pt x="2201418" y="1708658"/>
                    <a:pt x="1708658" y="2201418"/>
                    <a:pt x="1100709" y="2201418"/>
                  </a:cubicBezTo>
                  <a:cubicBezTo>
                    <a:pt x="492760" y="2201418"/>
                    <a:pt x="0" y="1708658"/>
                    <a:pt x="0" y="1100709"/>
                  </a:cubicBezTo>
                  <a:close/>
                </a:path>
              </a:pathLst>
            </a:custGeom>
            <a:solidFill>
              <a:srgbClr val="1F7A1F"/>
            </a:solidFill>
          </p:spPr>
          <p:txBody>
            <a:bodyPr/>
            <a:lstStyle/>
            <a:p>
              <a:endParaRPr lang="en-US"/>
            </a:p>
          </p:txBody>
        </p:sp>
      </p:grpSp>
      <p:grpSp>
        <p:nvGrpSpPr>
          <p:cNvPr id="21" name="Group 21"/>
          <p:cNvGrpSpPr/>
          <p:nvPr/>
        </p:nvGrpSpPr>
        <p:grpSpPr>
          <a:xfrm>
            <a:off x="6637344" y="4270791"/>
            <a:ext cx="759495" cy="759495"/>
            <a:chOff x="0" y="0"/>
            <a:chExt cx="1012660" cy="1012660"/>
          </a:xfrm>
        </p:grpSpPr>
        <p:sp>
          <p:nvSpPr>
            <p:cNvPr id="22" name="Freeform 22" descr="preencoded.png"/>
            <p:cNvSpPr/>
            <p:nvPr/>
          </p:nvSpPr>
          <p:spPr>
            <a:xfrm>
              <a:off x="0" y="0"/>
              <a:ext cx="1012698" cy="1012698"/>
            </a:xfrm>
            <a:custGeom>
              <a:avLst/>
              <a:gdLst/>
              <a:ahLst/>
              <a:cxnLst/>
              <a:rect l="l" t="t" r="r" b="b"/>
              <a:pathLst>
                <a:path w="1012698" h="1012698">
                  <a:moveTo>
                    <a:pt x="0" y="0"/>
                  </a:moveTo>
                  <a:lnTo>
                    <a:pt x="1012698" y="0"/>
                  </a:lnTo>
                  <a:lnTo>
                    <a:pt x="1012698" y="1012698"/>
                  </a:lnTo>
                  <a:lnTo>
                    <a:pt x="0" y="1012698"/>
                  </a:lnTo>
                  <a:lnTo>
                    <a:pt x="0" y="0"/>
                  </a:lnTo>
                  <a:close/>
                </a:path>
              </a:pathLst>
            </a:custGeom>
            <a:blipFill>
              <a:blip r:embed="rId5"/>
              <a:stretch>
                <a:fillRect r="3" b="3"/>
              </a:stretch>
            </a:blipFill>
          </p:spPr>
          <p:txBody>
            <a:bodyPr/>
            <a:lstStyle/>
            <a:p>
              <a:endParaRPr lang="en-US"/>
            </a:p>
          </p:txBody>
        </p:sp>
      </p:grpSp>
      <p:grpSp>
        <p:nvGrpSpPr>
          <p:cNvPr id="23" name="Group 23"/>
          <p:cNvGrpSpPr/>
          <p:nvPr/>
        </p:nvGrpSpPr>
        <p:grpSpPr>
          <a:xfrm>
            <a:off x="5503602" y="5983223"/>
            <a:ext cx="3026978" cy="1104594"/>
            <a:chOff x="0" y="0"/>
            <a:chExt cx="4035971" cy="1472792"/>
          </a:xfrm>
        </p:grpSpPr>
        <p:sp>
          <p:nvSpPr>
            <p:cNvPr id="24" name="Freeform 24"/>
            <p:cNvSpPr/>
            <p:nvPr/>
          </p:nvSpPr>
          <p:spPr>
            <a:xfrm>
              <a:off x="0" y="0"/>
              <a:ext cx="4035972" cy="1472790"/>
            </a:xfrm>
            <a:custGeom>
              <a:avLst/>
              <a:gdLst/>
              <a:ahLst/>
              <a:cxnLst/>
              <a:rect l="l" t="t" r="r" b="b"/>
              <a:pathLst>
                <a:path w="4035972" h="1472790">
                  <a:moveTo>
                    <a:pt x="0" y="0"/>
                  </a:moveTo>
                  <a:lnTo>
                    <a:pt x="4035972" y="0"/>
                  </a:lnTo>
                  <a:lnTo>
                    <a:pt x="4035972" y="1472790"/>
                  </a:lnTo>
                  <a:lnTo>
                    <a:pt x="0" y="1472790"/>
                  </a:lnTo>
                  <a:close/>
                </a:path>
              </a:pathLst>
            </a:custGeom>
            <a:blipFill>
              <a:blip r:embed="rId3">
                <a:alphaModFix amt="0"/>
              </a:blip>
              <a:stretch>
                <a:fillRect t="-16027" b="9235"/>
              </a:stretch>
            </a:blipFill>
          </p:spPr>
          <p:txBody>
            <a:bodyPr/>
            <a:lstStyle/>
            <a:p>
              <a:endParaRPr lang="en-US"/>
            </a:p>
          </p:txBody>
        </p:sp>
        <p:sp>
          <p:nvSpPr>
            <p:cNvPr id="25" name="TextBox 25"/>
            <p:cNvSpPr txBox="1"/>
            <p:nvPr/>
          </p:nvSpPr>
          <p:spPr>
            <a:xfrm>
              <a:off x="0" y="0"/>
              <a:ext cx="4035971" cy="1472792"/>
            </a:xfrm>
            <a:prstGeom prst="rect">
              <a:avLst/>
            </a:prstGeom>
          </p:spPr>
          <p:txBody>
            <a:bodyPr lIns="0" tIns="0" rIns="0" bIns="0" rtlCol="0" anchor="ctr"/>
            <a:lstStyle/>
            <a:p>
              <a:pPr algn="ctr">
                <a:lnSpc>
                  <a:spcPts val="3791"/>
                </a:lnSpc>
              </a:pPr>
              <a:r>
                <a:rPr lang="en-US" sz="3159" b="1">
                  <a:solidFill>
                    <a:srgbClr val="1F2937"/>
                  </a:solidFill>
                  <a:latin typeface="Montserrat Bold"/>
                  <a:ea typeface="Montserrat Bold"/>
                  <a:cs typeface="Montserrat Bold"/>
                  <a:sym typeface="Montserrat Bold"/>
                </a:rPr>
                <a:t>Trợ lý ảo Chatbot</a:t>
              </a:r>
            </a:p>
          </p:txBody>
        </p:sp>
      </p:grpSp>
      <p:grpSp>
        <p:nvGrpSpPr>
          <p:cNvPr id="26" name="Group 26"/>
          <p:cNvGrpSpPr/>
          <p:nvPr/>
        </p:nvGrpSpPr>
        <p:grpSpPr>
          <a:xfrm>
            <a:off x="9484157" y="3292602"/>
            <a:ext cx="3596450" cy="4697168"/>
            <a:chOff x="0" y="0"/>
            <a:chExt cx="4795266" cy="6262891"/>
          </a:xfrm>
        </p:grpSpPr>
        <p:sp>
          <p:nvSpPr>
            <p:cNvPr id="27" name="Freeform 27"/>
            <p:cNvSpPr/>
            <p:nvPr/>
          </p:nvSpPr>
          <p:spPr>
            <a:xfrm>
              <a:off x="0" y="0"/>
              <a:ext cx="4795266" cy="6263005"/>
            </a:xfrm>
            <a:custGeom>
              <a:avLst/>
              <a:gdLst/>
              <a:ahLst/>
              <a:cxnLst/>
              <a:rect l="l" t="t" r="r" b="b"/>
              <a:pathLst>
                <a:path w="4795266" h="6263005">
                  <a:moveTo>
                    <a:pt x="0" y="221361"/>
                  </a:moveTo>
                  <a:cubicBezTo>
                    <a:pt x="0" y="99060"/>
                    <a:pt x="99060" y="0"/>
                    <a:pt x="221361" y="0"/>
                  </a:cubicBezTo>
                  <a:lnTo>
                    <a:pt x="4573905" y="0"/>
                  </a:lnTo>
                  <a:cubicBezTo>
                    <a:pt x="4696079" y="0"/>
                    <a:pt x="4795266" y="99060"/>
                    <a:pt x="4795266" y="221361"/>
                  </a:cubicBezTo>
                  <a:lnTo>
                    <a:pt x="4795266" y="6041644"/>
                  </a:lnTo>
                  <a:cubicBezTo>
                    <a:pt x="4795266" y="6163818"/>
                    <a:pt x="4696206" y="6263005"/>
                    <a:pt x="4573905" y="6263005"/>
                  </a:cubicBezTo>
                  <a:lnTo>
                    <a:pt x="221361" y="6263005"/>
                  </a:lnTo>
                  <a:cubicBezTo>
                    <a:pt x="99060" y="6262878"/>
                    <a:pt x="0" y="6163818"/>
                    <a:pt x="0" y="6041644"/>
                  </a:cubicBezTo>
                  <a:close/>
                </a:path>
              </a:pathLst>
            </a:custGeom>
            <a:solidFill>
              <a:srgbClr val="FFF4F2"/>
            </a:solidFill>
            <a:ln w="19110" cap="sq">
              <a:solidFill>
                <a:srgbClr val="F3D2D7"/>
              </a:solidFill>
              <a:prstDash val="solid"/>
              <a:miter/>
            </a:ln>
          </p:spPr>
          <p:txBody>
            <a:bodyPr/>
            <a:lstStyle/>
            <a:p>
              <a:endParaRPr lang="en-US"/>
            </a:p>
          </p:txBody>
        </p:sp>
      </p:grpSp>
      <p:grpSp>
        <p:nvGrpSpPr>
          <p:cNvPr id="28" name="Group 28"/>
          <p:cNvGrpSpPr/>
          <p:nvPr/>
        </p:nvGrpSpPr>
        <p:grpSpPr>
          <a:xfrm>
            <a:off x="10456840" y="3825002"/>
            <a:ext cx="1651083" cy="1651083"/>
            <a:chOff x="0" y="0"/>
            <a:chExt cx="2201443" cy="2201443"/>
          </a:xfrm>
        </p:grpSpPr>
        <p:sp>
          <p:nvSpPr>
            <p:cNvPr id="29" name="Freeform 29"/>
            <p:cNvSpPr/>
            <p:nvPr/>
          </p:nvSpPr>
          <p:spPr>
            <a:xfrm>
              <a:off x="0" y="0"/>
              <a:ext cx="2201418" cy="2201418"/>
            </a:xfrm>
            <a:custGeom>
              <a:avLst/>
              <a:gdLst/>
              <a:ahLst/>
              <a:cxnLst/>
              <a:rect l="l" t="t" r="r" b="b"/>
              <a:pathLst>
                <a:path w="2201418" h="2201418">
                  <a:moveTo>
                    <a:pt x="0" y="1100709"/>
                  </a:moveTo>
                  <a:cubicBezTo>
                    <a:pt x="0" y="492760"/>
                    <a:pt x="492760" y="0"/>
                    <a:pt x="1100709" y="0"/>
                  </a:cubicBezTo>
                  <a:cubicBezTo>
                    <a:pt x="1708658" y="0"/>
                    <a:pt x="2201418" y="492760"/>
                    <a:pt x="2201418" y="1100709"/>
                  </a:cubicBezTo>
                  <a:cubicBezTo>
                    <a:pt x="2201418" y="1708658"/>
                    <a:pt x="1708658" y="2201418"/>
                    <a:pt x="1100709" y="2201418"/>
                  </a:cubicBezTo>
                  <a:cubicBezTo>
                    <a:pt x="492760" y="2201418"/>
                    <a:pt x="0" y="1708658"/>
                    <a:pt x="0" y="1100709"/>
                  </a:cubicBezTo>
                  <a:close/>
                </a:path>
              </a:pathLst>
            </a:custGeom>
            <a:solidFill>
              <a:srgbClr val="C2410C"/>
            </a:solidFill>
          </p:spPr>
          <p:txBody>
            <a:bodyPr/>
            <a:lstStyle/>
            <a:p>
              <a:endParaRPr lang="en-US"/>
            </a:p>
          </p:txBody>
        </p:sp>
      </p:grpSp>
      <p:grpSp>
        <p:nvGrpSpPr>
          <p:cNvPr id="30" name="Group 30"/>
          <p:cNvGrpSpPr/>
          <p:nvPr/>
        </p:nvGrpSpPr>
        <p:grpSpPr>
          <a:xfrm>
            <a:off x="10902629" y="4270791"/>
            <a:ext cx="759495" cy="759495"/>
            <a:chOff x="0" y="0"/>
            <a:chExt cx="1012660" cy="1012660"/>
          </a:xfrm>
        </p:grpSpPr>
        <p:sp>
          <p:nvSpPr>
            <p:cNvPr id="31" name="Freeform 31" descr="preencoded.png"/>
            <p:cNvSpPr/>
            <p:nvPr/>
          </p:nvSpPr>
          <p:spPr>
            <a:xfrm>
              <a:off x="0" y="0"/>
              <a:ext cx="1012698" cy="1012698"/>
            </a:xfrm>
            <a:custGeom>
              <a:avLst/>
              <a:gdLst/>
              <a:ahLst/>
              <a:cxnLst/>
              <a:rect l="l" t="t" r="r" b="b"/>
              <a:pathLst>
                <a:path w="1012698" h="1012698">
                  <a:moveTo>
                    <a:pt x="0" y="0"/>
                  </a:moveTo>
                  <a:lnTo>
                    <a:pt x="1012698" y="0"/>
                  </a:lnTo>
                  <a:lnTo>
                    <a:pt x="1012698" y="1012698"/>
                  </a:lnTo>
                  <a:lnTo>
                    <a:pt x="0" y="1012698"/>
                  </a:lnTo>
                  <a:lnTo>
                    <a:pt x="0" y="0"/>
                  </a:lnTo>
                  <a:close/>
                </a:path>
              </a:pathLst>
            </a:custGeom>
            <a:blipFill>
              <a:blip r:embed="rId6"/>
              <a:stretch>
                <a:fillRect r="3" b="3"/>
              </a:stretch>
            </a:blipFill>
          </p:spPr>
          <p:txBody>
            <a:bodyPr/>
            <a:lstStyle/>
            <a:p>
              <a:endParaRPr lang="en-US"/>
            </a:p>
          </p:txBody>
        </p:sp>
      </p:grpSp>
      <p:grpSp>
        <p:nvGrpSpPr>
          <p:cNvPr id="32" name="Group 32"/>
          <p:cNvGrpSpPr/>
          <p:nvPr/>
        </p:nvGrpSpPr>
        <p:grpSpPr>
          <a:xfrm>
            <a:off x="9768888" y="6122750"/>
            <a:ext cx="3026978" cy="825540"/>
            <a:chOff x="0" y="0"/>
            <a:chExt cx="4035971" cy="1100720"/>
          </a:xfrm>
        </p:grpSpPr>
        <p:sp>
          <p:nvSpPr>
            <p:cNvPr id="33" name="Freeform 33"/>
            <p:cNvSpPr/>
            <p:nvPr/>
          </p:nvSpPr>
          <p:spPr>
            <a:xfrm>
              <a:off x="0" y="0"/>
              <a:ext cx="4035972" cy="1100718"/>
            </a:xfrm>
            <a:custGeom>
              <a:avLst/>
              <a:gdLst/>
              <a:ahLst/>
              <a:cxnLst/>
              <a:rect l="l" t="t" r="r" b="b"/>
              <a:pathLst>
                <a:path w="4035972" h="1100718">
                  <a:moveTo>
                    <a:pt x="0" y="0"/>
                  </a:moveTo>
                  <a:lnTo>
                    <a:pt x="4035972" y="0"/>
                  </a:lnTo>
                  <a:lnTo>
                    <a:pt x="4035972" y="1100718"/>
                  </a:lnTo>
                  <a:lnTo>
                    <a:pt x="0" y="1100718"/>
                  </a:lnTo>
                  <a:close/>
                </a:path>
              </a:pathLst>
            </a:custGeom>
            <a:blipFill>
              <a:blip r:embed="rId3">
                <a:alphaModFix amt="0"/>
              </a:blip>
              <a:stretch>
                <a:fillRect t="-21445" b="-21445"/>
              </a:stretch>
            </a:blipFill>
          </p:spPr>
          <p:txBody>
            <a:bodyPr/>
            <a:lstStyle/>
            <a:p>
              <a:endParaRPr lang="en-US"/>
            </a:p>
          </p:txBody>
        </p:sp>
        <p:sp>
          <p:nvSpPr>
            <p:cNvPr id="34" name="TextBox 34"/>
            <p:cNvSpPr txBox="1"/>
            <p:nvPr/>
          </p:nvSpPr>
          <p:spPr>
            <a:xfrm>
              <a:off x="0" y="0"/>
              <a:ext cx="4035971" cy="1100720"/>
            </a:xfrm>
            <a:prstGeom prst="rect">
              <a:avLst/>
            </a:prstGeom>
          </p:spPr>
          <p:txBody>
            <a:bodyPr lIns="0" tIns="0" rIns="0" bIns="0" rtlCol="0" anchor="ctr"/>
            <a:lstStyle/>
            <a:p>
              <a:pPr algn="ctr">
                <a:lnSpc>
                  <a:spcPts val="3791"/>
                </a:lnSpc>
              </a:pPr>
              <a:r>
                <a:rPr lang="en-US" sz="3159" b="1">
                  <a:solidFill>
                    <a:srgbClr val="1F2937"/>
                  </a:solidFill>
                  <a:latin typeface="Montserrat Bold"/>
                  <a:ea typeface="Montserrat Bold"/>
                  <a:cs typeface="Montserrat Bold"/>
                  <a:sym typeface="Montserrat Bold"/>
                </a:rPr>
                <a:t>Đa ngôn ngữ</a:t>
              </a:r>
            </a:p>
          </p:txBody>
        </p:sp>
      </p:grpSp>
      <p:grpSp>
        <p:nvGrpSpPr>
          <p:cNvPr id="35" name="Group 35"/>
          <p:cNvGrpSpPr/>
          <p:nvPr/>
        </p:nvGrpSpPr>
        <p:grpSpPr>
          <a:xfrm>
            <a:off x="13749442" y="3292602"/>
            <a:ext cx="3596450" cy="4697168"/>
            <a:chOff x="0" y="0"/>
            <a:chExt cx="4795266" cy="6262891"/>
          </a:xfrm>
        </p:grpSpPr>
        <p:sp>
          <p:nvSpPr>
            <p:cNvPr id="36" name="Freeform 36"/>
            <p:cNvSpPr/>
            <p:nvPr/>
          </p:nvSpPr>
          <p:spPr>
            <a:xfrm>
              <a:off x="0" y="0"/>
              <a:ext cx="4795266" cy="6263005"/>
            </a:xfrm>
            <a:custGeom>
              <a:avLst/>
              <a:gdLst/>
              <a:ahLst/>
              <a:cxnLst/>
              <a:rect l="l" t="t" r="r" b="b"/>
              <a:pathLst>
                <a:path w="4795266" h="6263005">
                  <a:moveTo>
                    <a:pt x="0" y="221361"/>
                  </a:moveTo>
                  <a:cubicBezTo>
                    <a:pt x="0" y="99060"/>
                    <a:pt x="99060" y="0"/>
                    <a:pt x="221361" y="0"/>
                  </a:cubicBezTo>
                  <a:lnTo>
                    <a:pt x="4573905" y="0"/>
                  </a:lnTo>
                  <a:cubicBezTo>
                    <a:pt x="4696079" y="0"/>
                    <a:pt x="4795266" y="99060"/>
                    <a:pt x="4795266" y="221361"/>
                  </a:cubicBezTo>
                  <a:lnTo>
                    <a:pt x="4795266" y="6041644"/>
                  </a:lnTo>
                  <a:cubicBezTo>
                    <a:pt x="4795266" y="6163818"/>
                    <a:pt x="4696206" y="6263005"/>
                    <a:pt x="4573905" y="6263005"/>
                  </a:cubicBezTo>
                  <a:lnTo>
                    <a:pt x="221361" y="6263005"/>
                  </a:lnTo>
                  <a:cubicBezTo>
                    <a:pt x="99060" y="6262878"/>
                    <a:pt x="0" y="6163818"/>
                    <a:pt x="0" y="6041644"/>
                  </a:cubicBezTo>
                  <a:close/>
                </a:path>
              </a:pathLst>
            </a:custGeom>
            <a:solidFill>
              <a:srgbClr val="FFF4F2"/>
            </a:solidFill>
            <a:ln w="19110" cap="sq">
              <a:solidFill>
                <a:srgbClr val="F3D2D7"/>
              </a:solidFill>
              <a:prstDash val="solid"/>
              <a:miter/>
            </a:ln>
          </p:spPr>
          <p:txBody>
            <a:bodyPr/>
            <a:lstStyle/>
            <a:p>
              <a:endParaRPr lang="en-US"/>
            </a:p>
          </p:txBody>
        </p:sp>
      </p:grpSp>
      <p:grpSp>
        <p:nvGrpSpPr>
          <p:cNvPr id="37" name="Group 37"/>
          <p:cNvGrpSpPr/>
          <p:nvPr/>
        </p:nvGrpSpPr>
        <p:grpSpPr>
          <a:xfrm>
            <a:off x="14722126" y="3825002"/>
            <a:ext cx="1651083" cy="1651083"/>
            <a:chOff x="0" y="0"/>
            <a:chExt cx="2201443" cy="2201443"/>
          </a:xfrm>
        </p:grpSpPr>
        <p:sp>
          <p:nvSpPr>
            <p:cNvPr id="38" name="Freeform 38"/>
            <p:cNvSpPr/>
            <p:nvPr/>
          </p:nvSpPr>
          <p:spPr>
            <a:xfrm>
              <a:off x="0" y="0"/>
              <a:ext cx="2201418" cy="2201418"/>
            </a:xfrm>
            <a:custGeom>
              <a:avLst/>
              <a:gdLst/>
              <a:ahLst/>
              <a:cxnLst/>
              <a:rect l="l" t="t" r="r" b="b"/>
              <a:pathLst>
                <a:path w="2201418" h="2201418">
                  <a:moveTo>
                    <a:pt x="0" y="1100709"/>
                  </a:moveTo>
                  <a:cubicBezTo>
                    <a:pt x="0" y="492760"/>
                    <a:pt x="492760" y="0"/>
                    <a:pt x="1100709" y="0"/>
                  </a:cubicBezTo>
                  <a:cubicBezTo>
                    <a:pt x="1708658" y="0"/>
                    <a:pt x="2201418" y="492760"/>
                    <a:pt x="2201418" y="1100709"/>
                  </a:cubicBezTo>
                  <a:cubicBezTo>
                    <a:pt x="2201418" y="1708658"/>
                    <a:pt x="1708658" y="2201418"/>
                    <a:pt x="1100709" y="2201418"/>
                  </a:cubicBezTo>
                  <a:cubicBezTo>
                    <a:pt x="492760" y="2201418"/>
                    <a:pt x="0" y="1708658"/>
                    <a:pt x="0" y="1100709"/>
                  </a:cubicBezTo>
                  <a:close/>
                </a:path>
              </a:pathLst>
            </a:custGeom>
            <a:solidFill>
              <a:srgbClr val="8B0000"/>
            </a:solidFill>
          </p:spPr>
          <p:txBody>
            <a:bodyPr/>
            <a:lstStyle/>
            <a:p>
              <a:endParaRPr lang="en-US"/>
            </a:p>
          </p:txBody>
        </p:sp>
      </p:grpSp>
      <p:grpSp>
        <p:nvGrpSpPr>
          <p:cNvPr id="39" name="Group 39"/>
          <p:cNvGrpSpPr/>
          <p:nvPr/>
        </p:nvGrpSpPr>
        <p:grpSpPr>
          <a:xfrm>
            <a:off x="15167915" y="4270791"/>
            <a:ext cx="759495" cy="759495"/>
            <a:chOff x="0" y="0"/>
            <a:chExt cx="1012660" cy="1012660"/>
          </a:xfrm>
        </p:grpSpPr>
        <p:sp>
          <p:nvSpPr>
            <p:cNvPr id="40" name="Freeform 40" descr="preencoded.png"/>
            <p:cNvSpPr/>
            <p:nvPr/>
          </p:nvSpPr>
          <p:spPr>
            <a:xfrm>
              <a:off x="0" y="0"/>
              <a:ext cx="1012698" cy="1012698"/>
            </a:xfrm>
            <a:custGeom>
              <a:avLst/>
              <a:gdLst/>
              <a:ahLst/>
              <a:cxnLst/>
              <a:rect l="l" t="t" r="r" b="b"/>
              <a:pathLst>
                <a:path w="1012698" h="1012698">
                  <a:moveTo>
                    <a:pt x="0" y="0"/>
                  </a:moveTo>
                  <a:lnTo>
                    <a:pt x="1012698" y="0"/>
                  </a:lnTo>
                  <a:lnTo>
                    <a:pt x="1012698" y="1012698"/>
                  </a:lnTo>
                  <a:lnTo>
                    <a:pt x="0" y="1012698"/>
                  </a:lnTo>
                  <a:lnTo>
                    <a:pt x="0" y="0"/>
                  </a:lnTo>
                  <a:close/>
                </a:path>
              </a:pathLst>
            </a:custGeom>
            <a:blipFill>
              <a:blip r:embed="rId7"/>
              <a:stretch>
                <a:fillRect r="3" b="3"/>
              </a:stretch>
            </a:blipFill>
          </p:spPr>
          <p:txBody>
            <a:bodyPr/>
            <a:lstStyle/>
            <a:p>
              <a:endParaRPr lang="en-US"/>
            </a:p>
          </p:txBody>
        </p:sp>
      </p:grpSp>
      <p:grpSp>
        <p:nvGrpSpPr>
          <p:cNvPr id="41" name="Group 41"/>
          <p:cNvGrpSpPr/>
          <p:nvPr/>
        </p:nvGrpSpPr>
        <p:grpSpPr>
          <a:xfrm>
            <a:off x="14075454" y="5983223"/>
            <a:ext cx="3026978" cy="1104594"/>
            <a:chOff x="0" y="0"/>
            <a:chExt cx="4035971" cy="1472792"/>
          </a:xfrm>
        </p:grpSpPr>
        <p:sp>
          <p:nvSpPr>
            <p:cNvPr id="42" name="Freeform 42"/>
            <p:cNvSpPr/>
            <p:nvPr/>
          </p:nvSpPr>
          <p:spPr>
            <a:xfrm>
              <a:off x="0" y="0"/>
              <a:ext cx="4035972" cy="1472790"/>
            </a:xfrm>
            <a:custGeom>
              <a:avLst/>
              <a:gdLst/>
              <a:ahLst/>
              <a:cxnLst/>
              <a:rect l="l" t="t" r="r" b="b"/>
              <a:pathLst>
                <a:path w="4035972" h="1472790">
                  <a:moveTo>
                    <a:pt x="0" y="0"/>
                  </a:moveTo>
                  <a:lnTo>
                    <a:pt x="4035972" y="0"/>
                  </a:lnTo>
                  <a:lnTo>
                    <a:pt x="4035972" y="1472790"/>
                  </a:lnTo>
                  <a:lnTo>
                    <a:pt x="0" y="1472790"/>
                  </a:lnTo>
                  <a:close/>
                </a:path>
              </a:pathLst>
            </a:custGeom>
            <a:blipFill>
              <a:blip r:embed="rId3">
                <a:alphaModFix amt="0"/>
              </a:blip>
              <a:stretch>
                <a:fillRect t="-16027" b="9235"/>
              </a:stretch>
            </a:blipFill>
          </p:spPr>
          <p:txBody>
            <a:bodyPr/>
            <a:lstStyle/>
            <a:p>
              <a:endParaRPr lang="en-US"/>
            </a:p>
          </p:txBody>
        </p:sp>
        <p:sp>
          <p:nvSpPr>
            <p:cNvPr id="43" name="TextBox 43"/>
            <p:cNvSpPr txBox="1"/>
            <p:nvPr/>
          </p:nvSpPr>
          <p:spPr>
            <a:xfrm>
              <a:off x="0" y="0"/>
              <a:ext cx="4035971" cy="1472792"/>
            </a:xfrm>
            <a:prstGeom prst="rect">
              <a:avLst/>
            </a:prstGeom>
          </p:spPr>
          <p:txBody>
            <a:bodyPr lIns="0" tIns="0" rIns="0" bIns="0" rtlCol="0" anchor="ctr"/>
            <a:lstStyle/>
            <a:p>
              <a:pPr algn="ctr">
                <a:lnSpc>
                  <a:spcPts val="3791"/>
                </a:lnSpc>
              </a:pPr>
              <a:r>
                <a:rPr lang="en-US" sz="3159" b="1">
                  <a:solidFill>
                    <a:srgbClr val="1F2937"/>
                  </a:solidFill>
                  <a:latin typeface="Montserrat Bold"/>
                  <a:ea typeface="Montserrat Bold"/>
                  <a:cs typeface="Montserrat Bold"/>
                  <a:sym typeface="Montserrat Bold"/>
                </a:rPr>
                <a:t>Web tĩnh siêu nhẹ</a:t>
              </a:r>
            </a:p>
          </p:txBody>
        </p:sp>
      </p:grpSp>
      <p:grpSp>
        <p:nvGrpSpPr>
          <p:cNvPr id="44" name="Group 44"/>
          <p:cNvGrpSpPr/>
          <p:nvPr/>
        </p:nvGrpSpPr>
        <p:grpSpPr>
          <a:xfrm>
            <a:off x="963130" y="9686334"/>
            <a:ext cx="16373208" cy="19260"/>
            <a:chOff x="0" y="0"/>
            <a:chExt cx="21830944" cy="25679"/>
          </a:xfrm>
        </p:grpSpPr>
        <p:sp>
          <p:nvSpPr>
            <p:cNvPr id="45" name="Freeform 45"/>
            <p:cNvSpPr/>
            <p:nvPr/>
          </p:nvSpPr>
          <p:spPr>
            <a:xfrm>
              <a:off x="0" y="0"/>
              <a:ext cx="21830919" cy="25654"/>
            </a:xfrm>
            <a:custGeom>
              <a:avLst/>
              <a:gdLst/>
              <a:ahLst/>
              <a:cxnLst/>
              <a:rect l="l" t="t" r="r" b="b"/>
              <a:pathLst>
                <a:path w="21830919" h="25654">
                  <a:moveTo>
                    <a:pt x="0" y="0"/>
                  </a:moveTo>
                  <a:lnTo>
                    <a:pt x="21830919" y="0"/>
                  </a:lnTo>
                  <a:lnTo>
                    <a:pt x="21830919" y="25654"/>
                  </a:lnTo>
                  <a:lnTo>
                    <a:pt x="0" y="25654"/>
                  </a:lnTo>
                  <a:close/>
                </a:path>
              </a:pathLst>
            </a:custGeom>
            <a:solidFill>
              <a:srgbClr val="F3D2D7"/>
            </a:solidFill>
          </p:spPr>
          <p:txBody>
            <a:bodyPr/>
            <a:lstStyle/>
            <a:p>
              <a:endParaRPr lang="en-US"/>
            </a:p>
          </p:txBody>
        </p:sp>
      </p:grpSp>
      <p:grpSp>
        <p:nvGrpSpPr>
          <p:cNvPr id="46" name="Group 46"/>
          <p:cNvGrpSpPr/>
          <p:nvPr/>
        </p:nvGrpSpPr>
        <p:grpSpPr>
          <a:xfrm>
            <a:off x="963130" y="9741370"/>
            <a:ext cx="12383100" cy="412770"/>
            <a:chOff x="0" y="0"/>
            <a:chExt cx="16510800" cy="550360"/>
          </a:xfrm>
        </p:grpSpPr>
        <p:sp>
          <p:nvSpPr>
            <p:cNvPr id="47" name="Freeform 47"/>
            <p:cNvSpPr/>
            <p:nvPr/>
          </p:nvSpPr>
          <p:spPr>
            <a:xfrm>
              <a:off x="0" y="0"/>
              <a:ext cx="16510797" cy="550365"/>
            </a:xfrm>
            <a:custGeom>
              <a:avLst/>
              <a:gdLst/>
              <a:ahLst/>
              <a:cxnLst/>
              <a:rect l="l" t="t" r="r" b="b"/>
              <a:pathLst>
                <a:path w="16510797" h="550365">
                  <a:moveTo>
                    <a:pt x="0" y="0"/>
                  </a:moveTo>
                  <a:lnTo>
                    <a:pt x="16510797" y="0"/>
                  </a:lnTo>
                  <a:lnTo>
                    <a:pt x="16510797" y="550365"/>
                  </a:lnTo>
                  <a:lnTo>
                    <a:pt x="0" y="550365"/>
                  </a:lnTo>
                  <a:close/>
                </a:path>
              </a:pathLst>
            </a:custGeom>
            <a:blipFill>
              <a:blip r:embed="rId3">
                <a:alphaModFix amt="0"/>
              </a:blip>
              <a:stretch>
                <a:fillRect t="-534546" b="-534544"/>
              </a:stretch>
            </a:blipFill>
          </p:spPr>
          <p:txBody>
            <a:bodyPr/>
            <a:lstStyle/>
            <a:p>
              <a:endParaRPr lang="en-US"/>
            </a:p>
          </p:txBody>
        </p:sp>
        <p:sp>
          <p:nvSpPr>
            <p:cNvPr id="48" name="TextBox 48"/>
            <p:cNvSpPr txBox="1"/>
            <p:nvPr/>
          </p:nvSpPr>
          <p:spPr>
            <a:xfrm>
              <a:off x="0" y="0"/>
              <a:ext cx="16510800" cy="550360"/>
            </a:xfrm>
            <a:prstGeom prst="rect">
              <a:avLst/>
            </a:prstGeom>
          </p:spPr>
          <p:txBody>
            <a:bodyPr lIns="0" tIns="0" rIns="0" bIns="0" rtlCol="0" anchor="ctr"/>
            <a:lstStyle/>
            <a:p>
              <a:pPr algn="l">
                <a:lnSpc>
                  <a:spcPts val="1625"/>
                </a:lnSpc>
              </a:pPr>
              <a:r>
                <a:rPr lang="en-US" sz="1354" b="1" spc="150">
                  <a:solidFill>
                    <a:srgbClr val="6B7280"/>
                  </a:solidFill>
                  <a:latin typeface="Montserrat Bold"/>
                  <a:ea typeface="Montserrat Bold"/>
                  <a:cs typeface="Montserrat Bold"/>
                  <a:sym typeface="Montserrat Bold"/>
                </a:rPr>
                <a:t>CÔNG AN PHƯỜNG PHÚ THỌ   ·   SÁNG KIẾN CẢI CÁCH HÀNH CHÍNH · 2026</a:t>
              </a:r>
            </a:p>
          </p:txBody>
        </p:sp>
      </p:grpSp>
      <p:grpSp>
        <p:nvGrpSpPr>
          <p:cNvPr id="49" name="Group 49"/>
          <p:cNvGrpSpPr/>
          <p:nvPr/>
        </p:nvGrpSpPr>
        <p:grpSpPr>
          <a:xfrm>
            <a:off x="15960433" y="9741370"/>
            <a:ext cx="1375896" cy="412770"/>
            <a:chOff x="0" y="0"/>
            <a:chExt cx="1834528" cy="550360"/>
          </a:xfrm>
        </p:grpSpPr>
        <p:sp>
          <p:nvSpPr>
            <p:cNvPr id="50" name="Freeform 50"/>
            <p:cNvSpPr/>
            <p:nvPr/>
          </p:nvSpPr>
          <p:spPr>
            <a:xfrm>
              <a:off x="0" y="0"/>
              <a:ext cx="1834533" cy="550365"/>
            </a:xfrm>
            <a:custGeom>
              <a:avLst/>
              <a:gdLst/>
              <a:ahLst/>
              <a:cxnLst/>
              <a:rect l="l" t="t" r="r" b="b"/>
              <a:pathLst>
                <a:path w="1834533" h="550365">
                  <a:moveTo>
                    <a:pt x="0" y="0"/>
                  </a:moveTo>
                  <a:lnTo>
                    <a:pt x="1834533" y="0"/>
                  </a:lnTo>
                  <a:lnTo>
                    <a:pt x="1834533" y="550365"/>
                  </a:lnTo>
                  <a:lnTo>
                    <a:pt x="0" y="550365"/>
                  </a:lnTo>
                  <a:close/>
                </a:path>
              </a:pathLst>
            </a:custGeom>
            <a:blipFill>
              <a:blip r:embed="rId3">
                <a:alphaModFix amt="0"/>
              </a:blip>
              <a:stretch>
                <a:fillRect t="-14950" b="-14948"/>
              </a:stretch>
            </a:blipFill>
          </p:spPr>
          <p:txBody>
            <a:bodyPr/>
            <a:lstStyle/>
            <a:p>
              <a:endParaRPr lang="en-US"/>
            </a:p>
          </p:txBody>
        </p:sp>
        <p:sp>
          <p:nvSpPr>
            <p:cNvPr id="51" name="TextBox 51"/>
            <p:cNvSpPr txBox="1"/>
            <p:nvPr/>
          </p:nvSpPr>
          <p:spPr>
            <a:xfrm>
              <a:off x="0" y="-9525"/>
              <a:ext cx="1834528" cy="559885"/>
            </a:xfrm>
            <a:prstGeom prst="rect">
              <a:avLst/>
            </a:prstGeom>
          </p:spPr>
          <p:txBody>
            <a:bodyPr lIns="0" tIns="0" rIns="0" bIns="0" rtlCol="0" anchor="ctr"/>
            <a:lstStyle/>
            <a:p>
              <a:pPr algn="r">
                <a:lnSpc>
                  <a:spcPts val="1805"/>
                </a:lnSpc>
              </a:pPr>
              <a:r>
                <a:rPr lang="en-US" sz="1504" b="1">
                  <a:solidFill>
                    <a:srgbClr val="C41E3A"/>
                  </a:solidFill>
                  <a:latin typeface="Montserrat Bold"/>
                  <a:ea typeface="Montserrat Bold"/>
                  <a:cs typeface="Montserrat Bold"/>
                  <a:sym typeface="Montserrat Bold"/>
                </a:rPr>
                <a:t>08</a:t>
              </a:r>
            </a:p>
          </p:txBody>
        </p:sp>
      </p:grpSp>
      <p:sp>
        <p:nvSpPr>
          <p:cNvPr id="52" name="Freeform 52"/>
          <p:cNvSpPr/>
          <p:nvPr/>
        </p:nvSpPr>
        <p:spPr>
          <a:xfrm>
            <a:off x="15763067" y="633048"/>
            <a:ext cx="1770628" cy="1768414"/>
          </a:xfrm>
          <a:custGeom>
            <a:avLst/>
            <a:gdLst/>
            <a:ahLst/>
            <a:cxnLst/>
            <a:rect l="l" t="t" r="r" b="b"/>
            <a:pathLst>
              <a:path w="1770628" h="1768414">
                <a:moveTo>
                  <a:pt x="0" y="0"/>
                </a:moveTo>
                <a:lnTo>
                  <a:pt x="1770628" y="0"/>
                </a:lnTo>
                <a:lnTo>
                  <a:pt x="1770628" y="1768414"/>
                </a:lnTo>
                <a:lnTo>
                  <a:pt x="0" y="1768414"/>
                </a:lnTo>
                <a:lnTo>
                  <a:pt x="0" y="0"/>
                </a:lnTo>
                <a:close/>
              </a:path>
            </a:pathLst>
          </a:custGeom>
          <a:blipFill>
            <a:blip>
              <a:alphaModFix amt="10999"/>
              <a:extLst>
                <a:ext uri="{96DAC541-7B7A-43D3-8B79-37D633B846F1}">
                  <asvg:svgBlip xmlns:asvg="http://schemas.microsoft.com/office/drawing/2016/SVG/main" r:embed="rId8"/>
                </a:ext>
              </a:extLst>
            </a:blip>
            <a:stretch>
              <a:fillRect/>
            </a:stretch>
          </a:blipFill>
        </p:spPr>
        <p:txBody>
          <a:bodyPr/>
          <a:lstStyle/>
          <a:p>
            <a:endParaRPr lang="en-US"/>
          </a:p>
        </p:txBody>
      </p:sp>
    </p:spTree>
    <p:extLst>
      <p:ext uri="{BB962C8B-B14F-4D97-AF65-F5344CB8AC3E}">
        <p14:creationId xmlns:p14="http://schemas.microsoft.com/office/powerpoint/2010/main" val="862789757"/>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0"/>
                      </p:stCondLst>
                      <p:childTnLst>
                        <p:par>
                          <p:cTn id="4" presetID="10" presetClass="entr" presetSubtype="0" fill="hold" nodeType="afterEffect">
                            <p:stCondLst>
                              <p:cond delay="0"/>
                            </p:stCondLst>
                            <p:childTnLst>
                              <p:set>
                                <p:cBhvr>
                                  <p:cTn id="5" dur="1" fill="hold">
                                    <p:stCondLst>
                                      <p:cond delay="0"/>
                                    </p:stCondLst>
                                  </p:cTn>
                                  <p:tgtEl>
                                    <p:spTgt spid="8"/>
                                  </p:tgtEl>
                                  <p:attrNameLst>
                                    <p:attrName>style.visibility</p:attrName>
                                  </p:attrNameLst>
                                </p:cBhvr>
                                <p:to>
                                  <p:strVal val="visible"/>
                                </p:to>
                              </p:set>
                              <p:animEffect transition="in" filter="fade">
                                <p:cBhvr>
                                  <p:cTn id="6" dur="650"/>
                                  <p:tgtEl>
                                    <p:spTgt spid="8"/>
                                  </p:tgtEl>
                                </p:cBhvr>
                              </p:animEffect>
                            </p:childTnLst>
                          </p:cTn>
                        </p:par>
                        <p:par>
                          <p:cTn id="7" presetID="10" presetClass="entr" presetSubtype="0" fill="hold" nodeType="afterEffect">
                            <p:stCondLst>
                              <p:cond delay="0"/>
                            </p:stCondLst>
                            <p:childTnLst>
                              <p:set>
                                <p:cBhvr>
                                  <p:cTn id="8" dur="1" fill="hold">
                                    <p:stCondLst>
                                      <p:cond delay="0"/>
                                    </p:stCondLst>
                                  </p:cTn>
                                  <p:tgtEl>
                                    <p:spTgt spid="10"/>
                                  </p:tgtEl>
                                  <p:attrNameLst>
                                    <p:attrName>style.visibility</p:attrName>
                                  </p:attrNameLst>
                                </p:cBhvr>
                                <p:to>
                                  <p:strVal val="visible"/>
                                </p:to>
                              </p:set>
                              <p:animEffect transition="in" filter="fade">
                                <p:cBhvr>
                                  <p:cTn id="9" dur="650"/>
                                  <p:tgtEl>
                                    <p:spTgt spid="10"/>
                                  </p:tgtEl>
                                </p:cBhvr>
                              </p:animEffect>
                            </p:childTnLst>
                          </p:cTn>
                        </p:par>
                        <p:par>
                          <p:cTn id="10" presetID="10" presetClass="entr" presetSubtype="0" fill="hold" nodeType="afterEffect">
                            <p:stCondLst>
                              <p:cond delay="0"/>
                            </p:stCondLst>
                            <p:childTnLst>
                              <p:set>
                                <p:cBhvr>
                                  <p:cTn id="11" dur="1" fill="hold">
                                    <p:stCondLst>
                                      <p:cond delay="0"/>
                                    </p:stCondLst>
                                  </p:cTn>
                                  <p:tgtEl>
                                    <p:spTgt spid="12"/>
                                  </p:tgtEl>
                                  <p:attrNameLst>
                                    <p:attrName>style.visibility</p:attrName>
                                  </p:attrNameLst>
                                </p:cBhvr>
                                <p:to>
                                  <p:strVal val="visible"/>
                                </p:to>
                              </p:set>
                              <p:animEffect transition="in" filter="fade">
                                <p:cBhvr>
                                  <p:cTn id="12" dur="650"/>
                                  <p:tgtEl>
                                    <p:spTgt spid="12"/>
                                  </p:tgtEl>
                                </p:cBhvr>
                              </p:animEffect>
                            </p:childTnLst>
                          </p:cTn>
                        </p:par>
                        <p:par>
                          <p:cTn id="13" presetID="10" presetClass="entr" presetSubtype="0" fill="hold" nodeType="afterEffect">
                            <p:stCondLst>
                              <p:cond delay="0"/>
                            </p:stCondLst>
                            <p:childTnLst>
                              <p:set>
                                <p:cBhvr>
                                  <p:cTn id="14" dur="1" fill="hold">
                                    <p:stCondLst>
                                      <p:cond delay="0"/>
                                    </p:stCondLst>
                                  </p:cTn>
                                  <p:tgtEl>
                                    <p:spTgt spid="14"/>
                                  </p:tgtEl>
                                  <p:attrNameLst>
                                    <p:attrName>style.visibility</p:attrName>
                                  </p:attrNameLst>
                                </p:cBhvr>
                                <p:to>
                                  <p:strVal val="visible"/>
                                </p:to>
                              </p:set>
                              <p:animEffect transition="in" filter="fade">
                                <p:cBhvr>
                                  <p:cTn id="15" dur="650"/>
                                  <p:tgtEl>
                                    <p:spTgt spid="14"/>
                                  </p:tgtEl>
                                </p:cBhvr>
                              </p:animEffect>
                            </p:childTnLst>
                          </p:cTn>
                        </p:par>
                        <p:par>
                          <p:cTn id="16" presetID="10" presetClass="entr" presetSubtype="0" fill="hold" nodeType="afterEffect">
                            <p:stCondLst>
                              <p:cond delay="600"/>
                            </p:stCondLst>
                            <p:childTnLst>
                              <p:set>
                                <p:cBhvr>
                                  <p:cTn id="17" dur="1" fill="hold">
                                    <p:stCondLst>
                                      <p:cond delay="0"/>
                                    </p:stCondLst>
                                  </p:cTn>
                                  <p:tgtEl>
                                    <p:spTgt spid="17"/>
                                  </p:tgtEl>
                                  <p:attrNameLst>
                                    <p:attrName>style.visibility</p:attrName>
                                  </p:attrNameLst>
                                </p:cBhvr>
                                <p:to>
                                  <p:strVal val="visible"/>
                                </p:to>
                              </p:set>
                              <p:animEffect transition="in" filter="fade">
                                <p:cBhvr>
                                  <p:cTn id="18" dur="650"/>
                                  <p:tgtEl>
                                    <p:spTgt spid="17"/>
                                  </p:tgtEl>
                                </p:cBhvr>
                              </p:animEffect>
                            </p:childTnLst>
                          </p:cTn>
                        </p:par>
                        <p:par>
                          <p:cTn id="19" presetID="10" presetClass="entr" presetSubtype="0" fill="hold" nodeType="afterEffect">
                            <p:stCondLst>
                              <p:cond delay="600"/>
                            </p:stCondLst>
                            <p:childTnLst>
                              <p:set>
                                <p:cBhvr>
                                  <p:cTn id="20" dur="1" fill="hold">
                                    <p:stCondLst>
                                      <p:cond delay="0"/>
                                    </p:stCondLst>
                                  </p:cTn>
                                  <p:tgtEl>
                                    <p:spTgt spid="19"/>
                                  </p:tgtEl>
                                  <p:attrNameLst>
                                    <p:attrName>style.visibility</p:attrName>
                                  </p:attrNameLst>
                                </p:cBhvr>
                                <p:to>
                                  <p:strVal val="visible"/>
                                </p:to>
                              </p:set>
                              <p:animEffect transition="in" filter="fade">
                                <p:cBhvr>
                                  <p:cTn id="21" dur="650"/>
                                  <p:tgtEl>
                                    <p:spTgt spid="19"/>
                                  </p:tgtEl>
                                </p:cBhvr>
                              </p:animEffect>
                            </p:childTnLst>
                          </p:cTn>
                        </p:par>
                        <p:par>
                          <p:cTn id="22" presetID="10" presetClass="entr" presetSubtype="0" fill="hold" nodeType="afterEffect">
                            <p:stCondLst>
                              <p:cond delay="600"/>
                            </p:stCondLst>
                            <p:childTnLst>
                              <p:set>
                                <p:cBhvr>
                                  <p:cTn id="23" dur="1" fill="hold">
                                    <p:stCondLst>
                                      <p:cond delay="0"/>
                                    </p:stCondLst>
                                  </p:cTn>
                                  <p:tgtEl>
                                    <p:spTgt spid="21"/>
                                  </p:tgtEl>
                                  <p:attrNameLst>
                                    <p:attrName>style.visibility</p:attrName>
                                  </p:attrNameLst>
                                </p:cBhvr>
                                <p:to>
                                  <p:strVal val="visible"/>
                                </p:to>
                              </p:set>
                              <p:animEffect transition="in" filter="fade">
                                <p:cBhvr>
                                  <p:cTn id="24" dur="650"/>
                                  <p:tgtEl>
                                    <p:spTgt spid="21"/>
                                  </p:tgtEl>
                                </p:cBhvr>
                              </p:animEffect>
                            </p:childTnLst>
                          </p:cTn>
                        </p:par>
                        <p:par>
                          <p:cTn id="25" presetID="10" presetClass="entr" presetSubtype="0" fill="hold" nodeType="afterEffect">
                            <p:stCondLst>
                              <p:cond delay="600"/>
                            </p:stCondLst>
                            <p:childTnLst>
                              <p:set>
                                <p:cBhvr>
                                  <p:cTn id="26" dur="1" fill="hold">
                                    <p:stCondLst>
                                      <p:cond delay="0"/>
                                    </p:stCondLst>
                                  </p:cTn>
                                  <p:tgtEl>
                                    <p:spTgt spid="23"/>
                                  </p:tgtEl>
                                  <p:attrNameLst>
                                    <p:attrName>style.visibility</p:attrName>
                                  </p:attrNameLst>
                                </p:cBhvr>
                                <p:to>
                                  <p:strVal val="visible"/>
                                </p:to>
                              </p:set>
                              <p:animEffect transition="in" filter="fade">
                                <p:cBhvr>
                                  <p:cTn id="27" dur="650"/>
                                  <p:tgtEl>
                                    <p:spTgt spid="23"/>
                                  </p:tgtEl>
                                </p:cBhvr>
                              </p:animEffect>
                            </p:childTnLst>
                          </p:cTn>
                        </p:par>
                        <p:par>
                          <p:cTn id="28" presetID="10" presetClass="entr" presetSubtype="0" fill="hold" nodeType="afterEffect">
                            <p:stCondLst>
                              <p:cond delay="1200"/>
                            </p:stCondLst>
                            <p:childTnLst>
                              <p:set>
                                <p:cBhvr>
                                  <p:cTn id="29" dur="1" fill="hold">
                                    <p:stCondLst>
                                      <p:cond delay="0"/>
                                    </p:stCondLst>
                                  </p:cTn>
                                  <p:tgtEl>
                                    <p:spTgt spid="26"/>
                                  </p:tgtEl>
                                  <p:attrNameLst>
                                    <p:attrName>style.visibility</p:attrName>
                                  </p:attrNameLst>
                                </p:cBhvr>
                                <p:to>
                                  <p:strVal val="visible"/>
                                </p:to>
                              </p:set>
                              <p:animEffect transition="in" filter="fade">
                                <p:cBhvr>
                                  <p:cTn id="30" dur="650"/>
                                  <p:tgtEl>
                                    <p:spTgt spid="26"/>
                                  </p:tgtEl>
                                </p:cBhvr>
                              </p:animEffect>
                            </p:childTnLst>
                          </p:cTn>
                        </p:par>
                        <p:par>
                          <p:cTn id="31" presetID="10" presetClass="entr" presetSubtype="0" fill="hold" nodeType="afterEffect">
                            <p:stCondLst>
                              <p:cond delay="1200"/>
                            </p:stCondLst>
                            <p:childTnLst>
                              <p:set>
                                <p:cBhvr>
                                  <p:cTn id="32" dur="1" fill="hold">
                                    <p:stCondLst>
                                      <p:cond delay="0"/>
                                    </p:stCondLst>
                                  </p:cTn>
                                  <p:tgtEl>
                                    <p:spTgt spid="28"/>
                                  </p:tgtEl>
                                  <p:attrNameLst>
                                    <p:attrName>style.visibility</p:attrName>
                                  </p:attrNameLst>
                                </p:cBhvr>
                                <p:to>
                                  <p:strVal val="visible"/>
                                </p:to>
                              </p:set>
                              <p:animEffect transition="in" filter="fade">
                                <p:cBhvr>
                                  <p:cTn id="33" dur="650"/>
                                  <p:tgtEl>
                                    <p:spTgt spid="28"/>
                                  </p:tgtEl>
                                </p:cBhvr>
                              </p:animEffect>
                            </p:childTnLst>
                          </p:cTn>
                        </p:par>
                        <p:par>
                          <p:cTn id="34" presetID="10" presetClass="entr" presetSubtype="0" fill="hold" nodeType="afterEffect">
                            <p:stCondLst>
                              <p:cond delay="1200"/>
                            </p:stCondLst>
                            <p:childTnLst>
                              <p:set>
                                <p:cBhvr>
                                  <p:cTn id="35" dur="1" fill="hold">
                                    <p:stCondLst>
                                      <p:cond delay="0"/>
                                    </p:stCondLst>
                                  </p:cTn>
                                  <p:tgtEl>
                                    <p:spTgt spid="30"/>
                                  </p:tgtEl>
                                  <p:attrNameLst>
                                    <p:attrName>style.visibility</p:attrName>
                                  </p:attrNameLst>
                                </p:cBhvr>
                                <p:to>
                                  <p:strVal val="visible"/>
                                </p:to>
                              </p:set>
                              <p:animEffect transition="in" filter="fade">
                                <p:cBhvr>
                                  <p:cTn id="36" dur="650"/>
                                  <p:tgtEl>
                                    <p:spTgt spid="30"/>
                                  </p:tgtEl>
                                </p:cBhvr>
                              </p:animEffect>
                            </p:childTnLst>
                          </p:cTn>
                        </p:par>
                        <p:par>
                          <p:cTn id="37" presetID="10" presetClass="entr" presetSubtype="0" fill="hold" nodeType="afterEffect">
                            <p:stCondLst>
                              <p:cond delay="1200"/>
                            </p:stCondLst>
                            <p:childTnLst>
                              <p:set>
                                <p:cBhvr>
                                  <p:cTn id="38" dur="1" fill="hold">
                                    <p:stCondLst>
                                      <p:cond delay="0"/>
                                    </p:stCondLst>
                                  </p:cTn>
                                  <p:tgtEl>
                                    <p:spTgt spid="32"/>
                                  </p:tgtEl>
                                  <p:attrNameLst>
                                    <p:attrName>style.visibility</p:attrName>
                                  </p:attrNameLst>
                                </p:cBhvr>
                                <p:to>
                                  <p:strVal val="visible"/>
                                </p:to>
                              </p:set>
                              <p:animEffect transition="in" filter="fade">
                                <p:cBhvr>
                                  <p:cTn id="39" dur="650"/>
                                  <p:tgtEl>
                                    <p:spTgt spid="32"/>
                                  </p:tgtEl>
                                </p:cBhvr>
                              </p:animEffect>
                            </p:childTnLst>
                          </p:cTn>
                        </p:par>
                        <p:par>
                          <p:cTn id="40" presetID="10" presetClass="entr" presetSubtype="0" fill="hold" nodeType="afterEffect">
                            <p:stCondLst>
                              <p:cond delay="1800"/>
                            </p:stCondLst>
                            <p:childTnLst>
                              <p:set>
                                <p:cBhvr>
                                  <p:cTn id="41" dur="1" fill="hold">
                                    <p:stCondLst>
                                      <p:cond delay="0"/>
                                    </p:stCondLst>
                                  </p:cTn>
                                  <p:tgtEl>
                                    <p:spTgt spid="35"/>
                                  </p:tgtEl>
                                  <p:attrNameLst>
                                    <p:attrName>style.visibility</p:attrName>
                                  </p:attrNameLst>
                                </p:cBhvr>
                                <p:to>
                                  <p:strVal val="visible"/>
                                </p:to>
                              </p:set>
                              <p:animEffect transition="in" filter="fade">
                                <p:cBhvr>
                                  <p:cTn id="42" dur="650"/>
                                  <p:tgtEl>
                                    <p:spTgt spid="35"/>
                                  </p:tgtEl>
                                </p:cBhvr>
                              </p:animEffect>
                            </p:childTnLst>
                          </p:cTn>
                        </p:par>
                        <p:par>
                          <p:cTn id="43" presetID="10" presetClass="entr" presetSubtype="0" fill="hold" nodeType="afterEffect">
                            <p:stCondLst>
                              <p:cond delay="1800"/>
                            </p:stCondLst>
                            <p:childTnLst>
                              <p:set>
                                <p:cBhvr>
                                  <p:cTn id="44" dur="1" fill="hold">
                                    <p:stCondLst>
                                      <p:cond delay="0"/>
                                    </p:stCondLst>
                                  </p:cTn>
                                  <p:tgtEl>
                                    <p:spTgt spid="37"/>
                                  </p:tgtEl>
                                  <p:attrNameLst>
                                    <p:attrName>style.visibility</p:attrName>
                                  </p:attrNameLst>
                                </p:cBhvr>
                                <p:to>
                                  <p:strVal val="visible"/>
                                </p:to>
                              </p:set>
                              <p:animEffect transition="in" filter="fade">
                                <p:cBhvr>
                                  <p:cTn id="45" dur="650"/>
                                  <p:tgtEl>
                                    <p:spTgt spid="37"/>
                                  </p:tgtEl>
                                </p:cBhvr>
                              </p:animEffect>
                            </p:childTnLst>
                          </p:cTn>
                        </p:par>
                        <p:par>
                          <p:cTn id="46" presetID="10" presetClass="entr" presetSubtype="0" fill="hold" nodeType="afterEffect">
                            <p:stCondLst>
                              <p:cond delay="1800"/>
                            </p:stCondLst>
                            <p:childTnLst>
                              <p:set>
                                <p:cBhvr>
                                  <p:cTn id="47" dur="1" fill="hold">
                                    <p:stCondLst>
                                      <p:cond delay="0"/>
                                    </p:stCondLst>
                                  </p:cTn>
                                  <p:tgtEl>
                                    <p:spTgt spid="39"/>
                                  </p:tgtEl>
                                  <p:attrNameLst>
                                    <p:attrName>style.visibility</p:attrName>
                                  </p:attrNameLst>
                                </p:cBhvr>
                                <p:to>
                                  <p:strVal val="visible"/>
                                </p:to>
                              </p:set>
                              <p:animEffect transition="in" filter="fade">
                                <p:cBhvr>
                                  <p:cTn id="48" dur="650"/>
                                  <p:tgtEl>
                                    <p:spTgt spid="39"/>
                                  </p:tgtEl>
                                </p:cBhvr>
                              </p:animEffect>
                            </p:childTnLst>
                          </p:cTn>
                        </p:par>
                        <p:par>
                          <p:cTn id="49" presetID="10" presetClass="entr" presetSubtype="0" fill="hold" nodeType="afterEffect">
                            <p:stCondLst>
                              <p:cond delay="1800"/>
                            </p:stCondLst>
                            <p:childTnLst>
                              <p:set>
                                <p:cBhvr>
                                  <p:cTn id="50" dur="1" fill="hold">
                                    <p:stCondLst>
                                      <p:cond delay="0"/>
                                    </p:stCondLst>
                                  </p:cTn>
                                  <p:tgtEl>
                                    <p:spTgt spid="41"/>
                                  </p:tgtEl>
                                  <p:attrNameLst>
                                    <p:attrName>style.visibility</p:attrName>
                                  </p:attrNameLst>
                                </p:cBhvr>
                                <p:to>
                                  <p:strVal val="visible"/>
                                </p:to>
                              </p:set>
                              <p:animEffect transition="in" filter="fade">
                                <p:cBhvr>
                                  <p:cTn id="51" dur="650"/>
                                  <p:tgtEl>
                                    <p:spTgt spid="41"/>
                                  </p:tgtEl>
                                </p:cBhvr>
                              </p:animEffect>
                            </p:childTnLst>
                          </p:cTn>
                        </p:par>
                        <p:par>
                          <p:cTn id="52" fill="hold">
                            <p:stCondLst>
                              <p:cond delay="0"/>
                            </p:stCondLst>
                            <p:childTnLst>
                              <p:animRot by="21600000">
                                <p:cBhvr>
                                  <p:cTn id="53" dur="60000" repeatCount="indefinite" fill="hold"/>
                                  <p:tgtEl>
                                    <p:spTgt spid="52"/>
                                  </p:tgtEl>
                                  <p:attrNameLst>
                                    <p:attrName>r</p:attrName>
                                  </p:attrNameLst>
                                </p:cBhvr>
                              </p:animRot>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9.xml><?xml version="1.0" encoding="utf-8"?>
<p:sld xmlns:a="http://schemas.openxmlformats.org/drawingml/2006/main" xmlns:r="http://schemas.openxmlformats.org/officeDocument/2006/relationships" xmlns:p="http://schemas.openxmlformats.org/presentationml/2006/main">
  <p:cSld>
    <p:bg>
      <p:bgPr>
        <a:solidFill>
          <a:srgbClr val="7A0010"/>
        </a:solidFill>
        <a:effectLst/>
      </p:bgPr>
    </p:bg>
    <p:spTree>
      <p:nvGrpSpPr>
        <p:cNvPr id="1" name=""/>
        <p:cNvGrpSpPr/>
        <p:nvPr/>
      </p:nvGrpSpPr>
      <p:grpSpPr>
        <a:xfrm>
          <a:off x="0" y="0"/>
          <a:ext cx="0" cy="0"/>
          <a:chOff x="0" y="0"/>
          <a:chExt cx="0" cy="0"/>
        </a:xfrm>
      </p:grpSpPr>
      <p:grpSp>
        <p:nvGrpSpPr>
          <p:cNvPr id="2" name="Group 2"/>
          <p:cNvGrpSpPr/>
          <p:nvPr/>
        </p:nvGrpSpPr>
        <p:grpSpPr>
          <a:xfrm>
            <a:off x="963130" y="687953"/>
            <a:ext cx="14997303" cy="481565"/>
            <a:chOff x="0" y="0"/>
            <a:chExt cx="19996404" cy="642087"/>
          </a:xfrm>
        </p:grpSpPr>
        <p:sp>
          <p:nvSpPr>
            <p:cNvPr id="3" name="Freeform 3"/>
            <p:cNvSpPr/>
            <p:nvPr/>
          </p:nvSpPr>
          <p:spPr>
            <a:xfrm>
              <a:off x="0" y="0"/>
              <a:ext cx="19996409" cy="642086"/>
            </a:xfrm>
            <a:custGeom>
              <a:avLst/>
              <a:gdLst/>
              <a:ahLst/>
              <a:cxnLst/>
              <a:rect l="l" t="t" r="r" b="b"/>
              <a:pathLst>
                <a:path w="19996409" h="642086">
                  <a:moveTo>
                    <a:pt x="0" y="0"/>
                  </a:moveTo>
                  <a:lnTo>
                    <a:pt x="19996409" y="0"/>
                  </a:lnTo>
                  <a:lnTo>
                    <a:pt x="19996409" y="642086"/>
                  </a:lnTo>
                  <a:lnTo>
                    <a:pt x="0" y="642086"/>
                  </a:lnTo>
                  <a:close/>
                </a:path>
              </a:pathLst>
            </a:custGeom>
            <a:blipFill>
              <a:blip r:embed="rId3">
                <a:alphaModFix amt="0"/>
              </a:blip>
              <a:stretch>
                <a:fillRect t="-556819" b="-556819"/>
              </a:stretch>
            </a:blipFill>
          </p:spPr>
          <p:txBody>
            <a:bodyPr/>
            <a:lstStyle/>
            <a:p>
              <a:endParaRPr lang="en-US"/>
            </a:p>
          </p:txBody>
        </p:sp>
        <p:sp>
          <p:nvSpPr>
            <p:cNvPr id="4" name="TextBox 4"/>
            <p:cNvSpPr txBox="1"/>
            <p:nvPr/>
          </p:nvSpPr>
          <p:spPr>
            <a:xfrm>
              <a:off x="0" y="-9525"/>
              <a:ext cx="19996404" cy="651612"/>
            </a:xfrm>
            <a:prstGeom prst="rect">
              <a:avLst/>
            </a:prstGeom>
          </p:spPr>
          <p:txBody>
            <a:bodyPr lIns="0" tIns="0" rIns="0" bIns="0" rtlCol="0" anchor="ctr"/>
            <a:lstStyle/>
            <a:p>
              <a:pPr algn="l">
                <a:lnSpc>
                  <a:spcPts val="2347"/>
                </a:lnSpc>
              </a:pPr>
              <a:r>
                <a:rPr lang="en-US" sz="1956" b="1" spc="300">
                  <a:solidFill>
                    <a:srgbClr val="FFD700"/>
                  </a:solidFill>
                  <a:latin typeface="Montserrat Heavy"/>
                  <a:ea typeface="Montserrat Heavy"/>
                  <a:cs typeface="Montserrat Heavy"/>
                  <a:sym typeface="Montserrat Heavy"/>
                </a:rPr>
                <a:t>KẾT QUẢ THẬT</a:t>
              </a:r>
            </a:p>
          </p:txBody>
        </p:sp>
      </p:grpSp>
      <p:sp>
        <p:nvSpPr>
          <p:cNvPr id="5" name="TextBox 5"/>
          <p:cNvSpPr txBox="1"/>
          <p:nvPr/>
        </p:nvSpPr>
        <p:spPr>
          <a:xfrm>
            <a:off x="963130" y="1155754"/>
            <a:ext cx="14997303" cy="638197"/>
          </a:xfrm>
          <a:prstGeom prst="rect">
            <a:avLst/>
          </a:prstGeom>
        </p:spPr>
        <p:txBody>
          <a:bodyPr lIns="0" tIns="0" rIns="0" bIns="0" rtlCol="0" anchor="t">
            <a:spAutoFit/>
          </a:bodyPr>
          <a:lstStyle/>
          <a:p>
            <a:pPr algn="l">
              <a:lnSpc>
                <a:spcPts val="5055"/>
              </a:lnSpc>
            </a:pPr>
            <a:r>
              <a:rPr lang="en-US" sz="4213" b="1">
                <a:solidFill>
                  <a:srgbClr val="FFFFFF"/>
                </a:solidFill>
                <a:latin typeface="Montserrat Heavy"/>
                <a:ea typeface="Montserrat Heavy"/>
                <a:cs typeface="Montserrat Heavy"/>
                <a:sym typeface="Montserrat Heavy"/>
              </a:rPr>
              <a:t>SAU 1 THÁNG ÁP DỤNG THỬ NGHIỆM</a:t>
            </a:r>
          </a:p>
        </p:txBody>
      </p:sp>
      <p:grpSp>
        <p:nvGrpSpPr>
          <p:cNvPr id="6" name="Group 6"/>
          <p:cNvGrpSpPr/>
          <p:nvPr/>
        </p:nvGrpSpPr>
        <p:grpSpPr>
          <a:xfrm>
            <a:off x="963130" y="2228955"/>
            <a:ext cx="1513494" cy="96317"/>
            <a:chOff x="0" y="0"/>
            <a:chExt cx="2017992" cy="128422"/>
          </a:xfrm>
        </p:grpSpPr>
        <p:sp>
          <p:nvSpPr>
            <p:cNvPr id="7" name="Freeform 7"/>
            <p:cNvSpPr/>
            <p:nvPr/>
          </p:nvSpPr>
          <p:spPr>
            <a:xfrm>
              <a:off x="0" y="0"/>
              <a:ext cx="2018030" cy="128397"/>
            </a:xfrm>
            <a:custGeom>
              <a:avLst/>
              <a:gdLst/>
              <a:ahLst/>
              <a:cxnLst/>
              <a:rect l="l" t="t" r="r" b="b"/>
              <a:pathLst>
                <a:path w="2018030" h="128397">
                  <a:moveTo>
                    <a:pt x="0" y="0"/>
                  </a:moveTo>
                  <a:lnTo>
                    <a:pt x="2018030" y="0"/>
                  </a:lnTo>
                  <a:lnTo>
                    <a:pt x="2018030" y="128397"/>
                  </a:lnTo>
                  <a:lnTo>
                    <a:pt x="0" y="128397"/>
                  </a:lnTo>
                  <a:close/>
                </a:path>
              </a:pathLst>
            </a:custGeom>
            <a:solidFill>
              <a:srgbClr val="FFD700"/>
            </a:solidFill>
          </p:spPr>
          <p:txBody>
            <a:bodyPr/>
            <a:lstStyle/>
            <a:p>
              <a:endParaRPr lang="en-US"/>
            </a:p>
          </p:txBody>
        </p:sp>
      </p:grpSp>
      <p:grpSp>
        <p:nvGrpSpPr>
          <p:cNvPr id="8" name="Group 8"/>
          <p:cNvGrpSpPr/>
          <p:nvPr/>
        </p:nvGrpSpPr>
        <p:grpSpPr>
          <a:xfrm>
            <a:off x="1668275" y="2998318"/>
            <a:ext cx="3497075" cy="3497075"/>
            <a:chOff x="0" y="0"/>
            <a:chExt cx="4662767" cy="4662767"/>
          </a:xfrm>
        </p:grpSpPr>
        <p:sp>
          <p:nvSpPr>
            <p:cNvPr id="9" name="Freeform 9"/>
            <p:cNvSpPr/>
            <p:nvPr/>
          </p:nvSpPr>
          <p:spPr>
            <a:xfrm>
              <a:off x="0" y="0"/>
              <a:ext cx="4662805" cy="4662805"/>
            </a:xfrm>
            <a:custGeom>
              <a:avLst/>
              <a:gdLst/>
              <a:ahLst/>
              <a:cxnLst/>
              <a:rect l="l" t="t" r="r" b="b"/>
              <a:pathLst>
                <a:path w="4662805" h="4662805">
                  <a:moveTo>
                    <a:pt x="0" y="2331339"/>
                  </a:moveTo>
                  <a:cubicBezTo>
                    <a:pt x="0" y="1043813"/>
                    <a:pt x="1043813" y="0"/>
                    <a:pt x="2331339" y="0"/>
                  </a:cubicBezTo>
                  <a:cubicBezTo>
                    <a:pt x="3618865" y="0"/>
                    <a:pt x="4662805" y="1043813"/>
                    <a:pt x="4662805" y="2331339"/>
                  </a:cubicBezTo>
                  <a:cubicBezTo>
                    <a:pt x="4662805" y="3618865"/>
                    <a:pt x="3618992" y="4662805"/>
                    <a:pt x="2331339" y="4662805"/>
                  </a:cubicBezTo>
                  <a:cubicBezTo>
                    <a:pt x="1043686" y="4662805"/>
                    <a:pt x="0" y="3618992"/>
                    <a:pt x="0" y="2331339"/>
                  </a:cubicBezTo>
                  <a:close/>
                </a:path>
              </a:pathLst>
            </a:custGeom>
            <a:solidFill>
              <a:srgbClr val="5F0D14"/>
            </a:solidFill>
            <a:ln w="57329" cap="sq">
              <a:solidFill>
                <a:srgbClr val="FFD700"/>
              </a:solidFill>
              <a:prstDash val="solid"/>
              <a:miter/>
            </a:ln>
          </p:spPr>
          <p:txBody>
            <a:bodyPr/>
            <a:lstStyle/>
            <a:p>
              <a:endParaRPr lang="en-US"/>
            </a:p>
          </p:txBody>
        </p:sp>
      </p:grpSp>
      <p:grpSp>
        <p:nvGrpSpPr>
          <p:cNvPr id="10" name="Group 10"/>
          <p:cNvGrpSpPr/>
          <p:nvPr/>
        </p:nvGrpSpPr>
        <p:grpSpPr>
          <a:xfrm>
            <a:off x="1930270" y="3260312"/>
            <a:ext cx="2973086" cy="2973086"/>
            <a:chOff x="0" y="0"/>
            <a:chExt cx="3964114" cy="3964114"/>
          </a:xfrm>
        </p:grpSpPr>
        <p:sp>
          <p:nvSpPr>
            <p:cNvPr id="11" name="Freeform 11"/>
            <p:cNvSpPr/>
            <p:nvPr/>
          </p:nvSpPr>
          <p:spPr>
            <a:xfrm>
              <a:off x="0" y="0"/>
              <a:ext cx="3964178" cy="3964178"/>
            </a:xfrm>
            <a:custGeom>
              <a:avLst/>
              <a:gdLst/>
              <a:ahLst/>
              <a:cxnLst/>
              <a:rect l="l" t="t" r="r" b="b"/>
              <a:pathLst>
                <a:path w="3964178" h="3964178">
                  <a:moveTo>
                    <a:pt x="0" y="1982089"/>
                  </a:moveTo>
                  <a:cubicBezTo>
                    <a:pt x="0" y="887349"/>
                    <a:pt x="887349" y="0"/>
                    <a:pt x="1982089" y="0"/>
                  </a:cubicBezTo>
                  <a:cubicBezTo>
                    <a:pt x="3076829" y="0"/>
                    <a:pt x="3964178" y="887349"/>
                    <a:pt x="3964178" y="1982089"/>
                  </a:cubicBezTo>
                  <a:cubicBezTo>
                    <a:pt x="3964178" y="3076829"/>
                    <a:pt x="3076702" y="3964178"/>
                    <a:pt x="1982089" y="3964178"/>
                  </a:cubicBezTo>
                  <a:cubicBezTo>
                    <a:pt x="887476" y="3964178"/>
                    <a:pt x="0" y="3076702"/>
                    <a:pt x="0" y="1982089"/>
                  </a:cubicBezTo>
                  <a:close/>
                </a:path>
              </a:pathLst>
            </a:custGeom>
            <a:blipFill>
              <a:blip r:embed="rId3">
                <a:alphaModFix amt="0"/>
              </a:blip>
              <a:stretch>
                <a:fillRect l="-78302" r="-78300" b="1"/>
              </a:stretch>
            </a:blipFill>
            <a:ln w="28665" cap="sq">
              <a:solidFill>
                <a:srgbClr val="C41E3A"/>
              </a:solidFill>
              <a:prstDash val="dash"/>
              <a:miter/>
            </a:ln>
          </p:spPr>
          <p:txBody>
            <a:bodyPr/>
            <a:lstStyle/>
            <a:p>
              <a:endParaRPr lang="en-US"/>
            </a:p>
          </p:txBody>
        </p:sp>
      </p:grpSp>
      <p:grpSp>
        <p:nvGrpSpPr>
          <p:cNvPr id="12" name="Group 12"/>
          <p:cNvGrpSpPr/>
          <p:nvPr/>
        </p:nvGrpSpPr>
        <p:grpSpPr>
          <a:xfrm>
            <a:off x="1696945" y="3783721"/>
            <a:ext cx="3439754" cy="1926260"/>
            <a:chOff x="0" y="0"/>
            <a:chExt cx="4586338" cy="2568346"/>
          </a:xfrm>
        </p:grpSpPr>
        <p:sp>
          <p:nvSpPr>
            <p:cNvPr id="13" name="Freeform 13"/>
            <p:cNvSpPr/>
            <p:nvPr/>
          </p:nvSpPr>
          <p:spPr>
            <a:xfrm>
              <a:off x="0" y="0"/>
              <a:ext cx="4586332" cy="2568346"/>
            </a:xfrm>
            <a:custGeom>
              <a:avLst/>
              <a:gdLst/>
              <a:ahLst/>
              <a:cxnLst/>
              <a:rect l="l" t="t" r="r" b="b"/>
              <a:pathLst>
                <a:path w="4586332" h="2568346">
                  <a:moveTo>
                    <a:pt x="0" y="0"/>
                  </a:moveTo>
                  <a:lnTo>
                    <a:pt x="4586332" y="0"/>
                  </a:lnTo>
                  <a:lnTo>
                    <a:pt x="4586332" y="2568346"/>
                  </a:lnTo>
                  <a:lnTo>
                    <a:pt x="0" y="2568346"/>
                  </a:lnTo>
                  <a:close/>
                </a:path>
              </a:pathLst>
            </a:custGeom>
            <a:blipFill>
              <a:blip r:embed="rId3">
                <a:alphaModFix amt="0"/>
              </a:blip>
              <a:stretch>
                <a:fillRect l="-21849" r="-21850"/>
              </a:stretch>
            </a:blipFill>
          </p:spPr>
          <p:txBody>
            <a:bodyPr/>
            <a:lstStyle/>
            <a:p>
              <a:endParaRPr lang="en-US"/>
            </a:p>
          </p:txBody>
        </p:sp>
        <p:sp>
          <p:nvSpPr>
            <p:cNvPr id="14" name="TextBox 14"/>
            <p:cNvSpPr txBox="1"/>
            <p:nvPr/>
          </p:nvSpPr>
          <p:spPr>
            <a:xfrm>
              <a:off x="0" y="0"/>
              <a:ext cx="4586338" cy="2568346"/>
            </a:xfrm>
            <a:prstGeom prst="rect">
              <a:avLst/>
            </a:prstGeom>
          </p:spPr>
          <p:txBody>
            <a:bodyPr lIns="0" tIns="0" rIns="0" bIns="0" rtlCol="0" anchor="ctr"/>
            <a:lstStyle/>
            <a:p>
              <a:pPr algn="ctr">
                <a:lnSpc>
                  <a:spcPts val="7944"/>
                </a:lnSpc>
              </a:pPr>
              <a:r>
                <a:rPr lang="en-US" sz="6620" b="1">
                  <a:solidFill>
                    <a:srgbClr val="FFD700"/>
                  </a:solidFill>
                  <a:latin typeface="Montserrat Heavy"/>
                  <a:ea typeface="Montserrat Heavy"/>
                  <a:cs typeface="Montserrat Heavy"/>
                  <a:sym typeface="Montserrat Heavy"/>
                </a:rPr>
                <a:t>~60%</a:t>
              </a:r>
            </a:p>
          </p:txBody>
        </p:sp>
      </p:grpSp>
      <p:grpSp>
        <p:nvGrpSpPr>
          <p:cNvPr id="15" name="Group 15"/>
          <p:cNvGrpSpPr/>
          <p:nvPr/>
        </p:nvGrpSpPr>
        <p:grpSpPr>
          <a:xfrm>
            <a:off x="963130" y="6741909"/>
            <a:ext cx="4907375" cy="1375900"/>
            <a:chOff x="0" y="0"/>
            <a:chExt cx="6543167" cy="1834533"/>
          </a:xfrm>
        </p:grpSpPr>
        <p:sp>
          <p:nvSpPr>
            <p:cNvPr id="16" name="Freeform 16"/>
            <p:cNvSpPr/>
            <p:nvPr/>
          </p:nvSpPr>
          <p:spPr>
            <a:xfrm>
              <a:off x="0" y="0"/>
              <a:ext cx="6543167" cy="1834538"/>
            </a:xfrm>
            <a:custGeom>
              <a:avLst/>
              <a:gdLst/>
              <a:ahLst/>
              <a:cxnLst/>
              <a:rect l="l" t="t" r="r" b="b"/>
              <a:pathLst>
                <a:path w="6543167" h="1834538">
                  <a:moveTo>
                    <a:pt x="0" y="0"/>
                  </a:moveTo>
                  <a:lnTo>
                    <a:pt x="6543167" y="0"/>
                  </a:lnTo>
                  <a:lnTo>
                    <a:pt x="6543167" y="1834538"/>
                  </a:lnTo>
                  <a:lnTo>
                    <a:pt x="0" y="1834538"/>
                  </a:lnTo>
                  <a:close/>
                </a:path>
              </a:pathLst>
            </a:custGeom>
            <a:blipFill>
              <a:blip r:embed="rId3">
                <a:alphaModFix amt="0"/>
              </a:blip>
              <a:stretch>
                <a:fillRect t="-19496" b="-19496"/>
              </a:stretch>
            </a:blipFill>
          </p:spPr>
          <p:txBody>
            <a:bodyPr/>
            <a:lstStyle/>
            <a:p>
              <a:endParaRPr lang="en-US"/>
            </a:p>
          </p:txBody>
        </p:sp>
        <p:sp>
          <p:nvSpPr>
            <p:cNvPr id="17" name="TextBox 17"/>
            <p:cNvSpPr txBox="1"/>
            <p:nvPr/>
          </p:nvSpPr>
          <p:spPr>
            <a:xfrm>
              <a:off x="0" y="0"/>
              <a:ext cx="6543167" cy="1834533"/>
            </a:xfrm>
            <a:prstGeom prst="rect">
              <a:avLst/>
            </a:prstGeom>
          </p:spPr>
          <p:txBody>
            <a:bodyPr lIns="0" tIns="0" rIns="0" bIns="0" rtlCol="0" anchor="ctr"/>
            <a:lstStyle/>
            <a:p>
              <a:pPr algn="ctr">
                <a:lnSpc>
                  <a:spcPts val="2588"/>
                </a:lnSpc>
              </a:pPr>
              <a:r>
                <a:rPr lang="en-US" sz="2157" b="1">
                  <a:solidFill>
                    <a:srgbClr val="FFFFFF"/>
                  </a:solidFill>
                  <a:latin typeface="Montserrat Heavy"/>
                  <a:ea typeface="Montserrat Heavy"/>
                  <a:cs typeface="Montserrat Heavy"/>
                  <a:sym typeface="Montserrat Heavy"/>
                </a:rPr>
                <a:t>số người dân hỏi trực tiếp GIẢM</a:t>
              </a:r>
            </a:p>
          </p:txBody>
        </p:sp>
      </p:grpSp>
      <p:grpSp>
        <p:nvGrpSpPr>
          <p:cNvPr id="18" name="Group 18"/>
          <p:cNvGrpSpPr/>
          <p:nvPr/>
        </p:nvGrpSpPr>
        <p:grpSpPr>
          <a:xfrm>
            <a:off x="7401192" y="2998318"/>
            <a:ext cx="3497075" cy="3497075"/>
            <a:chOff x="0" y="0"/>
            <a:chExt cx="4662767" cy="4662767"/>
          </a:xfrm>
        </p:grpSpPr>
        <p:sp>
          <p:nvSpPr>
            <p:cNvPr id="19" name="Freeform 19"/>
            <p:cNvSpPr/>
            <p:nvPr/>
          </p:nvSpPr>
          <p:spPr>
            <a:xfrm>
              <a:off x="0" y="0"/>
              <a:ext cx="4662805" cy="4662805"/>
            </a:xfrm>
            <a:custGeom>
              <a:avLst/>
              <a:gdLst/>
              <a:ahLst/>
              <a:cxnLst/>
              <a:rect l="l" t="t" r="r" b="b"/>
              <a:pathLst>
                <a:path w="4662805" h="4662805">
                  <a:moveTo>
                    <a:pt x="0" y="2331339"/>
                  </a:moveTo>
                  <a:cubicBezTo>
                    <a:pt x="0" y="1043813"/>
                    <a:pt x="1043813" y="0"/>
                    <a:pt x="2331339" y="0"/>
                  </a:cubicBezTo>
                  <a:cubicBezTo>
                    <a:pt x="3618865" y="0"/>
                    <a:pt x="4662805" y="1043813"/>
                    <a:pt x="4662805" y="2331339"/>
                  </a:cubicBezTo>
                  <a:cubicBezTo>
                    <a:pt x="4662805" y="3618865"/>
                    <a:pt x="3618992" y="4662805"/>
                    <a:pt x="2331339" y="4662805"/>
                  </a:cubicBezTo>
                  <a:cubicBezTo>
                    <a:pt x="1043686" y="4662805"/>
                    <a:pt x="0" y="3618992"/>
                    <a:pt x="0" y="2331339"/>
                  </a:cubicBezTo>
                  <a:close/>
                </a:path>
              </a:pathLst>
            </a:custGeom>
            <a:solidFill>
              <a:srgbClr val="5F0D14"/>
            </a:solidFill>
            <a:ln w="57329" cap="sq">
              <a:solidFill>
                <a:srgbClr val="FFD700"/>
              </a:solidFill>
              <a:prstDash val="solid"/>
              <a:miter/>
            </a:ln>
          </p:spPr>
          <p:txBody>
            <a:bodyPr/>
            <a:lstStyle/>
            <a:p>
              <a:endParaRPr lang="en-US"/>
            </a:p>
          </p:txBody>
        </p:sp>
      </p:grpSp>
      <p:grpSp>
        <p:nvGrpSpPr>
          <p:cNvPr id="20" name="Group 20"/>
          <p:cNvGrpSpPr/>
          <p:nvPr/>
        </p:nvGrpSpPr>
        <p:grpSpPr>
          <a:xfrm>
            <a:off x="7663186" y="3260312"/>
            <a:ext cx="2973086" cy="2973086"/>
            <a:chOff x="0" y="0"/>
            <a:chExt cx="3964114" cy="3964114"/>
          </a:xfrm>
        </p:grpSpPr>
        <p:sp>
          <p:nvSpPr>
            <p:cNvPr id="21" name="Freeform 21"/>
            <p:cNvSpPr/>
            <p:nvPr/>
          </p:nvSpPr>
          <p:spPr>
            <a:xfrm>
              <a:off x="0" y="0"/>
              <a:ext cx="3964178" cy="3964178"/>
            </a:xfrm>
            <a:custGeom>
              <a:avLst/>
              <a:gdLst/>
              <a:ahLst/>
              <a:cxnLst/>
              <a:rect l="l" t="t" r="r" b="b"/>
              <a:pathLst>
                <a:path w="3964178" h="3964178">
                  <a:moveTo>
                    <a:pt x="0" y="1982089"/>
                  </a:moveTo>
                  <a:cubicBezTo>
                    <a:pt x="0" y="887349"/>
                    <a:pt x="887349" y="0"/>
                    <a:pt x="1982089" y="0"/>
                  </a:cubicBezTo>
                  <a:cubicBezTo>
                    <a:pt x="3076829" y="0"/>
                    <a:pt x="3964178" y="887349"/>
                    <a:pt x="3964178" y="1982089"/>
                  </a:cubicBezTo>
                  <a:cubicBezTo>
                    <a:pt x="3964178" y="3076829"/>
                    <a:pt x="3076702" y="3964178"/>
                    <a:pt x="1982089" y="3964178"/>
                  </a:cubicBezTo>
                  <a:cubicBezTo>
                    <a:pt x="887476" y="3964178"/>
                    <a:pt x="0" y="3076702"/>
                    <a:pt x="0" y="1982089"/>
                  </a:cubicBezTo>
                  <a:close/>
                </a:path>
              </a:pathLst>
            </a:custGeom>
            <a:blipFill>
              <a:blip r:embed="rId3">
                <a:alphaModFix amt="0"/>
              </a:blip>
              <a:stretch>
                <a:fillRect l="-78302" r="-78300" b="1"/>
              </a:stretch>
            </a:blipFill>
            <a:ln w="28665" cap="sq">
              <a:solidFill>
                <a:srgbClr val="C41E3A"/>
              </a:solidFill>
              <a:prstDash val="dash"/>
              <a:miter/>
            </a:ln>
          </p:spPr>
          <p:txBody>
            <a:bodyPr/>
            <a:lstStyle/>
            <a:p>
              <a:endParaRPr lang="en-US"/>
            </a:p>
          </p:txBody>
        </p:sp>
      </p:grpSp>
      <p:grpSp>
        <p:nvGrpSpPr>
          <p:cNvPr id="22" name="Group 22"/>
          <p:cNvGrpSpPr/>
          <p:nvPr/>
        </p:nvGrpSpPr>
        <p:grpSpPr>
          <a:xfrm>
            <a:off x="7429862" y="3783721"/>
            <a:ext cx="3439754" cy="1926260"/>
            <a:chOff x="0" y="0"/>
            <a:chExt cx="4586338" cy="2568346"/>
          </a:xfrm>
        </p:grpSpPr>
        <p:sp>
          <p:nvSpPr>
            <p:cNvPr id="23" name="Freeform 23"/>
            <p:cNvSpPr/>
            <p:nvPr/>
          </p:nvSpPr>
          <p:spPr>
            <a:xfrm>
              <a:off x="0" y="0"/>
              <a:ext cx="4586332" cy="2568346"/>
            </a:xfrm>
            <a:custGeom>
              <a:avLst/>
              <a:gdLst/>
              <a:ahLst/>
              <a:cxnLst/>
              <a:rect l="l" t="t" r="r" b="b"/>
              <a:pathLst>
                <a:path w="4586332" h="2568346">
                  <a:moveTo>
                    <a:pt x="0" y="0"/>
                  </a:moveTo>
                  <a:lnTo>
                    <a:pt x="4586332" y="0"/>
                  </a:lnTo>
                  <a:lnTo>
                    <a:pt x="4586332" y="2568346"/>
                  </a:lnTo>
                  <a:lnTo>
                    <a:pt x="0" y="2568346"/>
                  </a:lnTo>
                  <a:close/>
                </a:path>
              </a:pathLst>
            </a:custGeom>
            <a:blipFill>
              <a:blip r:embed="rId3">
                <a:alphaModFix amt="0"/>
              </a:blip>
              <a:stretch>
                <a:fillRect l="-21849" r="-21850"/>
              </a:stretch>
            </a:blipFill>
          </p:spPr>
          <p:txBody>
            <a:bodyPr/>
            <a:lstStyle/>
            <a:p>
              <a:endParaRPr lang="en-US"/>
            </a:p>
          </p:txBody>
        </p:sp>
        <p:sp>
          <p:nvSpPr>
            <p:cNvPr id="24" name="TextBox 24"/>
            <p:cNvSpPr txBox="1"/>
            <p:nvPr/>
          </p:nvSpPr>
          <p:spPr>
            <a:xfrm>
              <a:off x="0" y="0"/>
              <a:ext cx="4586338" cy="2568346"/>
            </a:xfrm>
            <a:prstGeom prst="rect">
              <a:avLst/>
            </a:prstGeom>
          </p:spPr>
          <p:txBody>
            <a:bodyPr lIns="0" tIns="0" rIns="0" bIns="0" rtlCol="0" anchor="ctr"/>
            <a:lstStyle/>
            <a:p>
              <a:pPr algn="ctr">
                <a:lnSpc>
                  <a:spcPts val="7944"/>
                </a:lnSpc>
              </a:pPr>
              <a:r>
                <a:rPr lang="en-US" sz="6620" b="1">
                  <a:solidFill>
                    <a:srgbClr val="FFD700"/>
                  </a:solidFill>
                  <a:latin typeface="Montserrat Heavy"/>
                  <a:ea typeface="Montserrat Heavy"/>
                  <a:cs typeface="Montserrat Heavy"/>
                  <a:sym typeface="Montserrat Heavy"/>
                </a:rPr>
                <a:t>100%</a:t>
              </a:r>
            </a:p>
          </p:txBody>
        </p:sp>
      </p:grpSp>
      <p:grpSp>
        <p:nvGrpSpPr>
          <p:cNvPr id="25" name="Group 25"/>
          <p:cNvGrpSpPr/>
          <p:nvPr/>
        </p:nvGrpSpPr>
        <p:grpSpPr>
          <a:xfrm>
            <a:off x="6696046" y="6741909"/>
            <a:ext cx="4907375" cy="1375900"/>
            <a:chOff x="0" y="0"/>
            <a:chExt cx="6543167" cy="1834533"/>
          </a:xfrm>
        </p:grpSpPr>
        <p:sp>
          <p:nvSpPr>
            <p:cNvPr id="26" name="Freeform 26"/>
            <p:cNvSpPr/>
            <p:nvPr/>
          </p:nvSpPr>
          <p:spPr>
            <a:xfrm>
              <a:off x="0" y="0"/>
              <a:ext cx="6543167" cy="1834538"/>
            </a:xfrm>
            <a:custGeom>
              <a:avLst/>
              <a:gdLst/>
              <a:ahLst/>
              <a:cxnLst/>
              <a:rect l="l" t="t" r="r" b="b"/>
              <a:pathLst>
                <a:path w="6543167" h="1834538">
                  <a:moveTo>
                    <a:pt x="0" y="0"/>
                  </a:moveTo>
                  <a:lnTo>
                    <a:pt x="6543167" y="0"/>
                  </a:lnTo>
                  <a:lnTo>
                    <a:pt x="6543167" y="1834538"/>
                  </a:lnTo>
                  <a:lnTo>
                    <a:pt x="0" y="1834538"/>
                  </a:lnTo>
                  <a:close/>
                </a:path>
              </a:pathLst>
            </a:custGeom>
            <a:blipFill>
              <a:blip r:embed="rId3">
                <a:alphaModFix amt="0"/>
              </a:blip>
              <a:stretch>
                <a:fillRect t="-19496" b="-19496"/>
              </a:stretch>
            </a:blipFill>
          </p:spPr>
          <p:txBody>
            <a:bodyPr/>
            <a:lstStyle/>
            <a:p>
              <a:endParaRPr lang="en-US"/>
            </a:p>
          </p:txBody>
        </p:sp>
        <p:sp>
          <p:nvSpPr>
            <p:cNvPr id="27" name="TextBox 27"/>
            <p:cNvSpPr txBox="1"/>
            <p:nvPr/>
          </p:nvSpPr>
          <p:spPr>
            <a:xfrm>
              <a:off x="0" y="-9525"/>
              <a:ext cx="6543167" cy="1844058"/>
            </a:xfrm>
            <a:prstGeom prst="rect">
              <a:avLst/>
            </a:prstGeom>
          </p:spPr>
          <p:txBody>
            <a:bodyPr lIns="0" tIns="0" rIns="0" bIns="0" rtlCol="0" anchor="ctr"/>
            <a:lstStyle/>
            <a:p>
              <a:pPr algn="ctr">
                <a:lnSpc>
                  <a:spcPts val="2708"/>
                </a:lnSpc>
              </a:pPr>
              <a:r>
                <a:rPr lang="en-US" sz="2257" b="1">
                  <a:solidFill>
                    <a:srgbClr val="FFFFFF"/>
                  </a:solidFill>
                  <a:latin typeface="Montserrat Heavy"/>
                  <a:ea typeface="Montserrat Heavy"/>
                  <a:cs typeface="Montserrat Heavy"/>
                  <a:sym typeface="Montserrat Heavy"/>
                </a:rPr>
                <a:t>người mang hồ sơ đến đã đủ giấy tờ</a:t>
              </a:r>
            </a:p>
          </p:txBody>
        </p:sp>
      </p:grpSp>
      <p:grpSp>
        <p:nvGrpSpPr>
          <p:cNvPr id="28" name="Group 28"/>
          <p:cNvGrpSpPr/>
          <p:nvPr/>
        </p:nvGrpSpPr>
        <p:grpSpPr>
          <a:xfrm>
            <a:off x="13134108" y="2998318"/>
            <a:ext cx="3497075" cy="3497075"/>
            <a:chOff x="0" y="0"/>
            <a:chExt cx="4662767" cy="4662767"/>
          </a:xfrm>
        </p:grpSpPr>
        <p:sp>
          <p:nvSpPr>
            <p:cNvPr id="29" name="Freeform 29"/>
            <p:cNvSpPr/>
            <p:nvPr/>
          </p:nvSpPr>
          <p:spPr>
            <a:xfrm>
              <a:off x="0" y="0"/>
              <a:ext cx="4662805" cy="4662805"/>
            </a:xfrm>
            <a:custGeom>
              <a:avLst/>
              <a:gdLst/>
              <a:ahLst/>
              <a:cxnLst/>
              <a:rect l="l" t="t" r="r" b="b"/>
              <a:pathLst>
                <a:path w="4662805" h="4662805">
                  <a:moveTo>
                    <a:pt x="0" y="2331339"/>
                  </a:moveTo>
                  <a:cubicBezTo>
                    <a:pt x="0" y="1043813"/>
                    <a:pt x="1043813" y="0"/>
                    <a:pt x="2331339" y="0"/>
                  </a:cubicBezTo>
                  <a:cubicBezTo>
                    <a:pt x="3618865" y="0"/>
                    <a:pt x="4662805" y="1043813"/>
                    <a:pt x="4662805" y="2331339"/>
                  </a:cubicBezTo>
                  <a:cubicBezTo>
                    <a:pt x="4662805" y="3618865"/>
                    <a:pt x="3618992" y="4662805"/>
                    <a:pt x="2331339" y="4662805"/>
                  </a:cubicBezTo>
                  <a:cubicBezTo>
                    <a:pt x="1043686" y="4662805"/>
                    <a:pt x="0" y="3618992"/>
                    <a:pt x="0" y="2331339"/>
                  </a:cubicBezTo>
                  <a:close/>
                </a:path>
              </a:pathLst>
            </a:custGeom>
            <a:solidFill>
              <a:srgbClr val="5F0D14"/>
            </a:solidFill>
            <a:ln w="57329" cap="sq">
              <a:solidFill>
                <a:srgbClr val="FFD700"/>
              </a:solidFill>
              <a:prstDash val="solid"/>
              <a:miter/>
            </a:ln>
          </p:spPr>
          <p:txBody>
            <a:bodyPr/>
            <a:lstStyle/>
            <a:p>
              <a:endParaRPr lang="en-US"/>
            </a:p>
          </p:txBody>
        </p:sp>
      </p:grpSp>
      <p:grpSp>
        <p:nvGrpSpPr>
          <p:cNvPr id="30" name="Group 30"/>
          <p:cNvGrpSpPr/>
          <p:nvPr/>
        </p:nvGrpSpPr>
        <p:grpSpPr>
          <a:xfrm>
            <a:off x="13396103" y="3260312"/>
            <a:ext cx="2973086" cy="2973086"/>
            <a:chOff x="0" y="0"/>
            <a:chExt cx="3964114" cy="3964114"/>
          </a:xfrm>
        </p:grpSpPr>
        <p:sp>
          <p:nvSpPr>
            <p:cNvPr id="31" name="Freeform 31"/>
            <p:cNvSpPr/>
            <p:nvPr/>
          </p:nvSpPr>
          <p:spPr>
            <a:xfrm>
              <a:off x="0" y="0"/>
              <a:ext cx="3964178" cy="3964178"/>
            </a:xfrm>
            <a:custGeom>
              <a:avLst/>
              <a:gdLst/>
              <a:ahLst/>
              <a:cxnLst/>
              <a:rect l="l" t="t" r="r" b="b"/>
              <a:pathLst>
                <a:path w="3964178" h="3964178">
                  <a:moveTo>
                    <a:pt x="0" y="1982089"/>
                  </a:moveTo>
                  <a:cubicBezTo>
                    <a:pt x="0" y="887349"/>
                    <a:pt x="887349" y="0"/>
                    <a:pt x="1982089" y="0"/>
                  </a:cubicBezTo>
                  <a:cubicBezTo>
                    <a:pt x="3076829" y="0"/>
                    <a:pt x="3964178" y="887349"/>
                    <a:pt x="3964178" y="1982089"/>
                  </a:cubicBezTo>
                  <a:cubicBezTo>
                    <a:pt x="3964178" y="3076829"/>
                    <a:pt x="3076702" y="3964178"/>
                    <a:pt x="1982089" y="3964178"/>
                  </a:cubicBezTo>
                  <a:cubicBezTo>
                    <a:pt x="887476" y="3964178"/>
                    <a:pt x="0" y="3076702"/>
                    <a:pt x="0" y="1982089"/>
                  </a:cubicBezTo>
                  <a:close/>
                </a:path>
              </a:pathLst>
            </a:custGeom>
            <a:blipFill>
              <a:blip r:embed="rId3">
                <a:alphaModFix amt="0"/>
              </a:blip>
              <a:stretch>
                <a:fillRect l="-78302" r="-78300" b="1"/>
              </a:stretch>
            </a:blipFill>
            <a:ln w="28665" cap="sq">
              <a:solidFill>
                <a:srgbClr val="C41E3A"/>
              </a:solidFill>
              <a:prstDash val="dash"/>
              <a:miter/>
            </a:ln>
          </p:spPr>
          <p:txBody>
            <a:bodyPr/>
            <a:lstStyle/>
            <a:p>
              <a:endParaRPr lang="en-US"/>
            </a:p>
          </p:txBody>
        </p:sp>
      </p:grpSp>
      <p:grpSp>
        <p:nvGrpSpPr>
          <p:cNvPr id="32" name="Group 32"/>
          <p:cNvGrpSpPr/>
          <p:nvPr/>
        </p:nvGrpSpPr>
        <p:grpSpPr>
          <a:xfrm>
            <a:off x="13162769" y="3783721"/>
            <a:ext cx="3439754" cy="1926260"/>
            <a:chOff x="0" y="0"/>
            <a:chExt cx="4586338" cy="2568346"/>
          </a:xfrm>
        </p:grpSpPr>
        <p:sp>
          <p:nvSpPr>
            <p:cNvPr id="33" name="Freeform 33"/>
            <p:cNvSpPr/>
            <p:nvPr/>
          </p:nvSpPr>
          <p:spPr>
            <a:xfrm>
              <a:off x="0" y="0"/>
              <a:ext cx="4586332" cy="2568346"/>
            </a:xfrm>
            <a:custGeom>
              <a:avLst/>
              <a:gdLst/>
              <a:ahLst/>
              <a:cxnLst/>
              <a:rect l="l" t="t" r="r" b="b"/>
              <a:pathLst>
                <a:path w="4586332" h="2568346">
                  <a:moveTo>
                    <a:pt x="0" y="0"/>
                  </a:moveTo>
                  <a:lnTo>
                    <a:pt x="4586332" y="0"/>
                  </a:lnTo>
                  <a:lnTo>
                    <a:pt x="4586332" y="2568346"/>
                  </a:lnTo>
                  <a:lnTo>
                    <a:pt x="0" y="2568346"/>
                  </a:lnTo>
                  <a:close/>
                </a:path>
              </a:pathLst>
            </a:custGeom>
            <a:blipFill>
              <a:blip r:embed="rId3">
                <a:alphaModFix amt="0"/>
              </a:blip>
              <a:stretch>
                <a:fillRect l="-21849" r="-21850"/>
              </a:stretch>
            </a:blipFill>
          </p:spPr>
          <p:txBody>
            <a:bodyPr/>
            <a:lstStyle/>
            <a:p>
              <a:endParaRPr lang="en-US"/>
            </a:p>
          </p:txBody>
        </p:sp>
        <p:sp>
          <p:nvSpPr>
            <p:cNvPr id="34" name="TextBox 34"/>
            <p:cNvSpPr txBox="1"/>
            <p:nvPr/>
          </p:nvSpPr>
          <p:spPr>
            <a:xfrm>
              <a:off x="0" y="0"/>
              <a:ext cx="4586338" cy="2568346"/>
            </a:xfrm>
            <a:prstGeom prst="rect">
              <a:avLst/>
            </a:prstGeom>
          </p:spPr>
          <p:txBody>
            <a:bodyPr lIns="0" tIns="0" rIns="0" bIns="0" rtlCol="0" anchor="ctr"/>
            <a:lstStyle/>
            <a:p>
              <a:pPr algn="ctr">
                <a:lnSpc>
                  <a:spcPts val="5416"/>
                </a:lnSpc>
              </a:pPr>
              <a:r>
                <a:rPr lang="en-US" sz="4514" b="1">
                  <a:solidFill>
                    <a:srgbClr val="FFD700"/>
                  </a:solidFill>
                  <a:latin typeface="Montserrat Heavy"/>
                  <a:ea typeface="Montserrat Heavy"/>
                  <a:cs typeface="Montserrat Heavy"/>
                  <a:sym typeface="Montserrat Heavy"/>
                </a:rPr>
                <a:t>Hàng trăm</a:t>
              </a:r>
            </a:p>
          </p:txBody>
        </p:sp>
      </p:grpSp>
      <p:grpSp>
        <p:nvGrpSpPr>
          <p:cNvPr id="35" name="Group 35"/>
          <p:cNvGrpSpPr/>
          <p:nvPr/>
        </p:nvGrpSpPr>
        <p:grpSpPr>
          <a:xfrm>
            <a:off x="12428963" y="6741909"/>
            <a:ext cx="4907375" cy="1375900"/>
            <a:chOff x="0" y="0"/>
            <a:chExt cx="6543167" cy="1834533"/>
          </a:xfrm>
        </p:grpSpPr>
        <p:sp>
          <p:nvSpPr>
            <p:cNvPr id="36" name="Freeform 36"/>
            <p:cNvSpPr/>
            <p:nvPr/>
          </p:nvSpPr>
          <p:spPr>
            <a:xfrm>
              <a:off x="0" y="0"/>
              <a:ext cx="6543167" cy="1834538"/>
            </a:xfrm>
            <a:custGeom>
              <a:avLst/>
              <a:gdLst/>
              <a:ahLst/>
              <a:cxnLst/>
              <a:rect l="l" t="t" r="r" b="b"/>
              <a:pathLst>
                <a:path w="6543167" h="1834538">
                  <a:moveTo>
                    <a:pt x="0" y="0"/>
                  </a:moveTo>
                  <a:lnTo>
                    <a:pt x="6543167" y="0"/>
                  </a:lnTo>
                  <a:lnTo>
                    <a:pt x="6543167" y="1834538"/>
                  </a:lnTo>
                  <a:lnTo>
                    <a:pt x="0" y="1834538"/>
                  </a:lnTo>
                  <a:close/>
                </a:path>
              </a:pathLst>
            </a:custGeom>
            <a:blipFill>
              <a:blip r:embed="rId3">
                <a:alphaModFix amt="0"/>
              </a:blip>
              <a:stretch>
                <a:fillRect t="-19496" b="-19496"/>
              </a:stretch>
            </a:blipFill>
          </p:spPr>
          <p:txBody>
            <a:bodyPr/>
            <a:lstStyle/>
            <a:p>
              <a:endParaRPr lang="en-US"/>
            </a:p>
          </p:txBody>
        </p:sp>
        <p:sp>
          <p:nvSpPr>
            <p:cNvPr id="37" name="TextBox 37"/>
            <p:cNvSpPr txBox="1"/>
            <p:nvPr/>
          </p:nvSpPr>
          <p:spPr>
            <a:xfrm>
              <a:off x="0" y="0"/>
              <a:ext cx="6543167" cy="1834533"/>
            </a:xfrm>
            <a:prstGeom prst="rect">
              <a:avLst/>
            </a:prstGeom>
          </p:spPr>
          <p:txBody>
            <a:bodyPr lIns="0" tIns="0" rIns="0" bIns="0" rtlCol="0" anchor="ctr"/>
            <a:lstStyle/>
            <a:p>
              <a:pPr algn="ctr">
                <a:lnSpc>
                  <a:spcPts val="2588"/>
                </a:lnSpc>
              </a:pPr>
              <a:r>
                <a:rPr lang="en-US" sz="2157" b="1">
                  <a:solidFill>
                    <a:srgbClr val="FFFFFF"/>
                  </a:solidFill>
                  <a:latin typeface="Montserrat Heavy"/>
                  <a:ea typeface="Montserrat Heavy"/>
                  <a:cs typeface="Montserrat Heavy"/>
                  <a:sym typeface="Montserrat Heavy"/>
                </a:rPr>
                <a:t>lượt Chatbot phục vụ NGOÀI GIỜ</a:t>
              </a:r>
            </a:p>
          </p:txBody>
        </p:sp>
      </p:grpSp>
      <p:grpSp>
        <p:nvGrpSpPr>
          <p:cNvPr id="38" name="Group 38"/>
          <p:cNvGrpSpPr/>
          <p:nvPr/>
        </p:nvGrpSpPr>
        <p:grpSpPr>
          <a:xfrm>
            <a:off x="963130" y="9686334"/>
            <a:ext cx="16373208" cy="19260"/>
            <a:chOff x="0" y="0"/>
            <a:chExt cx="21830944" cy="25679"/>
          </a:xfrm>
        </p:grpSpPr>
        <p:sp>
          <p:nvSpPr>
            <p:cNvPr id="39" name="Freeform 39"/>
            <p:cNvSpPr/>
            <p:nvPr/>
          </p:nvSpPr>
          <p:spPr>
            <a:xfrm>
              <a:off x="0" y="0"/>
              <a:ext cx="21830919" cy="25654"/>
            </a:xfrm>
            <a:custGeom>
              <a:avLst/>
              <a:gdLst/>
              <a:ahLst/>
              <a:cxnLst/>
              <a:rect l="l" t="t" r="r" b="b"/>
              <a:pathLst>
                <a:path w="21830919" h="25654">
                  <a:moveTo>
                    <a:pt x="0" y="0"/>
                  </a:moveTo>
                  <a:lnTo>
                    <a:pt x="21830919" y="0"/>
                  </a:lnTo>
                  <a:lnTo>
                    <a:pt x="21830919" y="25654"/>
                  </a:lnTo>
                  <a:lnTo>
                    <a:pt x="0" y="25654"/>
                  </a:lnTo>
                  <a:close/>
                </a:path>
              </a:pathLst>
            </a:custGeom>
            <a:solidFill>
              <a:srgbClr val="FFD700"/>
            </a:solidFill>
          </p:spPr>
          <p:txBody>
            <a:bodyPr/>
            <a:lstStyle/>
            <a:p>
              <a:endParaRPr lang="en-US"/>
            </a:p>
          </p:txBody>
        </p:sp>
      </p:grpSp>
      <p:grpSp>
        <p:nvGrpSpPr>
          <p:cNvPr id="40" name="Group 40"/>
          <p:cNvGrpSpPr/>
          <p:nvPr/>
        </p:nvGrpSpPr>
        <p:grpSpPr>
          <a:xfrm>
            <a:off x="963130" y="9741370"/>
            <a:ext cx="12383100" cy="412770"/>
            <a:chOff x="0" y="0"/>
            <a:chExt cx="16510800" cy="550360"/>
          </a:xfrm>
        </p:grpSpPr>
        <p:sp>
          <p:nvSpPr>
            <p:cNvPr id="41" name="Freeform 41"/>
            <p:cNvSpPr/>
            <p:nvPr/>
          </p:nvSpPr>
          <p:spPr>
            <a:xfrm>
              <a:off x="0" y="0"/>
              <a:ext cx="16510797" cy="550365"/>
            </a:xfrm>
            <a:custGeom>
              <a:avLst/>
              <a:gdLst/>
              <a:ahLst/>
              <a:cxnLst/>
              <a:rect l="l" t="t" r="r" b="b"/>
              <a:pathLst>
                <a:path w="16510797" h="550365">
                  <a:moveTo>
                    <a:pt x="0" y="0"/>
                  </a:moveTo>
                  <a:lnTo>
                    <a:pt x="16510797" y="0"/>
                  </a:lnTo>
                  <a:lnTo>
                    <a:pt x="16510797" y="550365"/>
                  </a:lnTo>
                  <a:lnTo>
                    <a:pt x="0" y="550365"/>
                  </a:lnTo>
                  <a:close/>
                </a:path>
              </a:pathLst>
            </a:custGeom>
            <a:blipFill>
              <a:blip r:embed="rId3">
                <a:alphaModFix amt="0"/>
              </a:blip>
              <a:stretch>
                <a:fillRect t="-534546" b="-534544"/>
              </a:stretch>
            </a:blipFill>
          </p:spPr>
          <p:txBody>
            <a:bodyPr/>
            <a:lstStyle/>
            <a:p>
              <a:endParaRPr lang="en-US"/>
            </a:p>
          </p:txBody>
        </p:sp>
        <p:sp>
          <p:nvSpPr>
            <p:cNvPr id="42" name="TextBox 42"/>
            <p:cNvSpPr txBox="1"/>
            <p:nvPr/>
          </p:nvSpPr>
          <p:spPr>
            <a:xfrm>
              <a:off x="0" y="0"/>
              <a:ext cx="16510800" cy="550360"/>
            </a:xfrm>
            <a:prstGeom prst="rect">
              <a:avLst/>
            </a:prstGeom>
          </p:spPr>
          <p:txBody>
            <a:bodyPr lIns="0" tIns="0" rIns="0" bIns="0" rtlCol="0" anchor="ctr"/>
            <a:lstStyle/>
            <a:p>
              <a:pPr algn="l">
                <a:lnSpc>
                  <a:spcPts val="1625"/>
                </a:lnSpc>
              </a:pPr>
              <a:r>
                <a:rPr lang="en-US" sz="1354" b="1" spc="150">
                  <a:solidFill>
                    <a:srgbClr val="FFE9A8"/>
                  </a:solidFill>
                  <a:latin typeface="Montserrat Heavy"/>
                  <a:ea typeface="Montserrat Heavy"/>
                  <a:cs typeface="Montserrat Heavy"/>
                  <a:sym typeface="Montserrat Heavy"/>
                </a:rPr>
                <a:t>CÔNG AN PHƯỜNG PHÚ THỌ   ·   SÁNG KIẾN CẢI CÁCH HÀNH CHÍNH · 2026</a:t>
              </a:r>
            </a:p>
          </p:txBody>
        </p:sp>
      </p:grpSp>
      <p:grpSp>
        <p:nvGrpSpPr>
          <p:cNvPr id="43" name="Group 43"/>
          <p:cNvGrpSpPr/>
          <p:nvPr/>
        </p:nvGrpSpPr>
        <p:grpSpPr>
          <a:xfrm>
            <a:off x="15960433" y="9741370"/>
            <a:ext cx="1375896" cy="412770"/>
            <a:chOff x="0" y="0"/>
            <a:chExt cx="1834528" cy="550360"/>
          </a:xfrm>
        </p:grpSpPr>
        <p:sp>
          <p:nvSpPr>
            <p:cNvPr id="44" name="Freeform 44"/>
            <p:cNvSpPr/>
            <p:nvPr/>
          </p:nvSpPr>
          <p:spPr>
            <a:xfrm>
              <a:off x="0" y="0"/>
              <a:ext cx="1834533" cy="550365"/>
            </a:xfrm>
            <a:custGeom>
              <a:avLst/>
              <a:gdLst/>
              <a:ahLst/>
              <a:cxnLst/>
              <a:rect l="l" t="t" r="r" b="b"/>
              <a:pathLst>
                <a:path w="1834533" h="550365">
                  <a:moveTo>
                    <a:pt x="0" y="0"/>
                  </a:moveTo>
                  <a:lnTo>
                    <a:pt x="1834533" y="0"/>
                  </a:lnTo>
                  <a:lnTo>
                    <a:pt x="1834533" y="550365"/>
                  </a:lnTo>
                  <a:lnTo>
                    <a:pt x="0" y="550365"/>
                  </a:lnTo>
                  <a:close/>
                </a:path>
              </a:pathLst>
            </a:custGeom>
            <a:blipFill>
              <a:blip r:embed="rId3">
                <a:alphaModFix amt="0"/>
              </a:blip>
              <a:stretch>
                <a:fillRect t="-14950" b="-14948"/>
              </a:stretch>
            </a:blipFill>
          </p:spPr>
          <p:txBody>
            <a:bodyPr/>
            <a:lstStyle/>
            <a:p>
              <a:endParaRPr lang="en-US"/>
            </a:p>
          </p:txBody>
        </p:sp>
        <p:sp>
          <p:nvSpPr>
            <p:cNvPr id="45" name="TextBox 45"/>
            <p:cNvSpPr txBox="1"/>
            <p:nvPr/>
          </p:nvSpPr>
          <p:spPr>
            <a:xfrm>
              <a:off x="0" y="-9525"/>
              <a:ext cx="1834528" cy="559885"/>
            </a:xfrm>
            <a:prstGeom prst="rect">
              <a:avLst/>
            </a:prstGeom>
          </p:spPr>
          <p:txBody>
            <a:bodyPr lIns="0" tIns="0" rIns="0" bIns="0" rtlCol="0" anchor="ctr"/>
            <a:lstStyle/>
            <a:p>
              <a:pPr algn="r">
                <a:lnSpc>
                  <a:spcPts val="1805"/>
                </a:lnSpc>
              </a:pPr>
              <a:r>
                <a:rPr lang="en-US" sz="1504" b="1">
                  <a:solidFill>
                    <a:srgbClr val="FFD700"/>
                  </a:solidFill>
                  <a:latin typeface="Montserrat Heavy"/>
                  <a:ea typeface="Montserrat Heavy"/>
                  <a:cs typeface="Montserrat Heavy"/>
                  <a:sym typeface="Montserrat Heavy"/>
                </a:rPr>
                <a:t>09</a:t>
              </a:r>
            </a:p>
          </p:txBody>
        </p:sp>
      </p:grpSp>
      <p:sp>
        <p:nvSpPr>
          <p:cNvPr id="46" name="Freeform 46"/>
          <p:cNvSpPr/>
          <p:nvPr/>
        </p:nvSpPr>
        <p:spPr>
          <a:xfrm>
            <a:off x="15763067" y="633048"/>
            <a:ext cx="1770628" cy="1768414"/>
          </a:xfrm>
          <a:custGeom>
            <a:avLst/>
            <a:gdLst/>
            <a:ahLst/>
            <a:cxnLst/>
            <a:rect l="l" t="t" r="r" b="b"/>
            <a:pathLst>
              <a:path w="1770628" h="1768414">
                <a:moveTo>
                  <a:pt x="0" y="0"/>
                </a:moveTo>
                <a:lnTo>
                  <a:pt x="1770628" y="0"/>
                </a:lnTo>
                <a:lnTo>
                  <a:pt x="1770628" y="1768414"/>
                </a:lnTo>
                <a:lnTo>
                  <a:pt x="0" y="1768414"/>
                </a:lnTo>
                <a:lnTo>
                  <a:pt x="0" y="0"/>
                </a:lnTo>
                <a:close/>
              </a:path>
            </a:pathLst>
          </a:custGeom>
          <a:blipFill>
            <a:blip>
              <a:alphaModFix amt="10999"/>
              <a:extLst>
                <a:ext uri="{96DAC541-7B7A-43D3-8B79-37D633B846F1}">
                  <asvg:svgBlip xmlns:asvg="http://schemas.microsoft.com/office/drawing/2016/SVG/main" r:embed="rId4"/>
                </a:ext>
              </a:extLst>
            </a:blip>
            <a:stretch>
              <a:fillRect/>
            </a:stretch>
          </a:blipFill>
        </p:spPr>
        <p:txBody>
          <a:bodyPr/>
          <a:lstStyle/>
          <a:p>
            <a:endParaRPr lang="en-US"/>
          </a:p>
        </p:txBody>
      </p:sp>
    </p:spTree>
    <p:extLst>
      <p:ext uri="{BB962C8B-B14F-4D97-AF65-F5344CB8AC3E}">
        <p14:creationId xmlns:p14="http://schemas.microsoft.com/office/powerpoint/2010/main" val="1846574556"/>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0"/>
                      </p:stCondLst>
                      <p:childTnLst>
                        <p:par>
                          <p:cTn id="4" presetID="10" presetClass="entr" presetSubtype="0" fill="hold" nodeType="afterEffect">
                            <p:stCondLst>
                              <p:cond delay="0"/>
                            </p:stCondLst>
                            <p:childTnLst>
                              <p:set>
                                <p:cBhvr>
                                  <p:cTn id="5" dur="1" fill="hold">
                                    <p:stCondLst>
                                      <p:cond delay="0"/>
                                    </p:stCondLst>
                                  </p:cTn>
                                  <p:tgtEl>
                                    <p:spTgt spid="8"/>
                                  </p:tgtEl>
                                  <p:attrNameLst>
                                    <p:attrName>style.visibility</p:attrName>
                                  </p:attrNameLst>
                                </p:cBhvr>
                                <p:to>
                                  <p:strVal val="visible"/>
                                </p:to>
                              </p:set>
                              <p:animEffect transition="in" filter="fade">
                                <p:cBhvr>
                                  <p:cTn id="6" dur="650"/>
                                  <p:tgtEl>
                                    <p:spTgt spid="8"/>
                                  </p:tgtEl>
                                </p:cBhvr>
                              </p:animEffect>
                            </p:childTnLst>
                          </p:cTn>
                        </p:par>
                        <p:par>
                          <p:cTn id="7" presetID="10" presetClass="entr" presetSubtype="0" fill="hold" nodeType="afterEffect">
                            <p:stCondLst>
                              <p:cond delay="0"/>
                            </p:stCondLst>
                            <p:childTnLst>
                              <p:set>
                                <p:cBhvr>
                                  <p:cTn id="8" dur="1" fill="hold">
                                    <p:stCondLst>
                                      <p:cond delay="0"/>
                                    </p:stCondLst>
                                  </p:cTn>
                                  <p:tgtEl>
                                    <p:spTgt spid="10"/>
                                  </p:tgtEl>
                                  <p:attrNameLst>
                                    <p:attrName>style.visibility</p:attrName>
                                  </p:attrNameLst>
                                </p:cBhvr>
                                <p:to>
                                  <p:strVal val="visible"/>
                                </p:to>
                              </p:set>
                              <p:animEffect transition="in" filter="fade">
                                <p:cBhvr>
                                  <p:cTn id="9" dur="650"/>
                                  <p:tgtEl>
                                    <p:spTgt spid="10"/>
                                  </p:tgtEl>
                                </p:cBhvr>
                              </p:animEffect>
                            </p:childTnLst>
                          </p:cTn>
                        </p:par>
                        <p:par>
                          <p:cTn id="10" presetID="10" presetClass="entr" presetSubtype="0" fill="hold" nodeType="afterEffect">
                            <p:stCondLst>
                              <p:cond delay="0"/>
                            </p:stCondLst>
                            <p:childTnLst>
                              <p:set>
                                <p:cBhvr>
                                  <p:cTn id="11" dur="1" fill="hold">
                                    <p:stCondLst>
                                      <p:cond delay="0"/>
                                    </p:stCondLst>
                                  </p:cTn>
                                  <p:tgtEl>
                                    <p:spTgt spid="12"/>
                                  </p:tgtEl>
                                  <p:attrNameLst>
                                    <p:attrName>style.visibility</p:attrName>
                                  </p:attrNameLst>
                                </p:cBhvr>
                                <p:to>
                                  <p:strVal val="visible"/>
                                </p:to>
                              </p:set>
                              <p:animEffect transition="in" filter="fade">
                                <p:cBhvr>
                                  <p:cTn id="12" dur="650"/>
                                  <p:tgtEl>
                                    <p:spTgt spid="12"/>
                                  </p:tgtEl>
                                </p:cBhvr>
                              </p:animEffect>
                            </p:childTnLst>
                          </p:cTn>
                        </p:par>
                        <p:par>
                          <p:cTn id="13" presetID="10" presetClass="entr" presetSubtype="0" fill="hold" nodeType="afterEffect">
                            <p:stCondLst>
                              <p:cond delay="0"/>
                            </p:stCondLst>
                            <p:childTnLst>
                              <p:set>
                                <p:cBhvr>
                                  <p:cTn id="14" dur="1" fill="hold">
                                    <p:stCondLst>
                                      <p:cond delay="0"/>
                                    </p:stCondLst>
                                  </p:cTn>
                                  <p:tgtEl>
                                    <p:spTgt spid="15"/>
                                  </p:tgtEl>
                                  <p:attrNameLst>
                                    <p:attrName>style.visibility</p:attrName>
                                  </p:attrNameLst>
                                </p:cBhvr>
                                <p:to>
                                  <p:strVal val="visible"/>
                                </p:to>
                              </p:set>
                              <p:animEffect transition="in" filter="fade">
                                <p:cBhvr>
                                  <p:cTn id="15" dur="650"/>
                                  <p:tgtEl>
                                    <p:spTgt spid="15"/>
                                  </p:tgtEl>
                                </p:cBhvr>
                              </p:animEffect>
                            </p:childTnLst>
                          </p:cTn>
                        </p:par>
                        <p:par>
                          <p:cTn id="16" presetID="10" presetClass="entr" presetSubtype="0" fill="hold" nodeType="afterEffect">
                            <p:stCondLst>
                              <p:cond delay="600"/>
                            </p:stCondLst>
                            <p:childTnLst>
                              <p:set>
                                <p:cBhvr>
                                  <p:cTn id="17" dur="1" fill="hold">
                                    <p:stCondLst>
                                      <p:cond delay="0"/>
                                    </p:stCondLst>
                                  </p:cTn>
                                  <p:tgtEl>
                                    <p:spTgt spid="18"/>
                                  </p:tgtEl>
                                  <p:attrNameLst>
                                    <p:attrName>style.visibility</p:attrName>
                                  </p:attrNameLst>
                                </p:cBhvr>
                                <p:to>
                                  <p:strVal val="visible"/>
                                </p:to>
                              </p:set>
                              <p:animEffect transition="in" filter="fade">
                                <p:cBhvr>
                                  <p:cTn id="18" dur="650"/>
                                  <p:tgtEl>
                                    <p:spTgt spid="18"/>
                                  </p:tgtEl>
                                </p:cBhvr>
                              </p:animEffect>
                            </p:childTnLst>
                          </p:cTn>
                        </p:par>
                        <p:par>
                          <p:cTn id="19" presetID="10" presetClass="entr" presetSubtype="0" fill="hold" nodeType="afterEffect">
                            <p:stCondLst>
                              <p:cond delay="600"/>
                            </p:stCondLst>
                            <p:childTnLst>
                              <p:set>
                                <p:cBhvr>
                                  <p:cTn id="20" dur="1" fill="hold">
                                    <p:stCondLst>
                                      <p:cond delay="0"/>
                                    </p:stCondLst>
                                  </p:cTn>
                                  <p:tgtEl>
                                    <p:spTgt spid="20"/>
                                  </p:tgtEl>
                                  <p:attrNameLst>
                                    <p:attrName>style.visibility</p:attrName>
                                  </p:attrNameLst>
                                </p:cBhvr>
                                <p:to>
                                  <p:strVal val="visible"/>
                                </p:to>
                              </p:set>
                              <p:animEffect transition="in" filter="fade">
                                <p:cBhvr>
                                  <p:cTn id="21" dur="650"/>
                                  <p:tgtEl>
                                    <p:spTgt spid="20"/>
                                  </p:tgtEl>
                                </p:cBhvr>
                              </p:animEffect>
                            </p:childTnLst>
                          </p:cTn>
                        </p:par>
                        <p:par>
                          <p:cTn id="22" presetID="10" presetClass="entr" presetSubtype="0" fill="hold" nodeType="afterEffect">
                            <p:stCondLst>
                              <p:cond delay="600"/>
                            </p:stCondLst>
                            <p:childTnLst>
                              <p:set>
                                <p:cBhvr>
                                  <p:cTn id="23" dur="1" fill="hold">
                                    <p:stCondLst>
                                      <p:cond delay="0"/>
                                    </p:stCondLst>
                                  </p:cTn>
                                  <p:tgtEl>
                                    <p:spTgt spid="22"/>
                                  </p:tgtEl>
                                  <p:attrNameLst>
                                    <p:attrName>style.visibility</p:attrName>
                                  </p:attrNameLst>
                                </p:cBhvr>
                                <p:to>
                                  <p:strVal val="visible"/>
                                </p:to>
                              </p:set>
                              <p:animEffect transition="in" filter="fade">
                                <p:cBhvr>
                                  <p:cTn id="24" dur="650"/>
                                  <p:tgtEl>
                                    <p:spTgt spid="22"/>
                                  </p:tgtEl>
                                </p:cBhvr>
                              </p:animEffect>
                            </p:childTnLst>
                          </p:cTn>
                        </p:par>
                        <p:par>
                          <p:cTn id="25" presetID="10" presetClass="entr" presetSubtype="0" fill="hold" nodeType="afterEffect">
                            <p:stCondLst>
                              <p:cond delay="600"/>
                            </p:stCondLst>
                            <p:childTnLst>
                              <p:set>
                                <p:cBhvr>
                                  <p:cTn id="26" dur="1" fill="hold">
                                    <p:stCondLst>
                                      <p:cond delay="0"/>
                                    </p:stCondLst>
                                  </p:cTn>
                                  <p:tgtEl>
                                    <p:spTgt spid="25"/>
                                  </p:tgtEl>
                                  <p:attrNameLst>
                                    <p:attrName>style.visibility</p:attrName>
                                  </p:attrNameLst>
                                </p:cBhvr>
                                <p:to>
                                  <p:strVal val="visible"/>
                                </p:to>
                              </p:set>
                              <p:animEffect transition="in" filter="fade">
                                <p:cBhvr>
                                  <p:cTn id="27" dur="650"/>
                                  <p:tgtEl>
                                    <p:spTgt spid="25"/>
                                  </p:tgtEl>
                                </p:cBhvr>
                              </p:animEffect>
                            </p:childTnLst>
                          </p:cTn>
                        </p:par>
                        <p:par>
                          <p:cTn id="28" presetID="10" presetClass="entr" presetSubtype="0" fill="hold" nodeType="afterEffect">
                            <p:stCondLst>
                              <p:cond delay="1200"/>
                            </p:stCondLst>
                            <p:childTnLst>
                              <p:set>
                                <p:cBhvr>
                                  <p:cTn id="29" dur="1" fill="hold">
                                    <p:stCondLst>
                                      <p:cond delay="0"/>
                                    </p:stCondLst>
                                  </p:cTn>
                                  <p:tgtEl>
                                    <p:spTgt spid="28"/>
                                  </p:tgtEl>
                                  <p:attrNameLst>
                                    <p:attrName>style.visibility</p:attrName>
                                  </p:attrNameLst>
                                </p:cBhvr>
                                <p:to>
                                  <p:strVal val="visible"/>
                                </p:to>
                              </p:set>
                              <p:animEffect transition="in" filter="fade">
                                <p:cBhvr>
                                  <p:cTn id="30" dur="650"/>
                                  <p:tgtEl>
                                    <p:spTgt spid="28"/>
                                  </p:tgtEl>
                                </p:cBhvr>
                              </p:animEffect>
                            </p:childTnLst>
                          </p:cTn>
                        </p:par>
                        <p:par>
                          <p:cTn id="31" presetID="10" presetClass="entr" presetSubtype="0" fill="hold" nodeType="afterEffect">
                            <p:stCondLst>
                              <p:cond delay="1200"/>
                            </p:stCondLst>
                            <p:childTnLst>
                              <p:set>
                                <p:cBhvr>
                                  <p:cTn id="32" dur="1" fill="hold">
                                    <p:stCondLst>
                                      <p:cond delay="0"/>
                                    </p:stCondLst>
                                  </p:cTn>
                                  <p:tgtEl>
                                    <p:spTgt spid="30"/>
                                  </p:tgtEl>
                                  <p:attrNameLst>
                                    <p:attrName>style.visibility</p:attrName>
                                  </p:attrNameLst>
                                </p:cBhvr>
                                <p:to>
                                  <p:strVal val="visible"/>
                                </p:to>
                              </p:set>
                              <p:animEffect transition="in" filter="fade">
                                <p:cBhvr>
                                  <p:cTn id="33" dur="650"/>
                                  <p:tgtEl>
                                    <p:spTgt spid="30"/>
                                  </p:tgtEl>
                                </p:cBhvr>
                              </p:animEffect>
                            </p:childTnLst>
                          </p:cTn>
                        </p:par>
                        <p:par>
                          <p:cTn id="34" presetID="10" presetClass="entr" presetSubtype="0" fill="hold" nodeType="afterEffect">
                            <p:stCondLst>
                              <p:cond delay="1200"/>
                            </p:stCondLst>
                            <p:childTnLst>
                              <p:set>
                                <p:cBhvr>
                                  <p:cTn id="35" dur="1" fill="hold">
                                    <p:stCondLst>
                                      <p:cond delay="0"/>
                                    </p:stCondLst>
                                  </p:cTn>
                                  <p:tgtEl>
                                    <p:spTgt spid="32"/>
                                  </p:tgtEl>
                                  <p:attrNameLst>
                                    <p:attrName>style.visibility</p:attrName>
                                  </p:attrNameLst>
                                </p:cBhvr>
                                <p:to>
                                  <p:strVal val="visible"/>
                                </p:to>
                              </p:set>
                              <p:animEffect transition="in" filter="fade">
                                <p:cBhvr>
                                  <p:cTn id="36" dur="650"/>
                                  <p:tgtEl>
                                    <p:spTgt spid="32"/>
                                  </p:tgtEl>
                                </p:cBhvr>
                              </p:animEffect>
                            </p:childTnLst>
                          </p:cTn>
                        </p:par>
                        <p:par>
                          <p:cTn id="37" presetID="10" presetClass="entr" presetSubtype="0" fill="hold" nodeType="afterEffect">
                            <p:stCondLst>
                              <p:cond delay="1200"/>
                            </p:stCondLst>
                            <p:childTnLst>
                              <p:set>
                                <p:cBhvr>
                                  <p:cTn id="38" dur="1" fill="hold">
                                    <p:stCondLst>
                                      <p:cond delay="0"/>
                                    </p:stCondLst>
                                  </p:cTn>
                                  <p:tgtEl>
                                    <p:spTgt spid="35"/>
                                  </p:tgtEl>
                                  <p:attrNameLst>
                                    <p:attrName>style.visibility</p:attrName>
                                  </p:attrNameLst>
                                </p:cBhvr>
                                <p:to>
                                  <p:strVal val="visible"/>
                                </p:to>
                              </p:set>
                              <p:animEffect transition="in" filter="fade">
                                <p:cBhvr>
                                  <p:cTn id="39" dur="650"/>
                                  <p:tgtEl>
                                    <p:spTgt spid="35"/>
                                  </p:tgtEl>
                                </p:cBhvr>
                              </p:animEffect>
                            </p:childTnLst>
                          </p:cTn>
                        </p:par>
                        <p:par>
                          <p:cTn id="40" fill="hold">
                            <p:stCondLst>
                              <p:cond delay="0"/>
                            </p:stCondLst>
                            <p:childTnLst>
                              <p:animRot by="21600000">
                                <p:cBhvr>
                                  <p:cTn id="41" dur="60000" repeatCount="indefinite" fill="hold"/>
                                  <p:tgtEl>
                                    <p:spTgt spid="46"/>
                                  </p:tgtEl>
                                  <p:attrNameLst>
                                    <p:attrName>r</p:attrName>
                                  </p:attrNameLst>
                                </p:cBhvr>
                              </p:animRot>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0.xml><?xml version="1.0" encoding="utf-8"?>
<p:sld xmlns:a="http://schemas.openxmlformats.org/drawingml/2006/main" xmlns:r="http://schemas.openxmlformats.org/officeDocument/2006/relationships" xmlns:p="http://schemas.openxmlformats.org/presentationml/2006/main">
  <p:cSld>
    <p:bg>
      <p:bgPr>
        <a:solidFill>
          <a:srgbClr val="7A0010"/>
        </a:solidFill>
        <a:effectLst/>
      </p:bgPr>
    </p:bg>
    <p:spTree>
      <p:nvGrpSpPr>
        <p:cNvPr id="1" name=""/>
        <p:cNvGrpSpPr/>
        <p:nvPr/>
      </p:nvGrpSpPr>
      <p:grpSpPr>
        <a:xfrm>
          <a:off x="0" y="0"/>
          <a:ext cx="0" cy="0"/>
          <a:chOff x="0" y="0"/>
          <a:chExt cx="0" cy="0"/>
        </a:xfrm>
      </p:grpSpPr>
      <p:grpSp>
        <p:nvGrpSpPr>
          <p:cNvPr id="2" name="Group 2"/>
          <p:cNvGrpSpPr/>
          <p:nvPr/>
        </p:nvGrpSpPr>
        <p:grpSpPr>
          <a:xfrm>
            <a:off x="963130" y="687953"/>
            <a:ext cx="14997303" cy="481565"/>
            <a:chOff x="0" y="0"/>
            <a:chExt cx="19996404" cy="642087"/>
          </a:xfrm>
        </p:grpSpPr>
        <p:sp>
          <p:nvSpPr>
            <p:cNvPr id="3" name="Freeform 3"/>
            <p:cNvSpPr/>
            <p:nvPr/>
          </p:nvSpPr>
          <p:spPr>
            <a:xfrm>
              <a:off x="0" y="0"/>
              <a:ext cx="19996409" cy="642086"/>
            </a:xfrm>
            <a:custGeom>
              <a:avLst/>
              <a:gdLst/>
              <a:ahLst/>
              <a:cxnLst/>
              <a:rect l="l" t="t" r="r" b="b"/>
              <a:pathLst>
                <a:path w="19996409" h="642086">
                  <a:moveTo>
                    <a:pt x="0" y="0"/>
                  </a:moveTo>
                  <a:lnTo>
                    <a:pt x="19996409" y="0"/>
                  </a:lnTo>
                  <a:lnTo>
                    <a:pt x="19996409" y="642086"/>
                  </a:lnTo>
                  <a:lnTo>
                    <a:pt x="0" y="642086"/>
                  </a:lnTo>
                  <a:close/>
                </a:path>
              </a:pathLst>
            </a:custGeom>
            <a:blipFill>
              <a:blip r:embed="rId3">
                <a:alphaModFix amt="0"/>
              </a:blip>
              <a:stretch>
                <a:fillRect t="-556819" b="-556819"/>
              </a:stretch>
            </a:blipFill>
          </p:spPr>
          <p:txBody>
            <a:bodyPr/>
            <a:lstStyle/>
            <a:p>
              <a:endParaRPr lang="en-US"/>
            </a:p>
          </p:txBody>
        </p:sp>
        <p:sp>
          <p:nvSpPr>
            <p:cNvPr id="4" name="TextBox 4"/>
            <p:cNvSpPr txBox="1"/>
            <p:nvPr/>
          </p:nvSpPr>
          <p:spPr>
            <a:xfrm>
              <a:off x="0" y="-9525"/>
              <a:ext cx="19996404" cy="651612"/>
            </a:xfrm>
            <a:prstGeom prst="rect">
              <a:avLst/>
            </a:prstGeom>
          </p:spPr>
          <p:txBody>
            <a:bodyPr lIns="0" tIns="0" rIns="0" bIns="0" rtlCol="0" anchor="ctr"/>
            <a:lstStyle/>
            <a:p>
              <a:pPr algn="l">
                <a:lnSpc>
                  <a:spcPts val="2347"/>
                </a:lnSpc>
              </a:pPr>
              <a:r>
                <a:rPr lang="en-US" sz="1956" b="1" spc="300">
                  <a:solidFill>
                    <a:srgbClr val="FFD700"/>
                  </a:solidFill>
                  <a:latin typeface="Montserrat Bold"/>
                  <a:ea typeface="Montserrat Bold"/>
                  <a:cs typeface="Montserrat Bold"/>
                  <a:sym typeface="Montserrat Bold"/>
                </a:rPr>
                <a:t>GIÁ TRỊ MANG LẠI</a:t>
              </a:r>
            </a:p>
          </p:txBody>
        </p:sp>
      </p:grpSp>
      <p:sp>
        <p:nvSpPr>
          <p:cNvPr id="5" name="TextBox 5"/>
          <p:cNvSpPr txBox="1"/>
          <p:nvPr/>
        </p:nvSpPr>
        <p:spPr>
          <a:xfrm>
            <a:off x="963130" y="1155754"/>
            <a:ext cx="14997303" cy="638197"/>
          </a:xfrm>
          <a:prstGeom prst="rect">
            <a:avLst/>
          </a:prstGeom>
        </p:spPr>
        <p:txBody>
          <a:bodyPr lIns="0" tIns="0" rIns="0" bIns="0" rtlCol="0" anchor="t">
            <a:spAutoFit/>
          </a:bodyPr>
          <a:lstStyle/>
          <a:p>
            <a:pPr algn="l">
              <a:lnSpc>
                <a:spcPts val="5055"/>
              </a:lnSpc>
            </a:pPr>
            <a:r>
              <a:rPr lang="en-US" sz="4213" b="1">
                <a:solidFill>
                  <a:srgbClr val="FFFFFF"/>
                </a:solidFill>
                <a:latin typeface="Montserrat Heavy"/>
                <a:ea typeface="Montserrat Heavy"/>
                <a:cs typeface="Montserrat Heavy"/>
                <a:sym typeface="Montserrat Heavy"/>
              </a:rPr>
              <a:t>CHUYÊN MÔN · KINH TẾ · PHỤC VỤ NHÂN DÂN</a:t>
            </a:r>
          </a:p>
        </p:txBody>
      </p:sp>
      <p:grpSp>
        <p:nvGrpSpPr>
          <p:cNvPr id="6" name="Group 6"/>
          <p:cNvGrpSpPr/>
          <p:nvPr/>
        </p:nvGrpSpPr>
        <p:grpSpPr>
          <a:xfrm>
            <a:off x="963130" y="2228955"/>
            <a:ext cx="1513494" cy="96317"/>
            <a:chOff x="0" y="0"/>
            <a:chExt cx="2017992" cy="128422"/>
          </a:xfrm>
        </p:grpSpPr>
        <p:sp>
          <p:nvSpPr>
            <p:cNvPr id="7" name="Freeform 7"/>
            <p:cNvSpPr/>
            <p:nvPr/>
          </p:nvSpPr>
          <p:spPr>
            <a:xfrm>
              <a:off x="0" y="0"/>
              <a:ext cx="2018030" cy="128397"/>
            </a:xfrm>
            <a:custGeom>
              <a:avLst/>
              <a:gdLst/>
              <a:ahLst/>
              <a:cxnLst/>
              <a:rect l="l" t="t" r="r" b="b"/>
              <a:pathLst>
                <a:path w="2018030" h="128397">
                  <a:moveTo>
                    <a:pt x="0" y="0"/>
                  </a:moveTo>
                  <a:lnTo>
                    <a:pt x="2018030" y="0"/>
                  </a:lnTo>
                  <a:lnTo>
                    <a:pt x="2018030" y="128397"/>
                  </a:lnTo>
                  <a:lnTo>
                    <a:pt x="0" y="128397"/>
                  </a:lnTo>
                  <a:close/>
                </a:path>
              </a:pathLst>
            </a:custGeom>
            <a:solidFill>
              <a:srgbClr val="FFD700"/>
            </a:solidFill>
          </p:spPr>
          <p:txBody>
            <a:bodyPr/>
            <a:lstStyle/>
            <a:p>
              <a:endParaRPr lang="en-US"/>
            </a:p>
          </p:txBody>
        </p:sp>
      </p:grpSp>
      <p:grpSp>
        <p:nvGrpSpPr>
          <p:cNvPr id="8" name="Group 8"/>
          <p:cNvGrpSpPr/>
          <p:nvPr/>
        </p:nvGrpSpPr>
        <p:grpSpPr>
          <a:xfrm>
            <a:off x="953576" y="3292602"/>
            <a:ext cx="5018208" cy="4697168"/>
            <a:chOff x="0" y="0"/>
            <a:chExt cx="6690944" cy="6262891"/>
          </a:xfrm>
        </p:grpSpPr>
        <p:sp>
          <p:nvSpPr>
            <p:cNvPr id="9" name="Freeform 9"/>
            <p:cNvSpPr/>
            <p:nvPr/>
          </p:nvSpPr>
          <p:spPr>
            <a:xfrm>
              <a:off x="0" y="0"/>
              <a:ext cx="6690868" cy="6262878"/>
            </a:xfrm>
            <a:custGeom>
              <a:avLst/>
              <a:gdLst/>
              <a:ahLst/>
              <a:cxnLst/>
              <a:rect l="l" t="t" r="r" b="b"/>
              <a:pathLst>
                <a:path w="6690868" h="6262878">
                  <a:moveTo>
                    <a:pt x="0" y="220980"/>
                  </a:moveTo>
                  <a:cubicBezTo>
                    <a:pt x="0" y="98933"/>
                    <a:pt x="98933" y="0"/>
                    <a:pt x="220980" y="0"/>
                  </a:cubicBezTo>
                  <a:lnTo>
                    <a:pt x="6469888" y="0"/>
                  </a:lnTo>
                  <a:cubicBezTo>
                    <a:pt x="6591935" y="0"/>
                    <a:pt x="6690868" y="98933"/>
                    <a:pt x="6690868" y="220980"/>
                  </a:cubicBezTo>
                  <a:lnTo>
                    <a:pt x="6690868" y="6041898"/>
                  </a:lnTo>
                  <a:cubicBezTo>
                    <a:pt x="6690868" y="6163945"/>
                    <a:pt x="6591935" y="6262878"/>
                    <a:pt x="6469888" y="6262878"/>
                  </a:cubicBezTo>
                  <a:lnTo>
                    <a:pt x="220980" y="6262878"/>
                  </a:lnTo>
                  <a:cubicBezTo>
                    <a:pt x="98933" y="6262878"/>
                    <a:pt x="0" y="6163945"/>
                    <a:pt x="0" y="6041898"/>
                  </a:cubicBezTo>
                  <a:close/>
                </a:path>
              </a:pathLst>
            </a:custGeom>
            <a:solidFill>
              <a:srgbClr val="5F0D14"/>
            </a:solidFill>
            <a:ln w="19110" cap="sq">
              <a:solidFill>
                <a:srgbClr val="C41E3A"/>
              </a:solidFill>
              <a:prstDash val="solid"/>
              <a:miter/>
            </a:ln>
          </p:spPr>
          <p:txBody>
            <a:bodyPr/>
            <a:lstStyle/>
            <a:p>
              <a:endParaRPr lang="en-US"/>
            </a:p>
          </p:txBody>
        </p:sp>
      </p:grpSp>
      <p:grpSp>
        <p:nvGrpSpPr>
          <p:cNvPr id="10" name="Group 10"/>
          <p:cNvGrpSpPr/>
          <p:nvPr/>
        </p:nvGrpSpPr>
        <p:grpSpPr>
          <a:xfrm>
            <a:off x="2637139" y="3825002"/>
            <a:ext cx="1651083" cy="1651083"/>
            <a:chOff x="0" y="0"/>
            <a:chExt cx="2201443" cy="2201443"/>
          </a:xfrm>
        </p:grpSpPr>
        <p:sp>
          <p:nvSpPr>
            <p:cNvPr id="11" name="Freeform 11"/>
            <p:cNvSpPr/>
            <p:nvPr/>
          </p:nvSpPr>
          <p:spPr>
            <a:xfrm>
              <a:off x="0" y="0"/>
              <a:ext cx="2201418" cy="2201418"/>
            </a:xfrm>
            <a:custGeom>
              <a:avLst/>
              <a:gdLst/>
              <a:ahLst/>
              <a:cxnLst/>
              <a:rect l="l" t="t" r="r" b="b"/>
              <a:pathLst>
                <a:path w="2201418" h="2201418">
                  <a:moveTo>
                    <a:pt x="0" y="1100709"/>
                  </a:moveTo>
                  <a:cubicBezTo>
                    <a:pt x="0" y="492760"/>
                    <a:pt x="492760" y="0"/>
                    <a:pt x="1100709" y="0"/>
                  </a:cubicBezTo>
                  <a:cubicBezTo>
                    <a:pt x="1708658" y="0"/>
                    <a:pt x="2201418" y="492760"/>
                    <a:pt x="2201418" y="1100709"/>
                  </a:cubicBezTo>
                  <a:cubicBezTo>
                    <a:pt x="2201418" y="1708658"/>
                    <a:pt x="1708658" y="2201418"/>
                    <a:pt x="1100709" y="2201418"/>
                  </a:cubicBezTo>
                  <a:cubicBezTo>
                    <a:pt x="492760" y="2201418"/>
                    <a:pt x="0" y="1708658"/>
                    <a:pt x="0" y="1100709"/>
                  </a:cubicBezTo>
                  <a:close/>
                </a:path>
              </a:pathLst>
            </a:custGeom>
            <a:solidFill>
              <a:srgbClr val="C41E3A"/>
            </a:solidFill>
          </p:spPr>
          <p:txBody>
            <a:bodyPr/>
            <a:lstStyle/>
            <a:p>
              <a:endParaRPr lang="en-US"/>
            </a:p>
          </p:txBody>
        </p:sp>
      </p:grpSp>
      <p:grpSp>
        <p:nvGrpSpPr>
          <p:cNvPr id="12" name="Group 12"/>
          <p:cNvGrpSpPr/>
          <p:nvPr/>
        </p:nvGrpSpPr>
        <p:grpSpPr>
          <a:xfrm>
            <a:off x="3082938" y="4270791"/>
            <a:ext cx="759495" cy="759495"/>
            <a:chOff x="0" y="0"/>
            <a:chExt cx="1012660" cy="1012660"/>
          </a:xfrm>
        </p:grpSpPr>
        <p:sp>
          <p:nvSpPr>
            <p:cNvPr id="13" name="Freeform 13" descr="preencoded.png"/>
            <p:cNvSpPr/>
            <p:nvPr/>
          </p:nvSpPr>
          <p:spPr>
            <a:xfrm>
              <a:off x="0" y="0"/>
              <a:ext cx="1012698" cy="1012698"/>
            </a:xfrm>
            <a:custGeom>
              <a:avLst/>
              <a:gdLst/>
              <a:ahLst/>
              <a:cxnLst/>
              <a:rect l="l" t="t" r="r" b="b"/>
              <a:pathLst>
                <a:path w="1012698" h="1012698">
                  <a:moveTo>
                    <a:pt x="0" y="0"/>
                  </a:moveTo>
                  <a:lnTo>
                    <a:pt x="1012698" y="0"/>
                  </a:lnTo>
                  <a:lnTo>
                    <a:pt x="1012698" y="1012698"/>
                  </a:lnTo>
                  <a:lnTo>
                    <a:pt x="0" y="1012698"/>
                  </a:lnTo>
                  <a:lnTo>
                    <a:pt x="0" y="0"/>
                  </a:lnTo>
                  <a:close/>
                </a:path>
              </a:pathLst>
            </a:custGeom>
            <a:blipFill>
              <a:blip r:embed="rId4"/>
              <a:stretch>
                <a:fillRect r="3" b="3"/>
              </a:stretch>
            </a:blipFill>
          </p:spPr>
          <p:txBody>
            <a:bodyPr/>
            <a:lstStyle/>
            <a:p>
              <a:endParaRPr lang="en-US"/>
            </a:p>
          </p:txBody>
        </p:sp>
      </p:grpSp>
      <p:grpSp>
        <p:nvGrpSpPr>
          <p:cNvPr id="14" name="Group 14"/>
          <p:cNvGrpSpPr/>
          <p:nvPr/>
        </p:nvGrpSpPr>
        <p:grpSpPr>
          <a:xfrm>
            <a:off x="1238307" y="5709980"/>
            <a:ext cx="4448746" cy="825540"/>
            <a:chOff x="0" y="0"/>
            <a:chExt cx="5931662" cy="1100720"/>
          </a:xfrm>
        </p:grpSpPr>
        <p:sp>
          <p:nvSpPr>
            <p:cNvPr id="15" name="Freeform 15"/>
            <p:cNvSpPr/>
            <p:nvPr/>
          </p:nvSpPr>
          <p:spPr>
            <a:xfrm>
              <a:off x="0" y="0"/>
              <a:ext cx="5931657" cy="1100718"/>
            </a:xfrm>
            <a:custGeom>
              <a:avLst/>
              <a:gdLst/>
              <a:ahLst/>
              <a:cxnLst/>
              <a:rect l="l" t="t" r="r" b="b"/>
              <a:pathLst>
                <a:path w="5931657" h="1100718">
                  <a:moveTo>
                    <a:pt x="0" y="0"/>
                  </a:moveTo>
                  <a:lnTo>
                    <a:pt x="5931657" y="0"/>
                  </a:lnTo>
                  <a:lnTo>
                    <a:pt x="5931657" y="1100718"/>
                  </a:lnTo>
                  <a:lnTo>
                    <a:pt x="0" y="1100718"/>
                  </a:lnTo>
                  <a:close/>
                </a:path>
              </a:pathLst>
            </a:custGeom>
            <a:blipFill>
              <a:blip r:embed="rId3">
                <a:alphaModFix amt="0"/>
              </a:blip>
              <a:stretch>
                <a:fillRect t="-55002" b="-55003"/>
              </a:stretch>
            </a:blipFill>
          </p:spPr>
          <p:txBody>
            <a:bodyPr/>
            <a:lstStyle/>
            <a:p>
              <a:endParaRPr lang="en-US"/>
            </a:p>
          </p:txBody>
        </p:sp>
        <p:sp>
          <p:nvSpPr>
            <p:cNvPr id="16" name="TextBox 16"/>
            <p:cNvSpPr txBox="1"/>
            <p:nvPr/>
          </p:nvSpPr>
          <p:spPr>
            <a:xfrm>
              <a:off x="0" y="0"/>
              <a:ext cx="5931662" cy="1100720"/>
            </a:xfrm>
            <a:prstGeom prst="rect">
              <a:avLst/>
            </a:prstGeom>
          </p:spPr>
          <p:txBody>
            <a:bodyPr lIns="0" tIns="0" rIns="0" bIns="0" rtlCol="0" anchor="ctr"/>
            <a:lstStyle/>
            <a:p>
              <a:pPr algn="ctr">
                <a:lnSpc>
                  <a:spcPts val="3791"/>
                </a:lnSpc>
              </a:pPr>
              <a:r>
                <a:rPr lang="en-US" sz="3159" b="1">
                  <a:solidFill>
                    <a:srgbClr val="FFFFFF"/>
                  </a:solidFill>
                  <a:latin typeface="Montserrat Bold"/>
                  <a:ea typeface="Montserrat Bold"/>
                  <a:cs typeface="Montserrat Bold"/>
                  <a:sym typeface="Montserrat Bold"/>
                </a:rPr>
                <a:t>≥50% thời gian</a:t>
              </a:r>
            </a:p>
          </p:txBody>
        </p:sp>
      </p:grpSp>
      <p:grpSp>
        <p:nvGrpSpPr>
          <p:cNvPr id="17" name="Group 17"/>
          <p:cNvGrpSpPr/>
          <p:nvPr/>
        </p:nvGrpSpPr>
        <p:grpSpPr>
          <a:xfrm>
            <a:off x="1375896" y="6604321"/>
            <a:ext cx="4173560" cy="1307105"/>
            <a:chOff x="0" y="0"/>
            <a:chExt cx="5564746" cy="1742806"/>
          </a:xfrm>
        </p:grpSpPr>
        <p:sp>
          <p:nvSpPr>
            <p:cNvPr id="18" name="Freeform 18"/>
            <p:cNvSpPr/>
            <p:nvPr/>
          </p:nvSpPr>
          <p:spPr>
            <a:xfrm>
              <a:off x="0" y="0"/>
              <a:ext cx="5564750" cy="1742804"/>
            </a:xfrm>
            <a:custGeom>
              <a:avLst/>
              <a:gdLst/>
              <a:ahLst/>
              <a:cxnLst/>
              <a:rect l="l" t="t" r="r" b="b"/>
              <a:pathLst>
                <a:path w="5564750" h="1742804">
                  <a:moveTo>
                    <a:pt x="0" y="0"/>
                  </a:moveTo>
                  <a:lnTo>
                    <a:pt x="5564750" y="0"/>
                  </a:lnTo>
                  <a:lnTo>
                    <a:pt x="5564750" y="1742804"/>
                  </a:lnTo>
                  <a:lnTo>
                    <a:pt x="0" y="1742804"/>
                  </a:lnTo>
                  <a:close/>
                </a:path>
              </a:pathLst>
            </a:custGeom>
            <a:blipFill>
              <a:blip r:embed="rId3">
                <a:alphaModFix amt="0"/>
              </a:blip>
              <a:stretch>
                <a:fillRect t="-12215" b="-12215"/>
              </a:stretch>
            </a:blipFill>
          </p:spPr>
          <p:txBody>
            <a:bodyPr/>
            <a:lstStyle/>
            <a:p>
              <a:endParaRPr lang="en-US"/>
            </a:p>
          </p:txBody>
        </p:sp>
        <p:sp>
          <p:nvSpPr>
            <p:cNvPr id="19" name="TextBox 19"/>
            <p:cNvSpPr txBox="1"/>
            <p:nvPr/>
          </p:nvSpPr>
          <p:spPr>
            <a:xfrm>
              <a:off x="0" y="0"/>
              <a:ext cx="5564746" cy="1742806"/>
            </a:xfrm>
            <a:prstGeom prst="rect">
              <a:avLst/>
            </a:prstGeom>
          </p:spPr>
          <p:txBody>
            <a:bodyPr lIns="0" tIns="0" rIns="0" bIns="0" rtlCol="0" anchor="ctr"/>
            <a:lstStyle/>
            <a:p>
              <a:pPr algn="ctr">
                <a:lnSpc>
                  <a:spcPts val="2527"/>
                </a:lnSpc>
              </a:pPr>
              <a:r>
                <a:rPr lang="en-US" sz="2106">
                  <a:solidFill>
                    <a:srgbClr val="FFE9A8"/>
                  </a:solidFill>
                  <a:latin typeface="Montserrat"/>
                  <a:ea typeface="Montserrat"/>
                  <a:cs typeface="Montserrat"/>
                  <a:sym typeface="Montserrat"/>
                </a:rPr>
                <a:t>Giảm thời gian giải đáp — cán bộ tập trung nghiệp vụ chính.</a:t>
              </a:r>
            </a:p>
          </p:txBody>
        </p:sp>
      </p:grpSp>
      <p:grpSp>
        <p:nvGrpSpPr>
          <p:cNvPr id="20" name="Group 20"/>
          <p:cNvGrpSpPr/>
          <p:nvPr/>
        </p:nvGrpSpPr>
        <p:grpSpPr>
          <a:xfrm>
            <a:off x="6640630" y="3292602"/>
            <a:ext cx="5018208" cy="4697168"/>
            <a:chOff x="0" y="0"/>
            <a:chExt cx="6690944" cy="6262891"/>
          </a:xfrm>
        </p:grpSpPr>
        <p:sp>
          <p:nvSpPr>
            <p:cNvPr id="21" name="Freeform 21"/>
            <p:cNvSpPr/>
            <p:nvPr/>
          </p:nvSpPr>
          <p:spPr>
            <a:xfrm>
              <a:off x="0" y="0"/>
              <a:ext cx="6690868" cy="6262878"/>
            </a:xfrm>
            <a:custGeom>
              <a:avLst/>
              <a:gdLst/>
              <a:ahLst/>
              <a:cxnLst/>
              <a:rect l="l" t="t" r="r" b="b"/>
              <a:pathLst>
                <a:path w="6690868" h="6262878">
                  <a:moveTo>
                    <a:pt x="0" y="220980"/>
                  </a:moveTo>
                  <a:cubicBezTo>
                    <a:pt x="0" y="98933"/>
                    <a:pt x="98933" y="0"/>
                    <a:pt x="220980" y="0"/>
                  </a:cubicBezTo>
                  <a:lnTo>
                    <a:pt x="6469888" y="0"/>
                  </a:lnTo>
                  <a:cubicBezTo>
                    <a:pt x="6591935" y="0"/>
                    <a:pt x="6690868" y="98933"/>
                    <a:pt x="6690868" y="220980"/>
                  </a:cubicBezTo>
                  <a:lnTo>
                    <a:pt x="6690868" y="6041898"/>
                  </a:lnTo>
                  <a:cubicBezTo>
                    <a:pt x="6690868" y="6163945"/>
                    <a:pt x="6591935" y="6262878"/>
                    <a:pt x="6469888" y="6262878"/>
                  </a:cubicBezTo>
                  <a:lnTo>
                    <a:pt x="220980" y="6262878"/>
                  </a:lnTo>
                  <a:cubicBezTo>
                    <a:pt x="98933" y="6262878"/>
                    <a:pt x="0" y="6163945"/>
                    <a:pt x="0" y="6041898"/>
                  </a:cubicBezTo>
                  <a:close/>
                </a:path>
              </a:pathLst>
            </a:custGeom>
            <a:solidFill>
              <a:srgbClr val="5F0D14"/>
            </a:solidFill>
            <a:ln w="19110" cap="sq">
              <a:solidFill>
                <a:srgbClr val="1F7A1F"/>
              </a:solidFill>
              <a:prstDash val="solid"/>
              <a:miter/>
            </a:ln>
          </p:spPr>
          <p:txBody>
            <a:bodyPr/>
            <a:lstStyle/>
            <a:p>
              <a:endParaRPr lang="en-US"/>
            </a:p>
          </p:txBody>
        </p:sp>
      </p:grpSp>
      <p:grpSp>
        <p:nvGrpSpPr>
          <p:cNvPr id="22" name="Group 22"/>
          <p:cNvGrpSpPr/>
          <p:nvPr/>
        </p:nvGrpSpPr>
        <p:grpSpPr>
          <a:xfrm>
            <a:off x="8324193" y="3825002"/>
            <a:ext cx="1651083" cy="1651083"/>
            <a:chOff x="0" y="0"/>
            <a:chExt cx="2201443" cy="2201443"/>
          </a:xfrm>
        </p:grpSpPr>
        <p:sp>
          <p:nvSpPr>
            <p:cNvPr id="23" name="Freeform 23"/>
            <p:cNvSpPr/>
            <p:nvPr/>
          </p:nvSpPr>
          <p:spPr>
            <a:xfrm>
              <a:off x="0" y="0"/>
              <a:ext cx="2201418" cy="2201418"/>
            </a:xfrm>
            <a:custGeom>
              <a:avLst/>
              <a:gdLst/>
              <a:ahLst/>
              <a:cxnLst/>
              <a:rect l="l" t="t" r="r" b="b"/>
              <a:pathLst>
                <a:path w="2201418" h="2201418">
                  <a:moveTo>
                    <a:pt x="0" y="1100709"/>
                  </a:moveTo>
                  <a:cubicBezTo>
                    <a:pt x="0" y="492760"/>
                    <a:pt x="492760" y="0"/>
                    <a:pt x="1100709" y="0"/>
                  </a:cubicBezTo>
                  <a:cubicBezTo>
                    <a:pt x="1708658" y="0"/>
                    <a:pt x="2201418" y="492760"/>
                    <a:pt x="2201418" y="1100709"/>
                  </a:cubicBezTo>
                  <a:cubicBezTo>
                    <a:pt x="2201418" y="1708658"/>
                    <a:pt x="1708658" y="2201418"/>
                    <a:pt x="1100709" y="2201418"/>
                  </a:cubicBezTo>
                  <a:cubicBezTo>
                    <a:pt x="492760" y="2201418"/>
                    <a:pt x="0" y="1708658"/>
                    <a:pt x="0" y="1100709"/>
                  </a:cubicBezTo>
                  <a:close/>
                </a:path>
              </a:pathLst>
            </a:custGeom>
            <a:solidFill>
              <a:srgbClr val="1F7A1F"/>
            </a:solidFill>
          </p:spPr>
          <p:txBody>
            <a:bodyPr/>
            <a:lstStyle/>
            <a:p>
              <a:endParaRPr lang="en-US"/>
            </a:p>
          </p:txBody>
        </p:sp>
      </p:grpSp>
      <p:grpSp>
        <p:nvGrpSpPr>
          <p:cNvPr id="24" name="Group 24"/>
          <p:cNvGrpSpPr/>
          <p:nvPr/>
        </p:nvGrpSpPr>
        <p:grpSpPr>
          <a:xfrm>
            <a:off x="8769982" y="4270791"/>
            <a:ext cx="759495" cy="759495"/>
            <a:chOff x="0" y="0"/>
            <a:chExt cx="1012660" cy="1012660"/>
          </a:xfrm>
        </p:grpSpPr>
        <p:sp>
          <p:nvSpPr>
            <p:cNvPr id="25" name="Freeform 25" descr="preencoded.png"/>
            <p:cNvSpPr/>
            <p:nvPr/>
          </p:nvSpPr>
          <p:spPr>
            <a:xfrm>
              <a:off x="0" y="0"/>
              <a:ext cx="1012698" cy="1012698"/>
            </a:xfrm>
            <a:custGeom>
              <a:avLst/>
              <a:gdLst/>
              <a:ahLst/>
              <a:cxnLst/>
              <a:rect l="l" t="t" r="r" b="b"/>
              <a:pathLst>
                <a:path w="1012698" h="1012698">
                  <a:moveTo>
                    <a:pt x="0" y="0"/>
                  </a:moveTo>
                  <a:lnTo>
                    <a:pt x="1012698" y="0"/>
                  </a:lnTo>
                  <a:lnTo>
                    <a:pt x="1012698" y="1012698"/>
                  </a:lnTo>
                  <a:lnTo>
                    <a:pt x="0" y="1012698"/>
                  </a:lnTo>
                  <a:lnTo>
                    <a:pt x="0" y="0"/>
                  </a:lnTo>
                  <a:close/>
                </a:path>
              </a:pathLst>
            </a:custGeom>
            <a:blipFill>
              <a:blip r:embed="rId5"/>
              <a:stretch>
                <a:fillRect r="3" b="3"/>
              </a:stretch>
            </a:blipFill>
          </p:spPr>
          <p:txBody>
            <a:bodyPr/>
            <a:lstStyle/>
            <a:p>
              <a:endParaRPr lang="en-US"/>
            </a:p>
          </p:txBody>
        </p:sp>
      </p:grpSp>
      <p:grpSp>
        <p:nvGrpSpPr>
          <p:cNvPr id="26" name="Group 26"/>
          <p:cNvGrpSpPr/>
          <p:nvPr/>
        </p:nvGrpSpPr>
        <p:grpSpPr>
          <a:xfrm>
            <a:off x="6925361" y="5709980"/>
            <a:ext cx="4448746" cy="825540"/>
            <a:chOff x="0" y="0"/>
            <a:chExt cx="5931662" cy="1100720"/>
          </a:xfrm>
        </p:grpSpPr>
        <p:sp>
          <p:nvSpPr>
            <p:cNvPr id="27" name="Freeform 27"/>
            <p:cNvSpPr/>
            <p:nvPr/>
          </p:nvSpPr>
          <p:spPr>
            <a:xfrm>
              <a:off x="0" y="0"/>
              <a:ext cx="5931657" cy="1100718"/>
            </a:xfrm>
            <a:custGeom>
              <a:avLst/>
              <a:gdLst/>
              <a:ahLst/>
              <a:cxnLst/>
              <a:rect l="l" t="t" r="r" b="b"/>
              <a:pathLst>
                <a:path w="5931657" h="1100718">
                  <a:moveTo>
                    <a:pt x="0" y="0"/>
                  </a:moveTo>
                  <a:lnTo>
                    <a:pt x="5931657" y="0"/>
                  </a:lnTo>
                  <a:lnTo>
                    <a:pt x="5931657" y="1100718"/>
                  </a:lnTo>
                  <a:lnTo>
                    <a:pt x="0" y="1100718"/>
                  </a:lnTo>
                  <a:close/>
                </a:path>
              </a:pathLst>
            </a:custGeom>
            <a:blipFill>
              <a:blip r:embed="rId3">
                <a:alphaModFix amt="0"/>
              </a:blip>
              <a:stretch>
                <a:fillRect t="-55002" b="-55003"/>
              </a:stretch>
            </a:blipFill>
          </p:spPr>
          <p:txBody>
            <a:bodyPr/>
            <a:lstStyle/>
            <a:p>
              <a:endParaRPr lang="en-US"/>
            </a:p>
          </p:txBody>
        </p:sp>
        <p:sp>
          <p:nvSpPr>
            <p:cNvPr id="28" name="TextBox 28"/>
            <p:cNvSpPr txBox="1"/>
            <p:nvPr/>
          </p:nvSpPr>
          <p:spPr>
            <a:xfrm>
              <a:off x="0" y="0"/>
              <a:ext cx="5931662" cy="1100720"/>
            </a:xfrm>
            <a:prstGeom prst="rect">
              <a:avLst/>
            </a:prstGeom>
          </p:spPr>
          <p:txBody>
            <a:bodyPr lIns="0" tIns="0" rIns="0" bIns="0" rtlCol="0" anchor="ctr"/>
            <a:lstStyle/>
            <a:p>
              <a:pPr algn="ctr">
                <a:lnSpc>
                  <a:spcPts val="3791"/>
                </a:lnSpc>
              </a:pPr>
              <a:r>
                <a:rPr lang="en-US" sz="3159" b="1">
                  <a:solidFill>
                    <a:srgbClr val="FFFFFF"/>
                  </a:solidFill>
                  <a:latin typeface="Montserrat Bold"/>
                  <a:ea typeface="Montserrat Bold"/>
                  <a:cs typeface="Montserrat Bold"/>
                  <a:sym typeface="Montserrat Bold"/>
                </a:rPr>
                <a:t>Tiết kiệm</a:t>
              </a:r>
            </a:p>
          </p:txBody>
        </p:sp>
      </p:grpSp>
      <p:grpSp>
        <p:nvGrpSpPr>
          <p:cNvPr id="29" name="Group 29"/>
          <p:cNvGrpSpPr/>
          <p:nvPr/>
        </p:nvGrpSpPr>
        <p:grpSpPr>
          <a:xfrm>
            <a:off x="7062949" y="6604321"/>
            <a:ext cx="4173560" cy="1307105"/>
            <a:chOff x="0" y="0"/>
            <a:chExt cx="5564746" cy="1742806"/>
          </a:xfrm>
        </p:grpSpPr>
        <p:sp>
          <p:nvSpPr>
            <p:cNvPr id="30" name="Freeform 30"/>
            <p:cNvSpPr/>
            <p:nvPr/>
          </p:nvSpPr>
          <p:spPr>
            <a:xfrm>
              <a:off x="0" y="0"/>
              <a:ext cx="5564750" cy="1742804"/>
            </a:xfrm>
            <a:custGeom>
              <a:avLst/>
              <a:gdLst/>
              <a:ahLst/>
              <a:cxnLst/>
              <a:rect l="l" t="t" r="r" b="b"/>
              <a:pathLst>
                <a:path w="5564750" h="1742804">
                  <a:moveTo>
                    <a:pt x="0" y="0"/>
                  </a:moveTo>
                  <a:lnTo>
                    <a:pt x="5564750" y="0"/>
                  </a:lnTo>
                  <a:lnTo>
                    <a:pt x="5564750" y="1742804"/>
                  </a:lnTo>
                  <a:lnTo>
                    <a:pt x="0" y="1742804"/>
                  </a:lnTo>
                  <a:close/>
                </a:path>
              </a:pathLst>
            </a:custGeom>
            <a:blipFill>
              <a:blip r:embed="rId3">
                <a:alphaModFix amt="0"/>
              </a:blip>
              <a:stretch>
                <a:fillRect t="-12215" b="-12215"/>
              </a:stretch>
            </a:blipFill>
          </p:spPr>
          <p:txBody>
            <a:bodyPr/>
            <a:lstStyle/>
            <a:p>
              <a:endParaRPr lang="en-US"/>
            </a:p>
          </p:txBody>
        </p:sp>
        <p:sp>
          <p:nvSpPr>
            <p:cNvPr id="31" name="TextBox 31"/>
            <p:cNvSpPr txBox="1"/>
            <p:nvPr/>
          </p:nvSpPr>
          <p:spPr>
            <a:xfrm>
              <a:off x="0" y="0"/>
              <a:ext cx="5564746" cy="1742806"/>
            </a:xfrm>
            <a:prstGeom prst="rect">
              <a:avLst/>
            </a:prstGeom>
          </p:spPr>
          <p:txBody>
            <a:bodyPr lIns="0" tIns="0" rIns="0" bIns="0" rtlCol="0" anchor="ctr"/>
            <a:lstStyle/>
            <a:p>
              <a:pPr algn="ctr">
                <a:lnSpc>
                  <a:spcPts val="2527"/>
                </a:lnSpc>
              </a:pPr>
              <a:r>
                <a:rPr lang="en-US" sz="2106">
                  <a:solidFill>
                    <a:srgbClr val="FFE9A8"/>
                  </a:solidFill>
                  <a:latin typeface="Montserrat"/>
                  <a:ea typeface="Montserrat"/>
                  <a:cs typeface="Montserrat"/>
                  <a:sym typeface="Montserrat"/>
                </a:rPr>
                <a:t>Cắt giảm chi phí in ấn tờ rơi, biểu mẫu giấy.</a:t>
              </a:r>
            </a:p>
          </p:txBody>
        </p:sp>
      </p:grpSp>
      <p:grpSp>
        <p:nvGrpSpPr>
          <p:cNvPr id="32" name="Group 32"/>
          <p:cNvGrpSpPr/>
          <p:nvPr/>
        </p:nvGrpSpPr>
        <p:grpSpPr>
          <a:xfrm>
            <a:off x="12327684" y="3292602"/>
            <a:ext cx="5018208" cy="4697168"/>
            <a:chOff x="0" y="0"/>
            <a:chExt cx="6690944" cy="6262891"/>
          </a:xfrm>
        </p:grpSpPr>
        <p:sp>
          <p:nvSpPr>
            <p:cNvPr id="33" name="Freeform 33"/>
            <p:cNvSpPr/>
            <p:nvPr/>
          </p:nvSpPr>
          <p:spPr>
            <a:xfrm>
              <a:off x="0" y="0"/>
              <a:ext cx="6690868" cy="6262878"/>
            </a:xfrm>
            <a:custGeom>
              <a:avLst/>
              <a:gdLst/>
              <a:ahLst/>
              <a:cxnLst/>
              <a:rect l="l" t="t" r="r" b="b"/>
              <a:pathLst>
                <a:path w="6690868" h="6262878">
                  <a:moveTo>
                    <a:pt x="0" y="220980"/>
                  </a:moveTo>
                  <a:cubicBezTo>
                    <a:pt x="0" y="98933"/>
                    <a:pt x="98933" y="0"/>
                    <a:pt x="220980" y="0"/>
                  </a:cubicBezTo>
                  <a:lnTo>
                    <a:pt x="6469888" y="0"/>
                  </a:lnTo>
                  <a:cubicBezTo>
                    <a:pt x="6591935" y="0"/>
                    <a:pt x="6690868" y="98933"/>
                    <a:pt x="6690868" y="220980"/>
                  </a:cubicBezTo>
                  <a:lnTo>
                    <a:pt x="6690868" y="6041898"/>
                  </a:lnTo>
                  <a:cubicBezTo>
                    <a:pt x="6690868" y="6163945"/>
                    <a:pt x="6591935" y="6262878"/>
                    <a:pt x="6469888" y="6262878"/>
                  </a:cubicBezTo>
                  <a:lnTo>
                    <a:pt x="220980" y="6262878"/>
                  </a:lnTo>
                  <a:cubicBezTo>
                    <a:pt x="98933" y="6262878"/>
                    <a:pt x="0" y="6163945"/>
                    <a:pt x="0" y="6041898"/>
                  </a:cubicBezTo>
                  <a:close/>
                </a:path>
              </a:pathLst>
            </a:custGeom>
            <a:solidFill>
              <a:srgbClr val="5F0D14"/>
            </a:solidFill>
            <a:ln w="19110" cap="sq">
              <a:solidFill>
                <a:srgbClr val="C2410C"/>
              </a:solidFill>
              <a:prstDash val="solid"/>
              <a:miter/>
            </a:ln>
          </p:spPr>
          <p:txBody>
            <a:bodyPr/>
            <a:lstStyle/>
            <a:p>
              <a:endParaRPr lang="en-US"/>
            </a:p>
          </p:txBody>
        </p:sp>
      </p:grpSp>
      <p:grpSp>
        <p:nvGrpSpPr>
          <p:cNvPr id="34" name="Group 34"/>
          <p:cNvGrpSpPr/>
          <p:nvPr/>
        </p:nvGrpSpPr>
        <p:grpSpPr>
          <a:xfrm>
            <a:off x="14011246" y="3825002"/>
            <a:ext cx="1651083" cy="1651083"/>
            <a:chOff x="0" y="0"/>
            <a:chExt cx="2201443" cy="2201443"/>
          </a:xfrm>
        </p:grpSpPr>
        <p:sp>
          <p:nvSpPr>
            <p:cNvPr id="35" name="Freeform 35"/>
            <p:cNvSpPr/>
            <p:nvPr/>
          </p:nvSpPr>
          <p:spPr>
            <a:xfrm>
              <a:off x="0" y="0"/>
              <a:ext cx="2201418" cy="2201418"/>
            </a:xfrm>
            <a:custGeom>
              <a:avLst/>
              <a:gdLst/>
              <a:ahLst/>
              <a:cxnLst/>
              <a:rect l="l" t="t" r="r" b="b"/>
              <a:pathLst>
                <a:path w="2201418" h="2201418">
                  <a:moveTo>
                    <a:pt x="0" y="1100709"/>
                  </a:moveTo>
                  <a:cubicBezTo>
                    <a:pt x="0" y="492760"/>
                    <a:pt x="492760" y="0"/>
                    <a:pt x="1100709" y="0"/>
                  </a:cubicBezTo>
                  <a:cubicBezTo>
                    <a:pt x="1708658" y="0"/>
                    <a:pt x="2201418" y="492760"/>
                    <a:pt x="2201418" y="1100709"/>
                  </a:cubicBezTo>
                  <a:cubicBezTo>
                    <a:pt x="2201418" y="1708658"/>
                    <a:pt x="1708658" y="2201418"/>
                    <a:pt x="1100709" y="2201418"/>
                  </a:cubicBezTo>
                  <a:cubicBezTo>
                    <a:pt x="492760" y="2201418"/>
                    <a:pt x="0" y="1708658"/>
                    <a:pt x="0" y="1100709"/>
                  </a:cubicBezTo>
                  <a:close/>
                </a:path>
              </a:pathLst>
            </a:custGeom>
            <a:solidFill>
              <a:srgbClr val="C2410C"/>
            </a:solidFill>
          </p:spPr>
          <p:txBody>
            <a:bodyPr/>
            <a:lstStyle/>
            <a:p>
              <a:endParaRPr lang="en-US"/>
            </a:p>
          </p:txBody>
        </p:sp>
      </p:grpSp>
      <p:grpSp>
        <p:nvGrpSpPr>
          <p:cNvPr id="36" name="Group 36"/>
          <p:cNvGrpSpPr/>
          <p:nvPr/>
        </p:nvGrpSpPr>
        <p:grpSpPr>
          <a:xfrm>
            <a:off x="14457035" y="4270791"/>
            <a:ext cx="759495" cy="759495"/>
            <a:chOff x="0" y="0"/>
            <a:chExt cx="1012660" cy="1012660"/>
          </a:xfrm>
        </p:grpSpPr>
        <p:sp>
          <p:nvSpPr>
            <p:cNvPr id="37" name="Freeform 37" descr="preencoded.png"/>
            <p:cNvSpPr/>
            <p:nvPr/>
          </p:nvSpPr>
          <p:spPr>
            <a:xfrm>
              <a:off x="0" y="0"/>
              <a:ext cx="1012698" cy="1012698"/>
            </a:xfrm>
            <a:custGeom>
              <a:avLst/>
              <a:gdLst/>
              <a:ahLst/>
              <a:cxnLst/>
              <a:rect l="l" t="t" r="r" b="b"/>
              <a:pathLst>
                <a:path w="1012698" h="1012698">
                  <a:moveTo>
                    <a:pt x="0" y="0"/>
                  </a:moveTo>
                  <a:lnTo>
                    <a:pt x="1012698" y="0"/>
                  </a:lnTo>
                  <a:lnTo>
                    <a:pt x="1012698" y="1012698"/>
                  </a:lnTo>
                  <a:lnTo>
                    <a:pt x="0" y="1012698"/>
                  </a:lnTo>
                  <a:lnTo>
                    <a:pt x="0" y="0"/>
                  </a:lnTo>
                  <a:close/>
                </a:path>
              </a:pathLst>
            </a:custGeom>
            <a:blipFill>
              <a:blip r:embed="rId6"/>
              <a:stretch>
                <a:fillRect r="3" b="3"/>
              </a:stretch>
            </a:blipFill>
          </p:spPr>
          <p:txBody>
            <a:bodyPr/>
            <a:lstStyle/>
            <a:p>
              <a:endParaRPr lang="en-US"/>
            </a:p>
          </p:txBody>
        </p:sp>
      </p:grpSp>
      <p:grpSp>
        <p:nvGrpSpPr>
          <p:cNvPr id="38" name="Group 38"/>
          <p:cNvGrpSpPr/>
          <p:nvPr/>
        </p:nvGrpSpPr>
        <p:grpSpPr>
          <a:xfrm>
            <a:off x="12612414" y="5709980"/>
            <a:ext cx="4448746" cy="825540"/>
            <a:chOff x="0" y="0"/>
            <a:chExt cx="5931662" cy="1100720"/>
          </a:xfrm>
        </p:grpSpPr>
        <p:sp>
          <p:nvSpPr>
            <p:cNvPr id="39" name="Freeform 39"/>
            <p:cNvSpPr/>
            <p:nvPr/>
          </p:nvSpPr>
          <p:spPr>
            <a:xfrm>
              <a:off x="0" y="0"/>
              <a:ext cx="5931657" cy="1100718"/>
            </a:xfrm>
            <a:custGeom>
              <a:avLst/>
              <a:gdLst/>
              <a:ahLst/>
              <a:cxnLst/>
              <a:rect l="l" t="t" r="r" b="b"/>
              <a:pathLst>
                <a:path w="5931657" h="1100718">
                  <a:moveTo>
                    <a:pt x="0" y="0"/>
                  </a:moveTo>
                  <a:lnTo>
                    <a:pt x="5931657" y="0"/>
                  </a:lnTo>
                  <a:lnTo>
                    <a:pt x="5931657" y="1100718"/>
                  </a:lnTo>
                  <a:lnTo>
                    <a:pt x="0" y="1100718"/>
                  </a:lnTo>
                  <a:close/>
                </a:path>
              </a:pathLst>
            </a:custGeom>
            <a:blipFill>
              <a:blip r:embed="rId3">
                <a:alphaModFix amt="0"/>
              </a:blip>
              <a:stretch>
                <a:fillRect t="-55002" b="-55003"/>
              </a:stretch>
            </a:blipFill>
          </p:spPr>
          <p:txBody>
            <a:bodyPr/>
            <a:lstStyle/>
            <a:p>
              <a:endParaRPr lang="en-US"/>
            </a:p>
          </p:txBody>
        </p:sp>
        <p:sp>
          <p:nvSpPr>
            <p:cNvPr id="40" name="TextBox 40"/>
            <p:cNvSpPr txBox="1"/>
            <p:nvPr/>
          </p:nvSpPr>
          <p:spPr>
            <a:xfrm>
              <a:off x="0" y="0"/>
              <a:ext cx="5931662" cy="1100720"/>
            </a:xfrm>
            <a:prstGeom prst="rect">
              <a:avLst/>
            </a:prstGeom>
          </p:spPr>
          <p:txBody>
            <a:bodyPr lIns="0" tIns="0" rIns="0" bIns="0" rtlCol="0" anchor="ctr"/>
            <a:lstStyle/>
            <a:p>
              <a:pPr algn="ctr">
                <a:lnSpc>
                  <a:spcPts val="3791"/>
                </a:lnSpc>
              </a:pPr>
              <a:r>
                <a:rPr lang="en-US" sz="3159" b="1">
                  <a:solidFill>
                    <a:srgbClr val="FFFFFF"/>
                  </a:solidFill>
                  <a:latin typeface="Montserrat Bold"/>
                  <a:ea typeface="Montserrat Bold"/>
                  <a:cs typeface="Montserrat Bold"/>
                  <a:sym typeface="Montserrat Bold"/>
                </a:rPr>
                <a:t>24/7</a:t>
              </a:r>
            </a:p>
          </p:txBody>
        </p:sp>
      </p:grpSp>
      <p:grpSp>
        <p:nvGrpSpPr>
          <p:cNvPr id="41" name="Group 41"/>
          <p:cNvGrpSpPr/>
          <p:nvPr/>
        </p:nvGrpSpPr>
        <p:grpSpPr>
          <a:xfrm>
            <a:off x="12750003" y="6604321"/>
            <a:ext cx="4173560" cy="1307105"/>
            <a:chOff x="0" y="0"/>
            <a:chExt cx="5564746" cy="1742806"/>
          </a:xfrm>
        </p:grpSpPr>
        <p:sp>
          <p:nvSpPr>
            <p:cNvPr id="42" name="Freeform 42"/>
            <p:cNvSpPr/>
            <p:nvPr/>
          </p:nvSpPr>
          <p:spPr>
            <a:xfrm>
              <a:off x="0" y="0"/>
              <a:ext cx="5564750" cy="1742804"/>
            </a:xfrm>
            <a:custGeom>
              <a:avLst/>
              <a:gdLst/>
              <a:ahLst/>
              <a:cxnLst/>
              <a:rect l="l" t="t" r="r" b="b"/>
              <a:pathLst>
                <a:path w="5564750" h="1742804">
                  <a:moveTo>
                    <a:pt x="0" y="0"/>
                  </a:moveTo>
                  <a:lnTo>
                    <a:pt x="5564750" y="0"/>
                  </a:lnTo>
                  <a:lnTo>
                    <a:pt x="5564750" y="1742804"/>
                  </a:lnTo>
                  <a:lnTo>
                    <a:pt x="0" y="1742804"/>
                  </a:lnTo>
                  <a:close/>
                </a:path>
              </a:pathLst>
            </a:custGeom>
            <a:blipFill>
              <a:blip r:embed="rId3">
                <a:alphaModFix amt="0"/>
              </a:blip>
              <a:stretch>
                <a:fillRect t="-12215" b="-12215"/>
              </a:stretch>
            </a:blipFill>
          </p:spPr>
          <p:txBody>
            <a:bodyPr/>
            <a:lstStyle/>
            <a:p>
              <a:endParaRPr lang="en-US"/>
            </a:p>
          </p:txBody>
        </p:sp>
        <p:sp>
          <p:nvSpPr>
            <p:cNvPr id="43" name="TextBox 43"/>
            <p:cNvSpPr txBox="1"/>
            <p:nvPr/>
          </p:nvSpPr>
          <p:spPr>
            <a:xfrm>
              <a:off x="0" y="0"/>
              <a:ext cx="5564746" cy="1742806"/>
            </a:xfrm>
            <a:prstGeom prst="rect">
              <a:avLst/>
            </a:prstGeom>
          </p:spPr>
          <p:txBody>
            <a:bodyPr lIns="0" tIns="0" rIns="0" bIns="0" rtlCol="0" anchor="ctr"/>
            <a:lstStyle/>
            <a:p>
              <a:pPr algn="ctr">
                <a:lnSpc>
                  <a:spcPts val="2527"/>
                </a:lnSpc>
              </a:pPr>
              <a:r>
                <a:rPr lang="en-US" sz="2106">
                  <a:solidFill>
                    <a:srgbClr val="FFE9A8"/>
                  </a:solidFill>
                  <a:latin typeface="Montserrat"/>
                  <a:ea typeface="Montserrat"/>
                  <a:cs typeface="Montserrat"/>
                  <a:sym typeface="Montserrat"/>
                </a:rPr>
                <a:t>Phục vụ dân mọi lúc — hướng tới Công an phường kiểu mẫu.</a:t>
              </a:r>
            </a:p>
          </p:txBody>
        </p:sp>
      </p:grpSp>
      <p:grpSp>
        <p:nvGrpSpPr>
          <p:cNvPr id="44" name="Group 44"/>
          <p:cNvGrpSpPr/>
          <p:nvPr/>
        </p:nvGrpSpPr>
        <p:grpSpPr>
          <a:xfrm>
            <a:off x="963130" y="9686334"/>
            <a:ext cx="16373208" cy="19260"/>
            <a:chOff x="0" y="0"/>
            <a:chExt cx="21830944" cy="25679"/>
          </a:xfrm>
        </p:grpSpPr>
        <p:sp>
          <p:nvSpPr>
            <p:cNvPr id="45" name="Freeform 45"/>
            <p:cNvSpPr/>
            <p:nvPr/>
          </p:nvSpPr>
          <p:spPr>
            <a:xfrm>
              <a:off x="0" y="0"/>
              <a:ext cx="21830919" cy="25654"/>
            </a:xfrm>
            <a:custGeom>
              <a:avLst/>
              <a:gdLst/>
              <a:ahLst/>
              <a:cxnLst/>
              <a:rect l="l" t="t" r="r" b="b"/>
              <a:pathLst>
                <a:path w="21830919" h="25654">
                  <a:moveTo>
                    <a:pt x="0" y="0"/>
                  </a:moveTo>
                  <a:lnTo>
                    <a:pt x="21830919" y="0"/>
                  </a:lnTo>
                  <a:lnTo>
                    <a:pt x="21830919" y="25654"/>
                  </a:lnTo>
                  <a:lnTo>
                    <a:pt x="0" y="25654"/>
                  </a:lnTo>
                  <a:close/>
                </a:path>
              </a:pathLst>
            </a:custGeom>
            <a:solidFill>
              <a:srgbClr val="FFD700"/>
            </a:solidFill>
          </p:spPr>
          <p:txBody>
            <a:bodyPr/>
            <a:lstStyle/>
            <a:p>
              <a:endParaRPr lang="en-US"/>
            </a:p>
          </p:txBody>
        </p:sp>
      </p:grpSp>
      <p:grpSp>
        <p:nvGrpSpPr>
          <p:cNvPr id="46" name="Group 46"/>
          <p:cNvGrpSpPr/>
          <p:nvPr/>
        </p:nvGrpSpPr>
        <p:grpSpPr>
          <a:xfrm>
            <a:off x="963130" y="9741370"/>
            <a:ext cx="12383100" cy="412770"/>
            <a:chOff x="0" y="0"/>
            <a:chExt cx="16510800" cy="550360"/>
          </a:xfrm>
        </p:grpSpPr>
        <p:sp>
          <p:nvSpPr>
            <p:cNvPr id="47" name="Freeform 47"/>
            <p:cNvSpPr/>
            <p:nvPr/>
          </p:nvSpPr>
          <p:spPr>
            <a:xfrm>
              <a:off x="0" y="0"/>
              <a:ext cx="16510797" cy="550365"/>
            </a:xfrm>
            <a:custGeom>
              <a:avLst/>
              <a:gdLst/>
              <a:ahLst/>
              <a:cxnLst/>
              <a:rect l="l" t="t" r="r" b="b"/>
              <a:pathLst>
                <a:path w="16510797" h="550365">
                  <a:moveTo>
                    <a:pt x="0" y="0"/>
                  </a:moveTo>
                  <a:lnTo>
                    <a:pt x="16510797" y="0"/>
                  </a:lnTo>
                  <a:lnTo>
                    <a:pt x="16510797" y="550365"/>
                  </a:lnTo>
                  <a:lnTo>
                    <a:pt x="0" y="550365"/>
                  </a:lnTo>
                  <a:close/>
                </a:path>
              </a:pathLst>
            </a:custGeom>
            <a:blipFill>
              <a:blip r:embed="rId3">
                <a:alphaModFix amt="0"/>
              </a:blip>
              <a:stretch>
                <a:fillRect t="-534546" b="-534544"/>
              </a:stretch>
            </a:blipFill>
          </p:spPr>
          <p:txBody>
            <a:bodyPr/>
            <a:lstStyle/>
            <a:p>
              <a:endParaRPr lang="en-US"/>
            </a:p>
          </p:txBody>
        </p:sp>
        <p:sp>
          <p:nvSpPr>
            <p:cNvPr id="48" name="TextBox 48"/>
            <p:cNvSpPr txBox="1"/>
            <p:nvPr/>
          </p:nvSpPr>
          <p:spPr>
            <a:xfrm>
              <a:off x="0" y="0"/>
              <a:ext cx="16510800" cy="550360"/>
            </a:xfrm>
            <a:prstGeom prst="rect">
              <a:avLst/>
            </a:prstGeom>
          </p:spPr>
          <p:txBody>
            <a:bodyPr lIns="0" tIns="0" rIns="0" bIns="0" rtlCol="0" anchor="ctr"/>
            <a:lstStyle/>
            <a:p>
              <a:pPr algn="l">
                <a:lnSpc>
                  <a:spcPts val="1625"/>
                </a:lnSpc>
              </a:pPr>
              <a:r>
                <a:rPr lang="en-US" sz="1354" b="1" spc="150">
                  <a:solidFill>
                    <a:srgbClr val="FFE9A8"/>
                  </a:solidFill>
                  <a:latin typeface="Montserrat Bold"/>
                  <a:ea typeface="Montserrat Bold"/>
                  <a:cs typeface="Montserrat Bold"/>
                  <a:sym typeface="Montserrat Bold"/>
                </a:rPr>
                <a:t>CÔNG AN PHƯỜNG PHÚ THỌ   ·   SÁNG KIẾN CẢI CÁCH HÀNH CHÍNH · 2026</a:t>
              </a:r>
            </a:p>
          </p:txBody>
        </p:sp>
      </p:grpSp>
      <p:grpSp>
        <p:nvGrpSpPr>
          <p:cNvPr id="49" name="Group 49"/>
          <p:cNvGrpSpPr/>
          <p:nvPr/>
        </p:nvGrpSpPr>
        <p:grpSpPr>
          <a:xfrm>
            <a:off x="15960433" y="9741370"/>
            <a:ext cx="1375896" cy="412770"/>
            <a:chOff x="0" y="0"/>
            <a:chExt cx="1834528" cy="550360"/>
          </a:xfrm>
        </p:grpSpPr>
        <p:sp>
          <p:nvSpPr>
            <p:cNvPr id="50" name="Freeform 50"/>
            <p:cNvSpPr/>
            <p:nvPr/>
          </p:nvSpPr>
          <p:spPr>
            <a:xfrm>
              <a:off x="0" y="0"/>
              <a:ext cx="1834533" cy="550365"/>
            </a:xfrm>
            <a:custGeom>
              <a:avLst/>
              <a:gdLst/>
              <a:ahLst/>
              <a:cxnLst/>
              <a:rect l="l" t="t" r="r" b="b"/>
              <a:pathLst>
                <a:path w="1834533" h="550365">
                  <a:moveTo>
                    <a:pt x="0" y="0"/>
                  </a:moveTo>
                  <a:lnTo>
                    <a:pt x="1834533" y="0"/>
                  </a:lnTo>
                  <a:lnTo>
                    <a:pt x="1834533" y="550365"/>
                  </a:lnTo>
                  <a:lnTo>
                    <a:pt x="0" y="550365"/>
                  </a:lnTo>
                  <a:close/>
                </a:path>
              </a:pathLst>
            </a:custGeom>
            <a:blipFill>
              <a:blip r:embed="rId3">
                <a:alphaModFix amt="0"/>
              </a:blip>
              <a:stretch>
                <a:fillRect t="-14950" b="-14948"/>
              </a:stretch>
            </a:blipFill>
          </p:spPr>
          <p:txBody>
            <a:bodyPr/>
            <a:lstStyle/>
            <a:p>
              <a:endParaRPr lang="en-US"/>
            </a:p>
          </p:txBody>
        </p:sp>
        <p:sp>
          <p:nvSpPr>
            <p:cNvPr id="51" name="TextBox 51"/>
            <p:cNvSpPr txBox="1"/>
            <p:nvPr/>
          </p:nvSpPr>
          <p:spPr>
            <a:xfrm>
              <a:off x="0" y="-9525"/>
              <a:ext cx="1834528" cy="559885"/>
            </a:xfrm>
            <a:prstGeom prst="rect">
              <a:avLst/>
            </a:prstGeom>
          </p:spPr>
          <p:txBody>
            <a:bodyPr lIns="0" tIns="0" rIns="0" bIns="0" rtlCol="0" anchor="ctr"/>
            <a:lstStyle/>
            <a:p>
              <a:pPr algn="r">
                <a:lnSpc>
                  <a:spcPts val="1805"/>
                </a:lnSpc>
              </a:pPr>
              <a:r>
                <a:rPr lang="en-US" sz="1504" b="1">
                  <a:solidFill>
                    <a:srgbClr val="FFD700"/>
                  </a:solidFill>
                  <a:latin typeface="Montserrat Bold"/>
                  <a:ea typeface="Montserrat Bold"/>
                  <a:cs typeface="Montserrat Bold"/>
                  <a:sym typeface="Montserrat Bold"/>
                </a:rPr>
                <a:t>10</a:t>
              </a:r>
            </a:p>
          </p:txBody>
        </p:sp>
      </p:grpSp>
      <p:sp>
        <p:nvSpPr>
          <p:cNvPr id="52" name="Freeform 52"/>
          <p:cNvSpPr/>
          <p:nvPr/>
        </p:nvSpPr>
        <p:spPr>
          <a:xfrm>
            <a:off x="15763067" y="633048"/>
            <a:ext cx="1770628" cy="1768414"/>
          </a:xfrm>
          <a:custGeom>
            <a:avLst/>
            <a:gdLst/>
            <a:ahLst/>
            <a:cxnLst/>
            <a:rect l="l" t="t" r="r" b="b"/>
            <a:pathLst>
              <a:path w="1770628" h="1768414">
                <a:moveTo>
                  <a:pt x="0" y="0"/>
                </a:moveTo>
                <a:lnTo>
                  <a:pt x="1770628" y="0"/>
                </a:lnTo>
                <a:lnTo>
                  <a:pt x="1770628" y="1768414"/>
                </a:lnTo>
                <a:lnTo>
                  <a:pt x="0" y="1768414"/>
                </a:lnTo>
                <a:lnTo>
                  <a:pt x="0" y="0"/>
                </a:lnTo>
                <a:close/>
              </a:path>
            </a:pathLst>
          </a:custGeom>
          <a:blipFill>
            <a:blip>
              <a:alphaModFix amt="10999"/>
              <a:extLst>
                <a:ext uri="{96DAC541-7B7A-43D3-8B79-37D633B846F1}">
                  <asvg:svgBlip xmlns:asvg="http://schemas.microsoft.com/office/drawing/2016/SVG/main" r:embed="rId7"/>
                </a:ext>
              </a:extLst>
            </a:blip>
            <a:stretch>
              <a:fillRect/>
            </a:stretch>
          </a:blipFill>
        </p:spPr>
        <p:txBody>
          <a:bodyPr/>
          <a:lstStyle/>
          <a:p>
            <a:endParaRPr lang="en-US"/>
          </a:p>
        </p:txBody>
      </p:sp>
    </p:spTree>
    <p:extLst>
      <p:ext uri="{BB962C8B-B14F-4D97-AF65-F5344CB8AC3E}">
        <p14:creationId xmlns:p14="http://schemas.microsoft.com/office/powerpoint/2010/main" val="3541953048"/>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0"/>
                      </p:stCondLst>
                      <p:childTnLst>
                        <p:par>
                          <p:cTn id="4" presetID="10" presetClass="entr" presetSubtype="0" fill="hold" nodeType="afterEffect">
                            <p:stCondLst>
                              <p:cond delay="0"/>
                            </p:stCondLst>
                            <p:childTnLst>
                              <p:set>
                                <p:cBhvr>
                                  <p:cTn id="5" dur="1" fill="hold">
                                    <p:stCondLst>
                                      <p:cond delay="0"/>
                                    </p:stCondLst>
                                  </p:cTn>
                                  <p:tgtEl>
                                    <p:spTgt spid="8"/>
                                  </p:tgtEl>
                                  <p:attrNameLst>
                                    <p:attrName>style.visibility</p:attrName>
                                  </p:attrNameLst>
                                </p:cBhvr>
                                <p:to>
                                  <p:strVal val="visible"/>
                                </p:to>
                              </p:set>
                              <p:animEffect transition="in" filter="fade">
                                <p:cBhvr>
                                  <p:cTn id="6" dur="650"/>
                                  <p:tgtEl>
                                    <p:spTgt spid="8"/>
                                  </p:tgtEl>
                                </p:cBhvr>
                              </p:animEffect>
                            </p:childTnLst>
                          </p:cTn>
                        </p:par>
                        <p:par>
                          <p:cTn id="7" presetID="10" presetClass="entr" presetSubtype="0" fill="hold" nodeType="afterEffect">
                            <p:stCondLst>
                              <p:cond delay="0"/>
                            </p:stCondLst>
                            <p:childTnLst>
                              <p:set>
                                <p:cBhvr>
                                  <p:cTn id="8" dur="1" fill="hold">
                                    <p:stCondLst>
                                      <p:cond delay="0"/>
                                    </p:stCondLst>
                                  </p:cTn>
                                  <p:tgtEl>
                                    <p:spTgt spid="10"/>
                                  </p:tgtEl>
                                  <p:attrNameLst>
                                    <p:attrName>style.visibility</p:attrName>
                                  </p:attrNameLst>
                                </p:cBhvr>
                                <p:to>
                                  <p:strVal val="visible"/>
                                </p:to>
                              </p:set>
                              <p:animEffect transition="in" filter="fade">
                                <p:cBhvr>
                                  <p:cTn id="9" dur="650"/>
                                  <p:tgtEl>
                                    <p:spTgt spid="10"/>
                                  </p:tgtEl>
                                </p:cBhvr>
                              </p:animEffect>
                            </p:childTnLst>
                          </p:cTn>
                        </p:par>
                        <p:par>
                          <p:cTn id="10" presetID="10" presetClass="entr" presetSubtype="0" fill="hold" nodeType="afterEffect">
                            <p:stCondLst>
                              <p:cond delay="0"/>
                            </p:stCondLst>
                            <p:childTnLst>
                              <p:set>
                                <p:cBhvr>
                                  <p:cTn id="11" dur="1" fill="hold">
                                    <p:stCondLst>
                                      <p:cond delay="0"/>
                                    </p:stCondLst>
                                  </p:cTn>
                                  <p:tgtEl>
                                    <p:spTgt spid="12"/>
                                  </p:tgtEl>
                                  <p:attrNameLst>
                                    <p:attrName>style.visibility</p:attrName>
                                  </p:attrNameLst>
                                </p:cBhvr>
                                <p:to>
                                  <p:strVal val="visible"/>
                                </p:to>
                              </p:set>
                              <p:animEffect transition="in" filter="fade">
                                <p:cBhvr>
                                  <p:cTn id="12" dur="650"/>
                                  <p:tgtEl>
                                    <p:spTgt spid="12"/>
                                  </p:tgtEl>
                                </p:cBhvr>
                              </p:animEffect>
                            </p:childTnLst>
                          </p:cTn>
                        </p:par>
                        <p:par>
                          <p:cTn id="13" presetID="10" presetClass="entr" presetSubtype="0" fill="hold" nodeType="afterEffect">
                            <p:stCondLst>
                              <p:cond delay="0"/>
                            </p:stCondLst>
                            <p:childTnLst>
                              <p:set>
                                <p:cBhvr>
                                  <p:cTn id="14" dur="1" fill="hold">
                                    <p:stCondLst>
                                      <p:cond delay="0"/>
                                    </p:stCondLst>
                                  </p:cTn>
                                  <p:tgtEl>
                                    <p:spTgt spid="14"/>
                                  </p:tgtEl>
                                  <p:attrNameLst>
                                    <p:attrName>style.visibility</p:attrName>
                                  </p:attrNameLst>
                                </p:cBhvr>
                                <p:to>
                                  <p:strVal val="visible"/>
                                </p:to>
                              </p:set>
                              <p:animEffect transition="in" filter="fade">
                                <p:cBhvr>
                                  <p:cTn id="15" dur="650"/>
                                  <p:tgtEl>
                                    <p:spTgt spid="14"/>
                                  </p:tgtEl>
                                </p:cBhvr>
                              </p:animEffect>
                            </p:childTnLst>
                          </p:cTn>
                        </p:par>
                        <p:par>
                          <p:cTn id="16" presetID="10" presetClass="entr" presetSubtype="0" fill="hold" nodeType="afterEffect">
                            <p:stCondLst>
                              <p:cond delay="0"/>
                            </p:stCondLst>
                            <p:childTnLst>
                              <p:set>
                                <p:cBhvr>
                                  <p:cTn id="17" dur="1" fill="hold">
                                    <p:stCondLst>
                                      <p:cond delay="0"/>
                                    </p:stCondLst>
                                  </p:cTn>
                                  <p:tgtEl>
                                    <p:spTgt spid="17"/>
                                  </p:tgtEl>
                                  <p:attrNameLst>
                                    <p:attrName>style.visibility</p:attrName>
                                  </p:attrNameLst>
                                </p:cBhvr>
                                <p:to>
                                  <p:strVal val="visible"/>
                                </p:to>
                              </p:set>
                              <p:animEffect transition="in" filter="fade">
                                <p:cBhvr>
                                  <p:cTn id="18" dur="650"/>
                                  <p:tgtEl>
                                    <p:spTgt spid="17"/>
                                  </p:tgtEl>
                                </p:cBhvr>
                              </p:animEffect>
                            </p:childTnLst>
                          </p:cTn>
                        </p:par>
                        <p:par>
                          <p:cTn id="19" presetID="10" presetClass="entr" presetSubtype="0" fill="hold" nodeType="afterEffect">
                            <p:stCondLst>
                              <p:cond delay="600"/>
                            </p:stCondLst>
                            <p:childTnLst>
                              <p:set>
                                <p:cBhvr>
                                  <p:cTn id="20" dur="1" fill="hold">
                                    <p:stCondLst>
                                      <p:cond delay="0"/>
                                    </p:stCondLst>
                                  </p:cTn>
                                  <p:tgtEl>
                                    <p:spTgt spid="20"/>
                                  </p:tgtEl>
                                  <p:attrNameLst>
                                    <p:attrName>style.visibility</p:attrName>
                                  </p:attrNameLst>
                                </p:cBhvr>
                                <p:to>
                                  <p:strVal val="visible"/>
                                </p:to>
                              </p:set>
                              <p:animEffect transition="in" filter="fade">
                                <p:cBhvr>
                                  <p:cTn id="21" dur="650"/>
                                  <p:tgtEl>
                                    <p:spTgt spid="20"/>
                                  </p:tgtEl>
                                </p:cBhvr>
                              </p:animEffect>
                            </p:childTnLst>
                          </p:cTn>
                        </p:par>
                        <p:par>
                          <p:cTn id="22" presetID="10" presetClass="entr" presetSubtype="0" fill="hold" nodeType="afterEffect">
                            <p:stCondLst>
                              <p:cond delay="600"/>
                            </p:stCondLst>
                            <p:childTnLst>
                              <p:set>
                                <p:cBhvr>
                                  <p:cTn id="23" dur="1" fill="hold">
                                    <p:stCondLst>
                                      <p:cond delay="0"/>
                                    </p:stCondLst>
                                  </p:cTn>
                                  <p:tgtEl>
                                    <p:spTgt spid="22"/>
                                  </p:tgtEl>
                                  <p:attrNameLst>
                                    <p:attrName>style.visibility</p:attrName>
                                  </p:attrNameLst>
                                </p:cBhvr>
                                <p:to>
                                  <p:strVal val="visible"/>
                                </p:to>
                              </p:set>
                              <p:animEffect transition="in" filter="fade">
                                <p:cBhvr>
                                  <p:cTn id="24" dur="650"/>
                                  <p:tgtEl>
                                    <p:spTgt spid="22"/>
                                  </p:tgtEl>
                                </p:cBhvr>
                              </p:animEffect>
                            </p:childTnLst>
                          </p:cTn>
                        </p:par>
                        <p:par>
                          <p:cTn id="25" presetID="10" presetClass="entr" presetSubtype="0" fill="hold" nodeType="afterEffect">
                            <p:stCondLst>
                              <p:cond delay="600"/>
                            </p:stCondLst>
                            <p:childTnLst>
                              <p:set>
                                <p:cBhvr>
                                  <p:cTn id="26" dur="1" fill="hold">
                                    <p:stCondLst>
                                      <p:cond delay="0"/>
                                    </p:stCondLst>
                                  </p:cTn>
                                  <p:tgtEl>
                                    <p:spTgt spid="24"/>
                                  </p:tgtEl>
                                  <p:attrNameLst>
                                    <p:attrName>style.visibility</p:attrName>
                                  </p:attrNameLst>
                                </p:cBhvr>
                                <p:to>
                                  <p:strVal val="visible"/>
                                </p:to>
                              </p:set>
                              <p:animEffect transition="in" filter="fade">
                                <p:cBhvr>
                                  <p:cTn id="27" dur="650"/>
                                  <p:tgtEl>
                                    <p:spTgt spid="24"/>
                                  </p:tgtEl>
                                </p:cBhvr>
                              </p:animEffect>
                            </p:childTnLst>
                          </p:cTn>
                        </p:par>
                        <p:par>
                          <p:cTn id="28" presetID="10" presetClass="entr" presetSubtype="0" fill="hold" nodeType="afterEffect">
                            <p:stCondLst>
                              <p:cond delay="600"/>
                            </p:stCondLst>
                            <p:childTnLst>
                              <p:set>
                                <p:cBhvr>
                                  <p:cTn id="29" dur="1" fill="hold">
                                    <p:stCondLst>
                                      <p:cond delay="0"/>
                                    </p:stCondLst>
                                  </p:cTn>
                                  <p:tgtEl>
                                    <p:spTgt spid="26"/>
                                  </p:tgtEl>
                                  <p:attrNameLst>
                                    <p:attrName>style.visibility</p:attrName>
                                  </p:attrNameLst>
                                </p:cBhvr>
                                <p:to>
                                  <p:strVal val="visible"/>
                                </p:to>
                              </p:set>
                              <p:animEffect transition="in" filter="fade">
                                <p:cBhvr>
                                  <p:cTn id="30" dur="650"/>
                                  <p:tgtEl>
                                    <p:spTgt spid="26"/>
                                  </p:tgtEl>
                                </p:cBhvr>
                              </p:animEffect>
                            </p:childTnLst>
                          </p:cTn>
                        </p:par>
                        <p:par>
                          <p:cTn id="31" presetID="10" presetClass="entr" presetSubtype="0" fill="hold" nodeType="afterEffect">
                            <p:stCondLst>
                              <p:cond delay="600"/>
                            </p:stCondLst>
                            <p:childTnLst>
                              <p:set>
                                <p:cBhvr>
                                  <p:cTn id="32" dur="1" fill="hold">
                                    <p:stCondLst>
                                      <p:cond delay="0"/>
                                    </p:stCondLst>
                                  </p:cTn>
                                  <p:tgtEl>
                                    <p:spTgt spid="29"/>
                                  </p:tgtEl>
                                  <p:attrNameLst>
                                    <p:attrName>style.visibility</p:attrName>
                                  </p:attrNameLst>
                                </p:cBhvr>
                                <p:to>
                                  <p:strVal val="visible"/>
                                </p:to>
                              </p:set>
                              <p:animEffect transition="in" filter="fade">
                                <p:cBhvr>
                                  <p:cTn id="33" dur="650"/>
                                  <p:tgtEl>
                                    <p:spTgt spid="29"/>
                                  </p:tgtEl>
                                </p:cBhvr>
                              </p:animEffect>
                            </p:childTnLst>
                          </p:cTn>
                        </p:par>
                        <p:par>
                          <p:cTn id="34" presetID="10" presetClass="entr" presetSubtype="0" fill="hold" nodeType="afterEffect">
                            <p:stCondLst>
                              <p:cond delay="1200"/>
                            </p:stCondLst>
                            <p:childTnLst>
                              <p:set>
                                <p:cBhvr>
                                  <p:cTn id="35" dur="1" fill="hold">
                                    <p:stCondLst>
                                      <p:cond delay="0"/>
                                    </p:stCondLst>
                                  </p:cTn>
                                  <p:tgtEl>
                                    <p:spTgt spid="32"/>
                                  </p:tgtEl>
                                  <p:attrNameLst>
                                    <p:attrName>style.visibility</p:attrName>
                                  </p:attrNameLst>
                                </p:cBhvr>
                                <p:to>
                                  <p:strVal val="visible"/>
                                </p:to>
                              </p:set>
                              <p:animEffect transition="in" filter="fade">
                                <p:cBhvr>
                                  <p:cTn id="36" dur="650"/>
                                  <p:tgtEl>
                                    <p:spTgt spid="32"/>
                                  </p:tgtEl>
                                </p:cBhvr>
                              </p:animEffect>
                            </p:childTnLst>
                          </p:cTn>
                        </p:par>
                        <p:par>
                          <p:cTn id="37" presetID="10" presetClass="entr" presetSubtype="0" fill="hold" nodeType="afterEffect">
                            <p:stCondLst>
                              <p:cond delay="1200"/>
                            </p:stCondLst>
                            <p:childTnLst>
                              <p:set>
                                <p:cBhvr>
                                  <p:cTn id="38" dur="1" fill="hold">
                                    <p:stCondLst>
                                      <p:cond delay="0"/>
                                    </p:stCondLst>
                                  </p:cTn>
                                  <p:tgtEl>
                                    <p:spTgt spid="34"/>
                                  </p:tgtEl>
                                  <p:attrNameLst>
                                    <p:attrName>style.visibility</p:attrName>
                                  </p:attrNameLst>
                                </p:cBhvr>
                                <p:to>
                                  <p:strVal val="visible"/>
                                </p:to>
                              </p:set>
                              <p:animEffect transition="in" filter="fade">
                                <p:cBhvr>
                                  <p:cTn id="39" dur="650"/>
                                  <p:tgtEl>
                                    <p:spTgt spid="34"/>
                                  </p:tgtEl>
                                </p:cBhvr>
                              </p:animEffect>
                            </p:childTnLst>
                          </p:cTn>
                        </p:par>
                        <p:par>
                          <p:cTn id="40" presetID="10" presetClass="entr" presetSubtype="0" fill="hold" nodeType="afterEffect">
                            <p:stCondLst>
                              <p:cond delay="1200"/>
                            </p:stCondLst>
                            <p:childTnLst>
                              <p:set>
                                <p:cBhvr>
                                  <p:cTn id="41" dur="1" fill="hold">
                                    <p:stCondLst>
                                      <p:cond delay="0"/>
                                    </p:stCondLst>
                                  </p:cTn>
                                  <p:tgtEl>
                                    <p:spTgt spid="36"/>
                                  </p:tgtEl>
                                  <p:attrNameLst>
                                    <p:attrName>style.visibility</p:attrName>
                                  </p:attrNameLst>
                                </p:cBhvr>
                                <p:to>
                                  <p:strVal val="visible"/>
                                </p:to>
                              </p:set>
                              <p:animEffect transition="in" filter="fade">
                                <p:cBhvr>
                                  <p:cTn id="42" dur="650"/>
                                  <p:tgtEl>
                                    <p:spTgt spid="36"/>
                                  </p:tgtEl>
                                </p:cBhvr>
                              </p:animEffect>
                            </p:childTnLst>
                          </p:cTn>
                        </p:par>
                        <p:par>
                          <p:cTn id="43" presetID="10" presetClass="entr" presetSubtype="0" fill="hold" nodeType="afterEffect">
                            <p:stCondLst>
                              <p:cond delay="1200"/>
                            </p:stCondLst>
                            <p:childTnLst>
                              <p:set>
                                <p:cBhvr>
                                  <p:cTn id="44" dur="1" fill="hold">
                                    <p:stCondLst>
                                      <p:cond delay="0"/>
                                    </p:stCondLst>
                                  </p:cTn>
                                  <p:tgtEl>
                                    <p:spTgt spid="38"/>
                                  </p:tgtEl>
                                  <p:attrNameLst>
                                    <p:attrName>style.visibility</p:attrName>
                                  </p:attrNameLst>
                                </p:cBhvr>
                                <p:to>
                                  <p:strVal val="visible"/>
                                </p:to>
                              </p:set>
                              <p:animEffect transition="in" filter="fade">
                                <p:cBhvr>
                                  <p:cTn id="45" dur="650"/>
                                  <p:tgtEl>
                                    <p:spTgt spid="38"/>
                                  </p:tgtEl>
                                </p:cBhvr>
                              </p:animEffect>
                            </p:childTnLst>
                          </p:cTn>
                        </p:par>
                        <p:par>
                          <p:cTn id="46" presetID="10" presetClass="entr" presetSubtype="0" fill="hold" nodeType="afterEffect">
                            <p:stCondLst>
                              <p:cond delay="1200"/>
                            </p:stCondLst>
                            <p:childTnLst>
                              <p:set>
                                <p:cBhvr>
                                  <p:cTn id="47" dur="1" fill="hold">
                                    <p:stCondLst>
                                      <p:cond delay="0"/>
                                    </p:stCondLst>
                                  </p:cTn>
                                  <p:tgtEl>
                                    <p:spTgt spid="41"/>
                                  </p:tgtEl>
                                  <p:attrNameLst>
                                    <p:attrName>style.visibility</p:attrName>
                                  </p:attrNameLst>
                                </p:cBhvr>
                                <p:to>
                                  <p:strVal val="visible"/>
                                </p:to>
                              </p:set>
                              <p:animEffect transition="in" filter="fade">
                                <p:cBhvr>
                                  <p:cTn id="48" dur="650"/>
                                  <p:tgtEl>
                                    <p:spTgt spid="41"/>
                                  </p:tgtEl>
                                </p:cBhvr>
                              </p:animEffect>
                            </p:childTnLst>
                          </p:cTn>
                        </p:par>
                        <p:par>
                          <p:cTn id="49" fill="hold">
                            <p:stCondLst>
                              <p:cond delay="0"/>
                            </p:stCondLst>
                            <p:childTnLst>
                              <p:animRot by="21600000">
                                <p:cBhvr>
                                  <p:cTn id="50" dur="60000" repeatCount="indefinite" fill="hold"/>
                                  <p:tgtEl>
                                    <p:spTgt spid="52"/>
                                  </p:tgtEl>
                                  <p:attrNameLst>
                                    <p:attrName>r</p:attrName>
                                  </p:attrNameLst>
                                </p:cBhvr>
                              </p:animRot>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2"/>
          <p:cNvGrpSpPr/>
          <p:nvPr/>
        </p:nvGrpSpPr>
        <p:grpSpPr>
          <a:xfrm>
            <a:off x="963130" y="687953"/>
            <a:ext cx="14997303" cy="481565"/>
            <a:chOff x="0" y="0"/>
            <a:chExt cx="19996404" cy="642087"/>
          </a:xfrm>
        </p:grpSpPr>
        <p:sp>
          <p:nvSpPr>
            <p:cNvPr id="3" name="Freeform 3"/>
            <p:cNvSpPr/>
            <p:nvPr/>
          </p:nvSpPr>
          <p:spPr>
            <a:xfrm>
              <a:off x="0" y="0"/>
              <a:ext cx="19996409" cy="642086"/>
            </a:xfrm>
            <a:custGeom>
              <a:avLst/>
              <a:gdLst/>
              <a:ahLst/>
              <a:cxnLst/>
              <a:rect l="l" t="t" r="r" b="b"/>
              <a:pathLst>
                <a:path w="19996409" h="642086">
                  <a:moveTo>
                    <a:pt x="0" y="0"/>
                  </a:moveTo>
                  <a:lnTo>
                    <a:pt x="19996409" y="0"/>
                  </a:lnTo>
                  <a:lnTo>
                    <a:pt x="19996409" y="642086"/>
                  </a:lnTo>
                  <a:lnTo>
                    <a:pt x="0" y="642086"/>
                  </a:lnTo>
                  <a:close/>
                </a:path>
              </a:pathLst>
            </a:custGeom>
            <a:blipFill>
              <a:blip r:embed="rId3">
                <a:alphaModFix amt="0"/>
              </a:blip>
              <a:stretch>
                <a:fillRect t="-556819" b="-556819"/>
              </a:stretch>
            </a:blipFill>
          </p:spPr>
          <p:txBody>
            <a:bodyPr/>
            <a:lstStyle/>
            <a:p>
              <a:endParaRPr lang="en-US"/>
            </a:p>
          </p:txBody>
        </p:sp>
        <p:sp>
          <p:nvSpPr>
            <p:cNvPr id="4" name="TextBox 4"/>
            <p:cNvSpPr txBox="1"/>
            <p:nvPr/>
          </p:nvSpPr>
          <p:spPr>
            <a:xfrm>
              <a:off x="0" y="-9525"/>
              <a:ext cx="19996404" cy="651612"/>
            </a:xfrm>
            <a:prstGeom prst="rect">
              <a:avLst/>
            </a:prstGeom>
          </p:spPr>
          <p:txBody>
            <a:bodyPr lIns="0" tIns="0" rIns="0" bIns="0" rtlCol="0" anchor="ctr"/>
            <a:lstStyle/>
            <a:p>
              <a:pPr algn="l">
                <a:lnSpc>
                  <a:spcPts val="2347"/>
                </a:lnSpc>
              </a:pPr>
              <a:r>
                <a:rPr lang="en-US" sz="1956" b="1" spc="300">
                  <a:solidFill>
                    <a:srgbClr val="C41E3A"/>
                  </a:solidFill>
                  <a:latin typeface="Montserrat Bold"/>
                  <a:ea typeface="Montserrat Bold"/>
                  <a:cs typeface="Montserrat Bold"/>
                  <a:sym typeface="Montserrat Bold"/>
                </a:rPr>
                <a:t>LỘ TRÌNH &amp; KHẢ NĂNG NHÂN RỘNG</a:t>
              </a:r>
            </a:p>
          </p:txBody>
        </p:sp>
      </p:grpSp>
      <p:sp>
        <p:nvSpPr>
          <p:cNvPr id="5" name="TextBox 5"/>
          <p:cNvSpPr txBox="1"/>
          <p:nvPr/>
        </p:nvSpPr>
        <p:spPr>
          <a:xfrm>
            <a:off x="963130" y="1155754"/>
            <a:ext cx="14997303" cy="638197"/>
          </a:xfrm>
          <a:prstGeom prst="rect">
            <a:avLst/>
          </a:prstGeom>
        </p:spPr>
        <p:txBody>
          <a:bodyPr lIns="0" tIns="0" rIns="0" bIns="0" rtlCol="0" anchor="t">
            <a:spAutoFit/>
          </a:bodyPr>
          <a:lstStyle/>
          <a:p>
            <a:pPr algn="l">
              <a:lnSpc>
                <a:spcPts val="5055"/>
              </a:lnSpc>
            </a:pPr>
            <a:r>
              <a:rPr lang="en-US" sz="4213" b="1">
                <a:solidFill>
                  <a:srgbClr val="1F2937"/>
                </a:solidFill>
                <a:latin typeface="Montserrat Heavy"/>
                <a:ea typeface="Montserrat Heavy"/>
                <a:cs typeface="Montserrat Heavy"/>
                <a:sym typeface="Montserrat Heavy"/>
              </a:rPr>
              <a:t>TỪ THÍ ĐIỂM MỘT PHƯỜNG → TOÀN TỈNH</a:t>
            </a:r>
          </a:p>
        </p:txBody>
      </p:sp>
      <p:grpSp>
        <p:nvGrpSpPr>
          <p:cNvPr id="6" name="Group 6"/>
          <p:cNvGrpSpPr/>
          <p:nvPr/>
        </p:nvGrpSpPr>
        <p:grpSpPr>
          <a:xfrm>
            <a:off x="963130" y="2228955"/>
            <a:ext cx="1513494" cy="96317"/>
            <a:chOff x="0" y="0"/>
            <a:chExt cx="2017992" cy="128422"/>
          </a:xfrm>
        </p:grpSpPr>
        <p:sp>
          <p:nvSpPr>
            <p:cNvPr id="7" name="Freeform 7"/>
            <p:cNvSpPr/>
            <p:nvPr/>
          </p:nvSpPr>
          <p:spPr>
            <a:xfrm>
              <a:off x="0" y="0"/>
              <a:ext cx="2018030" cy="128397"/>
            </a:xfrm>
            <a:custGeom>
              <a:avLst/>
              <a:gdLst/>
              <a:ahLst/>
              <a:cxnLst/>
              <a:rect l="l" t="t" r="r" b="b"/>
              <a:pathLst>
                <a:path w="2018030" h="128397">
                  <a:moveTo>
                    <a:pt x="0" y="0"/>
                  </a:moveTo>
                  <a:lnTo>
                    <a:pt x="2018030" y="0"/>
                  </a:lnTo>
                  <a:lnTo>
                    <a:pt x="2018030" y="128397"/>
                  </a:lnTo>
                  <a:lnTo>
                    <a:pt x="0" y="128397"/>
                  </a:lnTo>
                  <a:close/>
                </a:path>
              </a:pathLst>
            </a:custGeom>
            <a:solidFill>
              <a:srgbClr val="FFD700"/>
            </a:solidFill>
          </p:spPr>
          <p:txBody>
            <a:bodyPr/>
            <a:lstStyle/>
            <a:p>
              <a:endParaRPr lang="en-US"/>
            </a:p>
          </p:txBody>
        </p:sp>
      </p:grpSp>
      <p:grpSp>
        <p:nvGrpSpPr>
          <p:cNvPr id="14" name="Group 14"/>
          <p:cNvGrpSpPr/>
          <p:nvPr/>
        </p:nvGrpSpPr>
        <p:grpSpPr>
          <a:xfrm>
            <a:off x="1366342" y="2948626"/>
            <a:ext cx="3458861" cy="1395012"/>
            <a:chOff x="0" y="0"/>
            <a:chExt cx="4611814" cy="1860017"/>
          </a:xfrm>
        </p:grpSpPr>
        <p:sp>
          <p:nvSpPr>
            <p:cNvPr id="15" name="Freeform 15"/>
            <p:cNvSpPr/>
            <p:nvPr/>
          </p:nvSpPr>
          <p:spPr>
            <a:xfrm>
              <a:off x="0" y="0"/>
              <a:ext cx="4611878" cy="1860042"/>
            </a:xfrm>
            <a:custGeom>
              <a:avLst/>
              <a:gdLst/>
              <a:ahLst/>
              <a:cxnLst/>
              <a:rect l="l" t="t" r="r" b="b"/>
              <a:pathLst>
                <a:path w="4611878" h="1860042">
                  <a:moveTo>
                    <a:pt x="0" y="148844"/>
                  </a:moveTo>
                  <a:cubicBezTo>
                    <a:pt x="0" y="66675"/>
                    <a:pt x="66675" y="0"/>
                    <a:pt x="148844" y="0"/>
                  </a:cubicBezTo>
                  <a:lnTo>
                    <a:pt x="4463034" y="0"/>
                  </a:lnTo>
                  <a:cubicBezTo>
                    <a:pt x="4545203" y="0"/>
                    <a:pt x="4611878" y="66675"/>
                    <a:pt x="4611878" y="148844"/>
                  </a:cubicBezTo>
                  <a:lnTo>
                    <a:pt x="4611878" y="1711198"/>
                  </a:lnTo>
                  <a:cubicBezTo>
                    <a:pt x="4611878" y="1793367"/>
                    <a:pt x="4545203" y="1860042"/>
                    <a:pt x="4463034" y="1860042"/>
                  </a:cubicBezTo>
                  <a:lnTo>
                    <a:pt x="148844" y="1860042"/>
                  </a:lnTo>
                  <a:cubicBezTo>
                    <a:pt x="66675" y="1860042"/>
                    <a:pt x="0" y="1793367"/>
                    <a:pt x="0" y="1711198"/>
                  </a:cubicBezTo>
                  <a:close/>
                </a:path>
              </a:pathLst>
            </a:custGeom>
            <a:solidFill>
              <a:srgbClr val="FFF4F2"/>
            </a:solidFill>
            <a:ln w="19110" cap="sq">
              <a:solidFill>
                <a:srgbClr val="F3D2D7"/>
              </a:solidFill>
              <a:prstDash val="solid"/>
              <a:miter/>
            </a:ln>
          </p:spPr>
          <p:txBody>
            <a:bodyPr/>
            <a:lstStyle/>
            <a:p>
              <a:endParaRPr lang="en-US"/>
            </a:p>
          </p:txBody>
        </p:sp>
      </p:grpSp>
      <p:grpSp>
        <p:nvGrpSpPr>
          <p:cNvPr id="16" name="Group 16"/>
          <p:cNvGrpSpPr/>
          <p:nvPr/>
        </p:nvGrpSpPr>
        <p:grpSpPr>
          <a:xfrm>
            <a:off x="1541012" y="3068260"/>
            <a:ext cx="3109531" cy="412770"/>
            <a:chOff x="0" y="0"/>
            <a:chExt cx="4146042" cy="550360"/>
          </a:xfrm>
        </p:grpSpPr>
        <p:sp>
          <p:nvSpPr>
            <p:cNvPr id="17" name="Freeform 17"/>
            <p:cNvSpPr/>
            <p:nvPr/>
          </p:nvSpPr>
          <p:spPr>
            <a:xfrm>
              <a:off x="0" y="0"/>
              <a:ext cx="4146044" cy="550365"/>
            </a:xfrm>
            <a:custGeom>
              <a:avLst/>
              <a:gdLst/>
              <a:ahLst/>
              <a:cxnLst/>
              <a:rect l="l" t="t" r="r" b="b"/>
              <a:pathLst>
                <a:path w="4146044" h="550365">
                  <a:moveTo>
                    <a:pt x="0" y="0"/>
                  </a:moveTo>
                  <a:lnTo>
                    <a:pt x="4146044" y="0"/>
                  </a:lnTo>
                  <a:lnTo>
                    <a:pt x="4146044" y="550365"/>
                  </a:lnTo>
                  <a:lnTo>
                    <a:pt x="0" y="550365"/>
                  </a:lnTo>
                  <a:close/>
                </a:path>
              </a:pathLst>
            </a:custGeom>
            <a:blipFill>
              <a:blip r:embed="rId3">
                <a:alphaModFix amt="0"/>
              </a:blip>
              <a:stretch>
                <a:fillRect t="-96786" b="-96784"/>
              </a:stretch>
            </a:blipFill>
          </p:spPr>
          <p:txBody>
            <a:bodyPr/>
            <a:lstStyle/>
            <a:p>
              <a:endParaRPr lang="en-US"/>
            </a:p>
          </p:txBody>
        </p:sp>
        <p:sp>
          <p:nvSpPr>
            <p:cNvPr id="18" name="TextBox 18"/>
            <p:cNvSpPr txBox="1"/>
            <p:nvPr/>
          </p:nvSpPr>
          <p:spPr>
            <a:xfrm>
              <a:off x="0" y="-9525"/>
              <a:ext cx="4146042" cy="559885"/>
            </a:xfrm>
            <a:prstGeom prst="rect">
              <a:avLst/>
            </a:prstGeom>
          </p:spPr>
          <p:txBody>
            <a:bodyPr lIns="0" tIns="0" rIns="0" bIns="0" rtlCol="0" anchor="ctr"/>
            <a:lstStyle/>
            <a:p>
              <a:pPr algn="ctr">
                <a:lnSpc>
                  <a:spcPts val="2347"/>
                </a:lnSpc>
              </a:pPr>
              <a:r>
                <a:rPr lang="en-US" sz="1956" b="1">
                  <a:solidFill>
                    <a:srgbClr val="C41E3A"/>
                  </a:solidFill>
                  <a:latin typeface="Montserrat Bold"/>
                  <a:ea typeface="Montserrat Bold"/>
                  <a:cs typeface="Montserrat Bold"/>
                  <a:sym typeface="Montserrat Bold"/>
                </a:rPr>
                <a:t>10/3/2026</a:t>
              </a:r>
            </a:p>
          </p:txBody>
        </p:sp>
      </p:grpSp>
      <p:grpSp>
        <p:nvGrpSpPr>
          <p:cNvPr id="19" name="Group 19"/>
          <p:cNvGrpSpPr/>
          <p:nvPr/>
        </p:nvGrpSpPr>
        <p:grpSpPr>
          <a:xfrm>
            <a:off x="1541012" y="3453508"/>
            <a:ext cx="3109531" cy="412770"/>
            <a:chOff x="0" y="0"/>
            <a:chExt cx="4146042" cy="550360"/>
          </a:xfrm>
        </p:grpSpPr>
        <p:sp>
          <p:nvSpPr>
            <p:cNvPr id="20" name="Freeform 20"/>
            <p:cNvSpPr/>
            <p:nvPr/>
          </p:nvSpPr>
          <p:spPr>
            <a:xfrm>
              <a:off x="0" y="0"/>
              <a:ext cx="4146044" cy="550365"/>
            </a:xfrm>
            <a:custGeom>
              <a:avLst/>
              <a:gdLst/>
              <a:ahLst/>
              <a:cxnLst/>
              <a:rect l="l" t="t" r="r" b="b"/>
              <a:pathLst>
                <a:path w="4146044" h="550365">
                  <a:moveTo>
                    <a:pt x="0" y="0"/>
                  </a:moveTo>
                  <a:lnTo>
                    <a:pt x="4146044" y="0"/>
                  </a:lnTo>
                  <a:lnTo>
                    <a:pt x="4146044" y="550365"/>
                  </a:lnTo>
                  <a:lnTo>
                    <a:pt x="0" y="550365"/>
                  </a:lnTo>
                  <a:close/>
                </a:path>
              </a:pathLst>
            </a:custGeom>
            <a:blipFill>
              <a:blip r:embed="rId3">
                <a:alphaModFix amt="0"/>
              </a:blip>
              <a:stretch>
                <a:fillRect t="-96786" b="-96784"/>
              </a:stretch>
            </a:blipFill>
          </p:spPr>
          <p:txBody>
            <a:bodyPr/>
            <a:lstStyle/>
            <a:p>
              <a:endParaRPr lang="en-US"/>
            </a:p>
          </p:txBody>
        </p:sp>
        <p:sp>
          <p:nvSpPr>
            <p:cNvPr id="21" name="TextBox 21"/>
            <p:cNvSpPr txBox="1"/>
            <p:nvPr/>
          </p:nvSpPr>
          <p:spPr>
            <a:xfrm>
              <a:off x="0" y="0"/>
              <a:ext cx="4146042" cy="550360"/>
            </a:xfrm>
            <a:prstGeom prst="rect">
              <a:avLst/>
            </a:prstGeom>
          </p:spPr>
          <p:txBody>
            <a:bodyPr lIns="0" tIns="0" rIns="0" bIns="0" rtlCol="0" anchor="ctr"/>
            <a:lstStyle/>
            <a:p>
              <a:pPr algn="ctr">
                <a:lnSpc>
                  <a:spcPts val="2437"/>
                </a:lnSpc>
              </a:pPr>
              <a:r>
                <a:rPr lang="en-US" sz="2031" b="1">
                  <a:solidFill>
                    <a:srgbClr val="1F2937"/>
                  </a:solidFill>
                  <a:latin typeface="Montserrat Bold"/>
                  <a:ea typeface="Montserrat Bold"/>
                  <a:cs typeface="Montserrat Bold"/>
                  <a:sym typeface="Montserrat Bold"/>
                </a:rPr>
                <a:t>Thí điểm</a:t>
              </a:r>
            </a:p>
          </p:txBody>
        </p:sp>
      </p:grpSp>
      <p:grpSp>
        <p:nvGrpSpPr>
          <p:cNvPr id="22" name="Group 22"/>
          <p:cNvGrpSpPr/>
          <p:nvPr/>
        </p:nvGrpSpPr>
        <p:grpSpPr>
          <a:xfrm>
            <a:off x="1541012" y="3811238"/>
            <a:ext cx="3109531" cy="552297"/>
            <a:chOff x="0" y="0"/>
            <a:chExt cx="4146042" cy="736396"/>
          </a:xfrm>
        </p:grpSpPr>
        <p:sp>
          <p:nvSpPr>
            <p:cNvPr id="23" name="Freeform 23"/>
            <p:cNvSpPr/>
            <p:nvPr/>
          </p:nvSpPr>
          <p:spPr>
            <a:xfrm>
              <a:off x="0" y="0"/>
              <a:ext cx="4146044" cy="736389"/>
            </a:xfrm>
            <a:custGeom>
              <a:avLst/>
              <a:gdLst/>
              <a:ahLst/>
              <a:cxnLst/>
              <a:rect l="l" t="t" r="r" b="b"/>
              <a:pathLst>
                <a:path w="4146044" h="736389">
                  <a:moveTo>
                    <a:pt x="0" y="0"/>
                  </a:moveTo>
                  <a:lnTo>
                    <a:pt x="4146044" y="0"/>
                  </a:lnTo>
                  <a:lnTo>
                    <a:pt x="4146044" y="736389"/>
                  </a:lnTo>
                  <a:lnTo>
                    <a:pt x="0" y="736389"/>
                  </a:lnTo>
                  <a:close/>
                </a:path>
              </a:pathLst>
            </a:custGeom>
            <a:blipFill>
              <a:blip r:embed="rId3">
                <a:alphaModFix amt="0"/>
              </a:blip>
              <a:stretch>
                <a:fillRect t="-64862" b="-54548"/>
              </a:stretch>
            </a:blipFill>
          </p:spPr>
          <p:txBody>
            <a:bodyPr/>
            <a:lstStyle/>
            <a:p>
              <a:endParaRPr lang="en-US"/>
            </a:p>
          </p:txBody>
        </p:sp>
        <p:sp>
          <p:nvSpPr>
            <p:cNvPr id="24" name="TextBox 24"/>
            <p:cNvSpPr txBox="1"/>
            <p:nvPr/>
          </p:nvSpPr>
          <p:spPr>
            <a:xfrm>
              <a:off x="0" y="0"/>
              <a:ext cx="4146042" cy="736396"/>
            </a:xfrm>
            <a:prstGeom prst="rect">
              <a:avLst/>
            </a:prstGeom>
          </p:spPr>
          <p:txBody>
            <a:bodyPr lIns="0" tIns="0" rIns="0" bIns="0" rtlCol="0" anchor="ctr"/>
            <a:lstStyle/>
            <a:p>
              <a:pPr algn="ctr">
                <a:lnSpc>
                  <a:spcPts val="1895"/>
                </a:lnSpc>
              </a:pPr>
              <a:r>
                <a:rPr lang="en-US" sz="1579" b="1">
                  <a:solidFill>
                    <a:srgbClr val="6B7280"/>
                  </a:solidFill>
                  <a:latin typeface="Montserrat Bold"/>
                  <a:ea typeface="Montserrat Bold"/>
                  <a:cs typeface="Montserrat Bold"/>
                  <a:sym typeface="Montserrat Bold"/>
                </a:rPr>
                <a:t>Dán mã QR tại trụ sở &amp; nhà văn hóa khu dân cư.</a:t>
              </a:r>
            </a:p>
          </p:txBody>
        </p:sp>
      </p:grpSp>
      <p:grpSp>
        <p:nvGrpSpPr>
          <p:cNvPr id="29" name="Group 29"/>
          <p:cNvGrpSpPr/>
          <p:nvPr/>
        </p:nvGrpSpPr>
        <p:grpSpPr>
          <a:xfrm>
            <a:off x="4829023" y="5838015"/>
            <a:ext cx="3458861" cy="1395012"/>
            <a:chOff x="0" y="0"/>
            <a:chExt cx="4611814" cy="1860017"/>
          </a:xfrm>
        </p:grpSpPr>
        <p:sp>
          <p:nvSpPr>
            <p:cNvPr id="30" name="Freeform 30"/>
            <p:cNvSpPr/>
            <p:nvPr/>
          </p:nvSpPr>
          <p:spPr>
            <a:xfrm>
              <a:off x="0" y="0"/>
              <a:ext cx="4611878" cy="1860042"/>
            </a:xfrm>
            <a:custGeom>
              <a:avLst/>
              <a:gdLst/>
              <a:ahLst/>
              <a:cxnLst/>
              <a:rect l="l" t="t" r="r" b="b"/>
              <a:pathLst>
                <a:path w="4611878" h="1860042">
                  <a:moveTo>
                    <a:pt x="0" y="148844"/>
                  </a:moveTo>
                  <a:cubicBezTo>
                    <a:pt x="0" y="66675"/>
                    <a:pt x="66675" y="0"/>
                    <a:pt x="148844" y="0"/>
                  </a:cubicBezTo>
                  <a:lnTo>
                    <a:pt x="4463034" y="0"/>
                  </a:lnTo>
                  <a:cubicBezTo>
                    <a:pt x="4545203" y="0"/>
                    <a:pt x="4611878" y="66675"/>
                    <a:pt x="4611878" y="148844"/>
                  </a:cubicBezTo>
                  <a:lnTo>
                    <a:pt x="4611878" y="1711198"/>
                  </a:lnTo>
                  <a:cubicBezTo>
                    <a:pt x="4611878" y="1793367"/>
                    <a:pt x="4545203" y="1860042"/>
                    <a:pt x="4463034" y="1860042"/>
                  </a:cubicBezTo>
                  <a:lnTo>
                    <a:pt x="148844" y="1860042"/>
                  </a:lnTo>
                  <a:cubicBezTo>
                    <a:pt x="66675" y="1860042"/>
                    <a:pt x="0" y="1793367"/>
                    <a:pt x="0" y="1711198"/>
                  </a:cubicBezTo>
                  <a:close/>
                </a:path>
              </a:pathLst>
            </a:custGeom>
            <a:solidFill>
              <a:srgbClr val="FFF4F2"/>
            </a:solidFill>
            <a:ln w="19110" cap="sq">
              <a:solidFill>
                <a:srgbClr val="F3D2D7"/>
              </a:solidFill>
              <a:prstDash val="solid"/>
              <a:miter/>
            </a:ln>
          </p:spPr>
          <p:txBody>
            <a:bodyPr/>
            <a:lstStyle/>
            <a:p>
              <a:endParaRPr lang="en-US"/>
            </a:p>
          </p:txBody>
        </p:sp>
      </p:grpSp>
      <p:grpSp>
        <p:nvGrpSpPr>
          <p:cNvPr id="31" name="Group 31"/>
          <p:cNvGrpSpPr/>
          <p:nvPr/>
        </p:nvGrpSpPr>
        <p:grpSpPr>
          <a:xfrm>
            <a:off x="5003692" y="5957649"/>
            <a:ext cx="3109531" cy="412770"/>
            <a:chOff x="0" y="0"/>
            <a:chExt cx="4146042" cy="550360"/>
          </a:xfrm>
        </p:grpSpPr>
        <p:sp>
          <p:nvSpPr>
            <p:cNvPr id="32" name="Freeform 32"/>
            <p:cNvSpPr/>
            <p:nvPr/>
          </p:nvSpPr>
          <p:spPr>
            <a:xfrm>
              <a:off x="0" y="0"/>
              <a:ext cx="4146044" cy="550365"/>
            </a:xfrm>
            <a:custGeom>
              <a:avLst/>
              <a:gdLst/>
              <a:ahLst/>
              <a:cxnLst/>
              <a:rect l="l" t="t" r="r" b="b"/>
              <a:pathLst>
                <a:path w="4146044" h="550365">
                  <a:moveTo>
                    <a:pt x="0" y="0"/>
                  </a:moveTo>
                  <a:lnTo>
                    <a:pt x="4146044" y="0"/>
                  </a:lnTo>
                  <a:lnTo>
                    <a:pt x="4146044" y="550365"/>
                  </a:lnTo>
                  <a:lnTo>
                    <a:pt x="0" y="550365"/>
                  </a:lnTo>
                  <a:close/>
                </a:path>
              </a:pathLst>
            </a:custGeom>
            <a:blipFill>
              <a:blip r:embed="rId3">
                <a:alphaModFix amt="0"/>
              </a:blip>
              <a:stretch>
                <a:fillRect t="-96786" b="-96784"/>
              </a:stretch>
            </a:blipFill>
          </p:spPr>
          <p:txBody>
            <a:bodyPr/>
            <a:lstStyle/>
            <a:p>
              <a:endParaRPr lang="en-US"/>
            </a:p>
          </p:txBody>
        </p:sp>
        <p:sp>
          <p:nvSpPr>
            <p:cNvPr id="33" name="TextBox 33"/>
            <p:cNvSpPr txBox="1"/>
            <p:nvPr/>
          </p:nvSpPr>
          <p:spPr>
            <a:xfrm>
              <a:off x="0" y="-9525"/>
              <a:ext cx="4146042" cy="559885"/>
            </a:xfrm>
            <a:prstGeom prst="rect">
              <a:avLst/>
            </a:prstGeom>
          </p:spPr>
          <p:txBody>
            <a:bodyPr lIns="0" tIns="0" rIns="0" bIns="0" rtlCol="0" anchor="ctr"/>
            <a:lstStyle/>
            <a:p>
              <a:pPr algn="ctr">
                <a:lnSpc>
                  <a:spcPts val="2347"/>
                </a:lnSpc>
              </a:pPr>
              <a:r>
                <a:rPr lang="en-US" sz="1956" b="1">
                  <a:solidFill>
                    <a:srgbClr val="C41E3A"/>
                  </a:solidFill>
                  <a:latin typeface="Montserrat Bold"/>
                  <a:ea typeface="Montserrat Bold"/>
                  <a:cs typeface="Montserrat Bold"/>
                  <a:sym typeface="Montserrat Bold"/>
                </a:rPr>
                <a:t>Sau 1 tháng</a:t>
              </a:r>
            </a:p>
          </p:txBody>
        </p:sp>
      </p:grpSp>
      <p:grpSp>
        <p:nvGrpSpPr>
          <p:cNvPr id="34" name="Group 34"/>
          <p:cNvGrpSpPr/>
          <p:nvPr/>
        </p:nvGrpSpPr>
        <p:grpSpPr>
          <a:xfrm>
            <a:off x="5003692" y="6342898"/>
            <a:ext cx="3109531" cy="412770"/>
            <a:chOff x="0" y="0"/>
            <a:chExt cx="4146042" cy="550360"/>
          </a:xfrm>
        </p:grpSpPr>
        <p:sp>
          <p:nvSpPr>
            <p:cNvPr id="35" name="Freeform 35"/>
            <p:cNvSpPr/>
            <p:nvPr/>
          </p:nvSpPr>
          <p:spPr>
            <a:xfrm>
              <a:off x="0" y="0"/>
              <a:ext cx="4146044" cy="550365"/>
            </a:xfrm>
            <a:custGeom>
              <a:avLst/>
              <a:gdLst/>
              <a:ahLst/>
              <a:cxnLst/>
              <a:rect l="l" t="t" r="r" b="b"/>
              <a:pathLst>
                <a:path w="4146044" h="550365">
                  <a:moveTo>
                    <a:pt x="0" y="0"/>
                  </a:moveTo>
                  <a:lnTo>
                    <a:pt x="4146044" y="0"/>
                  </a:lnTo>
                  <a:lnTo>
                    <a:pt x="4146044" y="550365"/>
                  </a:lnTo>
                  <a:lnTo>
                    <a:pt x="0" y="550365"/>
                  </a:lnTo>
                  <a:close/>
                </a:path>
              </a:pathLst>
            </a:custGeom>
            <a:blipFill>
              <a:blip r:embed="rId3">
                <a:alphaModFix amt="0"/>
              </a:blip>
              <a:stretch>
                <a:fillRect t="-96786" b="-96784"/>
              </a:stretch>
            </a:blipFill>
          </p:spPr>
          <p:txBody>
            <a:bodyPr/>
            <a:lstStyle/>
            <a:p>
              <a:endParaRPr lang="en-US"/>
            </a:p>
          </p:txBody>
        </p:sp>
        <p:sp>
          <p:nvSpPr>
            <p:cNvPr id="36" name="TextBox 36"/>
            <p:cNvSpPr txBox="1"/>
            <p:nvPr/>
          </p:nvSpPr>
          <p:spPr>
            <a:xfrm>
              <a:off x="0" y="0"/>
              <a:ext cx="4146042" cy="550360"/>
            </a:xfrm>
            <a:prstGeom prst="rect">
              <a:avLst/>
            </a:prstGeom>
          </p:spPr>
          <p:txBody>
            <a:bodyPr lIns="0" tIns="0" rIns="0" bIns="0" rtlCol="0" anchor="ctr"/>
            <a:lstStyle/>
            <a:p>
              <a:pPr algn="ctr">
                <a:lnSpc>
                  <a:spcPts val="2437"/>
                </a:lnSpc>
              </a:pPr>
              <a:r>
                <a:rPr lang="en-US" sz="2031" b="1">
                  <a:solidFill>
                    <a:srgbClr val="1F2937"/>
                  </a:solidFill>
                  <a:latin typeface="Montserrat Bold"/>
                  <a:ea typeface="Montserrat Bold"/>
                  <a:cs typeface="Montserrat Bold"/>
                  <a:sym typeface="Montserrat Bold"/>
                </a:rPr>
                <a:t>Kết quả tích cực</a:t>
              </a:r>
            </a:p>
          </p:txBody>
        </p:sp>
      </p:grpSp>
      <p:grpSp>
        <p:nvGrpSpPr>
          <p:cNvPr id="37" name="Group 37"/>
          <p:cNvGrpSpPr/>
          <p:nvPr/>
        </p:nvGrpSpPr>
        <p:grpSpPr>
          <a:xfrm>
            <a:off x="5003692" y="6700628"/>
            <a:ext cx="3109531" cy="552297"/>
            <a:chOff x="0" y="0"/>
            <a:chExt cx="4146042" cy="736396"/>
          </a:xfrm>
        </p:grpSpPr>
        <p:sp>
          <p:nvSpPr>
            <p:cNvPr id="38" name="Freeform 38"/>
            <p:cNvSpPr/>
            <p:nvPr/>
          </p:nvSpPr>
          <p:spPr>
            <a:xfrm>
              <a:off x="0" y="0"/>
              <a:ext cx="4146044" cy="736389"/>
            </a:xfrm>
            <a:custGeom>
              <a:avLst/>
              <a:gdLst/>
              <a:ahLst/>
              <a:cxnLst/>
              <a:rect l="l" t="t" r="r" b="b"/>
              <a:pathLst>
                <a:path w="4146044" h="736389">
                  <a:moveTo>
                    <a:pt x="0" y="0"/>
                  </a:moveTo>
                  <a:lnTo>
                    <a:pt x="4146044" y="0"/>
                  </a:lnTo>
                  <a:lnTo>
                    <a:pt x="4146044" y="736389"/>
                  </a:lnTo>
                  <a:lnTo>
                    <a:pt x="0" y="736389"/>
                  </a:lnTo>
                  <a:close/>
                </a:path>
              </a:pathLst>
            </a:custGeom>
            <a:blipFill>
              <a:blip r:embed="rId3">
                <a:alphaModFix amt="0"/>
              </a:blip>
              <a:stretch>
                <a:fillRect t="-64862" b="-54548"/>
              </a:stretch>
            </a:blipFill>
          </p:spPr>
          <p:txBody>
            <a:bodyPr/>
            <a:lstStyle/>
            <a:p>
              <a:endParaRPr lang="en-US"/>
            </a:p>
          </p:txBody>
        </p:sp>
        <p:sp>
          <p:nvSpPr>
            <p:cNvPr id="39" name="TextBox 39"/>
            <p:cNvSpPr txBox="1"/>
            <p:nvPr/>
          </p:nvSpPr>
          <p:spPr>
            <a:xfrm>
              <a:off x="0" y="0"/>
              <a:ext cx="4146042" cy="736396"/>
            </a:xfrm>
            <a:prstGeom prst="rect">
              <a:avLst/>
            </a:prstGeom>
          </p:spPr>
          <p:txBody>
            <a:bodyPr lIns="0" tIns="0" rIns="0" bIns="0" rtlCol="0" anchor="ctr"/>
            <a:lstStyle/>
            <a:p>
              <a:pPr algn="ctr">
                <a:lnSpc>
                  <a:spcPts val="1895"/>
                </a:lnSpc>
              </a:pPr>
              <a:r>
                <a:rPr lang="en-US" sz="1579" b="1">
                  <a:solidFill>
                    <a:srgbClr val="6B7280"/>
                  </a:solidFill>
                  <a:latin typeface="Montserrat Bold"/>
                  <a:ea typeface="Montserrat Bold"/>
                  <a:cs typeface="Montserrat Bold"/>
                  <a:sym typeface="Montserrat Bold"/>
                </a:rPr>
                <a:t>Người dân đón nhận, hiệu quả rõ rệt.</a:t>
              </a:r>
            </a:p>
          </p:txBody>
        </p:sp>
      </p:grpSp>
      <p:grpSp>
        <p:nvGrpSpPr>
          <p:cNvPr id="44" name="Group 44"/>
          <p:cNvGrpSpPr/>
          <p:nvPr/>
        </p:nvGrpSpPr>
        <p:grpSpPr>
          <a:xfrm>
            <a:off x="10011585" y="2948626"/>
            <a:ext cx="3458861" cy="1395012"/>
            <a:chOff x="0" y="0"/>
            <a:chExt cx="4611814" cy="1860017"/>
          </a:xfrm>
        </p:grpSpPr>
        <p:sp>
          <p:nvSpPr>
            <p:cNvPr id="45" name="Freeform 45"/>
            <p:cNvSpPr/>
            <p:nvPr/>
          </p:nvSpPr>
          <p:spPr>
            <a:xfrm>
              <a:off x="0" y="0"/>
              <a:ext cx="4611878" cy="1860042"/>
            </a:xfrm>
            <a:custGeom>
              <a:avLst/>
              <a:gdLst/>
              <a:ahLst/>
              <a:cxnLst/>
              <a:rect l="l" t="t" r="r" b="b"/>
              <a:pathLst>
                <a:path w="4611878" h="1860042">
                  <a:moveTo>
                    <a:pt x="0" y="148844"/>
                  </a:moveTo>
                  <a:cubicBezTo>
                    <a:pt x="0" y="66675"/>
                    <a:pt x="66675" y="0"/>
                    <a:pt x="148844" y="0"/>
                  </a:cubicBezTo>
                  <a:lnTo>
                    <a:pt x="4463034" y="0"/>
                  </a:lnTo>
                  <a:cubicBezTo>
                    <a:pt x="4545203" y="0"/>
                    <a:pt x="4611878" y="66675"/>
                    <a:pt x="4611878" y="148844"/>
                  </a:cubicBezTo>
                  <a:lnTo>
                    <a:pt x="4611878" y="1711198"/>
                  </a:lnTo>
                  <a:cubicBezTo>
                    <a:pt x="4611878" y="1793367"/>
                    <a:pt x="4545203" y="1860042"/>
                    <a:pt x="4463034" y="1860042"/>
                  </a:cubicBezTo>
                  <a:lnTo>
                    <a:pt x="148844" y="1860042"/>
                  </a:lnTo>
                  <a:cubicBezTo>
                    <a:pt x="66675" y="1860042"/>
                    <a:pt x="0" y="1793367"/>
                    <a:pt x="0" y="1711198"/>
                  </a:cubicBezTo>
                  <a:close/>
                </a:path>
              </a:pathLst>
            </a:custGeom>
            <a:solidFill>
              <a:srgbClr val="FFF4F2"/>
            </a:solidFill>
            <a:ln w="19110" cap="sq">
              <a:solidFill>
                <a:srgbClr val="F3D2D7"/>
              </a:solidFill>
              <a:prstDash val="solid"/>
              <a:miter/>
            </a:ln>
          </p:spPr>
          <p:txBody>
            <a:bodyPr/>
            <a:lstStyle/>
            <a:p>
              <a:endParaRPr lang="en-US"/>
            </a:p>
          </p:txBody>
        </p:sp>
      </p:grpSp>
      <p:grpSp>
        <p:nvGrpSpPr>
          <p:cNvPr id="46" name="Group 46"/>
          <p:cNvGrpSpPr/>
          <p:nvPr/>
        </p:nvGrpSpPr>
        <p:grpSpPr>
          <a:xfrm>
            <a:off x="10186245" y="3068260"/>
            <a:ext cx="3109531" cy="412770"/>
            <a:chOff x="0" y="0"/>
            <a:chExt cx="4146042" cy="550360"/>
          </a:xfrm>
        </p:grpSpPr>
        <p:sp>
          <p:nvSpPr>
            <p:cNvPr id="47" name="Freeform 47"/>
            <p:cNvSpPr/>
            <p:nvPr/>
          </p:nvSpPr>
          <p:spPr>
            <a:xfrm>
              <a:off x="0" y="0"/>
              <a:ext cx="4146044" cy="550365"/>
            </a:xfrm>
            <a:custGeom>
              <a:avLst/>
              <a:gdLst/>
              <a:ahLst/>
              <a:cxnLst/>
              <a:rect l="l" t="t" r="r" b="b"/>
              <a:pathLst>
                <a:path w="4146044" h="550365">
                  <a:moveTo>
                    <a:pt x="0" y="0"/>
                  </a:moveTo>
                  <a:lnTo>
                    <a:pt x="4146044" y="0"/>
                  </a:lnTo>
                  <a:lnTo>
                    <a:pt x="4146044" y="550365"/>
                  </a:lnTo>
                  <a:lnTo>
                    <a:pt x="0" y="550365"/>
                  </a:lnTo>
                  <a:close/>
                </a:path>
              </a:pathLst>
            </a:custGeom>
            <a:blipFill>
              <a:blip r:embed="rId3">
                <a:alphaModFix amt="0"/>
              </a:blip>
              <a:stretch>
                <a:fillRect t="-96786" b="-96784"/>
              </a:stretch>
            </a:blipFill>
          </p:spPr>
          <p:txBody>
            <a:bodyPr/>
            <a:lstStyle/>
            <a:p>
              <a:endParaRPr lang="en-US"/>
            </a:p>
          </p:txBody>
        </p:sp>
        <p:sp>
          <p:nvSpPr>
            <p:cNvPr id="48" name="TextBox 48"/>
            <p:cNvSpPr txBox="1"/>
            <p:nvPr/>
          </p:nvSpPr>
          <p:spPr>
            <a:xfrm>
              <a:off x="0" y="-9525"/>
              <a:ext cx="4146042" cy="559885"/>
            </a:xfrm>
            <a:prstGeom prst="rect">
              <a:avLst/>
            </a:prstGeom>
          </p:spPr>
          <p:txBody>
            <a:bodyPr lIns="0" tIns="0" rIns="0" bIns="0" rtlCol="0" anchor="ctr"/>
            <a:lstStyle/>
            <a:p>
              <a:pPr algn="ctr">
                <a:lnSpc>
                  <a:spcPts val="2347"/>
                </a:lnSpc>
              </a:pPr>
              <a:r>
                <a:rPr lang="en-US" sz="1956" b="1">
                  <a:solidFill>
                    <a:srgbClr val="C41E3A"/>
                  </a:solidFill>
                  <a:latin typeface="Montserrat Bold"/>
                  <a:ea typeface="Montserrat Bold"/>
                  <a:cs typeface="Montserrat Bold"/>
                  <a:sym typeface="Montserrat Bold"/>
                </a:rPr>
                <a:t>4/4/2026</a:t>
              </a:r>
            </a:p>
          </p:txBody>
        </p:sp>
      </p:grpSp>
      <p:grpSp>
        <p:nvGrpSpPr>
          <p:cNvPr id="49" name="Group 49"/>
          <p:cNvGrpSpPr/>
          <p:nvPr/>
        </p:nvGrpSpPr>
        <p:grpSpPr>
          <a:xfrm>
            <a:off x="10186245" y="3453508"/>
            <a:ext cx="3109531" cy="412770"/>
            <a:chOff x="0" y="0"/>
            <a:chExt cx="4146042" cy="550360"/>
          </a:xfrm>
        </p:grpSpPr>
        <p:sp>
          <p:nvSpPr>
            <p:cNvPr id="50" name="Freeform 50"/>
            <p:cNvSpPr/>
            <p:nvPr/>
          </p:nvSpPr>
          <p:spPr>
            <a:xfrm>
              <a:off x="0" y="0"/>
              <a:ext cx="4146044" cy="550365"/>
            </a:xfrm>
            <a:custGeom>
              <a:avLst/>
              <a:gdLst/>
              <a:ahLst/>
              <a:cxnLst/>
              <a:rect l="l" t="t" r="r" b="b"/>
              <a:pathLst>
                <a:path w="4146044" h="550365">
                  <a:moveTo>
                    <a:pt x="0" y="0"/>
                  </a:moveTo>
                  <a:lnTo>
                    <a:pt x="4146044" y="0"/>
                  </a:lnTo>
                  <a:lnTo>
                    <a:pt x="4146044" y="550365"/>
                  </a:lnTo>
                  <a:lnTo>
                    <a:pt x="0" y="550365"/>
                  </a:lnTo>
                  <a:close/>
                </a:path>
              </a:pathLst>
            </a:custGeom>
            <a:blipFill>
              <a:blip r:embed="rId3">
                <a:alphaModFix amt="0"/>
              </a:blip>
              <a:stretch>
                <a:fillRect t="-96786" b="-96784"/>
              </a:stretch>
            </a:blipFill>
          </p:spPr>
          <p:txBody>
            <a:bodyPr/>
            <a:lstStyle/>
            <a:p>
              <a:endParaRPr lang="en-US"/>
            </a:p>
          </p:txBody>
        </p:sp>
        <p:sp>
          <p:nvSpPr>
            <p:cNvPr id="51" name="TextBox 51"/>
            <p:cNvSpPr txBox="1"/>
            <p:nvPr/>
          </p:nvSpPr>
          <p:spPr>
            <a:xfrm>
              <a:off x="0" y="0"/>
              <a:ext cx="4146042" cy="550360"/>
            </a:xfrm>
            <a:prstGeom prst="rect">
              <a:avLst/>
            </a:prstGeom>
          </p:spPr>
          <p:txBody>
            <a:bodyPr lIns="0" tIns="0" rIns="0" bIns="0" rtlCol="0" anchor="ctr"/>
            <a:lstStyle/>
            <a:p>
              <a:pPr algn="ctr">
                <a:lnSpc>
                  <a:spcPts val="2437"/>
                </a:lnSpc>
              </a:pPr>
              <a:r>
                <a:rPr lang="en-US" sz="2031" b="1">
                  <a:solidFill>
                    <a:srgbClr val="1F2937"/>
                  </a:solidFill>
                  <a:latin typeface="Montserrat Bold"/>
                  <a:ea typeface="Montserrat Bold"/>
                  <a:cs typeface="Montserrat Bold"/>
                  <a:sym typeface="Montserrat Bold"/>
                </a:rPr>
                <a:t>Đề nghị công nhận</a:t>
              </a:r>
            </a:p>
          </p:txBody>
        </p:sp>
      </p:grpSp>
      <p:grpSp>
        <p:nvGrpSpPr>
          <p:cNvPr id="52" name="Group 52"/>
          <p:cNvGrpSpPr/>
          <p:nvPr/>
        </p:nvGrpSpPr>
        <p:grpSpPr>
          <a:xfrm>
            <a:off x="10186245" y="3811238"/>
            <a:ext cx="3109531" cy="495324"/>
            <a:chOff x="0" y="0"/>
            <a:chExt cx="4146042" cy="660432"/>
          </a:xfrm>
        </p:grpSpPr>
        <p:sp>
          <p:nvSpPr>
            <p:cNvPr id="53" name="Freeform 53"/>
            <p:cNvSpPr/>
            <p:nvPr/>
          </p:nvSpPr>
          <p:spPr>
            <a:xfrm>
              <a:off x="0" y="0"/>
              <a:ext cx="4146044" cy="660426"/>
            </a:xfrm>
            <a:custGeom>
              <a:avLst/>
              <a:gdLst/>
              <a:ahLst/>
              <a:cxnLst/>
              <a:rect l="l" t="t" r="r" b="b"/>
              <a:pathLst>
                <a:path w="4146044" h="660426">
                  <a:moveTo>
                    <a:pt x="0" y="0"/>
                  </a:moveTo>
                  <a:lnTo>
                    <a:pt x="4146044" y="0"/>
                  </a:lnTo>
                  <a:lnTo>
                    <a:pt x="4146044" y="660426"/>
                  </a:lnTo>
                  <a:lnTo>
                    <a:pt x="0" y="660426"/>
                  </a:lnTo>
                  <a:close/>
                </a:path>
              </a:pathLst>
            </a:custGeom>
            <a:blipFill>
              <a:blip r:embed="rId3">
                <a:alphaModFix amt="0"/>
              </a:blip>
              <a:stretch>
                <a:fillRect t="-72322" b="-72324"/>
              </a:stretch>
            </a:blipFill>
          </p:spPr>
          <p:txBody>
            <a:bodyPr/>
            <a:lstStyle/>
            <a:p>
              <a:endParaRPr lang="en-US"/>
            </a:p>
          </p:txBody>
        </p:sp>
        <p:sp>
          <p:nvSpPr>
            <p:cNvPr id="54" name="TextBox 54"/>
            <p:cNvSpPr txBox="1"/>
            <p:nvPr/>
          </p:nvSpPr>
          <p:spPr>
            <a:xfrm>
              <a:off x="0" y="0"/>
              <a:ext cx="4146042" cy="660432"/>
            </a:xfrm>
            <a:prstGeom prst="rect">
              <a:avLst/>
            </a:prstGeom>
          </p:spPr>
          <p:txBody>
            <a:bodyPr lIns="0" tIns="0" rIns="0" bIns="0" rtlCol="0" anchor="ctr"/>
            <a:lstStyle/>
            <a:p>
              <a:pPr algn="ctr">
                <a:lnSpc>
                  <a:spcPts val="1655"/>
                </a:lnSpc>
              </a:pPr>
              <a:r>
                <a:rPr lang="en-US" sz="1379" b="1">
                  <a:solidFill>
                    <a:srgbClr val="6B7280"/>
                  </a:solidFill>
                  <a:latin typeface="Montserrat Bold"/>
                  <a:ea typeface="Montserrat Bold"/>
                  <a:cs typeface="Montserrat Bold"/>
                  <a:sym typeface="Montserrat Bold"/>
                </a:rPr>
                <a:t>Hoàn thiện bản mô tả sáng kiến.</a:t>
              </a:r>
            </a:p>
          </p:txBody>
        </p:sp>
      </p:grpSp>
      <p:grpSp>
        <p:nvGrpSpPr>
          <p:cNvPr id="84" name="Group 83">
            <a:extLst>
              <a:ext uri="{FF2B5EF4-FFF2-40B4-BE49-F238E27FC236}">
                <a16:creationId xmlns:a16="http://schemas.microsoft.com/office/drawing/2014/main" id="{D053476D-A164-140F-6D8D-A1A99142BC82}"/>
              </a:ext>
            </a:extLst>
          </p:cNvPr>
          <p:cNvGrpSpPr/>
          <p:nvPr/>
        </p:nvGrpSpPr>
        <p:grpSpPr>
          <a:xfrm>
            <a:off x="1031929" y="4781255"/>
            <a:ext cx="16235610" cy="687953"/>
            <a:chOff x="1031929" y="4781255"/>
            <a:chExt cx="16235610" cy="687953"/>
          </a:xfrm>
        </p:grpSpPr>
        <p:grpSp>
          <p:nvGrpSpPr>
            <p:cNvPr id="8" name="Group 8"/>
            <p:cNvGrpSpPr/>
            <p:nvPr/>
          </p:nvGrpSpPr>
          <p:grpSpPr>
            <a:xfrm>
              <a:off x="1375896" y="5090827"/>
              <a:ext cx="15547667" cy="68799"/>
              <a:chOff x="0" y="0"/>
              <a:chExt cx="20730223" cy="91732"/>
            </a:xfrm>
          </p:grpSpPr>
          <p:sp>
            <p:nvSpPr>
              <p:cNvPr id="9" name="Freeform 9"/>
              <p:cNvSpPr/>
              <p:nvPr/>
            </p:nvSpPr>
            <p:spPr>
              <a:xfrm>
                <a:off x="0" y="0"/>
                <a:ext cx="20730211" cy="91694"/>
              </a:xfrm>
              <a:custGeom>
                <a:avLst/>
                <a:gdLst/>
                <a:ahLst/>
                <a:cxnLst/>
                <a:rect l="l" t="t" r="r" b="b"/>
                <a:pathLst>
                  <a:path w="20730211" h="91694">
                    <a:moveTo>
                      <a:pt x="0" y="0"/>
                    </a:moveTo>
                    <a:lnTo>
                      <a:pt x="20730211" y="0"/>
                    </a:lnTo>
                    <a:lnTo>
                      <a:pt x="20730211" y="91694"/>
                    </a:lnTo>
                    <a:lnTo>
                      <a:pt x="0" y="91694"/>
                    </a:lnTo>
                    <a:close/>
                  </a:path>
                </a:pathLst>
              </a:custGeom>
              <a:solidFill>
                <a:srgbClr val="C41E3A"/>
              </a:solidFill>
            </p:spPr>
            <p:txBody>
              <a:bodyPr/>
              <a:lstStyle/>
              <a:p>
                <a:endParaRPr lang="en-US"/>
              </a:p>
            </p:txBody>
          </p:sp>
        </p:grpSp>
        <p:grpSp>
          <p:nvGrpSpPr>
            <p:cNvPr id="10" name="Group 10"/>
            <p:cNvGrpSpPr/>
            <p:nvPr/>
          </p:nvGrpSpPr>
          <p:grpSpPr>
            <a:xfrm>
              <a:off x="1031929" y="4781255"/>
              <a:ext cx="687953" cy="687953"/>
              <a:chOff x="0" y="0"/>
              <a:chExt cx="917270" cy="917270"/>
            </a:xfrm>
          </p:grpSpPr>
          <p:sp>
            <p:nvSpPr>
              <p:cNvPr id="11" name="Freeform 11"/>
              <p:cNvSpPr/>
              <p:nvPr/>
            </p:nvSpPr>
            <p:spPr>
              <a:xfrm>
                <a:off x="0" y="0"/>
                <a:ext cx="917321" cy="917321"/>
              </a:xfrm>
              <a:custGeom>
                <a:avLst/>
                <a:gdLst/>
                <a:ahLst/>
                <a:cxnLst/>
                <a:rect l="l" t="t" r="r" b="b"/>
                <a:pathLst>
                  <a:path w="917321" h="917321">
                    <a:moveTo>
                      <a:pt x="0" y="458597"/>
                    </a:moveTo>
                    <a:cubicBezTo>
                      <a:pt x="0" y="205359"/>
                      <a:pt x="205359" y="0"/>
                      <a:pt x="458597" y="0"/>
                    </a:cubicBezTo>
                    <a:cubicBezTo>
                      <a:pt x="711835" y="0"/>
                      <a:pt x="917321" y="205359"/>
                      <a:pt x="917321" y="458597"/>
                    </a:cubicBezTo>
                    <a:cubicBezTo>
                      <a:pt x="917321" y="711835"/>
                      <a:pt x="711962" y="917321"/>
                      <a:pt x="458597" y="917321"/>
                    </a:cubicBezTo>
                    <a:cubicBezTo>
                      <a:pt x="205232" y="917321"/>
                      <a:pt x="0" y="711962"/>
                      <a:pt x="0" y="458597"/>
                    </a:cubicBezTo>
                    <a:close/>
                  </a:path>
                </a:pathLst>
              </a:custGeom>
              <a:solidFill>
                <a:srgbClr val="FFD700"/>
              </a:solidFill>
            </p:spPr>
            <p:txBody>
              <a:bodyPr/>
              <a:lstStyle/>
              <a:p>
                <a:endParaRPr lang="en-US"/>
              </a:p>
            </p:txBody>
          </p:sp>
        </p:grpSp>
        <p:grpSp>
          <p:nvGrpSpPr>
            <p:cNvPr id="12" name="Group 12"/>
            <p:cNvGrpSpPr/>
            <p:nvPr/>
          </p:nvGrpSpPr>
          <p:grpSpPr>
            <a:xfrm>
              <a:off x="1238307" y="4987633"/>
              <a:ext cx="275177" cy="275177"/>
              <a:chOff x="0" y="0"/>
              <a:chExt cx="366903" cy="366903"/>
            </a:xfrm>
          </p:grpSpPr>
          <p:sp>
            <p:nvSpPr>
              <p:cNvPr id="13" name="Freeform 13"/>
              <p:cNvSpPr/>
              <p:nvPr/>
            </p:nvSpPr>
            <p:spPr>
              <a:xfrm>
                <a:off x="0" y="0"/>
                <a:ext cx="366903" cy="366903"/>
              </a:xfrm>
              <a:custGeom>
                <a:avLst/>
                <a:gdLst/>
                <a:ahLst/>
                <a:cxnLst/>
                <a:rect l="l" t="t" r="r" b="b"/>
                <a:pathLst>
                  <a:path w="366903" h="366903">
                    <a:moveTo>
                      <a:pt x="0" y="183515"/>
                    </a:moveTo>
                    <a:cubicBezTo>
                      <a:pt x="0" y="82169"/>
                      <a:pt x="82169" y="0"/>
                      <a:pt x="183515" y="0"/>
                    </a:cubicBezTo>
                    <a:cubicBezTo>
                      <a:pt x="284861" y="0"/>
                      <a:pt x="366903" y="82169"/>
                      <a:pt x="366903" y="183515"/>
                    </a:cubicBezTo>
                    <a:cubicBezTo>
                      <a:pt x="366903" y="284861"/>
                      <a:pt x="284734" y="366903"/>
                      <a:pt x="183515" y="366903"/>
                    </a:cubicBezTo>
                    <a:cubicBezTo>
                      <a:pt x="82296" y="366903"/>
                      <a:pt x="0" y="284734"/>
                      <a:pt x="0" y="183515"/>
                    </a:cubicBezTo>
                    <a:close/>
                  </a:path>
                </a:pathLst>
              </a:custGeom>
              <a:solidFill>
                <a:srgbClr val="8B0000"/>
              </a:solidFill>
            </p:spPr>
            <p:txBody>
              <a:bodyPr/>
              <a:lstStyle/>
              <a:p>
                <a:endParaRPr lang="en-US"/>
              </a:p>
            </p:txBody>
          </p:sp>
        </p:grpSp>
        <p:grpSp>
          <p:nvGrpSpPr>
            <p:cNvPr id="25" name="Group 25"/>
            <p:cNvGrpSpPr/>
            <p:nvPr/>
          </p:nvGrpSpPr>
          <p:grpSpPr>
            <a:xfrm>
              <a:off x="6214481" y="4781255"/>
              <a:ext cx="687953" cy="687953"/>
              <a:chOff x="0" y="0"/>
              <a:chExt cx="917270" cy="917270"/>
            </a:xfrm>
          </p:grpSpPr>
          <p:sp>
            <p:nvSpPr>
              <p:cNvPr id="26" name="Freeform 26"/>
              <p:cNvSpPr/>
              <p:nvPr/>
            </p:nvSpPr>
            <p:spPr>
              <a:xfrm>
                <a:off x="0" y="0"/>
                <a:ext cx="917321" cy="917321"/>
              </a:xfrm>
              <a:custGeom>
                <a:avLst/>
                <a:gdLst/>
                <a:ahLst/>
                <a:cxnLst/>
                <a:rect l="l" t="t" r="r" b="b"/>
                <a:pathLst>
                  <a:path w="917321" h="917321">
                    <a:moveTo>
                      <a:pt x="0" y="458597"/>
                    </a:moveTo>
                    <a:cubicBezTo>
                      <a:pt x="0" y="205359"/>
                      <a:pt x="205359" y="0"/>
                      <a:pt x="458597" y="0"/>
                    </a:cubicBezTo>
                    <a:cubicBezTo>
                      <a:pt x="711835" y="0"/>
                      <a:pt x="917321" y="205359"/>
                      <a:pt x="917321" y="458597"/>
                    </a:cubicBezTo>
                    <a:cubicBezTo>
                      <a:pt x="917321" y="711835"/>
                      <a:pt x="711962" y="917321"/>
                      <a:pt x="458597" y="917321"/>
                    </a:cubicBezTo>
                    <a:cubicBezTo>
                      <a:pt x="205232" y="917321"/>
                      <a:pt x="0" y="711962"/>
                      <a:pt x="0" y="458597"/>
                    </a:cubicBezTo>
                    <a:close/>
                  </a:path>
                </a:pathLst>
              </a:custGeom>
              <a:solidFill>
                <a:srgbClr val="FFD700"/>
              </a:solidFill>
            </p:spPr>
            <p:txBody>
              <a:bodyPr/>
              <a:lstStyle/>
              <a:p>
                <a:endParaRPr lang="en-US"/>
              </a:p>
            </p:txBody>
          </p:sp>
        </p:grpSp>
        <p:grpSp>
          <p:nvGrpSpPr>
            <p:cNvPr id="27" name="Group 27"/>
            <p:cNvGrpSpPr/>
            <p:nvPr/>
          </p:nvGrpSpPr>
          <p:grpSpPr>
            <a:xfrm>
              <a:off x="6420869" y="4987633"/>
              <a:ext cx="275177" cy="275177"/>
              <a:chOff x="0" y="0"/>
              <a:chExt cx="366903" cy="366903"/>
            </a:xfrm>
          </p:grpSpPr>
          <p:sp>
            <p:nvSpPr>
              <p:cNvPr id="28" name="Freeform 28"/>
              <p:cNvSpPr/>
              <p:nvPr/>
            </p:nvSpPr>
            <p:spPr>
              <a:xfrm>
                <a:off x="0" y="0"/>
                <a:ext cx="366903" cy="366903"/>
              </a:xfrm>
              <a:custGeom>
                <a:avLst/>
                <a:gdLst/>
                <a:ahLst/>
                <a:cxnLst/>
                <a:rect l="l" t="t" r="r" b="b"/>
                <a:pathLst>
                  <a:path w="366903" h="366903">
                    <a:moveTo>
                      <a:pt x="0" y="183515"/>
                    </a:moveTo>
                    <a:cubicBezTo>
                      <a:pt x="0" y="82169"/>
                      <a:pt x="82169" y="0"/>
                      <a:pt x="183515" y="0"/>
                    </a:cubicBezTo>
                    <a:cubicBezTo>
                      <a:pt x="284861" y="0"/>
                      <a:pt x="366903" y="82169"/>
                      <a:pt x="366903" y="183515"/>
                    </a:cubicBezTo>
                    <a:cubicBezTo>
                      <a:pt x="366903" y="284861"/>
                      <a:pt x="284734" y="366903"/>
                      <a:pt x="183515" y="366903"/>
                    </a:cubicBezTo>
                    <a:cubicBezTo>
                      <a:pt x="82296" y="366903"/>
                      <a:pt x="0" y="284734"/>
                      <a:pt x="0" y="183515"/>
                    </a:cubicBezTo>
                    <a:close/>
                  </a:path>
                </a:pathLst>
              </a:custGeom>
              <a:solidFill>
                <a:srgbClr val="8B0000"/>
              </a:solidFill>
            </p:spPr>
            <p:txBody>
              <a:bodyPr/>
              <a:lstStyle/>
              <a:p>
                <a:endParaRPr lang="en-US"/>
              </a:p>
            </p:txBody>
          </p:sp>
        </p:grpSp>
        <p:grpSp>
          <p:nvGrpSpPr>
            <p:cNvPr id="40" name="Group 40"/>
            <p:cNvGrpSpPr/>
            <p:nvPr/>
          </p:nvGrpSpPr>
          <p:grpSpPr>
            <a:xfrm>
              <a:off x="11397034" y="4781255"/>
              <a:ext cx="687953" cy="687953"/>
              <a:chOff x="0" y="0"/>
              <a:chExt cx="917270" cy="917270"/>
            </a:xfrm>
          </p:grpSpPr>
          <p:sp>
            <p:nvSpPr>
              <p:cNvPr id="41" name="Freeform 41"/>
              <p:cNvSpPr/>
              <p:nvPr/>
            </p:nvSpPr>
            <p:spPr>
              <a:xfrm>
                <a:off x="0" y="0"/>
                <a:ext cx="917321" cy="917321"/>
              </a:xfrm>
              <a:custGeom>
                <a:avLst/>
                <a:gdLst/>
                <a:ahLst/>
                <a:cxnLst/>
                <a:rect l="l" t="t" r="r" b="b"/>
                <a:pathLst>
                  <a:path w="917321" h="917321">
                    <a:moveTo>
                      <a:pt x="0" y="458597"/>
                    </a:moveTo>
                    <a:cubicBezTo>
                      <a:pt x="0" y="205359"/>
                      <a:pt x="205359" y="0"/>
                      <a:pt x="458597" y="0"/>
                    </a:cubicBezTo>
                    <a:cubicBezTo>
                      <a:pt x="711835" y="0"/>
                      <a:pt x="917321" y="205359"/>
                      <a:pt x="917321" y="458597"/>
                    </a:cubicBezTo>
                    <a:cubicBezTo>
                      <a:pt x="917321" y="711835"/>
                      <a:pt x="711962" y="917321"/>
                      <a:pt x="458597" y="917321"/>
                    </a:cubicBezTo>
                    <a:cubicBezTo>
                      <a:pt x="205232" y="917321"/>
                      <a:pt x="0" y="711962"/>
                      <a:pt x="0" y="458597"/>
                    </a:cubicBezTo>
                    <a:close/>
                  </a:path>
                </a:pathLst>
              </a:custGeom>
              <a:solidFill>
                <a:srgbClr val="FFD700"/>
              </a:solidFill>
            </p:spPr>
            <p:txBody>
              <a:bodyPr/>
              <a:lstStyle/>
              <a:p>
                <a:endParaRPr lang="en-US"/>
              </a:p>
            </p:txBody>
          </p:sp>
        </p:grpSp>
        <p:grpSp>
          <p:nvGrpSpPr>
            <p:cNvPr id="42" name="Group 42"/>
            <p:cNvGrpSpPr/>
            <p:nvPr/>
          </p:nvGrpSpPr>
          <p:grpSpPr>
            <a:xfrm>
              <a:off x="11603422" y="4987633"/>
              <a:ext cx="275177" cy="275177"/>
              <a:chOff x="0" y="0"/>
              <a:chExt cx="366903" cy="366903"/>
            </a:xfrm>
          </p:grpSpPr>
          <p:sp>
            <p:nvSpPr>
              <p:cNvPr id="43" name="Freeform 43"/>
              <p:cNvSpPr/>
              <p:nvPr/>
            </p:nvSpPr>
            <p:spPr>
              <a:xfrm>
                <a:off x="0" y="0"/>
                <a:ext cx="366903" cy="366903"/>
              </a:xfrm>
              <a:custGeom>
                <a:avLst/>
                <a:gdLst/>
                <a:ahLst/>
                <a:cxnLst/>
                <a:rect l="l" t="t" r="r" b="b"/>
                <a:pathLst>
                  <a:path w="366903" h="366903">
                    <a:moveTo>
                      <a:pt x="0" y="183515"/>
                    </a:moveTo>
                    <a:cubicBezTo>
                      <a:pt x="0" y="82169"/>
                      <a:pt x="82169" y="0"/>
                      <a:pt x="183515" y="0"/>
                    </a:cubicBezTo>
                    <a:cubicBezTo>
                      <a:pt x="284861" y="0"/>
                      <a:pt x="366903" y="82169"/>
                      <a:pt x="366903" y="183515"/>
                    </a:cubicBezTo>
                    <a:cubicBezTo>
                      <a:pt x="366903" y="284861"/>
                      <a:pt x="284734" y="366903"/>
                      <a:pt x="183515" y="366903"/>
                    </a:cubicBezTo>
                    <a:cubicBezTo>
                      <a:pt x="82296" y="366903"/>
                      <a:pt x="0" y="284734"/>
                      <a:pt x="0" y="183515"/>
                    </a:cubicBezTo>
                    <a:close/>
                  </a:path>
                </a:pathLst>
              </a:custGeom>
              <a:solidFill>
                <a:srgbClr val="8B0000"/>
              </a:solidFill>
            </p:spPr>
            <p:txBody>
              <a:bodyPr/>
              <a:lstStyle/>
              <a:p>
                <a:endParaRPr lang="en-US"/>
              </a:p>
            </p:txBody>
          </p:sp>
        </p:grpSp>
        <p:grpSp>
          <p:nvGrpSpPr>
            <p:cNvPr id="55" name="Group 55"/>
            <p:cNvGrpSpPr/>
            <p:nvPr/>
          </p:nvGrpSpPr>
          <p:grpSpPr>
            <a:xfrm>
              <a:off x="16579586" y="4781255"/>
              <a:ext cx="687953" cy="687953"/>
              <a:chOff x="0" y="0"/>
              <a:chExt cx="917270" cy="917270"/>
            </a:xfrm>
          </p:grpSpPr>
          <p:sp>
            <p:nvSpPr>
              <p:cNvPr id="56" name="Freeform 56"/>
              <p:cNvSpPr/>
              <p:nvPr/>
            </p:nvSpPr>
            <p:spPr>
              <a:xfrm>
                <a:off x="0" y="0"/>
                <a:ext cx="917321" cy="917321"/>
              </a:xfrm>
              <a:custGeom>
                <a:avLst/>
                <a:gdLst/>
                <a:ahLst/>
                <a:cxnLst/>
                <a:rect l="l" t="t" r="r" b="b"/>
                <a:pathLst>
                  <a:path w="917321" h="917321">
                    <a:moveTo>
                      <a:pt x="0" y="458597"/>
                    </a:moveTo>
                    <a:cubicBezTo>
                      <a:pt x="0" y="205359"/>
                      <a:pt x="205359" y="0"/>
                      <a:pt x="458597" y="0"/>
                    </a:cubicBezTo>
                    <a:cubicBezTo>
                      <a:pt x="711835" y="0"/>
                      <a:pt x="917321" y="205359"/>
                      <a:pt x="917321" y="458597"/>
                    </a:cubicBezTo>
                    <a:cubicBezTo>
                      <a:pt x="917321" y="711835"/>
                      <a:pt x="711962" y="917321"/>
                      <a:pt x="458597" y="917321"/>
                    </a:cubicBezTo>
                    <a:cubicBezTo>
                      <a:pt x="205232" y="917321"/>
                      <a:pt x="0" y="711962"/>
                      <a:pt x="0" y="458597"/>
                    </a:cubicBezTo>
                    <a:close/>
                  </a:path>
                </a:pathLst>
              </a:custGeom>
              <a:solidFill>
                <a:srgbClr val="FFD700"/>
              </a:solidFill>
            </p:spPr>
            <p:txBody>
              <a:bodyPr/>
              <a:lstStyle/>
              <a:p>
                <a:endParaRPr lang="en-US"/>
              </a:p>
            </p:txBody>
          </p:sp>
        </p:grpSp>
        <p:grpSp>
          <p:nvGrpSpPr>
            <p:cNvPr id="57" name="Group 57"/>
            <p:cNvGrpSpPr/>
            <p:nvPr/>
          </p:nvGrpSpPr>
          <p:grpSpPr>
            <a:xfrm>
              <a:off x="16785974" y="4987633"/>
              <a:ext cx="275177" cy="275177"/>
              <a:chOff x="0" y="0"/>
              <a:chExt cx="366903" cy="366903"/>
            </a:xfrm>
          </p:grpSpPr>
          <p:sp>
            <p:nvSpPr>
              <p:cNvPr id="58" name="Freeform 58"/>
              <p:cNvSpPr/>
              <p:nvPr/>
            </p:nvSpPr>
            <p:spPr>
              <a:xfrm>
                <a:off x="0" y="0"/>
                <a:ext cx="366903" cy="366903"/>
              </a:xfrm>
              <a:custGeom>
                <a:avLst/>
                <a:gdLst/>
                <a:ahLst/>
                <a:cxnLst/>
                <a:rect l="l" t="t" r="r" b="b"/>
                <a:pathLst>
                  <a:path w="366903" h="366903">
                    <a:moveTo>
                      <a:pt x="0" y="183515"/>
                    </a:moveTo>
                    <a:cubicBezTo>
                      <a:pt x="0" y="82169"/>
                      <a:pt x="82169" y="0"/>
                      <a:pt x="183515" y="0"/>
                    </a:cubicBezTo>
                    <a:cubicBezTo>
                      <a:pt x="284861" y="0"/>
                      <a:pt x="366903" y="82169"/>
                      <a:pt x="366903" y="183515"/>
                    </a:cubicBezTo>
                    <a:cubicBezTo>
                      <a:pt x="366903" y="284861"/>
                      <a:pt x="284734" y="366903"/>
                      <a:pt x="183515" y="366903"/>
                    </a:cubicBezTo>
                    <a:cubicBezTo>
                      <a:pt x="82296" y="366903"/>
                      <a:pt x="0" y="284734"/>
                      <a:pt x="0" y="183515"/>
                    </a:cubicBezTo>
                    <a:close/>
                  </a:path>
                </a:pathLst>
              </a:custGeom>
              <a:solidFill>
                <a:srgbClr val="8B0000"/>
              </a:solidFill>
            </p:spPr>
            <p:txBody>
              <a:bodyPr/>
              <a:lstStyle/>
              <a:p>
                <a:endParaRPr lang="en-US"/>
              </a:p>
            </p:txBody>
          </p:sp>
        </p:grpSp>
      </p:grpSp>
      <p:grpSp>
        <p:nvGrpSpPr>
          <p:cNvPr id="59" name="Group 59"/>
          <p:cNvGrpSpPr/>
          <p:nvPr/>
        </p:nvGrpSpPr>
        <p:grpSpPr>
          <a:xfrm>
            <a:off x="13474265" y="5838015"/>
            <a:ext cx="3458861" cy="1395012"/>
            <a:chOff x="0" y="0"/>
            <a:chExt cx="4611814" cy="1860017"/>
          </a:xfrm>
        </p:grpSpPr>
        <p:sp>
          <p:nvSpPr>
            <p:cNvPr id="60" name="Freeform 60"/>
            <p:cNvSpPr/>
            <p:nvPr/>
          </p:nvSpPr>
          <p:spPr>
            <a:xfrm>
              <a:off x="0" y="0"/>
              <a:ext cx="4611878" cy="1860042"/>
            </a:xfrm>
            <a:custGeom>
              <a:avLst/>
              <a:gdLst/>
              <a:ahLst/>
              <a:cxnLst/>
              <a:rect l="l" t="t" r="r" b="b"/>
              <a:pathLst>
                <a:path w="4611878" h="1860042">
                  <a:moveTo>
                    <a:pt x="0" y="148844"/>
                  </a:moveTo>
                  <a:cubicBezTo>
                    <a:pt x="0" y="66675"/>
                    <a:pt x="66675" y="0"/>
                    <a:pt x="148844" y="0"/>
                  </a:cubicBezTo>
                  <a:lnTo>
                    <a:pt x="4463034" y="0"/>
                  </a:lnTo>
                  <a:cubicBezTo>
                    <a:pt x="4545203" y="0"/>
                    <a:pt x="4611878" y="66675"/>
                    <a:pt x="4611878" y="148844"/>
                  </a:cubicBezTo>
                  <a:lnTo>
                    <a:pt x="4611878" y="1711198"/>
                  </a:lnTo>
                  <a:cubicBezTo>
                    <a:pt x="4611878" y="1793367"/>
                    <a:pt x="4545203" y="1860042"/>
                    <a:pt x="4463034" y="1860042"/>
                  </a:cubicBezTo>
                  <a:lnTo>
                    <a:pt x="148844" y="1860042"/>
                  </a:lnTo>
                  <a:cubicBezTo>
                    <a:pt x="66675" y="1860042"/>
                    <a:pt x="0" y="1793367"/>
                    <a:pt x="0" y="1711198"/>
                  </a:cubicBezTo>
                  <a:close/>
                </a:path>
              </a:pathLst>
            </a:custGeom>
            <a:solidFill>
              <a:srgbClr val="7A0010"/>
            </a:solidFill>
            <a:ln w="19110" cap="sq">
              <a:solidFill>
                <a:srgbClr val="FFD700"/>
              </a:solidFill>
              <a:prstDash val="solid"/>
              <a:miter/>
            </a:ln>
          </p:spPr>
          <p:txBody>
            <a:bodyPr/>
            <a:lstStyle/>
            <a:p>
              <a:endParaRPr lang="en-US"/>
            </a:p>
          </p:txBody>
        </p:sp>
      </p:grpSp>
      <p:grpSp>
        <p:nvGrpSpPr>
          <p:cNvPr id="61" name="Group 61"/>
          <p:cNvGrpSpPr/>
          <p:nvPr/>
        </p:nvGrpSpPr>
        <p:grpSpPr>
          <a:xfrm>
            <a:off x="13648925" y="5957649"/>
            <a:ext cx="3109531" cy="412770"/>
            <a:chOff x="0" y="0"/>
            <a:chExt cx="4146042" cy="550360"/>
          </a:xfrm>
        </p:grpSpPr>
        <p:sp>
          <p:nvSpPr>
            <p:cNvPr id="62" name="Freeform 62"/>
            <p:cNvSpPr/>
            <p:nvPr/>
          </p:nvSpPr>
          <p:spPr>
            <a:xfrm>
              <a:off x="0" y="0"/>
              <a:ext cx="4146044" cy="550365"/>
            </a:xfrm>
            <a:custGeom>
              <a:avLst/>
              <a:gdLst/>
              <a:ahLst/>
              <a:cxnLst/>
              <a:rect l="l" t="t" r="r" b="b"/>
              <a:pathLst>
                <a:path w="4146044" h="550365">
                  <a:moveTo>
                    <a:pt x="0" y="0"/>
                  </a:moveTo>
                  <a:lnTo>
                    <a:pt x="4146044" y="0"/>
                  </a:lnTo>
                  <a:lnTo>
                    <a:pt x="4146044" y="550365"/>
                  </a:lnTo>
                  <a:lnTo>
                    <a:pt x="0" y="550365"/>
                  </a:lnTo>
                  <a:close/>
                </a:path>
              </a:pathLst>
            </a:custGeom>
            <a:blipFill>
              <a:blip r:embed="rId3">
                <a:alphaModFix amt="0"/>
              </a:blip>
              <a:stretch>
                <a:fillRect t="-96786" b="-96784"/>
              </a:stretch>
            </a:blipFill>
          </p:spPr>
          <p:txBody>
            <a:bodyPr/>
            <a:lstStyle/>
            <a:p>
              <a:endParaRPr lang="en-US"/>
            </a:p>
          </p:txBody>
        </p:sp>
        <p:sp>
          <p:nvSpPr>
            <p:cNvPr id="63" name="TextBox 63"/>
            <p:cNvSpPr txBox="1"/>
            <p:nvPr/>
          </p:nvSpPr>
          <p:spPr>
            <a:xfrm>
              <a:off x="0" y="-9525"/>
              <a:ext cx="4146042" cy="559885"/>
            </a:xfrm>
            <a:prstGeom prst="rect">
              <a:avLst/>
            </a:prstGeom>
          </p:spPr>
          <p:txBody>
            <a:bodyPr lIns="0" tIns="0" rIns="0" bIns="0" rtlCol="0" anchor="ctr"/>
            <a:lstStyle/>
            <a:p>
              <a:pPr algn="ctr">
                <a:lnSpc>
                  <a:spcPts val="2347"/>
                </a:lnSpc>
              </a:pPr>
              <a:r>
                <a:rPr lang="en-US" sz="1956" b="1">
                  <a:solidFill>
                    <a:srgbClr val="FFD700"/>
                  </a:solidFill>
                  <a:latin typeface="Montserrat Bold"/>
                  <a:ea typeface="Montserrat Bold"/>
                  <a:cs typeface="Montserrat Bold"/>
                  <a:sym typeface="Montserrat Bold"/>
                </a:rPr>
                <a:t>Năm 2026</a:t>
              </a:r>
            </a:p>
          </p:txBody>
        </p:sp>
      </p:grpSp>
      <p:grpSp>
        <p:nvGrpSpPr>
          <p:cNvPr id="64" name="Group 64"/>
          <p:cNvGrpSpPr/>
          <p:nvPr/>
        </p:nvGrpSpPr>
        <p:grpSpPr>
          <a:xfrm>
            <a:off x="13648925" y="6342898"/>
            <a:ext cx="3109531" cy="412770"/>
            <a:chOff x="0" y="0"/>
            <a:chExt cx="4146042" cy="550360"/>
          </a:xfrm>
        </p:grpSpPr>
        <p:sp>
          <p:nvSpPr>
            <p:cNvPr id="65" name="Freeform 65"/>
            <p:cNvSpPr/>
            <p:nvPr/>
          </p:nvSpPr>
          <p:spPr>
            <a:xfrm>
              <a:off x="0" y="0"/>
              <a:ext cx="4146044" cy="550365"/>
            </a:xfrm>
            <a:custGeom>
              <a:avLst/>
              <a:gdLst/>
              <a:ahLst/>
              <a:cxnLst/>
              <a:rect l="l" t="t" r="r" b="b"/>
              <a:pathLst>
                <a:path w="4146044" h="550365">
                  <a:moveTo>
                    <a:pt x="0" y="0"/>
                  </a:moveTo>
                  <a:lnTo>
                    <a:pt x="4146044" y="0"/>
                  </a:lnTo>
                  <a:lnTo>
                    <a:pt x="4146044" y="550365"/>
                  </a:lnTo>
                  <a:lnTo>
                    <a:pt x="0" y="550365"/>
                  </a:lnTo>
                  <a:close/>
                </a:path>
              </a:pathLst>
            </a:custGeom>
            <a:blipFill>
              <a:blip r:embed="rId3">
                <a:alphaModFix amt="0"/>
              </a:blip>
              <a:stretch>
                <a:fillRect t="-96786" b="-96784"/>
              </a:stretch>
            </a:blipFill>
          </p:spPr>
          <p:txBody>
            <a:bodyPr/>
            <a:lstStyle/>
            <a:p>
              <a:endParaRPr lang="en-US"/>
            </a:p>
          </p:txBody>
        </p:sp>
        <p:sp>
          <p:nvSpPr>
            <p:cNvPr id="66" name="TextBox 66"/>
            <p:cNvSpPr txBox="1"/>
            <p:nvPr/>
          </p:nvSpPr>
          <p:spPr>
            <a:xfrm>
              <a:off x="0" y="0"/>
              <a:ext cx="4146042" cy="550360"/>
            </a:xfrm>
            <a:prstGeom prst="rect">
              <a:avLst/>
            </a:prstGeom>
          </p:spPr>
          <p:txBody>
            <a:bodyPr lIns="0" tIns="0" rIns="0" bIns="0" rtlCol="0" anchor="ctr"/>
            <a:lstStyle/>
            <a:p>
              <a:pPr algn="ctr">
                <a:lnSpc>
                  <a:spcPts val="2437"/>
                </a:lnSpc>
              </a:pPr>
              <a:r>
                <a:rPr lang="en-US" sz="2031" b="1">
                  <a:solidFill>
                    <a:srgbClr val="FFFFFF"/>
                  </a:solidFill>
                  <a:latin typeface="Montserrat Bold"/>
                  <a:ea typeface="Montserrat Bold"/>
                  <a:cs typeface="Montserrat Bold"/>
                  <a:sym typeface="Montserrat Bold"/>
                </a:rPr>
                <a:t>Nhân rộng toàn tỉnh</a:t>
              </a:r>
            </a:p>
          </p:txBody>
        </p:sp>
      </p:grpSp>
      <p:grpSp>
        <p:nvGrpSpPr>
          <p:cNvPr id="67" name="Group 67"/>
          <p:cNvGrpSpPr/>
          <p:nvPr/>
        </p:nvGrpSpPr>
        <p:grpSpPr>
          <a:xfrm>
            <a:off x="13648925" y="6700628"/>
            <a:ext cx="3109531" cy="552297"/>
            <a:chOff x="0" y="0"/>
            <a:chExt cx="4146042" cy="736396"/>
          </a:xfrm>
        </p:grpSpPr>
        <p:sp>
          <p:nvSpPr>
            <p:cNvPr id="68" name="Freeform 68"/>
            <p:cNvSpPr/>
            <p:nvPr/>
          </p:nvSpPr>
          <p:spPr>
            <a:xfrm>
              <a:off x="0" y="0"/>
              <a:ext cx="4146044" cy="736389"/>
            </a:xfrm>
            <a:custGeom>
              <a:avLst/>
              <a:gdLst/>
              <a:ahLst/>
              <a:cxnLst/>
              <a:rect l="l" t="t" r="r" b="b"/>
              <a:pathLst>
                <a:path w="4146044" h="736389">
                  <a:moveTo>
                    <a:pt x="0" y="0"/>
                  </a:moveTo>
                  <a:lnTo>
                    <a:pt x="4146044" y="0"/>
                  </a:lnTo>
                  <a:lnTo>
                    <a:pt x="4146044" y="736389"/>
                  </a:lnTo>
                  <a:lnTo>
                    <a:pt x="0" y="736389"/>
                  </a:lnTo>
                  <a:close/>
                </a:path>
              </a:pathLst>
            </a:custGeom>
            <a:blipFill>
              <a:blip r:embed="rId3">
                <a:alphaModFix amt="0"/>
              </a:blip>
              <a:stretch>
                <a:fillRect t="-64862" b="-54548"/>
              </a:stretch>
            </a:blipFill>
          </p:spPr>
          <p:txBody>
            <a:bodyPr/>
            <a:lstStyle/>
            <a:p>
              <a:endParaRPr lang="en-US"/>
            </a:p>
          </p:txBody>
        </p:sp>
        <p:sp>
          <p:nvSpPr>
            <p:cNvPr id="69" name="TextBox 69"/>
            <p:cNvSpPr txBox="1"/>
            <p:nvPr/>
          </p:nvSpPr>
          <p:spPr>
            <a:xfrm>
              <a:off x="0" y="0"/>
              <a:ext cx="4146042" cy="736396"/>
            </a:xfrm>
            <a:prstGeom prst="rect">
              <a:avLst/>
            </a:prstGeom>
          </p:spPr>
          <p:txBody>
            <a:bodyPr lIns="0" tIns="0" rIns="0" bIns="0" rtlCol="0" anchor="ctr"/>
            <a:lstStyle/>
            <a:p>
              <a:pPr algn="ctr">
                <a:lnSpc>
                  <a:spcPts val="1895"/>
                </a:lnSpc>
              </a:pPr>
              <a:r>
                <a:rPr lang="en-US" sz="1579" b="1">
                  <a:solidFill>
                    <a:srgbClr val="FFE9A8"/>
                  </a:solidFill>
                  <a:latin typeface="Montserrat Bold"/>
                  <a:ea typeface="Montserrat Bold"/>
                  <a:cs typeface="Montserrat Bold"/>
                  <a:sym typeface="Montserrat Bold"/>
                </a:rPr>
                <a:t>Đổi logo &amp; tên đơn vị → 100% CA xã/phường.</a:t>
              </a:r>
            </a:p>
          </p:txBody>
        </p:sp>
      </p:grpSp>
      <p:grpSp>
        <p:nvGrpSpPr>
          <p:cNvPr id="70" name="Group 70"/>
          <p:cNvGrpSpPr/>
          <p:nvPr/>
        </p:nvGrpSpPr>
        <p:grpSpPr>
          <a:xfrm>
            <a:off x="963130" y="8530580"/>
            <a:ext cx="16373208" cy="687950"/>
            <a:chOff x="0" y="0"/>
            <a:chExt cx="21830944" cy="917266"/>
          </a:xfrm>
        </p:grpSpPr>
        <p:sp>
          <p:nvSpPr>
            <p:cNvPr id="71" name="Freeform 71"/>
            <p:cNvSpPr/>
            <p:nvPr/>
          </p:nvSpPr>
          <p:spPr>
            <a:xfrm>
              <a:off x="0" y="0"/>
              <a:ext cx="21830942" cy="917263"/>
            </a:xfrm>
            <a:custGeom>
              <a:avLst/>
              <a:gdLst/>
              <a:ahLst/>
              <a:cxnLst/>
              <a:rect l="l" t="t" r="r" b="b"/>
              <a:pathLst>
                <a:path w="21830942" h="917263">
                  <a:moveTo>
                    <a:pt x="0" y="0"/>
                  </a:moveTo>
                  <a:lnTo>
                    <a:pt x="21830942" y="0"/>
                  </a:lnTo>
                  <a:lnTo>
                    <a:pt x="21830942" y="917263"/>
                  </a:lnTo>
                  <a:lnTo>
                    <a:pt x="0" y="917263"/>
                  </a:lnTo>
                  <a:close/>
                </a:path>
              </a:pathLst>
            </a:custGeom>
            <a:blipFill>
              <a:blip r:embed="rId3">
                <a:alphaModFix amt="0"/>
              </a:blip>
              <a:stretch>
                <a:fillRect t="-413745" b="-413746"/>
              </a:stretch>
            </a:blipFill>
          </p:spPr>
          <p:txBody>
            <a:bodyPr/>
            <a:lstStyle/>
            <a:p>
              <a:endParaRPr lang="en-US"/>
            </a:p>
          </p:txBody>
        </p:sp>
        <p:sp>
          <p:nvSpPr>
            <p:cNvPr id="72" name="TextBox 72"/>
            <p:cNvSpPr txBox="1"/>
            <p:nvPr/>
          </p:nvSpPr>
          <p:spPr>
            <a:xfrm>
              <a:off x="0" y="-9525"/>
              <a:ext cx="21830944" cy="926791"/>
            </a:xfrm>
            <a:prstGeom prst="rect">
              <a:avLst/>
            </a:prstGeom>
          </p:spPr>
          <p:txBody>
            <a:bodyPr lIns="0" tIns="0" rIns="0" bIns="0" rtlCol="0" anchor="ctr"/>
            <a:lstStyle/>
            <a:p>
              <a:pPr algn="ctr">
                <a:lnSpc>
                  <a:spcPts val="2708"/>
                </a:lnSpc>
              </a:pPr>
              <a:r>
                <a:rPr lang="en-US" sz="2257" b="1" i="1">
                  <a:solidFill>
                    <a:srgbClr val="8B0000"/>
                  </a:solidFill>
                  <a:latin typeface="Montserrat Bold Italics"/>
                  <a:ea typeface="Montserrat Bold Italics"/>
                  <a:cs typeface="Montserrat Bold Italics"/>
                  <a:sym typeface="Montserrat Bold Italics"/>
                </a:rPr>
                <a:t>Mã nguồn dạng module độc lập — nhân rộng KHÔNG mất thêm chi phí lập trình.</a:t>
              </a:r>
            </a:p>
          </p:txBody>
        </p:sp>
      </p:grpSp>
      <p:grpSp>
        <p:nvGrpSpPr>
          <p:cNvPr id="73" name="Group 73"/>
          <p:cNvGrpSpPr/>
          <p:nvPr/>
        </p:nvGrpSpPr>
        <p:grpSpPr>
          <a:xfrm>
            <a:off x="963130" y="9686334"/>
            <a:ext cx="16373208" cy="19260"/>
            <a:chOff x="0" y="0"/>
            <a:chExt cx="21830944" cy="25679"/>
          </a:xfrm>
        </p:grpSpPr>
        <p:sp>
          <p:nvSpPr>
            <p:cNvPr id="74" name="Freeform 74"/>
            <p:cNvSpPr/>
            <p:nvPr/>
          </p:nvSpPr>
          <p:spPr>
            <a:xfrm>
              <a:off x="0" y="0"/>
              <a:ext cx="21830919" cy="25654"/>
            </a:xfrm>
            <a:custGeom>
              <a:avLst/>
              <a:gdLst/>
              <a:ahLst/>
              <a:cxnLst/>
              <a:rect l="l" t="t" r="r" b="b"/>
              <a:pathLst>
                <a:path w="21830919" h="25654">
                  <a:moveTo>
                    <a:pt x="0" y="0"/>
                  </a:moveTo>
                  <a:lnTo>
                    <a:pt x="21830919" y="0"/>
                  </a:lnTo>
                  <a:lnTo>
                    <a:pt x="21830919" y="25654"/>
                  </a:lnTo>
                  <a:lnTo>
                    <a:pt x="0" y="25654"/>
                  </a:lnTo>
                  <a:close/>
                </a:path>
              </a:pathLst>
            </a:custGeom>
            <a:solidFill>
              <a:srgbClr val="F3D2D7"/>
            </a:solidFill>
          </p:spPr>
          <p:txBody>
            <a:bodyPr/>
            <a:lstStyle/>
            <a:p>
              <a:endParaRPr lang="en-US"/>
            </a:p>
          </p:txBody>
        </p:sp>
      </p:grpSp>
      <p:grpSp>
        <p:nvGrpSpPr>
          <p:cNvPr id="75" name="Group 75"/>
          <p:cNvGrpSpPr/>
          <p:nvPr/>
        </p:nvGrpSpPr>
        <p:grpSpPr>
          <a:xfrm>
            <a:off x="963130" y="9741370"/>
            <a:ext cx="12383100" cy="412770"/>
            <a:chOff x="0" y="0"/>
            <a:chExt cx="16510800" cy="550360"/>
          </a:xfrm>
        </p:grpSpPr>
        <p:sp>
          <p:nvSpPr>
            <p:cNvPr id="76" name="Freeform 76"/>
            <p:cNvSpPr/>
            <p:nvPr/>
          </p:nvSpPr>
          <p:spPr>
            <a:xfrm>
              <a:off x="0" y="0"/>
              <a:ext cx="16510797" cy="550365"/>
            </a:xfrm>
            <a:custGeom>
              <a:avLst/>
              <a:gdLst/>
              <a:ahLst/>
              <a:cxnLst/>
              <a:rect l="l" t="t" r="r" b="b"/>
              <a:pathLst>
                <a:path w="16510797" h="550365">
                  <a:moveTo>
                    <a:pt x="0" y="0"/>
                  </a:moveTo>
                  <a:lnTo>
                    <a:pt x="16510797" y="0"/>
                  </a:lnTo>
                  <a:lnTo>
                    <a:pt x="16510797" y="550365"/>
                  </a:lnTo>
                  <a:lnTo>
                    <a:pt x="0" y="550365"/>
                  </a:lnTo>
                  <a:close/>
                </a:path>
              </a:pathLst>
            </a:custGeom>
            <a:blipFill>
              <a:blip r:embed="rId3">
                <a:alphaModFix amt="0"/>
              </a:blip>
              <a:stretch>
                <a:fillRect t="-534546" b="-534544"/>
              </a:stretch>
            </a:blipFill>
          </p:spPr>
          <p:txBody>
            <a:bodyPr/>
            <a:lstStyle/>
            <a:p>
              <a:endParaRPr lang="en-US"/>
            </a:p>
          </p:txBody>
        </p:sp>
        <p:sp>
          <p:nvSpPr>
            <p:cNvPr id="77" name="TextBox 77"/>
            <p:cNvSpPr txBox="1"/>
            <p:nvPr/>
          </p:nvSpPr>
          <p:spPr>
            <a:xfrm>
              <a:off x="0" y="0"/>
              <a:ext cx="16510800" cy="550360"/>
            </a:xfrm>
            <a:prstGeom prst="rect">
              <a:avLst/>
            </a:prstGeom>
          </p:spPr>
          <p:txBody>
            <a:bodyPr lIns="0" tIns="0" rIns="0" bIns="0" rtlCol="0" anchor="ctr"/>
            <a:lstStyle/>
            <a:p>
              <a:pPr algn="l">
                <a:lnSpc>
                  <a:spcPts val="1625"/>
                </a:lnSpc>
              </a:pPr>
              <a:r>
                <a:rPr lang="en-US" sz="1354" b="1" spc="150">
                  <a:solidFill>
                    <a:srgbClr val="6B7280"/>
                  </a:solidFill>
                  <a:latin typeface="Montserrat Bold"/>
                  <a:ea typeface="Montserrat Bold"/>
                  <a:cs typeface="Montserrat Bold"/>
                  <a:sym typeface="Montserrat Bold"/>
                </a:rPr>
                <a:t>CÔNG AN PHƯỜNG PHÚ THỌ   ·   SÁNG KIẾN CẢI CÁCH HÀNH CHÍNH · 2026</a:t>
              </a:r>
            </a:p>
          </p:txBody>
        </p:sp>
      </p:grpSp>
      <p:grpSp>
        <p:nvGrpSpPr>
          <p:cNvPr id="78" name="Group 78"/>
          <p:cNvGrpSpPr/>
          <p:nvPr/>
        </p:nvGrpSpPr>
        <p:grpSpPr>
          <a:xfrm>
            <a:off x="15960433" y="9741370"/>
            <a:ext cx="1375896" cy="412770"/>
            <a:chOff x="0" y="0"/>
            <a:chExt cx="1834528" cy="550360"/>
          </a:xfrm>
        </p:grpSpPr>
        <p:sp>
          <p:nvSpPr>
            <p:cNvPr id="79" name="Freeform 79"/>
            <p:cNvSpPr/>
            <p:nvPr/>
          </p:nvSpPr>
          <p:spPr>
            <a:xfrm>
              <a:off x="0" y="0"/>
              <a:ext cx="1834533" cy="550365"/>
            </a:xfrm>
            <a:custGeom>
              <a:avLst/>
              <a:gdLst/>
              <a:ahLst/>
              <a:cxnLst/>
              <a:rect l="l" t="t" r="r" b="b"/>
              <a:pathLst>
                <a:path w="1834533" h="550365">
                  <a:moveTo>
                    <a:pt x="0" y="0"/>
                  </a:moveTo>
                  <a:lnTo>
                    <a:pt x="1834533" y="0"/>
                  </a:lnTo>
                  <a:lnTo>
                    <a:pt x="1834533" y="550365"/>
                  </a:lnTo>
                  <a:lnTo>
                    <a:pt x="0" y="550365"/>
                  </a:lnTo>
                  <a:close/>
                </a:path>
              </a:pathLst>
            </a:custGeom>
            <a:blipFill>
              <a:blip r:embed="rId3">
                <a:alphaModFix amt="0"/>
              </a:blip>
              <a:stretch>
                <a:fillRect t="-14950" b="-14948"/>
              </a:stretch>
            </a:blipFill>
          </p:spPr>
          <p:txBody>
            <a:bodyPr/>
            <a:lstStyle/>
            <a:p>
              <a:endParaRPr lang="en-US"/>
            </a:p>
          </p:txBody>
        </p:sp>
        <p:sp>
          <p:nvSpPr>
            <p:cNvPr id="80" name="TextBox 80"/>
            <p:cNvSpPr txBox="1"/>
            <p:nvPr/>
          </p:nvSpPr>
          <p:spPr>
            <a:xfrm>
              <a:off x="0" y="-9525"/>
              <a:ext cx="1834528" cy="559885"/>
            </a:xfrm>
            <a:prstGeom prst="rect">
              <a:avLst/>
            </a:prstGeom>
          </p:spPr>
          <p:txBody>
            <a:bodyPr lIns="0" tIns="0" rIns="0" bIns="0" rtlCol="0" anchor="ctr"/>
            <a:lstStyle/>
            <a:p>
              <a:pPr algn="r">
                <a:lnSpc>
                  <a:spcPts val="1805"/>
                </a:lnSpc>
              </a:pPr>
              <a:r>
                <a:rPr lang="en-US" sz="1504" b="1">
                  <a:solidFill>
                    <a:srgbClr val="C41E3A"/>
                  </a:solidFill>
                  <a:latin typeface="Montserrat Bold"/>
                  <a:ea typeface="Montserrat Bold"/>
                  <a:cs typeface="Montserrat Bold"/>
                  <a:sym typeface="Montserrat Bold"/>
                </a:rPr>
                <a:t>11</a:t>
              </a:r>
            </a:p>
          </p:txBody>
        </p:sp>
      </p:grpSp>
      <p:sp>
        <p:nvSpPr>
          <p:cNvPr id="81" name="Freeform 81"/>
          <p:cNvSpPr/>
          <p:nvPr/>
        </p:nvSpPr>
        <p:spPr>
          <a:xfrm>
            <a:off x="15763067" y="633048"/>
            <a:ext cx="1770628" cy="1768414"/>
          </a:xfrm>
          <a:custGeom>
            <a:avLst/>
            <a:gdLst/>
            <a:ahLst/>
            <a:cxnLst/>
            <a:rect l="l" t="t" r="r" b="b"/>
            <a:pathLst>
              <a:path w="1770628" h="1768414">
                <a:moveTo>
                  <a:pt x="0" y="0"/>
                </a:moveTo>
                <a:lnTo>
                  <a:pt x="1770628" y="0"/>
                </a:lnTo>
                <a:lnTo>
                  <a:pt x="1770628" y="1768414"/>
                </a:lnTo>
                <a:lnTo>
                  <a:pt x="0" y="1768414"/>
                </a:lnTo>
                <a:lnTo>
                  <a:pt x="0" y="0"/>
                </a:lnTo>
                <a:close/>
              </a:path>
            </a:pathLst>
          </a:custGeom>
          <a:blipFill>
            <a:blip>
              <a:alphaModFix amt="10999"/>
              <a:extLst>
                <a:ext uri="{96DAC541-7B7A-43D3-8B79-37D633B846F1}">
                  <asvg:svgBlip xmlns:asvg="http://schemas.microsoft.com/office/drawing/2016/SVG/main" r:embed="rId4"/>
                </a:ext>
              </a:extLst>
            </a:blip>
            <a:stretch>
              <a:fillRect/>
            </a:stretch>
          </a:blipFill>
        </p:spPr>
        <p:txBody>
          <a:bodyPr/>
          <a:lstStyle/>
          <a:p>
            <a:endParaRPr lang="en-US"/>
          </a:p>
        </p:txBody>
      </p:sp>
    </p:spTree>
    <p:extLst>
      <p:ext uri="{BB962C8B-B14F-4D97-AF65-F5344CB8AC3E}">
        <p14:creationId xmlns:p14="http://schemas.microsoft.com/office/powerpoint/2010/main" val="3980545762"/>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0"/>
                      </p:stCondLst>
                      <p:childTnLst>
                        <p:par>
                          <p:cTn id="4" presetID="10" presetClass="entr" presetSubtype="0" fill="hold" nodeType="afterEffect">
                            <p:stCondLst>
                              <p:cond delay="0"/>
                            </p:stCondLst>
                            <p:childTnLst>
                              <p:set>
                                <p:cBhvr>
                                  <p:cTn id="5" dur="1" fill="hold">
                                    <p:stCondLst>
                                      <p:cond delay="0"/>
                                    </p:stCondLst>
                                  </p:cTn>
                                  <p:tgtEl>
                                    <p:spTgt spid="14"/>
                                  </p:tgtEl>
                                  <p:attrNameLst>
                                    <p:attrName>style.visibility</p:attrName>
                                  </p:attrNameLst>
                                </p:cBhvr>
                                <p:to>
                                  <p:strVal val="visible"/>
                                </p:to>
                              </p:set>
                              <p:animEffect transition="in" filter="fade">
                                <p:cBhvr>
                                  <p:cTn id="6" dur="650"/>
                                  <p:tgtEl>
                                    <p:spTgt spid="14"/>
                                  </p:tgtEl>
                                </p:cBhvr>
                              </p:animEffect>
                            </p:childTnLst>
                          </p:cTn>
                        </p:par>
                        <p:par>
                          <p:cTn id="7" presetID="10" presetClass="entr" presetSubtype="0" fill="hold" nodeType="afterEffect">
                            <p:stCondLst>
                              <p:cond delay="0"/>
                            </p:stCondLst>
                            <p:childTnLst>
                              <p:set>
                                <p:cBhvr>
                                  <p:cTn id="8" dur="1" fill="hold">
                                    <p:stCondLst>
                                      <p:cond delay="0"/>
                                    </p:stCondLst>
                                  </p:cTn>
                                  <p:tgtEl>
                                    <p:spTgt spid="16"/>
                                  </p:tgtEl>
                                  <p:attrNameLst>
                                    <p:attrName>style.visibility</p:attrName>
                                  </p:attrNameLst>
                                </p:cBhvr>
                                <p:to>
                                  <p:strVal val="visible"/>
                                </p:to>
                              </p:set>
                              <p:animEffect transition="in" filter="fade">
                                <p:cBhvr>
                                  <p:cTn id="9" dur="650"/>
                                  <p:tgtEl>
                                    <p:spTgt spid="16"/>
                                  </p:tgtEl>
                                </p:cBhvr>
                              </p:animEffect>
                            </p:childTnLst>
                          </p:cTn>
                        </p:par>
                        <p:par>
                          <p:cTn id="10" presetID="10" presetClass="entr" presetSubtype="0" fill="hold" nodeType="afterEffect">
                            <p:stCondLst>
                              <p:cond delay="0"/>
                            </p:stCondLst>
                            <p:childTnLst>
                              <p:set>
                                <p:cBhvr>
                                  <p:cTn id="11" dur="1" fill="hold">
                                    <p:stCondLst>
                                      <p:cond delay="0"/>
                                    </p:stCondLst>
                                  </p:cTn>
                                  <p:tgtEl>
                                    <p:spTgt spid="19"/>
                                  </p:tgtEl>
                                  <p:attrNameLst>
                                    <p:attrName>style.visibility</p:attrName>
                                  </p:attrNameLst>
                                </p:cBhvr>
                                <p:to>
                                  <p:strVal val="visible"/>
                                </p:to>
                              </p:set>
                              <p:animEffect transition="in" filter="fade">
                                <p:cBhvr>
                                  <p:cTn id="12" dur="650"/>
                                  <p:tgtEl>
                                    <p:spTgt spid="19"/>
                                  </p:tgtEl>
                                </p:cBhvr>
                              </p:animEffect>
                            </p:childTnLst>
                          </p:cTn>
                        </p:par>
                        <p:par>
                          <p:cTn id="13" presetID="10" presetClass="entr" presetSubtype="0" fill="hold" nodeType="afterEffect">
                            <p:stCondLst>
                              <p:cond delay="0"/>
                            </p:stCondLst>
                            <p:childTnLst>
                              <p:set>
                                <p:cBhvr>
                                  <p:cTn id="14" dur="1" fill="hold">
                                    <p:stCondLst>
                                      <p:cond delay="0"/>
                                    </p:stCondLst>
                                  </p:cTn>
                                  <p:tgtEl>
                                    <p:spTgt spid="22"/>
                                  </p:tgtEl>
                                  <p:attrNameLst>
                                    <p:attrName>style.visibility</p:attrName>
                                  </p:attrNameLst>
                                </p:cBhvr>
                                <p:to>
                                  <p:strVal val="visible"/>
                                </p:to>
                              </p:set>
                              <p:animEffect transition="in" filter="fade">
                                <p:cBhvr>
                                  <p:cTn id="15" dur="650"/>
                                  <p:tgtEl>
                                    <p:spTgt spid="22"/>
                                  </p:tgtEl>
                                </p:cBhvr>
                              </p:animEffect>
                            </p:childTnLst>
                          </p:cTn>
                        </p:par>
                        <p:par>
                          <p:cTn id="16" presetID="10" presetClass="entr" presetSubtype="0" fill="hold" nodeType="afterEffect">
                            <p:stCondLst>
                              <p:cond delay="600"/>
                            </p:stCondLst>
                            <p:childTnLst>
                              <p:set>
                                <p:cBhvr>
                                  <p:cTn id="17" dur="1" fill="hold">
                                    <p:stCondLst>
                                      <p:cond delay="0"/>
                                    </p:stCondLst>
                                  </p:cTn>
                                  <p:tgtEl>
                                    <p:spTgt spid="44"/>
                                  </p:tgtEl>
                                  <p:attrNameLst>
                                    <p:attrName>style.visibility</p:attrName>
                                  </p:attrNameLst>
                                </p:cBhvr>
                                <p:to>
                                  <p:strVal val="visible"/>
                                </p:to>
                              </p:set>
                              <p:animEffect transition="in" filter="fade">
                                <p:cBhvr>
                                  <p:cTn id="18" dur="650"/>
                                  <p:tgtEl>
                                    <p:spTgt spid="44"/>
                                  </p:tgtEl>
                                </p:cBhvr>
                              </p:animEffect>
                            </p:childTnLst>
                          </p:cTn>
                        </p:par>
                        <p:par>
                          <p:cTn id="19" presetID="10" presetClass="entr" presetSubtype="0" fill="hold" nodeType="afterEffect">
                            <p:stCondLst>
                              <p:cond delay="600"/>
                            </p:stCondLst>
                            <p:childTnLst>
                              <p:set>
                                <p:cBhvr>
                                  <p:cTn id="20" dur="1" fill="hold">
                                    <p:stCondLst>
                                      <p:cond delay="0"/>
                                    </p:stCondLst>
                                  </p:cTn>
                                  <p:tgtEl>
                                    <p:spTgt spid="46"/>
                                  </p:tgtEl>
                                  <p:attrNameLst>
                                    <p:attrName>style.visibility</p:attrName>
                                  </p:attrNameLst>
                                </p:cBhvr>
                                <p:to>
                                  <p:strVal val="visible"/>
                                </p:to>
                              </p:set>
                              <p:animEffect transition="in" filter="fade">
                                <p:cBhvr>
                                  <p:cTn id="21" dur="650"/>
                                  <p:tgtEl>
                                    <p:spTgt spid="46"/>
                                  </p:tgtEl>
                                </p:cBhvr>
                              </p:animEffect>
                            </p:childTnLst>
                          </p:cTn>
                        </p:par>
                        <p:par>
                          <p:cTn id="22" presetID="10" presetClass="entr" presetSubtype="0" fill="hold" nodeType="afterEffect">
                            <p:stCondLst>
                              <p:cond delay="600"/>
                            </p:stCondLst>
                            <p:childTnLst>
                              <p:set>
                                <p:cBhvr>
                                  <p:cTn id="23" dur="1" fill="hold">
                                    <p:stCondLst>
                                      <p:cond delay="0"/>
                                    </p:stCondLst>
                                  </p:cTn>
                                  <p:tgtEl>
                                    <p:spTgt spid="49"/>
                                  </p:tgtEl>
                                  <p:attrNameLst>
                                    <p:attrName>style.visibility</p:attrName>
                                  </p:attrNameLst>
                                </p:cBhvr>
                                <p:to>
                                  <p:strVal val="visible"/>
                                </p:to>
                              </p:set>
                              <p:animEffect transition="in" filter="fade">
                                <p:cBhvr>
                                  <p:cTn id="24" dur="650"/>
                                  <p:tgtEl>
                                    <p:spTgt spid="49"/>
                                  </p:tgtEl>
                                </p:cBhvr>
                              </p:animEffect>
                            </p:childTnLst>
                          </p:cTn>
                        </p:par>
                        <p:par>
                          <p:cTn id="25" presetID="10" presetClass="entr" presetSubtype="0" fill="hold" nodeType="afterEffect">
                            <p:stCondLst>
                              <p:cond delay="600"/>
                            </p:stCondLst>
                            <p:childTnLst>
                              <p:set>
                                <p:cBhvr>
                                  <p:cTn id="26" dur="1" fill="hold">
                                    <p:stCondLst>
                                      <p:cond delay="0"/>
                                    </p:stCondLst>
                                  </p:cTn>
                                  <p:tgtEl>
                                    <p:spTgt spid="52"/>
                                  </p:tgtEl>
                                  <p:attrNameLst>
                                    <p:attrName>style.visibility</p:attrName>
                                  </p:attrNameLst>
                                </p:cBhvr>
                                <p:to>
                                  <p:strVal val="visible"/>
                                </p:to>
                              </p:set>
                              <p:animEffect transition="in" filter="fade">
                                <p:cBhvr>
                                  <p:cTn id="27" dur="650"/>
                                  <p:tgtEl>
                                    <p:spTgt spid="52"/>
                                  </p:tgtEl>
                                </p:cBhvr>
                              </p:animEffect>
                            </p:childTnLst>
                          </p:cTn>
                        </p:par>
                        <p:par>
                          <p:cTn id="28" presetID="10" presetClass="entr" presetSubtype="0" fill="hold" nodeType="afterEffect">
                            <p:stCondLst>
                              <p:cond delay="1800"/>
                            </p:stCondLst>
                            <p:childTnLst>
                              <p:set>
                                <p:cBhvr>
                                  <p:cTn id="29" dur="1" fill="hold">
                                    <p:stCondLst>
                                      <p:cond delay="0"/>
                                    </p:stCondLst>
                                  </p:cTn>
                                  <p:tgtEl>
                                    <p:spTgt spid="29"/>
                                  </p:tgtEl>
                                  <p:attrNameLst>
                                    <p:attrName>style.visibility</p:attrName>
                                  </p:attrNameLst>
                                </p:cBhvr>
                                <p:to>
                                  <p:strVal val="visible"/>
                                </p:to>
                              </p:set>
                              <p:animEffect transition="in" filter="fade">
                                <p:cBhvr>
                                  <p:cTn id="30" dur="650"/>
                                  <p:tgtEl>
                                    <p:spTgt spid="29"/>
                                  </p:tgtEl>
                                </p:cBhvr>
                              </p:animEffect>
                            </p:childTnLst>
                          </p:cTn>
                        </p:par>
                        <p:par>
                          <p:cTn id="31" presetID="10" presetClass="entr" presetSubtype="0" fill="hold" nodeType="afterEffect">
                            <p:stCondLst>
                              <p:cond delay="1800"/>
                            </p:stCondLst>
                            <p:childTnLst>
                              <p:set>
                                <p:cBhvr>
                                  <p:cTn id="32" dur="1" fill="hold">
                                    <p:stCondLst>
                                      <p:cond delay="0"/>
                                    </p:stCondLst>
                                  </p:cTn>
                                  <p:tgtEl>
                                    <p:spTgt spid="31"/>
                                  </p:tgtEl>
                                  <p:attrNameLst>
                                    <p:attrName>style.visibility</p:attrName>
                                  </p:attrNameLst>
                                </p:cBhvr>
                                <p:to>
                                  <p:strVal val="visible"/>
                                </p:to>
                              </p:set>
                              <p:animEffect transition="in" filter="fade">
                                <p:cBhvr>
                                  <p:cTn id="33" dur="650"/>
                                  <p:tgtEl>
                                    <p:spTgt spid="31"/>
                                  </p:tgtEl>
                                </p:cBhvr>
                              </p:animEffect>
                            </p:childTnLst>
                          </p:cTn>
                        </p:par>
                        <p:par>
                          <p:cTn id="34" presetID="10" presetClass="entr" presetSubtype="0" fill="hold" nodeType="afterEffect">
                            <p:stCondLst>
                              <p:cond delay="1800"/>
                            </p:stCondLst>
                            <p:childTnLst>
                              <p:set>
                                <p:cBhvr>
                                  <p:cTn id="35" dur="1" fill="hold">
                                    <p:stCondLst>
                                      <p:cond delay="0"/>
                                    </p:stCondLst>
                                  </p:cTn>
                                  <p:tgtEl>
                                    <p:spTgt spid="34"/>
                                  </p:tgtEl>
                                  <p:attrNameLst>
                                    <p:attrName>style.visibility</p:attrName>
                                  </p:attrNameLst>
                                </p:cBhvr>
                                <p:to>
                                  <p:strVal val="visible"/>
                                </p:to>
                              </p:set>
                              <p:animEffect transition="in" filter="fade">
                                <p:cBhvr>
                                  <p:cTn id="36" dur="650"/>
                                  <p:tgtEl>
                                    <p:spTgt spid="34"/>
                                  </p:tgtEl>
                                </p:cBhvr>
                              </p:animEffect>
                            </p:childTnLst>
                          </p:cTn>
                        </p:par>
                        <p:par>
                          <p:cTn id="37" presetID="10" presetClass="entr" presetSubtype="0" fill="hold" nodeType="afterEffect">
                            <p:stCondLst>
                              <p:cond delay="1800"/>
                            </p:stCondLst>
                            <p:childTnLst>
                              <p:set>
                                <p:cBhvr>
                                  <p:cTn id="38" dur="1" fill="hold">
                                    <p:stCondLst>
                                      <p:cond delay="0"/>
                                    </p:stCondLst>
                                  </p:cTn>
                                  <p:tgtEl>
                                    <p:spTgt spid="37"/>
                                  </p:tgtEl>
                                  <p:attrNameLst>
                                    <p:attrName>style.visibility</p:attrName>
                                  </p:attrNameLst>
                                </p:cBhvr>
                                <p:to>
                                  <p:strVal val="visible"/>
                                </p:to>
                              </p:set>
                              <p:animEffect transition="in" filter="fade">
                                <p:cBhvr>
                                  <p:cTn id="39" dur="650"/>
                                  <p:tgtEl>
                                    <p:spTgt spid="37"/>
                                  </p:tgtEl>
                                </p:cBhvr>
                              </p:animEffect>
                            </p:childTnLst>
                          </p:cTn>
                        </p:par>
                        <p:par>
                          <p:cTn id="40" presetID="10" presetClass="entr" presetSubtype="0" fill="hold" nodeType="afterEffect">
                            <p:stCondLst>
                              <p:cond delay="2400"/>
                            </p:stCondLst>
                            <p:childTnLst>
                              <p:set>
                                <p:cBhvr>
                                  <p:cTn id="41" dur="1" fill="hold">
                                    <p:stCondLst>
                                      <p:cond delay="0"/>
                                    </p:stCondLst>
                                  </p:cTn>
                                  <p:tgtEl>
                                    <p:spTgt spid="59"/>
                                  </p:tgtEl>
                                  <p:attrNameLst>
                                    <p:attrName>style.visibility</p:attrName>
                                  </p:attrNameLst>
                                </p:cBhvr>
                                <p:to>
                                  <p:strVal val="visible"/>
                                </p:to>
                              </p:set>
                              <p:animEffect transition="in" filter="fade">
                                <p:cBhvr>
                                  <p:cTn id="42" dur="650"/>
                                  <p:tgtEl>
                                    <p:spTgt spid="59"/>
                                  </p:tgtEl>
                                </p:cBhvr>
                              </p:animEffect>
                            </p:childTnLst>
                          </p:cTn>
                        </p:par>
                        <p:par>
                          <p:cTn id="43" presetID="10" presetClass="entr" presetSubtype="0" fill="hold" nodeType="afterEffect">
                            <p:stCondLst>
                              <p:cond delay="2400"/>
                            </p:stCondLst>
                            <p:childTnLst>
                              <p:set>
                                <p:cBhvr>
                                  <p:cTn id="44" dur="1" fill="hold">
                                    <p:stCondLst>
                                      <p:cond delay="0"/>
                                    </p:stCondLst>
                                  </p:cTn>
                                  <p:tgtEl>
                                    <p:spTgt spid="61"/>
                                  </p:tgtEl>
                                  <p:attrNameLst>
                                    <p:attrName>style.visibility</p:attrName>
                                  </p:attrNameLst>
                                </p:cBhvr>
                                <p:to>
                                  <p:strVal val="visible"/>
                                </p:to>
                              </p:set>
                              <p:animEffect transition="in" filter="fade">
                                <p:cBhvr>
                                  <p:cTn id="45" dur="650"/>
                                  <p:tgtEl>
                                    <p:spTgt spid="61"/>
                                  </p:tgtEl>
                                </p:cBhvr>
                              </p:animEffect>
                            </p:childTnLst>
                          </p:cTn>
                        </p:par>
                        <p:par>
                          <p:cTn id="46" presetID="10" presetClass="entr" presetSubtype="0" fill="hold" nodeType="afterEffect">
                            <p:stCondLst>
                              <p:cond delay="2400"/>
                            </p:stCondLst>
                            <p:childTnLst>
                              <p:set>
                                <p:cBhvr>
                                  <p:cTn id="47" dur="1" fill="hold">
                                    <p:stCondLst>
                                      <p:cond delay="0"/>
                                    </p:stCondLst>
                                  </p:cTn>
                                  <p:tgtEl>
                                    <p:spTgt spid="64"/>
                                  </p:tgtEl>
                                  <p:attrNameLst>
                                    <p:attrName>style.visibility</p:attrName>
                                  </p:attrNameLst>
                                </p:cBhvr>
                                <p:to>
                                  <p:strVal val="visible"/>
                                </p:to>
                              </p:set>
                              <p:animEffect transition="in" filter="fade">
                                <p:cBhvr>
                                  <p:cTn id="48" dur="650"/>
                                  <p:tgtEl>
                                    <p:spTgt spid="64"/>
                                  </p:tgtEl>
                                </p:cBhvr>
                              </p:animEffect>
                            </p:childTnLst>
                          </p:cTn>
                        </p:par>
                        <p:par>
                          <p:cTn id="49" presetID="10" presetClass="entr" presetSubtype="0" fill="hold" nodeType="afterEffect">
                            <p:stCondLst>
                              <p:cond delay="2400"/>
                            </p:stCondLst>
                            <p:childTnLst>
                              <p:set>
                                <p:cBhvr>
                                  <p:cTn id="50" dur="1" fill="hold">
                                    <p:stCondLst>
                                      <p:cond delay="0"/>
                                    </p:stCondLst>
                                  </p:cTn>
                                  <p:tgtEl>
                                    <p:spTgt spid="67"/>
                                  </p:tgtEl>
                                  <p:attrNameLst>
                                    <p:attrName>style.visibility</p:attrName>
                                  </p:attrNameLst>
                                </p:cBhvr>
                                <p:to>
                                  <p:strVal val="visible"/>
                                </p:to>
                              </p:set>
                              <p:animEffect transition="in" filter="fade">
                                <p:cBhvr>
                                  <p:cTn id="51" dur="650"/>
                                  <p:tgtEl>
                                    <p:spTgt spid="67"/>
                                  </p:tgtEl>
                                </p:cBhvr>
                              </p:animEffect>
                            </p:childTnLst>
                          </p:cTn>
                        </p:par>
                        <p:par>
                          <p:cTn id="52" presetID="10" presetClass="entr" presetSubtype="0" fill="hold" nodeType="afterEffect">
                            <p:stCondLst>
                              <p:cond delay="3000"/>
                            </p:stCondLst>
                            <p:childTnLst>
                              <p:set>
                                <p:cBhvr>
                                  <p:cTn id="53" dur="1" fill="hold">
                                    <p:stCondLst>
                                      <p:cond delay="0"/>
                                    </p:stCondLst>
                                  </p:cTn>
                                  <p:tgtEl>
                                    <p:spTgt spid="70"/>
                                  </p:tgtEl>
                                  <p:attrNameLst>
                                    <p:attrName>style.visibility</p:attrName>
                                  </p:attrNameLst>
                                </p:cBhvr>
                                <p:to>
                                  <p:strVal val="visible"/>
                                </p:to>
                              </p:set>
                              <p:animEffect transition="in" filter="fade">
                                <p:cBhvr>
                                  <p:cTn id="54" dur="650"/>
                                  <p:tgtEl>
                                    <p:spTgt spid="70"/>
                                  </p:tgtEl>
                                </p:cBhvr>
                              </p:animEffect>
                            </p:childTnLst>
                          </p:cTn>
                        </p:par>
                        <p:par>
                          <p:cTn id="55" fill="hold">
                            <p:stCondLst>
                              <p:cond delay="3650"/>
                            </p:stCondLst>
                            <p:childTnLst>
                              <p:animRot by="21600000">
                                <p:cBhvr>
                                  <p:cTn id="56" dur="60000" repeatCount="indefinite" fill="hold"/>
                                  <p:tgtEl>
                                    <p:spTgt spid="81"/>
                                  </p:tgtEl>
                                  <p:attrNameLst>
                                    <p:attrName>r</p:attrName>
                                  </p:attrNameLst>
                                </p:cBhvr>
                              </p:animRot>
                              <p:par>
                                <p:cTn id="57" presetID="22" presetClass="entr" presetSubtype="8" fill="hold" nodeType="withEffect">
                                  <p:stCondLst>
                                    <p:cond delay="0"/>
                                  </p:stCondLst>
                                  <p:childTnLst>
                                    <p:set>
                                      <p:cBhvr>
                                        <p:cTn id="58" dur="1" fill="hold">
                                          <p:stCondLst>
                                            <p:cond delay="0"/>
                                          </p:stCondLst>
                                        </p:cTn>
                                        <p:tgtEl>
                                          <p:spTgt spid="84"/>
                                        </p:tgtEl>
                                        <p:attrNameLst>
                                          <p:attrName>style.visibility</p:attrName>
                                        </p:attrNameLst>
                                      </p:cBhvr>
                                      <p:to>
                                        <p:strVal val="visible"/>
                                      </p:to>
                                    </p:set>
                                    <p:animEffect transition="in" filter="wipe(left)">
                                      <p:cBhvr>
                                        <p:cTn id="59" dur="1500"/>
                                        <p:tgtEl>
                                          <p:spTgt spid="8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2.xml><?xml version="1.0" encoding="utf-8"?>
<p:sld xmlns:a="http://schemas.openxmlformats.org/drawingml/2006/main" xmlns:r="http://schemas.openxmlformats.org/officeDocument/2006/relationships" xmlns:p="http://schemas.openxmlformats.org/presentationml/2006/main">
  <p:cSld>
    <p:bg>
      <p:bgPr>
        <a:solidFill>
          <a:srgbClr val="7A0010"/>
        </a:solidFill>
        <a:effectLst/>
      </p:bgPr>
    </p:bg>
    <p:spTree>
      <p:nvGrpSpPr>
        <p:cNvPr id="1" name=""/>
        <p:cNvGrpSpPr/>
        <p:nvPr/>
      </p:nvGrpSpPr>
      <p:grpSpPr>
        <a:xfrm>
          <a:off x="0" y="0"/>
          <a:ext cx="0" cy="0"/>
          <a:chOff x="0" y="0"/>
          <a:chExt cx="0" cy="0"/>
        </a:xfrm>
      </p:grpSpPr>
      <p:grpSp>
        <p:nvGrpSpPr>
          <p:cNvPr id="2" name="Group 2"/>
          <p:cNvGrpSpPr/>
          <p:nvPr/>
        </p:nvGrpSpPr>
        <p:grpSpPr>
          <a:xfrm>
            <a:off x="963130" y="825541"/>
            <a:ext cx="13758996" cy="550360"/>
            <a:chOff x="0" y="0"/>
            <a:chExt cx="18345328" cy="733813"/>
          </a:xfrm>
        </p:grpSpPr>
        <p:sp>
          <p:nvSpPr>
            <p:cNvPr id="3" name="Freeform 3"/>
            <p:cNvSpPr/>
            <p:nvPr/>
          </p:nvSpPr>
          <p:spPr>
            <a:xfrm>
              <a:off x="0" y="0"/>
              <a:ext cx="18345330" cy="733808"/>
            </a:xfrm>
            <a:custGeom>
              <a:avLst/>
              <a:gdLst/>
              <a:ahLst/>
              <a:cxnLst/>
              <a:rect l="l" t="t" r="r" b="b"/>
              <a:pathLst>
                <a:path w="18345330" h="733808">
                  <a:moveTo>
                    <a:pt x="0" y="0"/>
                  </a:moveTo>
                  <a:lnTo>
                    <a:pt x="18345330" y="0"/>
                  </a:lnTo>
                  <a:lnTo>
                    <a:pt x="18345330" y="733808"/>
                  </a:lnTo>
                  <a:lnTo>
                    <a:pt x="0" y="733808"/>
                  </a:lnTo>
                  <a:close/>
                </a:path>
              </a:pathLst>
            </a:custGeom>
            <a:blipFill>
              <a:blip r:embed="rId3">
                <a:alphaModFix amt="0"/>
              </a:blip>
              <a:stretch>
                <a:fillRect t="-437128" b="-437130"/>
              </a:stretch>
            </a:blipFill>
          </p:spPr>
          <p:txBody>
            <a:bodyPr/>
            <a:lstStyle/>
            <a:p>
              <a:endParaRPr lang="en-US"/>
            </a:p>
          </p:txBody>
        </p:sp>
        <p:sp>
          <p:nvSpPr>
            <p:cNvPr id="4" name="TextBox 4"/>
            <p:cNvSpPr txBox="1"/>
            <p:nvPr/>
          </p:nvSpPr>
          <p:spPr>
            <a:xfrm>
              <a:off x="0" y="0"/>
              <a:ext cx="18345328" cy="733813"/>
            </a:xfrm>
            <a:prstGeom prst="rect">
              <a:avLst/>
            </a:prstGeom>
          </p:spPr>
          <p:txBody>
            <a:bodyPr lIns="0" tIns="0" rIns="0" bIns="0" rtlCol="0" anchor="ctr"/>
            <a:lstStyle/>
            <a:p>
              <a:pPr algn="l">
                <a:lnSpc>
                  <a:spcPts val="2527"/>
                </a:lnSpc>
              </a:pPr>
              <a:r>
                <a:rPr lang="en-US" sz="2106" b="1" spc="300">
                  <a:solidFill>
                    <a:srgbClr val="FFD700"/>
                  </a:solidFill>
                  <a:latin typeface="Montserrat Bold"/>
                  <a:ea typeface="Montserrat Bold"/>
                  <a:cs typeface="Montserrat Bold"/>
                  <a:sym typeface="Montserrat Bold"/>
                </a:rPr>
                <a:t>KẾT LUẬN &amp; KIẾN NGHỊ</a:t>
              </a:r>
            </a:p>
          </p:txBody>
        </p:sp>
      </p:grpSp>
      <p:grpSp>
        <p:nvGrpSpPr>
          <p:cNvPr id="5" name="Group 5"/>
          <p:cNvGrpSpPr/>
          <p:nvPr/>
        </p:nvGrpSpPr>
        <p:grpSpPr>
          <a:xfrm>
            <a:off x="963130" y="1348378"/>
            <a:ext cx="15822844" cy="1169515"/>
            <a:chOff x="0" y="0"/>
            <a:chExt cx="21097126" cy="1559353"/>
          </a:xfrm>
        </p:grpSpPr>
        <p:sp>
          <p:nvSpPr>
            <p:cNvPr id="6" name="Freeform 6"/>
            <p:cNvSpPr/>
            <p:nvPr/>
          </p:nvSpPr>
          <p:spPr>
            <a:xfrm>
              <a:off x="0" y="0"/>
              <a:ext cx="21097129" cy="1559349"/>
            </a:xfrm>
            <a:custGeom>
              <a:avLst/>
              <a:gdLst/>
              <a:ahLst/>
              <a:cxnLst/>
              <a:rect l="l" t="t" r="r" b="b"/>
              <a:pathLst>
                <a:path w="21097129" h="1559349">
                  <a:moveTo>
                    <a:pt x="0" y="0"/>
                  </a:moveTo>
                  <a:lnTo>
                    <a:pt x="21097129" y="0"/>
                  </a:lnTo>
                  <a:lnTo>
                    <a:pt x="21097129" y="1559349"/>
                  </a:lnTo>
                  <a:lnTo>
                    <a:pt x="0" y="1559349"/>
                  </a:lnTo>
                  <a:close/>
                </a:path>
              </a:pathLst>
            </a:custGeom>
            <a:blipFill>
              <a:blip r:embed="rId3">
                <a:alphaModFix amt="0"/>
              </a:blip>
              <a:stretch>
                <a:fillRect t="-213621" b="-213621"/>
              </a:stretch>
            </a:blipFill>
          </p:spPr>
          <p:txBody>
            <a:bodyPr/>
            <a:lstStyle/>
            <a:p>
              <a:endParaRPr lang="en-US"/>
            </a:p>
          </p:txBody>
        </p:sp>
        <p:sp>
          <p:nvSpPr>
            <p:cNvPr id="7" name="TextBox 7"/>
            <p:cNvSpPr txBox="1"/>
            <p:nvPr/>
          </p:nvSpPr>
          <p:spPr>
            <a:xfrm>
              <a:off x="0" y="0"/>
              <a:ext cx="21097126" cy="1559353"/>
            </a:xfrm>
            <a:prstGeom prst="rect">
              <a:avLst/>
            </a:prstGeom>
          </p:spPr>
          <p:txBody>
            <a:bodyPr lIns="0" tIns="0" rIns="0" bIns="0" rtlCol="0" anchor="ctr"/>
            <a:lstStyle/>
            <a:p>
              <a:pPr algn="l">
                <a:lnSpc>
                  <a:spcPts val="5055"/>
                </a:lnSpc>
              </a:pPr>
              <a:r>
                <a:rPr lang="en-US" sz="4213" b="1" dirty="0" err="1">
                  <a:solidFill>
                    <a:srgbClr val="FFFFFF"/>
                  </a:solidFill>
                  <a:latin typeface="Montserrat Bold"/>
                  <a:ea typeface="Montserrat Bold"/>
                  <a:cs typeface="Montserrat Bold"/>
                  <a:sym typeface="Montserrat Bold"/>
                </a:rPr>
                <a:t>Giải</a:t>
              </a:r>
              <a:r>
                <a:rPr lang="en-US" sz="4213" b="1" dirty="0">
                  <a:solidFill>
                    <a:srgbClr val="FFFFFF"/>
                  </a:solidFill>
                  <a:latin typeface="Montserrat Bold"/>
                  <a:ea typeface="Montserrat Bold"/>
                  <a:cs typeface="Montserrat Bold"/>
                  <a:sym typeface="Montserrat Bold"/>
                </a:rPr>
                <a:t> </a:t>
              </a:r>
              <a:r>
                <a:rPr lang="en-US" sz="4213" b="1" dirty="0" err="1">
                  <a:solidFill>
                    <a:srgbClr val="FFFFFF"/>
                  </a:solidFill>
                  <a:latin typeface="Montserrat Bold"/>
                  <a:ea typeface="Montserrat Bold"/>
                  <a:cs typeface="Montserrat Bold"/>
                  <a:sym typeface="Montserrat Bold"/>
                </a:rPr>
                <a:t>pháp</a:t>
              </a:r>
              <a:r>
                <a:rPr lang="en-US" sz="4213" b="1" dirty="0">
                  <a:solidFill>
                    <a:srgbClr val="FFFFFF"/>
                  </a:solidFill>
                  <a:latin typeface="Montserrat Bold"/>
                  <a:ea typeface="Montserrat Bold"/>
                  <a:cs typeface="Montserrat Bold"/>
                  <a:sym typeface="Montserrat Bold"/>
                </a:rPr>
                <a:t> </a:t>
              </a:r>
              <a:r>
                <a:rPr lang="en-US" sz="4213" b="1" dirty="0" err="1">
                  <a:solidFill>
                    <a:srgbClr val="FFFFFF"/>
                  </a:solidFill>
                  <a:latin typeface="Montserrat Bold"/>
                  <a:ea typeface="Montserrat Bold"/>
                  <a:cs typeface="Montserrat Bold"/>
                  <a:sym typeface="Montserrat Bold"/>
                </a:rPr>
                <a:t>thực</a:t>
              </a:r>
              <a:r>
                <a:rPr lang="en-US" sz="4213" b="1" dirty="0">
                  <a:solidFill>
                    <a:srgbClr val="FFFFFF"/>
                  </a:solidFill>
                  <a:latin typeface="Montserrat Bold"/>
                  <a:ea typeface="Montserrat Bold"/>
                  <a:cs typeface="Montserrat Bold"/>
                  <a:sym typeface="Montserrat Bold"/>
                </a:rPr>
                <a:t> </a:t>
              </a:r>
              <a:r>
                <a:rPr lang="en-US" sz="4213" b="1" dirty="0" err="1">
                  <a:solidFill>
                    <a:srgbClr val="FFFFFF"/>
                  </a:solidFill>
                  <a:latin typeface="Montserrat Bold"/>
                  <a:ea typeface="Montserrat Bold"/>
                  <a:cs typeface="Montserrat Bold"/>
                  <a:sym typeface="Montserrat Bold"/>
                </a:rPr>
                <a:t>tiễn</a:t>
              </a:r>
              <a:r>
                <a:rPr lang="en-US" sz="4213" b="1" dirty="0">
                  <a:solidFill>
                    <a:srgbClr val="FFFFFF"/>
                  </a:solidFill>
                  <a:latin typeface="Montserrat Bold"/>
                  <a:ea typeface="Montserrat Bold"/>
                  <a:cs typeface="Montserrat Bold"/>
                  <a:sym typeface="Montserrat Bold"/>
                </a:rPr>
                <a:t> </a:t>
              </a:r>
              <a:r>
                <a:rPr lang="en-US" sz="4213" b="1" dirty="0" err="1">
                  <a:solidFill>
                    <a:srgbClr val="FFFFFF"/>
                  </a:solidFill>
                  <a:latin typeface="Montserrat Bold"/>
                  <a:ea typeface="Montserrat Bold"/>
                  <a:cs typeface="Montserrat Bold"/>
                  <a:sym typeface="Montserrat Bold"/>
                </a:rPr>
                <a:t>cao</a:t>
              </a:r>
              <a:r>
                <a:rPr lang="en-US" sz="4213" b="1" dirty="0">
                  <a:solidFill>
                    <a:srgbClr val="FFFFFF"/>
                  </a:solidFill>
                  <a:latin typeface="Montserrat Bold"/>
                  <a:ea typeface="Montserrat Bold"/>
                  <a:cs typeface="Montserrat Bold"/>
                  <a:sym typeface="Montserrat Bold"/>
                </a:rPr>
                <a:t> </a:t>
              </a:r>
              <a:r>
                <a:rPr lang="en-US" sz="4213" b="1" dirty="0" err="1">
                  <a:solidFill>
                    <a:srgbClr val="FFFFFF"/>
                  </a:solidFill>
                  <a:latin typeface="Montserrat Bold"/>
                  <a:ea typeface="Montserrat Bold"/>
                  <a:cs typeface="Montserrat Bold"/>
                  <a:sym typeface="Montserrat Bold"/>
                </a:rPr>
                <a:t>từ</a:t>
              </a:r>
              <a:r>
                <a:rPr lang="en-US" sz="4213" b="1" dirty="0">
                  <a:solidFill>
                    <a:srgbClr val="FFFFFF"/>
                  </a:solidFill>
                  <a:latin typeface="Montserrat Bold"/>
                  <a:ea typeface="Montserrat Bold"/>
                  <a:cs typeface="Montserrat Bold"/>
                  <a:sym typeface="Montserrat Bold"/>
                </a:rPr>
                <a:t> </a:t>
              </a:r>
              <a:r>
                <a:rPr lang="en-US" sz="4213" b="1" dirty="0" err="1">
                  <a:solidFill>
                    <a:srgbClr val="FFFFFF"/>
                  </a:solidFill>
                  <a:latin typeface="Montserrat Bold"/>
                  <a:ea typeface="Montserrat Bold"/>
                  <a:cs typeface="Montserrat Bold"/>
                  <a:sym typeface="Montserrat Bold"/>
                </a:rPr>
                <a:t>yêu</a:t>
              </a:r>
              <a:r>
                <a:rPr lang="en-US" sz="4213" b="1" dirty="0">
                  <a:solidFill>
                    <a:srgbClr val="FFFFFF"/>
                  </a:solidFill>
                  <a:latin typeface="Montserrat Bold"/>
                  <a:ea typeface="Montserrat Bold"/>
                  <a:cs typeface="Montserrat Bold"/>
                  <a:sym typeface="Montserrat Bold"/>
                </a:rPr>
                <a:t> </a:t>
              </a:r>
              <a:r>
                <a:rPr lang="en-US" sz="4213" b="1" dirty="0" err="1">
                  <a:solidFill>
                    <a:srgbClr val="FFFFFF"/>
                  </a:solidFill>
                  <a:latin typeface="Montserrat Bold"/>
                  <a:ea typeface="Montserrat Bold"/>
                  <a:cs typeface="Montserrat Bold"/>
                  <a:sym typeface="Montserrat Bold"/>
                </a:rPr>
                <a:t>cầu</a:t>
              </a:r>
              <a:r>
                <a:rPr lang="en-US" sz="4213" b="1" dirty="0">
                  <a:solidFill>
                    <a:srgbClr val="FFFFFF"/>
                  </a:solidFill>
                  <a:latin typeface="Montserrat Bold"/>
                  <a:ea typeface="Montserrat Bold"/>
                  <a:cs typeface="Montserrat Bold"/>
                  <a:sym typeface="Montserrat Bold"/>
                </a:rPr>
                <a:t> </a:t>
              </a:r>
              <a:r>
                <a:rPr lang="en-US" sz="4213" b="1" dirty="0" err="1">
                  <a:solidFill>
                    <a:srgbClr val="FFFFFF"/>
                  </a:solidFill>
                  <a:latin typeface="Montserrat Bold"/>
                  <a:ea typeface="Montserrat Bold"/>
                  <a:cs typeface="Montserrat Bold"/>
                  <a:sym typeface="Montserrat Bold"/>
                </a:rPr>
                <a:t>công</a:t>
              </a:r>
              <a:r>
                <a:rPr lang="en-US" sz="4213" b="1" dirty="0">
                  <a:solidFill>
                    <a:srgbClr val="FFFFFF"/>
                  </a:solidFill>
                  <a:latin typeface="Montserrat Bold"/>
                  <a:ea typeface="Montserrat Bold"/>
                  <a:cs typeface="Montserrat Bold"/>
                  <a:sym typeface="Montserrat Bold"/>
                </a:rPr>
                <a:t> </a:t>
              </a:r>
              <a:r>
                <a:rPr lang="en-US" sz="4213" b="1" dirty="0" err="1">
                  <a:solidFill>
                    <a:srgbClr val="FFFFFF"/>
                  </a:solidFill>
                  <a:latin typeface="Montserrat Bold"/>
                  <a:ea typeface="Montserrat Bold"/>
                  <a:cs typeface="Montserrat Bold"/>
                  <a:sym typeface="Montserrat Bold"/>
                </a:rPr>
                <a:t>tác</a:t>
              </a:r>
              <a:endParaRPr lang="en-US" sz="4213" b="1" dirty="0">
                <a:solidFill>
                  <a:srgbClr val="FFFFFF"/>
                </a:solidFill>
                <a:latin typeface="Montserrat Bold"/>
                <a:ea typeface="Montserrat Bold"/>
                <a:cs typeface="Montserrat Bold"/>
                <a:sym typeface="Montserrat Bold"/>
              </a:endParaRPr>
            </a:p>
          </p:txBody>
        </p:sp>
      </p:grpSp>
      <p:grpSp>
        <p:nvGrpSpPr>
          <p:cNvPr id="8" name="Group 8"/>
          <p:cNvGrpSpPr/>
          <p:nvPr/>
        </p:nvGrpSpPr>
        <p:grpSpPr>
          <a:xfrm>
            <a:off x="963130" y="2820591"/>
            <a:ext cx="577882" cy="577882"/>
            <a:chOff x="0" y="0"/>
            <a:chExt cx="770509" cy="770509"/>
          </a:xfrm>
        </p:grpSpPr>
        <p:sp>
          <p:nvSpPr>
            <p:cNvPr id="9" name="Freeform 9" descr="preencoded.png"/>
            <p:cNvSpPr/>
            <p:nvPr/>
          </p:nvSpPr>
          <p:spPr>
            <a:xfrm>
              <a:off x="0" y="0"/>
              <a:ext cx="770509" cy="770509"/>
            </a:xfrm>
            <a:custGeom>
              <a:avLst/>
              <a:gdLst/>
              <a:ahLst/>
              <a:cxnLst/>
              <a:rect l="l" t="t" r="r" b="b"/>
              <a:pathLst>
                <a:path w="770509" h="770509">
                  <a:moveTo>
                    <a:pt x="0" y="0"/>
                  </a:moveTo>
                  <a:lnTo>
                    <a:pt x="770509" y="0"/>
                  </a:lnTo>
                  <a:lnTo>
                    <a:pt x="770509" y="770509"/>
                  </a:lnTo>
                  <a:lnTo>
                    <a:pt x="0" y="770509"/>
                  </a:lnTo>
                  <a:lnTo>
                    <a:pt x="0" y="0"/>
                  </a:lnTo>
                  <a:close/>
                </a:path>
              </a:pathLst>
            </a:custGeom>
            <a:blipFill>
              <a:blip r:embed="rId4"/>
              <a:stretch>
                <a:fillRect/>
              </a:stretch>
            </a:blipFill>
          </p:spPr>
          <p:txBody>
            <a:bodyPr/>
            <a:lstStyle/>
            <a:p>
              <a:endParaRPr lang="en-US"/>
            </a:p>
          </p:txBody>
        </p:sp>
      </p:grpSp>
      <p:grpSp>
        <p:nvGrpSpPr>
          <p:cNvPr id="10" name="Group 10"/>
          <p:cNvGrpSpPr/>
          <p:nvPr/>
        </p:nvGrpSpPr>
        <p:grpSpPr>
          <a:xfrm>
            <a:off x="1816189" y="2751801"/>
            <a:ext cx="11832736" cy="825540"/>
            <a:chOff x="0" y="0"/>
            <a:chExt cx="15776981" cy="1100720"/>
          </a:xfrm>
        </p:grpSpPr>
        <p:sp>
          <p:nvSpPr>
            <p:cNvPr id="11" name="Freeform 11"/>
            <p:cNvSpPr/>
            <p:nvPr/>
          </p:nvSpPr>
          <p:spPr>
            <a:xfrm>
              <a:off x="0" y="0"/>
              <a:ext cx="15776983" cy="1100718"/>
            </a:xfrm>
            <a:custGeom>
              <a:avLst/>
              <a:gdLst/>
              <a:ahLst/>
              <a:cxnLst/>
              <a:rect l="l" t="t" r="r" b="b"/>
              <a:pathLst>
                <a:path w="15776983" h="1100718">
                  <a:moveTo>
                    <a:pt x="0" y="0"/>
                  </a:moveTo>
                  <a:lnTo>
                    <a:pt x="15776983" y="0"/>
                  </a:lnTo>
                  <a:lnTo>
                    <a:pt x="15776983" y="1100718"/>
                  </a:lnTo>
                  <a:lnTo>
                    <a:pt x="0" y="1100718"/>
                  </a:lnTo>
                  <a:close/>
                </a:path>
              </a:pathLst>
            </a:custGeom>
            <a:blipFill>
              <a:blip r:embed="rId3">
                <a:alphaModFix amt="0"/>
              </a:blip>
              <a:stretch>
                <a:fillRect t="-229285" b="-229286"/>
              </a:stretch>
            </a:blipFill>
          </p:spPr>
          <p:txBody>
            <a:bodyPr/>
            <a:lstStyle/>
            <a:p>
              <a:endParaRPr lang="en-US"/>
            </a:p>
          </p:txBody>
        </p:sp>
        <p:sp>
          <p:nvSpPr>
            <p:cNvPr id="12" name="TextBox 12"/>
            <p:cNvSpPr txBox="1"/>
            <p:nvPr/>
          </p:nvSpPr>
          <p:spPr>
            <a:xfrm>
              <a:off x="0" y="9525"/>
              <a:ext cx="15776981" cy="1091195"/>
            </a:xfrm>
            <a:prstGeom prst="rect">
              <a:avLst/>
            </a:prstGeom>
          </p:spPr>
          <p:txBody>
            <a:bodyPr lIns="0" tIns="0" rIns="0" bIns="0" rtlCol="0" anchor="ctr"/>
            <a:lstStyle/>
            <a:p>
              <a:pPr algn="l">
                <a:lnSpc>
                  <a:spcPts val="2889"/>
                </a:lnSpc>
              </a:pPr>
              <a:r>
                <a:rPr lang="en-US" sz="2407">
                  <a:solidFill>
                    <a:srgbClr val="FFE9A8"/>
                  </a:solidFill>
                  <a:latin typeface="Montserrat"/>
                  <a:ea typeface="Montserrat"/>
                  <a:cs typeface="Montserrat"/>
                  <a:sym typeface="Montserrat"/>
                </a:rPr>
                <a:t>Giải quyết triệt để quá tải trong khâu hướng dẫn thủ tục.</a:t>
              </a:r>
            </a:p>
          </p:txBody>
        </p:sp>
      </p:grpSp>
      <p:grpSp>
        <p:nvGrpSpPr>
          <p:cNvPr id="13" name="Group 13"/>
          <p:cNvGrpSpPr/>
          <p:nvPr/>
        </p:nvGrpSpPr>
        <p:grpSpPr>
          <a:xfrm>
            <a:off x="963130" y="3893791"/>
            <a:ext cx="577882" cy="577882"/>
            <a:chOff x="0" y="0"/>
            <a:chExt cx="770509" cy="770509"/>
          </a:xfrm>
        </p:grpSpPr>
        <p:sp>
          <p:nvSpPr>
            <p:cNvPr id="14" name="Freeform 14" descr="preencoded.png"/>
            <p:cNvSpPr/>
            <p:nvPr/>
          </p:nvSpPr>
          <p:spPr>
            <a:xfrm>
              <a:off x="0" y="0"/>
              <a:ext cx="770509" cy="770509"/>
            </a:xfrm>
            <a:custGeom>
              <a:avLst/>
              <a:gdLst/>
              <a:ahLst/>
              <a:cxnLst/>
              <a:rect l="l" t="t" r="r" b="b"/>
              <a:pathLst>
                <a:path w="770509" h="770509">
                  <a:moveTo>
                    <a:pt x="0" y="0"/>
                  </a:moveTo>
                  <a:lnTo>
                    <a:pt x="770509" y="0"/>
                  </a:lnTo>
                  <a:lnTo>
                    <a:pt x="770509" y="770509"/>
                  </a:lnTo>
                  <a:lnTo>
                    <a:pt x="0" y="770509"/>
                  </a:lnTo>
                  <a:lnTo>
                    <a:pt x="0" y="0"/>
                  </a:lnTo>
                  <a:close/>
                </a:path>
              </a:pathLst>
            </a:custGeom>
            <a:blipFill>
              <a:blip r:embed="rId4"/>
              <a:stretch>
                <a:fillRect/>
              </a:stretch>
            </a:blipFill>
          </p:spPr>
          <p:txBody>
            <a:bodyPr/>
            <a:lstStyle/>
            <a:p>
              <a:endParaRPr lang="en-US"/>
            </a:p>
          </p:txBody>
        </p:sp>
      </p:grpSp>
      <p:grpSp>
        <p:nvGrpSpPr>
          <p:cNvPr id="15" name="Group 15"/>
          <p:cNvGrpSpPr/>
          <p:nvPr/>
        </p:nvGrpSpPr>
        <p:grpSpPr>
          <a:xfrm>
            <a:off x="1816189" y="3825002"/>
            <a:ext cx="11832736" cy="825540"/>
            <a:chOff x="0" y="0"/>
            <a:chExt cx="15776981" cy="1100720"/>
          </a:xfrm>
        </p:grpSpPr>
        <p:sp>
          <p:nvSpPr>
            <p:cNvPr id="16" name="Freeform 16"/>
            <p:cNvSpPr/>
            <p:nvPr/>
          </p:nvSpPr>
          <p:spPr>
            <a:xfrm>
              <a:off x="0" y="0"/>
              <a:ext cx="15776983" cy="1100718"/>
            </a:xfrm>
            <a:custGeom>
              <a:avLst/>
              <a:gdLst/>
              <a:ahLst/>
              <a:cxnLst/>
              <a:rect l="l" t="t" r="r" b="b"/>
              <a:pathLst>
                <a:path w="15776983" h="1100718">
                  <a:moveTo>
                    <a:pt x="0" y="0"/>
                  </a:moveTo>
                  <a:lnTo>
                    <a:pt x="15776983" y="0"/>
                  </a:lnTo>
                  <a:lnTo>
                    <a:pt x="15776983" y="1100718"/>
                  </a:lnTo>
                  <a:lnTo>
                    <a:pt x="0" y="1100718"/>
                  </a:lnTo>
                  <a:close/>
                </a:path>
              </a:pathLst>
            </a:custGeom>
            <a:blipFill>
              <a:blip r:embed="rId3">
                <a:alphaModFix amt="0"/>
              </a:blip>
              <a:stretch>
                <a:fillRect t="-229285" b="-229286"/>
              </a:stretch>
            </a:blipFill>
          </p:spPr>
          <p:txBody>
            <a:bodyPr/>
            <a:lstStyle/>
            <a:p>
              <a:endParaRPr lang="en-US"/>
            </a:p>
          </p:txBody>
        </p:sp>
        <p:sp>
          <p:nvSpPr>
            <p:cNvPr id="17" name="TextBox 17"/>
            <p:cNvSpPr txBox="1"/>
            <p:nvPr/>
          </p:nvSpPr>
          <p:spPr>
            <a:xfrm>
              <a:off x="0" y="9525"/>
              <a:ext cx="15776981" cy="1091195"/>
            </a:xfrm>
            <a:prstGeom prst="rect">
              <a:avLst/>
            </a:prstGeom>
          </p:spPr>
          <p:txBody>
            <a:bodyPr lIns="0" tIns="0" rIns="0" bIns="0" rtlCol="0" anchor="ctr"/>
            <a:lstStyle/>
            <a:p>
              <a:pPr algn="l">
                <a:lnSpc>
                  <a:spcPts val="2889"/>
                </a:lnSpc>
              </a:pPr>
              <a:r>
                <a:rPr lang="en-US" sz="2407">
                  <a:solidFill>
                    <a:srgbClr val="FFE9A8"/>
                  </a:solidFill>
                  <a:latin typeface="Montserrat"/>
                  <a:ea typeface="Montserrat"/>
                  <a:cs typeface="Montserrat"/>
                  <a:sym typeface="Montserrat"/>
                </a:rPr>
                <a:t>Thuận tiện tối đa cho người dân — đúng định hướng NQ 57 &amp; KH 342.</a:t>
              </a:r>
            </a:p>
          </p:txBody>
        </p:sp>
      </p:grpSp>
      <p:grpSp>
        <p:nvGrpSpPr>
          <p:cNvPr id="18" name="Group 18"/>
          <p:cNvGrpSpPr/>
          <p:nvPr/>
        </p:nvGrpSpPr>
        <p:grpSpPr>
          <a:xfrm>
            <a:off x="963130" y="4967002"/>
            <a:ext cx="577882" cy="577882"/>
            <a:chOff x="0" y="0"/>
            <a:chExt cx="770509" cy="770509"/>
          </a:xfrm>
        </p:grpSpPr>
        <p:sp>
          <p:nvSpPr>
            <p:cNvPr id="19" name="Freeform 19" descr="preencoded.png"/>
            <p:cNvSpPr/>
            <p:nvPr/>
          </p:nvSpPr>
          <p:spPr>
            <a:xfrm>
              <a:off x="0" y="0"/>
              <a:ext cx="770509" cy="770509"/>
            </a:xfrm>
            <a:custGeom>
              <a:avLst/>
              <a:gdLst/>
              <a:ahLst/>
              <a:cxnLst/>
              <a:rect l="l" t="t" r="r" b="b"/>
              <a:pathLst>
                <a:path w="770509" h="770509">
                  <a:moveTo>
                    <a:pt x="0" y="0"/>
                  </a:moveTo>
                  <a:lnTo>
                    <a:pt x="770509" y="0"/>
                  </a:lnTo>
                  <a:lnTo>
                    <a:pt x="770509" y="770509"/>
                  </a:lnTo>
                  <a:lnTo>
                    <a:pt x="0" y="770509"/>
                  </a:lnTo>
                  <a:lnTo>
                    <a:pt x="0" y="0"/>
                  </a:lnTo>
                  <a:close/>
                </a:path>
              </a:pathLst>
            </a:custGeom>
            <a:blipFill>
              <a:blip r:embed="rId4"/>
              <a:stretch>
                <a:fillRect/>
              </a:stretch>
            </a:blipFill>
          </p:spPr>
          <p:txBody>
            <a:bodyPr/>
            <a:lstStyle/>
            <a:p>
              <a:endParaRPr lang="en-US"/>
            </a:p>
          </p:txBody>
        </p:sp>
      </p:grpSp>
      <p:grpSp>
        <p:nvGrpSpPr>
          <p:cNvPr id="20" name="Group 20"/>
          <p:cNvGrpSpPr/>
          <p:nvPr/>
        </p:nvGrpSpPr>
        <p:grpSpPr>
          <a:xfrm>
            <a:off x="1816189" y="4898203"/>
            <a:ext cx="11832736" cy="825540"/>
            <a:chOff x="0" y="0"/>
            <a:chExt cx="15776981" cy="1100720"/>
          </a:xfrm>
        </p:grpSpPr>
        <p:sp>
          <p:nvSpPr>
            <p:cNvPr id="21" name="Freeform 21"/>
            <p:cNvSpPr/>
            <p:nvPr/>
          </p:nvSpPr>
          <p:spPr>
            <a:xfrm>
              <a:off x="0" y="0"/>
              <a:ext cx="15776983" cy="1100718"/>
            </a:xfrm>
            <a:custGeom>
              <a:avLst/>
              <a:gdLst/>
              <a:ahLst/>
              <a:cxnLst/>
              <a:rect l="l" t="t" r="r" b="b"/>
              <a:pathLst>
                <a:path w="15776983" h="1100718">
                  <a:moveTo>
                    <a:pt x="0" y="0"/>
                  </a:moveTo>
                  <a:lnTo>
                    <a:pt x="15776983" y="0"/>
                  </a:lnTo>
                  <a:lnTo>
                    <a:pt x="15776983" y="1100718"/>
                  </a:lnTo>
                  <a:lnTo>
                    <a:pt x="0" y="1100718"/>
                  </a:lnTo>
                  <a:close/>
                </a:path>
              </a:pathLst>
            </a:custGeom>
            <a:blipFill>
              <a:blip r:embed="rId3">
                <a:alphaModFix amt="0"/>
              </a:blip>
              <a:stretch>
                <a:fillRect t="-229285" b="-229286"/>
              </a:stretch>
            </a:blipFill>
          </p:spPr>
          <p:txBody>
            <a:bodyPr/>
            <a:lstStyle/>
            <a:p>
              <a:endParaRPr lang="en-US"/>
            </a:p>
          </p:txBody>
        </p:sp>
        <p:sp>
          <p:nvSpPr>
            <p:cNvPr id="22" name="TextBox 22"/>
            <p:cNvSpPr txBox="1"/>
            <p:nvPr/>
          </p:nvSpPr>
          <p:spPr>
            <a:xfrm>
              <a:off x="0" y="9525"/>
              <a:ext cx="15776981" cy="1091195"/>
            </a:xfrm>
            <a:prstGeom prst="rect">
              <a:avLst/>
            </a:prstGeom>
          </p:spPr>
          <p:txBody>
            <a:bodyPr lIns="0" tIns="0" rIns="0" bIns="0" rtlCol="0" anchor="ctr"/>
            <a:lstStyle/>
            <a:p>
              <a:pPr algn="l">
                <a:lnSpc>
                  <a:spcPts val="2889"/>
                </a:lnSpc>
              </a:pPr>
              <a:r>
                <a:rPr lang="en-US" sz="2407">
                  <a:solidFill>
                    <a:srgbClr val="FFE9A8"/>
                  </a:solidFill>
                  <a:latin typeface="Montserrat"/>
                  <a:ea typeface="Montserrat"/>
                  <a:cs typeface="Montserrat"/>
                  <a:sym typeface="Montserrat"/>
                </a:rPr>
                <a:t>Chi phí gần 0 · dễ chuyển giao · hiệu quả thực chất.</a:t>
              </a:r>
            </a:p>
          </p:txBody>
        </p:sp>
      </p:grpSp>
      <p:grpSp>
        <p:nvGrpSpPr>
          <p:cNvPr id="23" name="Group 23"/>
          <p:cNvGrpSpPr/>
          <p:nvPr/>
        </p:nvGrpSpPr>
        <p:grpSpPr>
          <a:xfrm>
            <a:off x="950709" y="6385512"/>
            <a:ext cx="16398050" cy="2570255"/>
            <a:chOff x="0" y="0"/>
            <a:chExt cx="21864066" cy="3427006"/>
          </a:xfrm>
        </p:grpSpPr>
        <p:sp>
          <p:nvSpPr>
            <p:cNvPr id="24" name="Freeform 24"/>
            <p:cNvSpPr/>
            <p:nvPr/>
          </p:nvSpPr>
          <p:spPr>
            <a:xfrm>
              <a:off x="0" y="0"/>
              <a:ext cx="21864065" cy="3426968"/>
            </a:xfrm>
            <a:custGeom>
              <a:avLst/>
              <a:gdLst/>
              <a:ahLst/>
              <a:cxnLst/>
              <a:rect l="l" t="t" r="r" b="b"/>
              <a:pathLst>
                <a:path w="21864065" h="3426968">
                  <a:moveTo>
                    <a:pt x="0" y="222250"/>
                  </a:moveTo>
                  <a:cubicBezTo>
                    <a:pt x="0" y="99568"/>
                    <a:pt x="99568" y="0"/>
                    <a:pt x="222250" y="0"/>
                  </a:cubicBezTo>
                  <a:lnTo>
                    <a:pt x="21641815" y="0"/>
                  </a:lnTo>
                  <a:cubicBezTo>
                    <a:pt x="21764625" y="0"/>
                    <a:pt x="21864065" y="99568"/>
                    <a:pt x="21864065" y="222250"/>
                  </a:cubicBezTo>
                  <a:lnTo>
                    <a:pt x="21864065" y="3204718"/>
                  </a:lnTo>
                  <a:cubicBezTo>
                    <a:pt x="21864065" y="3327527"/>
                    <a:pt x="21764498" y="3426968"/>
                    <a:pt x="21641815" y="3426968"/>
                  </a:cubicBezTo>
                  <a:lnTo>
                    <a:pt x="222250" y="3426968"/>
                  </a:lnTo>
                  <a:cubicBezTo>
                    <a:pt x="99441" y="3426968"/>
                    <a:pt x="0" y="3327400"/>
                    <a:pt x="0" y="3204718"/>
                  </a:cubicBezTo>
                  <a:close/>
                </a:path>
              </a:pathLst>
            </a:custGeom>
            <a:solidFill>
              <a:srgbClr val="5F0D14"/>
            </a:solidFill>
            <a:ln w="24843" cap="sq">
              <a:solidFill>
                <a:srgbClr val="FFD700"/>
              </a:solidFill>
              <a:prstDash val="solid"/>
              <a:miter/>
            </a:ln>
          </p:spPr>
          <p:txBody>
            <a:bodyPr/>
            <a:lstStyle/>
            <a:p>
              <a:endParaRPr lang="en-US"/>
            </a:p>
          </p:txBody>
        </p:sp>
      </p:grpSp>
      <p:grpSp>
        <p:nvGrpSpPr>
          <p:cNvPr id="25" name="Group 25"/>
          <p:cNvGrpSpPr/>
          <p:nvPr/>
        </p:nvGrpSpPr>
        <p:grpSpPr>
          <a:xfrm>
            <a:off x="1651083" y="6673110"/>
            <a:ext cx="15134901" cy="619155"/>
            <a:chOff x="0" y="0"/>
            <a:chExt cx="20179868" cy="825540"/>
          </a:xfrm>
        </p:grpSpPr>
        <p:sp>
          <p:nvSpPr>
            <p:cNvPr id="26" name="Freeform 26"/>
            <p:cNvSpPr/>
            <p:nvPr/>
          </p:nvSpPr>
          <p:spPr>
            <a:xfrm>
              <a:off x="0" y="0"/>
              <a:ext cx="20179863" cy="825542"/>
            </a:xfrm>
            <a:custGeom>
              <a:avLst/>
              <a:gdLst/>
              <a:ahLst/>
              <a:cxnLst/>
              <a:rect l="l" t="t" r="r" b="b"/>
              <a:pathLst>
                <a:path w="20179863" h="825542">
                  <a:moveTo>
                    <a:pt x="0" y="0"/>
                  </a:moveTo>
                  <a:lnTo>
                    <a:pt x="20179863" y="0"/>
                  </a:lnTo>
                  <a:lnTo>
                    <a:pt x="20179863" y="825542"/>
                  </a:lnTo>
                  <a:lnTo>
                    <a:pt x="0" y="825542"/>
                  </a:lnTo>
                  <a:close/>
                </a:path>
              </a:pathLst>
            </a:custGeom>
            <a:blipFill>
              <a:blip r:embed="rId3">
                <a:alphaModFix amt="0"/>
              </a:blip>
              <a:stretch>
                <a:fillRect t="-426300" b="-426299"/>
              </a:stretch>
            </a:blipFill>
          </p:spPr>
          <p:txBody>
            <a:bodyPr/>
            <a:lstStyle/>
            <a:p>
              <a:endParaRPr lang="en-US"/>
            </a:p>
          </p:txBody>
        </p:sp>
        <p:sp>
          <p:nvSpPr>
            <p:cNvPr id="27" name="TextBox 27"/>
            <p:cNvSpPr txBox="1"/>
            <p:nvPr/>
          </p:nvSpPr>
          <p:spPr>
            <a:xfrm>
              <a:off x="0" y="0"/>
              <a:ext cx="20179868" cy="825540"/>
            </a:xfrm>
            <a:prstGeom prst="rect">
              <a:avLst/>
            </a:prstGeom>
          </p:spPr>
          <p:txBody>
            <a:bodyPr lIns="0" tIns="0" rIns="0" bIns="0" rtlCol="0" anchor="ctr"/>
            <a:lstStyle/>
            <a:p>
              <a:pPr algn="l">
                <a:lnSpc>
                  <a:spcPts val="2527"/>
                </a:lnSpc>
              </a:pPr>
              <a:r>
                <a:rPr lang="en-US" sz="2106" b="1" spc="225">
                  <a:solidFill>
                    <a:srgbClr val="FFD700"/>
                  </a:solidFill>
                  <a:latin typeface="Montserrat Bold"/>
                  <a:ea typeface="Montserrat Bold"/>
                  <a:cs typeface="Montserrat Bold"/>
                  <a:sym typeface="Montserrat Bold"/>
                </a:rPr>
                <a:t>KÍNH ĐỀ NGHỊ</a:t>
              </a:r>
            </a:p>
          </p:txBody>
        </p:sp>
      </p:grpSp>
      <p:grpSp>
        <p:nvGrpSpPr>
          <p:cNvPr id="28" name="Group 28"/>
          <p:cNvGrpSpPr/>
          <p:nvPr/>
        </p:nvGrpSpPr>
        <p:grpSpPr>
          <a:xfrm>
            <a:off x="1719872" y="7292264"/>
            <a:ext cx="14997303" cy="1513490"/>
            <a:chOff x="0" y="0"/>
            <a:chExt cx="19996404" cy="2017986"/>
          </a:xfrm>
        </p:grpSpPr>
        <p:sp>
          <p:nvSpPr>
            <p:cNvPr id="29" name="Freeform 29"/>
            <p:cNvSpPr/>
            <p:nvPr/>
          </p:nvSpPr>
          <p:spPr>
            <a:xfrm>
              <a:off x="0" y="0"/>
              <a:ext cx="19996409" cy="2017981"/>
            </a:xfrm>
            <a:custGeom>
              <a:avLst/>
              <a:gdLst/>
              <a:ahLst/>
              <a:cxnLst/>
              <a:rect l="l" t="t" r="r" b="b"/>
              <a:pathLst>
                <a:path w="19996409" h="2017981">
                  <a:moveTo>
                    <a:pt x="0" y="0"/>
                  </a:moveTo>
                  <a:lnTo>
                    <a:pt x="19996409" y="0"/>
                  </a:lnTo>
                  <a:lnTo>
                    <a:pt x="19996409" y="2017981"/>
                  </a:lnTo>
                  <a:lnTo>
                    <a:pt x="0" y="2017981"/>
                  </a:lnTo>
                  <a:close/>
                </a:path>
              </a:pathLst>
            </a:custGeom>
            <a:blipFill>
              <a:blip r:embed="rId3">
                <a:alphaModFix amt="0"/>
              </a:blip>
              <a:stretch>
                <a:fillRect t="-143079" b="-143079"/>
              </a:stretch>
            </a:blipFill>
          </p:spPr>
          <p:txBody>
            <a:bodyPr/>
            <a:lstStyle/>
            <a:p>
              <a:endParaRPr lang="en-US"/>
            </a:p>
          </p:txBody>
        </p:sp>
        <p:sp>
          <p:nvSpPr>
            <p:cNvPr id="30" name="TextBox 30"/>
            <p:cNvSpPr txBox="1"/>
            <p:nvPr/>
          </p:nvSpPr>
          <p:spPr>
            <a:xfrm>
              <a:off x="0" y="9525"/>
              <a:ext cx="19996404" cy="2008461"/>
            </a:xfrm>
            <a:prstGeom prst="rect">
              <a:avLst/>
            </a:prstGeom>
          </p:spPr>
          <p:txBody>
            <a:bodyPr lIns="0" tIns="0" rIns="0" bIns="0" rtlCol="0" anchor="ctr"/>
            <a:lstStyle/>
            <a:p>
              <a:pPr marL="450726" lvl="1" indent="-225363" algn="l">
                <a:lnSpc>
                  <a:spcPts val="2979"/>
                </a:lnSpc>
                <a:buFont typeface="Arial"/>
                <a:buChar char="•"/>
              </a:pPr>
              <a:r>
                <a:rPr lang="en-US" sz="2482" b="1">
                  <a:solidFill>
                    <a:srgbClr val="FFFFFF"/>
                  </a:solidFill>
                  <a:latin typeface="Montserrat Bold"/>
                  <a:ea typeface="Montserrat Bold"/>
                  <a:cs typeface="Montserrat Bold"/>
                  <a:sym typeface="Montserrat Bold"/>
                </a:rPr>
                <a:t>Hội đồng Sáng kiến Công an tỉnh công nhận Sáng kiến cấp cơ sở năm 2026</a:t>
              </a:r>
            </a:p>
            <a:p>
              <a:pPr marL="450726" lvl="1" indent="-225363" algn="l">
                <a:lnSpc>
                  <a:spcPts val="2979"/>
                </a:lnSpc>
                <a:buFont typeface="Arial"/>
                <a:buChar char="•"/>
              </a:pPr>
              <a:r>
                <a:rPr lang="en-US" sz="2482" b="1">
                  <a:solidFill>
                    <a:srgbClr val="FFFFFF"/>
                  </a:solidFill>
                  <a:latin typeface="Montserrat Bold"/>
                  <a:ea typeface="Montserrat Bold"/>
                  <a:cs typeface="Montserrat Bold"/>
                  <a:sym typeface="Montserrat Bold"/>
                </a:rPr>
                <a:t>Ban Giám đốc cho phép chuyển giao mã nguồn, nhân rộng toàn tỉnh</a:t>
              </a:r>
            </a:p>
          </p:txBody>
        </p:sp>
      </p:grpSp>
      <p:grpSp>
        <p:nvGrpSpPr>
          <p:cNvPr id="31" name="Group 31"/>
          <p:cNvGrpSpPr/>
          <p:nvPr/>
        </p:nvGrpSpPr>
        <p:grpSpPr>
          <a:xfrm>
            <a:off x="963130" y="9012145"/>
            <a:ext cx="16373208" cy="550360"/>
            <a:chOff x="0" y="0"/>
            <a:chExt cx="21830944" cy="733813"/>
          </a:xfrm>
        </p:grpSpPr>
        <p:sp>
          <p:nvSpPr>
            <p:cNvPr id="32" name="Freeform 32"/>
            <p:cNvSpPr/>
            <p:nvPr/>
          </p:nvSpPr>
          <p:spPr>
            <a:xfrm>
              <a:off x="0" y="0"/>
              <a:ext cx="21830942" cy="733808"/>
            </a:xfrm>
            <a:custGeom>
              <a:avLst/>
              <a:gdLst/>
              <a:ahLst/>
              <a:cxnLst/>
              <a:rect l="l" t="t" r="r" b="b"/>
              <a:pathLst>
                <a:path w="21830942" h="733808">
                  <a:moveTo>
                    <a:pt x="0" y="0"/>
                  </a:moveTo>
                  <a:lnTo>
                    <a:pt x="21830942" y="0"/>
                  </a:lnTo>
                  <a:lnTo>
                    <a:pt x="21830942" y="733808"/>
                  </a:lnTo>
                  <a:lnTo>
                    <a:pt x="0" y="733808"/>
                  </a:lnTo>
                  <a:close/>
                </a:path>
              </a:pathLst>
            </a:custGeom>
            <a:blipFill>
              <a:blip r:embed="rId3">
                <a:alphaModFix amt="0"/>
              </a:blip>
              <a:stretch>
                <a:fillRect t="-529683" b="-529685"/>
              </a:stretch>
            </a:blipFill>
          </p:spPr>
          <p:txBody>
            <a:bodyPr/>
            <a:lstStyle/>
            <a:p>
              <a:endParaRPr lang="en-US"/>
            </a:p>
          </p:txBody>
        </p:sp>
        <p:sp>
          <p:nvSpPr>
            <p:cNvPr id="33" name="TextBox 33"/>
            <p:cNvSpPr txBox="1"/>
            <p:nvPr/>
          </p:nvSpPr>
          <p:spPr>
            <a:xfrm>
              <a:off x="0" y="9525"/>
              <a:ext cx="21830944" cy="724288"/>
            </a:xfrm>
            <a:prstGeom prst="rect">
              <a:avLst/>
            </a:prstGeom>
          </p:spPr>
          <p:txBody>
            <a:bodyPr lIns="0" tIns="0" rIns="0" bIns="0" rtlCol="0" anchor="ctr"/>
            <a:lstStyle/>
            <a:p>
              <a:pPr algn="r">
                <a:lnSpc>
                  <a:spcPts val="2889"/>
                </a:lnSpc>
              </a:pPr>
              <a:r>
                <a:rPr lang="en-US" sz="2407" i="1">
                  <a:solidFill>
                    <a:srgbClr val="FFD700"/>
                  </a:solidFill>
                  <a:latin typeface="Montserrat Italics"/>
                  <a:ea typeface="Montserrat Italics"/>
                  <a:cs typeface="Montserrat Italics"/>
                  <a:sym typeface="Montserrat Italics"/>
                </a:rPr>
                <a:t>Trân trọng cảm ơn Hội đồng!</a:t>
              </a:r>
            </a:p>
          </p:txBody>
        </p:sp>
      </p:grpSp>
      <p:grpSp>
        <p:nvGrpSpPr>
          <p:cNvPr id="34" name="Group 34"/>
          <p:cNvGrpSpPr/>
          <p:nvPr/>
        </p:nvGrpSpPr>
        <p:grpSpPr>
          <a:xfrm>
            <a:off x="963130" y="9686334"/>
            <a:ext cx="16373208" cy="19260"/>
            <a:chOff x="0" y="0"/>
            <a:chExt cx="21830944" cy="25679"/>
          </a:xfrm>
        </p:grpSpPr>
        <p:sp>
          <p:nvSpPr>
            <p:cNvPr id="35" name="Freeform 35"/>
            <p:cNvSpPr/>
            <p:nvPr/>
          </p:nvSpPr>
          <p:spPr>
            <a:xfrm>
              <a:off x="0" y="0"/>
              <a:ext cx="21830919" cy="25654"/>
            </a:xfrm>
            <a:custGeom>
              <a:avLst/>
              <a:gdLst/>
              <a:ahLst/>
              <a:cxnLst/>
              <a:rect l="l" t="t" r="r" b="b"/>
              <a:pathLst>
                <a:path w="21830919" h="25654">
                  <a:moveTo>
                    <a:pt x="0" y="0"/>
                  </a:moveTo>
                  <a:lnTo>
                    <a:pt x="21830919" y="0"/>
                  </a:lnTo>
                  <a:lnTo>
                    <a:pt x="21830919" y="25654"/>
                  </a:lnTo>
                  <a:lnTo>
                    <a:pt x="0" y="25654"/>
                  </a:lnTo>
                  <a:close/>
                </a:path>
              </a:pathLst>
            </a:custGeom>
            <a:solidFill>
              <a:srgbClr val="FFD700"/>
            </a:solidFill>
          </p:spPr>
          <p:txBody>
            <a:bodyPr/>
            <a:lstStyle/>
            <a:p>
              <a:endParaRPr lang="en-US"/>
            </a:p>
          </p:txBody>
        </p:sp>
      </p:grpSp>
      <p:grpSp>
        <p:nvGrpSpPr>
          <p:cNvPr id="36" name="Group 36"/>
          <p:cNvGrpSpPr/>
          <p:nvPr/>
        </p:nvGrpSpPr>
        <p:grpSpPr>
          <a:xfrm>
            <a:off x="963130" y="9741370"/>
            <a:ext cx="12383100" cy="412770"/>
            <a:chOff x="0" y="0"/>
            <a:chExt cx="16510800" cy="550360"/>
          </a:xfrm>
        </p:grpSpPr>
        <p:sp>
          <p:nvSpPr>
            <p:cNvPr id="37" name="Freeform 37"/>
            <p:cNvSpPr/>
            <p:nvPr/>
          </p:nvSpPr>
          <p:spPr>
            <a:xfrm>
              <a:off x="0" y="0"/>
              <a:ext cx="16510797" cy="550365"/>
            </a:xfrm>
            <a:custGeom>
              <a:avLst/>
              <a:gdLst/>
              <a:ahLst/>
              <a:cxnLst/>
              <a:rect l="l" t="t" r="r" b="b"/>
              <a:pathLst>
                <a:path w="16510797" h="550365">
                  <a:moveTo>
                    <a:pt x="0" y="0"/>
                  </a:moveTo>
                  <a:lnTo>
                    <a:pt x="16510797" y="0"/>
                  </a:lnTo>
                  <a:lnTo>
                    <a:pt x="16510797" y="550365"/>
                  </a:lnTo>
                  <a:lnTo>
                    <a:pt x="0" y="550365"/>
                  </a:lnTo>
                  <a:close/>
                </a:path>
              </a:pathLst>
            </a:custGeom>
            <a:blipFill>
              <a:blip r:embed="rId3">
                <a:alphaModFix amt="0"/>
              </a:blip>
              <a:stretch>
                <a:fillRect t="-534546" b="-534544"/>
              </a:stretch>
            </a:blipFill>
          </p:spPr>
          <p:txBody>
            <a:bodyPr/>
            <a:lstStyle/>
            <a:p>
              <a:endParaRPr lang="en-US"/>
            </a:p>
          </p:txBody>
        </p:sp>
        <p:sp>
          <p:nvSpPr>
            <p:cNvPr id="38" name="TextBox 38"/>
            <p:cNvSpPr txBox="1"/>
            <p:nvPr/>
          </p:nvSpPr>
          <p:spPr>
            <a:xfrm>
              <a:off x="0" y="0"/>
              <a:ext cx="16510800" cy="550360"/>
            </a:xfrm>
            <a:prstGeom prst="rect">
              <a:avLst/>
            </a:prstGeom>
          </p:spPr>
          <p:txBody>
            <a:bodyPr lIns="0" tIns="0" rIns="0" bIns="0" rtlCol="0" anchor="ctr"/>
            <a:lstStyle/>
            <a:p>
              <a:pPr algn="l">
                <a:lnSpc>
                  <a:spcPts val="1625"/>
                </a:lnSpc>
              </a:pPr>
              <a:r>
                <a:rPr lang="en-US" sz="1354" b="1" spc="150">
                  <a:solidFill>
                    <a:srgbClr val="FFE9A8"/>
                  </a:solidFill>
                  <a:latin typeface="Montserrat Bold"/>
                  <a:ea typeface="Montserrat Bold"/>
                  <a:cs typeface="Montserrat Bold"/>
                  <a:sym typeface="Montserrat Bold"/>
                </a:rPr>
                <a:t>CÔNG AN PHƯỜNG PHÚ THỌ   ·   SÁNG KIẾN CẢI CÁCH HÀNH CHÍNH · 2026</a:t>
              </a:r>
            </a:p>
          </p:txBody>
        </p:sp>
      </p:grpSp>
      <p:grpSp>
        <p:nvGrpSpPr>
          <p:cNvPr id="39" name="Group 39"/>
          <p:cNvGrpSpPr/>
          <p:nvPr/>
        </p:nvGrpSpPr>
        <p:grpSpPr>
          <a:xfrm>
            <a:off x="15960433" y="9741370"/>
            <a:ext cx="1375896" cy="412770"/>
            <a:chOff x="0" y="0"/>
            <a:chExt cx="1834528" cy="550360"/>
          </a:xfrm>
        </p:grpSpPr>
        <p:sp>
          <p:nvSpPr>
            <p:cNvPr id="40" name="Freeform 40"/>
            <p:cNvSpPr/>
            <p:nvPr/>
          </p:nvSpPr>
          <p:spPr>
            <a:xfrm>
              <a:off x="0" y="0"/>
              <a:ext cx="1834533" cy="550365"/>
            </a:xfrm>
            <a:custGeom>
              <a:avLst/>
              <a:gdLst/>
              <a:ahLst/>
              <a:cxnLst/>
              <a:rect l="l" t="t" r="r" b="b"/>
              <a:pathLst>
                <a:path w="1834533" h="550365">
                  <a:moveTo>
                    <a:pt x="0" y="0"/>
                  </a:moveTo>
                  <a:lnTo>
                    <a:pt x="1834533" y="0"/>
                  </a:lnTo>
                  <a:lnTo>
                    <a:pt x="1834533" y="550365"/>
                  </a:lnTo>
                  <a:lnTo>
                    <a:pt x="0" y="550365"/>
                  </a:lnTo>
                  <a:close/>
                </a:path>
              </a:pathLst>
            </a:custGeom>
            <a:blipFill>
              <a:blip r:embed="rId3">
                <a:alphaModFix amt="0"/>
              </a:blip>
              <a:stretch>
                <a:fillRect t="-14950" b="-14948"/>
              </a:stretch>
            </a:blipFill>
          </p:spPr>
          <p:txBody>
            <a:bodyPr/>
            <a:lstStyle/>
            <a:p>
              <a:endParaRPr lang="en-US"/>
            </a:p>
          </p:txBody>
        </p:sp>
        <p:sp>
          <p:nvSpPr>
            <p:cNvPr id="41" name="TextBox 41"/>
            <p:cNvSpPr txBox="1"/>
            <p:nvPr/>
          </p:nvSpPr>
          <p:spPr>
            <a:xfrm>
              <a:off x="0" y="-9525"/>
              <a:ext cx="1834528" cy="559885"/>
            </a:xfrm>
            <a:prstGeom prst="rect">
              <a:avLst/>
            </a:prstGeom>
          </p:spPr>
          <p:txBody>
            <a:bodyPr lIns="0" tIns="0" rIns="0" bIns="0" rtlCol="0" anchor="ctr"/>
            <a:lstStyle/>
            <a:p>
              <a:pPr algn="r">
                <a:lnSpc>
                  <a:spcPts val="1805"/>
                </a:lnSpc>
              </a:pPr>
              <a:r>
                <a:rPr lang="en-US" sz="1504" b="1">
                  <a:solidFill>
                    <a:srgbClr val="FFD700"/>
                  </a:solidFill>
                  <a:latin typeface="Montserrat Bold"/>
                  <a:ea typeface="Montserrat Bold"/>
                  <a:cs typeface="Montserrat Bold"/>
                  <a:sym typeface="Montserrat Bold"/>
                </a:rPr>
                <a:t>12</a:t>
              </a:r>
            </a:p>
          </p:txBody>
        </p:sp>
      </p:grpSp>
      <p:sp>
        <p:nvSpPr>
          <p:cNvPr id="42" name="Freeform 42"/>
          <p:cNvSpPr/>
          <p:nvPr/>
        </p:nvSpPr>
        <p:spPr>
          <a:xfrm>
            <a:off x="10240640" y="1217283"/>
            <a:ext cx="7862263" cy="7852435"/>
          </a:xfrm>
          <a:custGeom>
            <a:avLst/>
            <a:gdLst/>
            <a:ahLst/>
            <a:cxnLst/>
            <a:rect l="l" t="t" r="r" b="b"/>
            <a:pathLst>
              <a:path w="7862263" h="7852435">
                <a:moveTo>
                  <a:pt x="0" y="0"/>
                </a:moveTo>
                <a:lnTo>
                  <a:pt x="7862263" y="0"/>
                </a:lnTo>
                <a:lnTo>
                  <a:pt x="7862263" y="7852434"/>
                </a:lnTo>
                <a:lnTo>
                  <a:pt x="0" y="7852434"/>
                </a:lnTo>
                <a:lnTo>
                  <a:pt x="0" y="0"/>
                </a:lnTo>
                <a:close/>
              </a:path>
            </a:pathLst>
          </a:custGeom>
          <a:blipFill>
            <a:blip>
              <a:alphaModFix amt="10999"/>
              <a:extLst>
                <a:ext uri="{96DAC541-7B7A-43D3-8B79-37D633B846F1}">
                  <asvg:svgBlip xmlns:asvg="http://schemas.microsoft.com/office/drawing/2016/SVG/main" r:embed="rId5"/>
                </a:ext>
              </a:extLst>
            </a:blip>
            <a:stretch>
              <a:fillRect/>
            </a:stretch>
          </a:blipFill>
        </p:spPr>
        <p:txBody>
          <a:bodyPr/>
          <a:lstStyle/>
          <a:p>
            <a:endParaRPr lang="en-US"/>
          </a:p>
        </p:txBody>
      </p:sp>
    </p:spTree>
    <p:extLst>
      <p:ext uri="{BB962C8B-B14F-4D97-AF65-F5344CB8AC3E}">
        <p14:creationId xmlns:p14="http://schemas.microsoft.com/office/powerpoint/2010/main" val="735932522"/>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0"/>
                      </p:stCondLst>
                      <p:childTnLst>
                        <p:par>
                          <p:cTn id="4" presetID="10" presetClass="entr" presetSubtype="0" fill="hold" nodeType="afterEffect">
                            <p:stCondLst>
                              <p:cond delay="0"/>
                            </p:stCondLst>
                            <p:childTnLst>
                              <p:set>
                                <p:cBhvr>
                                  <p:cTn id="5" dur="1" fill="hold">
                                    <p:stCondLst>
                                      <p:cond delay="0"/>
                                    </p:stCondLst>
                                  </p:cTn>
                                  <p:tgtEl>
                                    <p:spTgt spid="8"/>
                                  </p:tgtEl>
                                  <p:attrNameLst>
                                    <p:attrName>style.visibility</p:attrName>
                                  </p:attrNameLst>
                                </p:cBhvr>
                                <p:to>
                                  <p:strVal val="visible"/>
                                </p:to>
                              </p:set>
                              <p:animEffect transition="in" filter="fade">
                                <p:cBhvr>
                                  <p:cTn id="6" dur="650"/>
                                  <p:tgtEl>
                                    <p:spTgt spid="8"/>
                                  </p:tgtEl>
                                </p:cBhvr>
                              </p:animEffect>
                            </p:childTnLst>
                          </p:cTn>
                        </p:par>
                        <p:par>
                          <p:cTn id="7" presetID="10" presetClass="entr" presetSubtype="0" fill="hold" nodeType="afterEffect">
                            <p:stCondLst>
                              <p:cond delay="0"/>
                            </p:stCondLst>
                            <p:childTnLst>
                              <p:set>
                                <p:cBhvr>
                                  <p:cTn id="8" dur="1" fill="hold">
                                    <p:stCondLst>
                                      <p:cond delay="0"/>
                                    </p:stCondLst>
                                  </p:cTn>
                                  <p:tgtEl>
                                    <p:spTgt spid="10"/>
                                  </p:tgtEl>
                                  <p:attrNameLst>
                                    <p:attrName>style.visibility</p:attrName>
                                  </p:attrNameLst>
                                </p:cBhvr>
                                <p:to>
                                  <p:strVal val="visible"/>
                                </p:to>
                              </p:set>
                              <p:animEffect transition="in" filter="fade">
                                <p:cBhvr>
                                  <p:cTn id="9" dur="650"/>
                                  <p:tgtEl>
                                    <p:spTgt spid="10"/>
                                  </p:tgtEl>
                                </p:cBhvr>
                              </p:animEffect>
                            </p:childTnLst>
                          </p:cTn>
                        </p:par>
                        <p:par>
                          <p:cTn id="10" presetID="10" presetClass="entr" presetSubtype="0" fill="hold" nodeType="afterEffect">
                            <p:stCondLst>
                              <p:cond delay="0"/>
                            </p:stCondLst>
                            <p:childTnLst>
                              <p:set>
                                <p:cBhvr>
                                  <p:cTn id="11" dur="1" fill="hold">
                                    <p:stCondLst>
                                      <p:cond delay="0"/>
                                    </p:stCondLst>
                                  </p:cTn>
                                  <p:tgtEl>
                                    <p:spTgt spid="13"/>
                                  </p:tgtEl>
                                  <p:attrNameLst>
                                    <p:attrName>style.visibility</p:attrName>
                                  </p:attrNameLst>
                                </p:cBhvr>
                                <p:to>
                                  <p:strVal val="visible"/>
                                </p:to>
                              </p:set>
                              <p:animEffect transition="in" filter="fade">
                                <p:cBhvr>
                                  <p:cTn id="12" dur="650"/>
                                  <p:tgtEl>
                                    <p:spTgt spid="13"/>
                                  </p:tgtEl>
                                </p:cBhvr>
                              </p:animEffect>
                            </p:childTnLst>
                          </p:cTn>
                        </p:par>
                        <p:par>
                          <p:cTn id="13" presetID="10" presetClass="entr" presetSubtype="0" fill="hold" nodeType="afterEffect">
                            <p:stCondLst>
                              <p:cond delay="0"/>
                            </p:stCondLst>
                            <p:childTnLst>
                              <p:set>
                                <p:cBhvr>
                                  <p:cTn id="14" dur="1" fill="hold">
                                    <p:stCondLst>
                                      <p:cond delay="0"/>
                                    </p:stCondLst>
                                  </p:cTn>
                                  <p:tgtEl>
                                    <p:spTgt spid="15"/>
                                  </p:tgtEl>
                                  <p:attrNameLst>
                                    <p:attrName>style.visibility</p:attrName>
                                  </p:attrNameLst>
                                </p:cBhvr>
                                <p:to>
                                  <p:strVal val="visible"/>
                                </p:to>
                              </p:set>
                              <p:animEffect transition="in" filter="fade">
                                <p:cBhvr>
                                  <p:cTn id="15" dur="650"/>
                                  <p:tgtEl>
                                    <p:spTgt spid="15"/>
                                  </p:tgtEl>
                                </p:cBhvr>
                              </p:animEffect>
                            </p:childTnLst>
                          </p:cTn>
                        </p:par>
                        <p:par>
                          <p:cTn id="16" presetID="10" presetClass="entr" presetSubtype="0" fill="hold" nodeType="afterEffect">
                            <p:stCondLst>
                              <p:cond delay="0"/>
                            </p:stCondLst>
                            <p:childTnLst>
                              <p:set>
                                <p:cBhvr>
                                  <p:cTn id="17" dur="1" fill="hold">
                                    <p:stCondLst>
                                      <p:cond delay="0"/>
                                    </p:stCondLst>
                                  </p:cTn>
                                  <p:tgtEl>
                                    <p:spTgt spid="18"/>
                                  </p:tgtEl>
                                  <p:attrNameLst>
                                    <p:attrName>style.visibility</p:attrName>
                                  </p:attrNameLst>
                                </p:cBhvr>
                                <p:to>
                                  <p:strVal val="visible"/>
                                </p:to>
                              </p:set>
                              <p:animEffect transition="in" filter="fade">
                                <p:cBhvr>
                                  <p:cTn id="18" dur="650"/>
                                  <p:tgtEl>
                                    <p:spTgt spid="18"/>
                                  </p:tgtEl>
                                </p:cBhvr>
                              </p:animEffect>
                            </p:childTnLst>
                          </p:cTn>
                        </p:par>
                        <p:par>
                          <p:cTn id="19" presetID="10" presetClass="entr" presetSubtype="0" fill="hold" nodeType="afterEffect">
                            <p:stCondLst>
                              <p:cond delay="0"/>
                            </p:stCondLst>
                            <p:childTnLst>
                              <p:set>
                                <p:cBhvr>
                                  <p:cTn id="20" dur="1" fill="hold">
                                    <p:stCondLst>
                                      <p:cond delay="0"/>
                                    </p:stCondLst>
                                  </p:cTn>
                                  <p:tgtEl>
                                    <p:spTgt spid="20"/>
                                  </p:tgtEl>
                                  <p:attrNameLst>
                                    <p:attrName>style.visibility</p:attrName>
                                  </p:attrNameLst>
                                </p:cBhvr>
                                <p:to>
                                  <p:strVal val="visible"/>
                                </p:to>
                              </p:set>
                              <p:animEffect transition="in" filter="fade">
                                <p:cBhvr>
                                  <p:cTn id="21" dur="650"/>
                                  <p:tgtEl>
                                    <p:spTgt spid="20"/>
                                  </p:tgtEl>
                                </p:cBhvr>
                              </p:animEffect>
                            </p:childTnLst>
                          </p:cTn>
                        </p:par>
                        <p:par>
                          <p:cTn id="22" presetID="10" presetClass="entr" presetSubtype="0" fill="hold" nodeType="afterEffect">
                            <p:stCondLst>
                              <p:cond delay="600"/>
                            </p:stCondLst>
                            <p:childTnLst>
                              <p:set>
                                <p:cBhvr>
                                  <p:cTn id="23" dur="1" fill="hold">
                                    <p:stCondLst>
                                      <p:cond delay="0"/>
                                    </p:stCondLst>
                                  </p:cTn>
                                  <p:tgtEl>
                                    <p:spTgt spid="23"/>
                                  </p:tgtEl>
                                  <p:attrNameLst>
                                    <p:attrName>style.visibility</p:attrName>
                                  </p:attrNameLst>
                                </p:cBhvr>
                                <p:to>
                                  <p:strVal val="visible"/>
                                </p:to>
                              </p:set>
                              <p:animEffect transition="in" filter="fade">
                                <p:cBhvr>
                                  <p:cTn id="24" dur="650"/>
                                  <p:tgtEl>
                                    <p:spTgt spid="23"/>
                                  </p:tgtEl>
                                </p:cBhvr>
                              </p:animEffect>
                            </p:childTnLst>
                          </p:cTn>
                        </p:par>
                        <p:par>
                          <p:cTn id="25" presetID="10" presetClass="entr" presetSubtype="0" fill="hold" nodeType="afterEffect">
                            <p:stCondLst>
                              <p:cond delay="600"/>
                            </p:stCondLst>
                            <p:childTnLst>
                              <p:set>
                                <p:cBhvr>
                                  <p:cTn id="26" dur="1" fill="hold">
                                    <p:stCondLst>
                                      <p:cond delay="0"/>
                                    </p:stCondLst>
                                  </p:cTn>
                                  <p:tgtEl>
                                    <p:spTgt spid="25"/>
                                  </p:tgtEl>
                                  <p:attrNameLst>
                                    <p:attrName>style.visibility</p:attrName>
                                  </p:attrNameLst>
                                </p:cBhvr>
                                <p:to>
                                  <p:strVal val="visible"/>
                                </p:to>
                              </p:set>
                              <p:animEffect transition="in" filter="fade">
                                <p:cBhvr>
                                  <p:cTn id="27" dur="650"/>
                                  <p:tgtEl>
                                    <p:spTgt spid="25"/>
                                  </p:tgtEl>
                                </p:cBhvr>
                              </p:animEffect>
                            </p:childTnLst>
                          </p:cTn>
                        </p:par>
                        <p:par>
                          <p:cTn id="28" presetID="10" presetClass="entr" presetSubtype="0" fill="hold" nodeType="afterEffect">
                            <p:stCondLst>
                              <p:cond delay="600"/>
                            </p:stCondLst>
                            <p:childTnLst>
                              <p:set>
                                <p:cBhvr>
                                  <p:cTn id="29" dur="1" fill="hold">
                                    <p:stCondLst>
                                      <p:cond delay="0"/>
                                    </p:stCondLst>
                                  </p:cTn>
                                  <p:tgtEl>
                                    <p:spTgt spid="28"/>
                                  </p:tgtEl>
                                  <p:attrNameLst>
                                    <p:attrName>style.visibility</p:attrName>
                                  </p:attrNameLst>
                                </p:cBhvr>
                                <p:to>
                                  <p:strVal val="visible"/>
                                </p:to>
                              </p:set>
                              <p:animEffect transition="in" filter="fade">
                                <p:cBhvr>
                                  <p:cTn id="30" dur="650"/>
                                  <p:tgtEl>
                                    <p:spTgt spid="28"/>
                                  </p:tgtEl>
                                </p:cBhvr>
                              </p:animEffect>
                            </p:childTnLst>
                          </p:cTn>
                        </p:par>
                        <p:par>
                          <p:cTn id="31" presetID="10" presetClass="entr" presetSubtype="0" fill="hold" nodeType="afterEffect">
                            <p:stCondLst>
                              <p:cond delay="600"/>
                            </p:stCondLst>
                            <p:childTnLst>
                              <p:set>
                                <p:cBhvr>
                                  <p:cTn id="32" dur="1" fill="hold">
                                    <p:stCondLst>
                                      <p:cond delay="0"/>
                                    </p:stCondLst>
                                  </p:cTn>
                                  <p:tgtEl>
                                    <p:spTgt spid="31"/>
                                  </p:tgtEl>
                                  <p:attrNameLst>
                                    <p:attrName>style.visibility</p:attrName>
                                  </p:attrNameLst>
                                </p:cBhvr>
                                <p:to>
                                  <p:strVal val="visible"/>
                                </p:to>
                              </p:set>
                              <p:animEffect transition="in" filter="fade">
                                <p:cBhvr>
                                  <p:cTn id="33" dur="650"/>
                                  <p:tgtEl>
                                    <p:spTgt spid="31"/>
                                  </p:tgtEl>
                                </p:cBhvr>
                              </p:animEffect>
                            </p:childTnLst>
                          </p:cTn>
                        </p:par>
                        <p:par>
                          <p:cTn id="34" fill="hold">
                            <p:stCondLst>
                              <p:cond delay="0"/>
                            </p:stCondLst>
                            <p:childTnLst>
                              <p:animRot by="21600000">
                                <p:cBhvr>
                                  <p:cTn id="35" dur="60000" repeatCount="indefinite" fill="hold"/>
                                  <p:tgtEl>
                                    <p:spTgt spid="42"/>
                                  </p:tgtEl>
                                  <p:attrNameLst>
                                    <p:attrName>r</p:attrName>
                                  </p:attrNameLst>
                                </p:cBhvr>
                              </p:animRot>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webextensions/_rels/taskpanes.xml.rels><?xml version="1.0" encoding="UTF-8" standalone="yes"?>
<Relationships xmlns="http://schemas.openxmlformats.org/package/2006/relationships"><Relationship Id="rId1" Type="http://schemas.microsoft.com/office/2011/relationships/webextension" Target="webextension1.xml"/></Relationships>
</file>

<file path=ppt/webextensions/taskpanes.xml><?xml version="1.0" encoding="utf-8"?>
<wetp:taskpanes xmlns:wetp="http://schemas.microsoft.com/office/webextensions/taskpanes/2010/11">
  <wetp:taskpane dockstate="right" visibility="0" width="438" row="0">
    <wetp:webextensionref xmlns:r="http://schemas.openxmlformats.org/officeDocument/2006/relationships" r:id="rId1"/>
  </wetp:taskpane>
</wetp:taskpanes>
</file>

<file path=ppt/webextensions/webextension1.xml><?xml version="1.0" encoding="utf-8"?>
<we:webextension xmlns:we="http://schemas.microsoft.com/office/webextensions/webextension/2010/11" id="{03B2335D-D1C3-40D2-A9EB-AB9552E2EA74}">
  <we:reference id="wa200010725" version="1.0.0.1" store="en-US" storeType="OMEX"/>
  <we:alternateReferences>
    <we:reference id="WA200010725" version="1.0.0.1" store="" storeType="OMEX"/>
  </we:alternateReferences>
  <we:properties>
    <we:property name="claude.fileId" value="&quot;e7ba5da0-4fc0-485a-becb-3dcea1341f0a&quot;"/>
  </we:properties>
  <we:bindings/>
  <we:snapshot xmlns:r="http://schemas.openxmlformats.org/officeDocument/2006/relationships"/>
</we:webextension>
</file>

<file path=docProps/app.xml><?xml version="1.0" encoding="utf-8"?>
<Properties xmlns="http://schemas.openxmlformats.org/officeDocument/2006/extended-properties" xmlns:vt="http://schemas.openxmlformats.org/officeDocument/2006/docPropsVTypes">
  <TotalTime>667</TotalTime>
  <Words>2714</Words>
  <Application>Microsoft Office PowerPoint</Application>
  <PresentationFormat>Custom</PresentationFormat>
  <Paragraphs>157</Paragraphs>
  <Slides>12</Slides>
  <Notes>12</Notes>
  <HiddenSlides>0</HiddenSlides>
  <MMClips>0</MMClips>
  <ScaleCrop>false</ScaleCrop>
  <HeadingPairs>
    <vt:vector size="6" baseType="variant">
      <vt:variant>
        <vt:lpstr>Fonts Used</vt:lpstr>
      </vt:variant>
      <vt:variant>
        <vt:i4>10</vt:i4>
      </vt:variant>
      <vt:variant>
        <vt:lpstr>Theme</vt:lpstr>
      </vt:variant>
      <vt:variant>
        <vt:i4>1</vt:i4>
      </vt:variant>
      <vt:variant>
        <vt:lpstr>Slide Titles</vt:lpstr>
      </vt:variant>
      <vt:variant>
        <vt:i4>12</vt:i4>
      </vt:variant>
    </vt:vector>
  </HeadingPairs>
  <TitlesOfParts>
    <vt:vector size="23" baseType="lpstr">
      <vt:lpstr>Arial</vt:lpstr>
      <vt:lpstr>Montserrat Bold Italics</vt:lpstr>
      <vt:lpstr>Calibri</vt:lpstr>
      <vt:lpstr>Montserrat Bold</vt:lpstr>
      <vt:lpstr>Montserrat Heavy</vt:lpstr>
      <vt:lpstr>Montserrat</vt:lpstr>
      <vt:lpstr>Montserrat Semi-Bold</vt:lpstr>
      <vt:lpstr>Bevan</vt:lpstr>
      <vt:lpstr>Aptos</vt:lpstr>
      <vt:lpstr>Montserrat Italics</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Hỗ trợ tra cứu thủ tục hành chính - đẩy mạnh cải cách hành chính</dc:title>
  <cp:lastModifiedBy>Phuong Vi</cp:lastModifiedBy>
  <cp:revision>4</cp:revision>
  <dcterms:created xsi:type="dcterms:W3CDTF">2006-08-16T00:00:00Z</dcterms:created>
  <dcterms:modified xsi:type="dcterms:W3CDTF">2026-06-20T15:12:07Z</dcterms:modified>
  <dc:identifier>DAHNE1MYp1M</dc:identifier>
</cp:coreProperties>
</file>